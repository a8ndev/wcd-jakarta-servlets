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87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907" y="79546"/>
            <a:ext cx="580898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80291" y="1592148"/>
            <a:ext cx="2744470" cy="346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907" y="33827"/>
            <a:ext cx="1201018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0712" y="1300308"/>
            <a:ext cx="6851650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74575" y="6635253"/>
            <a:ext cx="102870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19714" y="6613906"/>
            <a:ext cx="33083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jp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2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4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sp>
          <p:nvSpPr>
            <p:cNvPr id="4" name="object 4"/>
            <p:cNvSpPr/>
            <p:nvPr/>
          </p:nvSpPr>
          <p:spPr>
            <a:xfrm>
              <a:off x="126492" y="2930651"/>
              <a:ext cx="11963400" cy="3736975"/>
            </a:xfrm>
            <a:custGeom>
              <a:avLst/>
              <a:gdLst/>
              <a:ahLst/>
              <a:cxnLst/>
              <a:rect l="l" t="t" r="r" b="b"/>
              <a:pathLst>
                <a:path w="11963400" h="3736975">
                  <a:moveTo>
                    <a:pt x="11963400" y="0"/>
                  </a:moveTo>
                  <a:lnTo>
                    <a:pt x="0" y="0"/>
                  </a:lnTo>
                  <a:lnTo>
                    <a:pt x="0" y="3736848"/>
                  </a:lnTo>
                  <a:lnTo>
                    <a:pt x="11963400" y="3736848"/>
                  </a:lnTo>
                  <a:lnTo>
                    <a:pt x="1196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7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827" y="2222496"/>
            <a:ext cx="69913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 Rounded MT Bold"/>
                <a:cs typeface="Arial Rounded MT Bold"/>
              </a:rPr>
              <a:t>Jakarta</a:t>
            </a:r>
            <a:r>
              <a:rPr sz="4400" spc="-190" dirty="0">
                <a:latin typeface="Arial Rounded MT Bold"/>
                <a:cs typeface="Arial Rounded MT Bold"/>
              </a:rPr>
              <a:t> </a:t>
            </a:r>
            <a:r>
              <a:rPr sz="4400" dirty="0">
                <a:latin typeface="Arial Rounded MT Bold"/>
                <a:cs typeface="Arial Rounded MT Bold"/>
              </a:rPr>
              <a:t>Server</a:t>
            </a:r>
            <a:r>
              <a:rPr sz="4400" spc="-204" dirty="0">
                <a:latin typeface="Arial Rounded MT Bold"/>
                <a:cs typeface="Arial Rounded MT Bold"/>
              </a:rPr>
              <a:t> </a:t>
            </a:r>
            <a:r>
              <a:rPr sz="4400" spc="-30" dirty="0">
                <a:latin typeface="Arial Rounded MT Bold"/>
                <a:cs typeface="Arial Rounded MT Bold"/>
              </a:rPr>
              <a:t>Pages</a:t>
            </a:r>
            <a:r>
              <a:rPr sz="4400" spc="-195" dirty="0">
                <a:latin typeface="Arial Rounded MT Bold"/>
                <a:cs typeface="Arial Rounded MT Bold"/>
              </a:rPr>
              <a:t> </a:t>
            </a:r>
            <a:r>
              <a:rPr sz="4400" spc="-25" dirty="0">
                <a:latin typeface="Arial Rounded MT Bold"/>
                <a:cs typeface="Arial Rounded MT Bold"/>
              </a:rPr>
              <a:t>and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6827" y="2893106"/>
            <a:ext cx="22567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Servlets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805" y="4517499"/>
            <a:ext cx="5502910" cy="1108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C564"/>
                </a:solidFill>
                <a:latin typeface="Algerian"/>
                <a:cs typeface="Algerian"/>
              </a:rPr>
              <a:t>SESSION:</a:t>
            </a:r>
            <a:r>
              <a:rPr sz="2400" spc="-75" dirty="0">
                <a:solidFill>
                  <a:srgbClr val="FFC564"/>
                </a:solidFill>
                <a:latin typeface="Algerian"/>
                <a:cs typeface="Algerian"/>
              </a:rPr>
              <a:t> </a:t>
            </a:r>
            <a:r>
              <a:rPr sz="2400" spc="-50" dirty="0">
                <a:solidFill>
                  <a:srgbClr val="FFC564"/>
                </a:solidFill>
                <a:latin typeface="Algerian"/>
                <a:cs typeface="Algerian"/>
              </a:rPr>
              <a:t>1</a:t>
            </a:r>
            <a:endParaRPr sz="2400">
              <a:latin typeface="Algerian"/>
              <a:cs typeface="Algerian"/>
            </a:endParaRPr>
          </a:p>
          <a:p>
            <a:pPr marL="12700">
              <a:lnSpc>
                <a:spcPct val="100000"/>
              </a:lnSpc>
              <a:spcBef>
                <a:spcPts val="2770"/>
              </a:spcBef>
            </a:pP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Introduction</a:t>
            </a:r>
            <a:r>
              <a:rPr sz="2400" spc="-25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to</a:t>
            </a:r>
            <a:r>
              <a:rPr sz="2400" spc="-50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Web</a:t>
            </a:r>
            <a:r>
              <a:rPr sz="2400" spc="-40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FFC564"/>
                </a:solidFill>
                <a:latin typeface="Arial Black"/>
                <a:cs typeface="Arial Black"/>
              </a:rPr>
              <a:t>Applications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2027" y="38586"/>
            <a:ext cx="1570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29259" y="758443"/>
            <a:ext cx="9574530" cy="3753485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1250"/>
              </a:spcBef>
              <a:buSzPct val="78571"/>
              <a:buFont typeface="Corbel"/>
              <a:buChar char="•"/>
              <a:tabLst>
                <a:tab pos="193040" algn="l"/>
              </a:tabLst>
            </a:pPr>
            <a:r>
              <a:rPr sz="2100" dirty="0">
                <a:latin typeface="Calisto MT"/>
                <a:cs typeface="Calisto MT"/>
              </a:rPr>
              <a:t>Explain</a:t>
            </a:r>
            <a:r>
              <a:rPr sz="2100" spc="-40" dirty="0">
                <a:latin typeface="Calisto MT"/>
                <a:cs typeface="Calisto MT"/>
              </a:rPr>
              <a:t> </a:t>
            </a:r>
            <a:r>
              <a:rPr sz="2100" spc="-45" dirty="0">
                <a:latin typeface="Calisto MT"/>
                <a:cs typeface="Calisto MT"/>
              </a:rPr>
              <a:t>Web</a:t>
            </a:r>
            <a:r>
              <a:rPr sz="2100" spc="-4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applications</a:t>
            </a:r>
            <a:r>
              <a:rPr sz="2100" spc="-6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and</a:t>
            </a:r>
            <a:r>
              <a:rPr sz="2100" spc="-5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their</a:t>
            </a:r>
            <a:r>
              <a:rPr sz="2100" spc="-55" dirty="0">
                <a:latin typeface="Calisto MT"/>
                <a:cs typeface="Calisto MT"/>
              </a:rPr>
              <a:t> </a:t>
            </a:r>
            <a:r>
              <a:rPr sz="2100" spc="-10" dirty="0">
                <a:latin typeface="Calisto MT"/>
                <a:cs typeface="Calisto MT"/>
              </a:rPr>
              <a:t>advantages</a:t>
            </a:r>
            <a:endParaRPr sz="2100">
              <a:latin typeface="Calisto MT"/>
              <a:cs typeface="Calisto MT"/>
            </a:endParaRPr>
          </a:p>
          <a:p>
            <a:pPr marL="193040" indent="-180340">
              <a:lnSpc>
                <a:spcPct val="100000"/>
              </a:lnSpc>
              <a:spcBef>
                <a:spcPts val="1155"/>
              </a:spcBef>
              <a:buSzPct val="78571"/>
              <a:buFont typeface="Corbel"/>
              <a:buChar char="•"/>
              <a:tabLst>
                <a:tab pos="193040" algn="l"/>
              </a:tabLst>
            </a:pPr>
            <a:r>
              <a:rPr sz="2100" dirty="0">
                <a:latin typeface="Calisto MT"/>
                <a:cs typeface="Calisto MT"/>
              </a:rPr>
              <a:t>Describe</a:t>
            </a:r>
            <a:r>
              <a:rPr sz="2100" spc="-2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the</a:t>
            </a:r>
            <a:r>
              <a:rPr sz="2100" spc="-4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architecture</a:t>
            </a:r>
            <a:r>
              <a:rPr sz="2100" spc="-5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and</a:t>
            </a:r>
            <a:r>
              <a:rPr sz="2100" spc="-6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components</a:t>
            </a:r>
            <a:r>
              <a:rPr sz="2100" spc="-4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of</a:t>
            </a:r>
            <a:r>
              <a:rPr sz="2100" spc="16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a</a:t>
            </a:r>
            <a:r>
              <a:rPr sz="2100" spc="-55" dirty="0">
                <a:latin typeface="Calisto MT"/>
                <a:cs typeface="Calisto MT"/>
              </a:rPr>
              <a:t> </a:t>
            </a:r>
            <a:r>
              <a:rPr sz="2100" spc="-45" dirty="0">
                <a:latin typeface="Calisto MT"/>
                <a:cs typeface="Calisto MT"/>
              </a:rPr>
              <a:t>Web</a:t>
            </a:r>
            <a:r>
              <a:rPr sz="2100" spc="-35" dirty="0">
                <a:latin typeface="Calisto MT"/>
                <a:cs typeface="Calisto MT"/>
              </a:rPr>
              <a:t> </a:t>
            </a:r>
            <a:r>
              <a:rPr sz="2100" spc="-10" dirty="0">
                <a:latin typeface="Calisto MT"/>
                <a:cs typeface="Calisto MT"/>
              </a:rPr>
              <a:t>application</a:t>
            </a:r>
            <a:endParaRPr sz="2100">
              <a:latin typeface="Calisto MT"/>
              <a:cs typeface="Calisto MT"/>
            </a:endParaRPr>
          </a:p>
          <a:p>
            <a:pPr marL="193040" indent="-180340">
              <a:lnSpc>
                <a:spcPct val="100000"/>
              </a:lnSpc>
              <a:spcBef>
                <a:spcPts val="1150"/>
              </a:spcBef>
              <a:buSzPct val="78571"/>
              <a:buFont typeface="Corbel"/>
              <a:buChar char="•"/>
              <a:tabLst>
                <a:tab pos="193040" algn="l"/>
              </a:tabLst>
            </a:pPr>
            <a:r>
              <a:rPr sz="2100" dirty="0">
                <a:latin typeface="Calisto MT"/>
                <a:cs typeface="Calisto MT"/>
              </a:rPr>
              <a:t>Describe</a:t>
            </a:r>
            <a:r>
              <a:rPr sz="2100" spc="-1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the</a:t>
            </a:r>
            <a:r>
              <a:rPr sz="2100" spc="-4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role</a:t>
            </a:r>
            <a:r>
              <a:rPr sz="2100" spc="-3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of</a:t>
            </a:r>
            <a:r>
              <a:rPr sz="2100" spc="16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HTTP</a:t>
            </a:r>
            <a:r>
              <a:rPr sz="2100" spc="-4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protocol</a:t>
            </a:r>
            <a:r>
              <a:rPr sz="2100" spc="-4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and</a:t>
            </a:r>
            <a:r>
              <a:rPr sz="2100" spc="-4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its</a:t>
            </a:r>
            <a:r>
              <a:rPr sz="2100" spc="-4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methods</a:t>
            </a:r>
            <a:r>
              <a:rPr sz="2100" spc="-3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used</a:t>
            </a:r>
            <a:r>
              <a:rPr sz="2100" spc="-2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for</a:t>
            </a:r>
            <a:r>
              <a:rPr sz="2100" spc="-4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accessing</a:t>
            </a:r>
            <a:r>
              <a:rPr sz="2100" spc="-35" dirty="0">
                <a:latin typeface="Calisto MT"/>
                <a:cs typeface="Calisto MT"/>
              </a:rPr>
              <a:t> </a:t>
            </a:r>
            <a:r>
              <a:rPr sz="2100" spc="-45" dirty="0">
                <a:latin typeface="Calisto MT"/>
                <a:cs typeface="Calisto MT"/>
              </a:rPr>
              <a:t>Web</a:t>
            </a:r>
            <a:r>
              <a:rPr sz="2100" spc="-25" dirty="0">
                <a:latin typeface="Calisto MT"/>
                <a:cs typeface="Calisto MT"/>
              </a:rPr>
              <a:t> </a:t>
            </a:r>
            <a:r>
              <a:rPr sz="2100" spc="-10" dirty="0">
                <a:latin typeface="Calisto MT"/>
                <a:cs typeface="Calisto MT"/>
              </a:rPr>
              <a:t>pages</a:t>
            </a:r>
            <a:endParaRPr sz="2100">
              <a:latin typeface="Calisto MT"/>
              <a:cs typeface="Calisto MT"/>
            </a:endParaRPr>
          </a:p>
          <a:p>
            <a:pPr marL="193040" indent="-180340">
              <a:lnSpc>
                <a:spcPct val="100000"/>
              </a:lnSpc>
              <a:spcBef>
                <a:spcPts val="1140"/>
              </a:spcBef>
              <a:buSzPct val="78571"/>
              <a:buFont typeface="Corbel"/>
              <a:buChar char="•"/>
              <a:tabLst>
                <a:tab pos="193040" algn="l"/>
              </a:tabLst>
            </a:pPr>
            <a:r>
              <a:rPr sz="2100" dirty="0">
                <a:latin typeface="Calisto MT"/>
                <a:cs typeface="Calisto MT"/>
              </a:rPr>
              <a:t>Describe</a:t>
            </a:r>
            <a:r>
              <a:rPr sz="2100" spc="-2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the</a:t>
            </a:r>
            <a:r>
              <a:rPr sz="2100" spc="-4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HTTP/3</a:t>
            </a:r>
            <a:r>
              <a:rPr sz="2100" spc="-5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protocol</a:t>
            </a:r>
            <a:r>
              <a:rPr sz="2100" spc="-6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and</a:t>
            </a:r>
            <a:r>
              <a:rPr sz="2100" spc="-5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its</a:t>
            </a:r>
            <a:r>
              <a:rPr sz="2100" spc="-3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benefits</a:t>
            </a:r>
            <a:r>
              <a:rPr sz="2100" spc="-3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over</a:t>
            </a:r>
            <a:r>
              <a:rPr sz="2100" spc="-5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its</a:t>
            </a:r>
            <a:r>
              <a:rPr sz="2100" spc="-35" dirty="0">
                <a:latin typeface="Calisto MT"/>
                <a:cs typeface="Calisto MT"/>
              </a:rPr>
              <a:t> </a:t>
            </a:r>
            <a:r>
              <a:rPr sz="2100" spc="-10" dirty="0">
                <a:latin typeface="Calisto MT"/>
                <a:cs typeface="Calisto MT"/>
              </a:rPr>
              <a:t>predecessors</a:t>
            </a:r>
            <a:endParaRPr sz="2100">
              <a:latin typeface="Calisto MT"/>
              <a:cs typeface="Calisto MT"/>
            </a:endParaRPr>
          </a:p>
          <a:p>
            <a:pPr marL="193040" indent="-180340">
              <a:lnSpc>
                <a:spcPct val="100000"/>
              </a:lnSpc>
              <a:spcBef>
                <a:spcPts val="1150"/>
              </a:spcBef>
              <a:buSzPct val="78571"/>
              <a:buFont typeface="Corbel"/>
              <a:buChar char="•"/>
              <a:tabLst>
                <a:tab pos="193040" algn="l"/>
              </a:tabLst>
            </a:pPr>
            <a:r>
              <a:rPr sz="2100" dirty="0">
                <a:latin typeface="Calisto MT"/>
                <a:cs typeface="Calisto MT"/>
              </a:rPr>
              <a:t>Explain</a:t>
            </a:r>
            <a:r>
              <a:rPr sz="2100" spc="-3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different</a:t>
            </a:r>
            <a:r>
              <a:rPr sz="2100" spc="-4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types</a:t>
            </a:r>
            <a:r>
              <a:rPr sz="2100" spc="-3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of</a:t>
            </a:r>
            <a:r>
              <a:rPr sz="2100" spc="16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components</a:t>
            </a:r>
            <a:r>
              <a:rPr sz="2100" spc="-4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used</a:t>
            </a:r>
            <a:r>
              <a:rPr sz="2100" spc="-2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in</a:t>
            </a:r>
            <a:r>
              <a:rPr sz="2100" spc="-50" dirty="0">
                <a:latin typeface="Calisto MT"/>
                <a:cs typeface="Calisto MT"/>
              </a:rPr>
              <a:t> </a:t>
            </a:r>
            <a:r>
              <a:rPr sz="2100" spc="-10" dirty="0">
                <a:latin typeface="Calisto MT"/>
                <a:cs typeface="Calisto MT"/>
              </a:rPr>
              <a:t>developing</a:t>
            </a:r>
            <a:r>
              <a:rPr sz="2100" spc="-5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a</a:t>
            </a:r>
            <a:r>
              <a:rPr sz="2100" spc="-50" dirty="0">
                <a:latin typeface="Calisto MT"/>
                <a:cs typeface="Calisto MT"/>
              </a:rPr>
              <a:t> </a:t>
            </a:r>
            <a:r>
              <a:rPr sz="2100" spc="-45" dirty="0">
                <a:latin typeface="Calisto MT"/>
                <a:cs typeface="Calisto MT"/>
              </a:rPr>
              <a:t>Java</a:t>
            </a:r>
            <a:r>
              <a:rPr sz="2100" spc="-60" dirty="0">
                <a:latin typeface="Calisto MT"/>
                <a:cs typeface="Calisto MT"/>
              </a:rPr>
              <a:t> </a:t>
            </a:r>
            <a:r>
              <a:rPr sz="2100" spc="-45" dirty="0">
                <a:latin typeface="Calisto MT"/>
                <a:cs typeface="Calisto MT"/>
              </a:rPr>
              <a:t>Web</a:t>
            </a:r>
            <a:r>
              <a:rPr sz="2100" spc="-35" dirty="0">
                <a:latin typeface="Calisto MT"/>
                <a:cs typeface="Calisto MT"/>
              </a:rPr>
              <a:t> </a:t>
            </a:r>
            <a:r>
              <a:rPr sz="2100" spc="-10" dirty="0">
                <a:latin typeface="Calisto MT"/>
                <a:cs typeface="Calisto MT"/>
              </a:rPr>
              <a:t>application</a:t>
            </a:r>
            <a:endParaRPr sz="2100">
              <a:latin typeface="Calisto MT"/>
              <a:cs typeface="Calisto MT"/>
            </a:endParaRPr>
          </a:p>
          <a:p>
            <a:pPr marL="193040" indent="-180340">
              <a:lnSpc>
                <a:spcPct val="100000"/>
              </a:lnSpc>
              <a:spcBef>
                <a:spcPts val="1155"/>
              </a:spcBef>
              <a:buSzPct val="78571"/>
              <a:buFont typeface="Corbel"/>
              <a:buChar char="•"/>
              <a:tabLst>
                <a:tab pos="193040" algn="l"/>
              </a:tabLst>
            </a:pPr>
            <a:r>
              <a:rPr sz="2100" dirty="0">
                <a:latin typeface="Calisto MT"/>
                <a:cs typeface="Calisto MT"/>
              </a:rPr>
              <a:t>List</a:t>
            </a:r>
            <a:r>
              <a:rPr sz="2100" spc="-2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the</a:t>
            </a:r>
            <a:r>
              <a:rPr sz="2100" spc="-25" dirty="0">
                <a:latin typeface="Calisto MT"/>
                <a:cs typeface="Calisto MT"/>
              </a:rPr>
              <a:t> </a:t>
            </a:r>
            <a:r>
              <a:rPr sz="2100" spc="-10" dirty="0">
                <a:latin typeface="Calisto MT"/>
                <a:cs typeface="Calisto MT"/>
              </a:rPr>
              <a:t>advantages</a:t>
            </a:r>
            <a:r>
              <a:rPr sz="2100" spc="-4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and</a:t>
            </a:r>
            <a:r>
              <a:rPr sz="2100" spc="-30" dirty="0">
                <a:latin typeface="Calisto MT"/>
                <a:cs typeface="Calisto MT"/>
              </a:rPr>
              <a:t> </a:t>
            </a:r>
            <a:r>
              <a:rPr sz="2100" spc="-10" dirty="0">
                <a:latin typeface="Calisto MT"/>
                <a:cs typeface="Calisto MT"/>
              </a:rPr>
              <a:t>disadvantages</a:t>
            </a:r>
            <a:r>
              <a:rPr sz="2100" spc="-5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of</a:t>
            </a:r>
            <a:r>
              <a:rPr sz="2100" spc="190" dirty="0">
                <a:latin typeface="Calisto MT"/>
                <a:cs typeface="Calisto MT"/>
              </a:rPr>
              <a:t> </a:t>
            </a:r>
            <a:r>
              <a:rPr sz="2100" spc="-10" dirty="0">
                <a:latin typeface="Calisto MT"/>
                <a:cs typeface="Calisto MT"/>
              </a:rPr>
              <a:t>Servlets</a:t>
            </a:r>
            <a:endParaRPr sz="2100">
              <a:latin typeface="Calisto MT"/>
              <a:cs typeface="Calisto MT"/>
            </a:endParaRPr>
          </a:p>
          <a:p>
            <a:pPr marL="193040" indent="-180340">
              <a:lnSpc>
                <a:spcPct val="100000"/>
              </a:lnSpc>
              <a:spcBef>
                <a:spcPts val="1140"/>
              </a:spcBef>
              <a:buSzPct val="78571"/>
              <a:buFont typeface="Corbel"/>
              <a:buChar char="•"/>
              <a:tabLst>
                <a:tab pos="193040" algn="l"/>
              </a:tabLst>
            </a:pPr>
            <a:r>
              <a:rPr sz="2100" dirty="0">
                <a:latin typeface="Calisto MT"/>
                <a:cs typeface="Calisto MT"/>
              </a:rPr>
              <a:t>Describe</a:t>
            </a:r>
            <a:r>
              <a:rPr sz="2100" spc="-3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the</a:t>
            </a:r>
            <a:r>
              <a:rPr sz="2100" spc="-5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sequence</a:t>
            </a:r>
            <a:r>
              <a:rPr sz="2100" spc="-4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of</a:t>
            </a:r>
            <a:r>
              <a:rPr sz="2100" spc="16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events</a:t>
            </a:r>
            <a:r>
              <a:rPr sz="2100" spc="-5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from</a:t>
            </a:r>
            <a:r>
              <a:rPr sz="2100" spc="-5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request</a:t>
            </a:r>
            <a:r>
              <a:rPr sz="2100" spc="-3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to</a:t>
            </a:r>
            <a:r>
              <a:rPr sz="2100" spc="-4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response</a:t>
            </a:r>
            <a:r>
              <a:rPr sz="2100" spc="-5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in</a:t>
            </a:r>
            <a:r>
              <a:rPr sz="2100" spc="-4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a</a:t>
            </a:r>
            <a:r>
              <a:rPr sz="2100" spc="-50" dirty="0">
                <a:latin typeface="Calisto MT"/>
                <a:cs typeface="Calisto MT"/>
              </a:rPr>
              <a:t> </a:t>
            </a:r>
            <a:r>
              <a:rPr sz="2100" spc="-45" dirty="0">
                <a:latin typeface="Calisto MT"/>
                <a:cs typeface="Calisto MT"/>
              </a:rPr>
              <a:t>Java</a:t>
            </a:r>
            <a:r>
              <a:rPr sz="2100" spc="-70" dirty="0">
                <a:latin typeface="Calisto MT"/>
                <a:cs typeface="Calisto MT"/>
              </a:rPr>
              <a:t> </a:t>
            </a:r>
            <a:r>
              <a:rPr sz="2100" spc="-45" dirty="0">
                <a:latin typeface="Calisto MT"/>
                <a:cs typeface="Calisto MT"/>
              </a:rPr>
              <a:t>Web</a:t>
            </a:r>
            <a:r>
              <a:rPr sz="2100" spc="-35" dirty="0">
                <a:latin typeface="Calisto MT"/>
                <a:cs typeface="Calisto MT"/>
              </a:rPr>
              <a:t> </a:t>
            </a:r>
            <a:r>
              <a:rPr sz="2100" spc="-10" dirty="0">
                <a:latin typeface="Calisto MT"/>
                <a:cs typeface="Calisto MT"/>
              </a:rPr>
              <a:t>application</a:t>
            </a:r>
            <a:endParaRPr sz="2100">
              <a:latin typeface="Calisto MT"/>
              <a:cs typeface="Calisto MT"/>
            </a:endParaRPr>
          </a:p>
          <a:p>
            <a:pPr marL="193040" indent="-180340">
              <a:lnSpc>
                <a:spcPct val="100000"/>
              </a:lnSpc>
              <a:spcBef>
                <a:spcPts val="1150"/>
              </a:spcBef>
              <a:buSzPct val="78571"/>
              <a:buFont typeface="Corbel"/>
              <a:buChar char="•"/>
              <a:tabLst>
                <a:tab pos="193040" algn="l"/>
              </a:tabLst>
            </a:pPr>
            <a:r>
              <a:rPr sz="2100" dirty="0">
                <a:latin typeface="Calisto MT"/>
                <a:cs typeface="Calisto MT"/>
              </a:rPr>
              <a:t>Explain</a:t>
            </a:r>
            <a:r>
              <a:rPr sz="2100" spc="-3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the</a:t>
            </a:r>
            <a:r>
              <a:rPr sz="2100" spc="-3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services</a:t>
            </a:r>
            <a:r>
              <a:rPr sz="2100" spc="-2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provided</a:t>
            </a:r>
            <a:r>
              <a:rPr sz="2100" spc="-55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by</a:t>
            </a:r>
            <a:r>
              <a:rPr sz="2100" spc="-20" dirty="0">
                <a:latin typeface="Calisto MT"/>
                <a:cs typeface="Calisto MT"/>
              </a:rPr>
              <a:t> </a:t>
            </a:r>
            <a:r>
              <a:rPr sz="2100" dirty="0">
                <a:latin typeface="Calisto MT"/>
                <a:cs typeface="Calisto MT"/>
              </a:rPr>
              <a:t>a</a:t>
            </a:r>
            <a:r>
              <a:rPr sz="2100" spc="-40" dirty="0">
                <a:latin typeface="Calisto MT"/>
                <a:cs typeface="Calisto MT"/>
              </a:rPr>
              <a:t> </a:t>
            </a:r>
            <a:r>
              <a:rPr sz="2100" spc="-45" dirty="0">
                <a:latin typeface="Calisto MT"/>
                <a:cs typeface="Calisto MT"/>
              </a:rPr>
              <a:t>Web</a:t>
            </a:r>
            <a:r>
              <a:rPr sz="2100" spc="-25" dirty="0">
                <a:latin typeface="Calisto MT"/>
                <a:cs typeface="Calisto MT"/>
              </a:rPr>
              <a:t> </a:t>
            </a:r>
            <a:r>
              <a:rPr sz="2100" spc="-10" dirty="0">
                <a:latin typeface="Calisto MT"/>
                <a:cs typeface="Calisto MT"/>
              </a:rPr>
              <a:t>container</a:t>
            </a:r>
            <a:endParaRPr sz="21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0388" y="1155191"/>
            <a:ext cx="4567427" cy="147980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45817" y="2740101"/>
            <a:ext cx="2035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Desktop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Application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92111" y="1082040"/>
            <a:ext cx="2318003" cy="157276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047521" y="2816660"/>
            <a:ext cx="2379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Networking</a:t>
            </a:r>
            <a:r>
              <a:rPr sz="1800" spc="-8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Application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40036" y="4027932"/>
            <a:ext cx="5074906" cy="160324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944167" y="5799310"/>
            <a:ext cx="16662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Application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Web</a:t>
            </a:r>
            <a:r>
              <a:rPr spc="-100" dirty="0"/>
              <a:t> </a:t>
            </a:r>
            <a:r>
              <a:rPr dirty="0"/>
              <a:t>Applications</a:t>
            </a:r>
            <a:r>
              <a:rPr spc="-55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dirty="0"/>
              <a:t>their</a:t>
            </a:r>
            <a:r>
              <a:rPr spc="-75" dirty="0"/>
              <a:t> </a:t>
            </a:r>
            <a:r>
              <a:rPr spc="-10" dirty="0"/>
              <a:t>Architecture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515192" y="1825751"/>
            <a:ext cx="2823845" cy="854710"/>
            <a:chOff x="1515192" y="1825751"/>
            <a:chExt cx="2823845" cy="854710"/>
          </a:xfrm>
        </p:grpSpPr>
        <p:sp>
          <p:nvSpPr>
            <p:cNvPr id="6" name="object 6"/>
            <p:cNvSpPr/>
            <p:nvPr/>
          </p:nvSpPr>
          <p:spPr>
            <a:xfrm>
              <a:off x="1520190" y="2096261"/>
              <a:ext cx="2478405" cy="579120"/>
            </a:xfrm>
            <a:custGeom>
              <a:avLst/>
              <a:gdLst/>
              <a:ahLst/>
              <a:cxnLst/>
              <a:rect l="l" t="t" r="r" b="b"/>
              <a:pathLst>
                <a:path w="2478404" h="579119">
                  <a:moveTo>
                    <a:pt x="0" y="0"/>
                  </a:moveTo>
                  <a:lnTo>
                    <a:pt x="2478024" y="0"/>
                  </a:lnTo>
                  <a:lnTo>
                    <a:pt x="2478024" y="579120"/>
                  </a:lnTo>
                  <a:lnTo>
                    <a:pt x="0" y="579120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4500" y="1825751"/>
              <a:ext cx="2624328" cy="685799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515192" y="2795016"/>
            <a:ext cx="2810510" cy="929640"/>
            <a:chOff x="1515192" y="2795016"/>
            <a:chExt cx="2810510" cy="929640"/>
          </a:xfrm>
        </p:grpSpPr>
        <p:sp>
          <p:nvSpPr>
            <p:cNvPr id="9" name="object 9"/>
            <p:cNvSpPr/>
            <p:nvPr/>
          </p:nvSpPr>
          <p:spPr>
            <a:xfrm>
              <a:off x="1520190" y="3140202"/>
              <a:ext cx="2512060" cy="579120"/>
            </a:xfrm>
            <a:custGeom>
              <a:avLst/>
              <a:gdLst/>
              <a:ahLst/>
              <a:cxnLst/>
              <a:rect l="l" t="t" r="r" b="b"/>
              <a:pathLst>
                <a:path w="2512060" h="579120">
                  <a:moveTo>
                    <a:pt x="0" y="0"/>
                  </a:moveTo>
                  <a:lnTo>
                    <a:pt x="2511552" y="0"/>
                  </a:lnTo>
                  <a:lnTo>
                    <a:pt x="2511552" y="579119"/>
                  </a:lnTo>
                  <a:lnTo>
                    <a:pt x="0" y="579119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3EC3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02308" y="2795016"/>
              <a:ext cx="2622803" cy="687323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515192" y="3838955"/>
            <a:ext cx="2810510" cy="928369"/>
            <a:chOff x="1515192" y="3838955"/>
            <a:chExt cx="2810510" cy="928369"/>
          </a:xfrm>
        </p:grpSpPr>
        <p:sp>
          <p:nvSpPr>
            <p:cNvPr id="12" name="object 12"/>
            <p:cNvSpPr/>
            <p:nvPr/>
          </p:nvSpPr>
          <p:spPr>
            <a:xfrm>
              <a:off x="1520190" y="4182617"/>
              <a:ext cx="2513330" cy="579120"/>
            </a:xfrm>
            <a:custGeom>
              <a:avLst/>
              <a:gdLst/>
              <a:ahLst/>
              <a:cxnLst/>
              <a:rect l="l" t="t" r="r" b="b"/>
              <a:pathLst>
                <a:path w="2513329" h="579120">
                  <a:moveTo>
                    <a:pt x="0" y="0"/>
                  </a:moveTo>
                  <a:lnTo>
                    <a:pt x="2513076" y="0"/>
                  </a:lnTo>
                  <a:lnTo>
                    <a:pt x="2513076" y="579119"/>
                  </a:lnTo>
                  <a:lnTo>
                    <a:pt x="0" y="579119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61C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02308" y="3838955"/>
              <a:ext cx="2622803" cy="6857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460917" y="1015789"/>
            <a:ext cx="2934970" cy="329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Applications</a:t>
            </a:r>
            <a:r>
              <a:rPr sz="1800" spc="-9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Advantages</a:t>
            </a: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</a:pP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800">
              <a:latin typeface="Calisto MT"/>
              <a:cs typeface="Calisto MT"/>
            </a:endParaRPr>
          </a:p>
          <a:p>
            <a:pPr marL="389890" marR="1027430">
              <a:lnSpc>
                <a:spcPts val="1870"/>
              </a:lnSpc>
            </a:pPr>
            <a:r>
              <a:rPr sz="1800" dirty="0">
                <a:latin typeface="Calisto MT"/>
                <a:cs typeface="Calisto MT"/>
              </a:rPr>
              <a:t>Easier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to </a:t>
            </a:r>
            <a:r>
              <a:rPr sz="1800" spc="-10" dirty="0">
                <a:latin typeface="Calisto MT"/>
                <a:cs typeface="Calisto MT"/>
              </a:rPr>
              <a:t>information</a:t>
            </a: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820"/>
              </a:spcBef>
            </a:pPr>
            <a:endParaRPr sz="1800">
              <a:latin typeface="Calisto MT"/>
              <a:cs typeface="Calisto MT"/>
            </a:endParaRPr>
          </a:p>
          <a:p>
            <a:pPr marL="376555" marR="207010">
              <a:lnSpc>
                <a:spcPts val="1870"/>
              </a:lnSpc>
              <a:spcBef>
                <a:spcPts val="5"/>
              </a:spcBef>
            </a:pPr>
            <a:r>
              <a:rPr sz="1800" dirty="0">
                <a:latin typeface="Calisto MT"/>
                <a:cs typeface="Calisto MT"/>
              </a:rPr>
              <a:t>Lower</a:t>
            </a:r>
            <a:r>
              <a:rPr sz="1800" spc="-8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maintenance</a:t>
            </a:r>
            <a:r>
              <a:rPr sz="1800" spc="-9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and </a:t>
            </a:r>
            <a:r>
              <a:rPr sz="1800" dirty="0">
                <a:latin typeface="Calisto MT"/>
                <a:cs typeface="Calisto MT"/>
              </a:rPr>
              <a:t>deployment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costs</a:t>
            </a: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</a:pP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800">
              <a:latin typeface="Calisto MT"/>
              <a:cs typeface="Calisto MT"/>
            </a:endParaRPr>
          </a:p>
          <a:p>
            <a:pPr marL="37655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sto MT"/>
                <a:cs typeface="Calisto MT"/>
              </a:rPr>
              <a:t>Platform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independence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515192" y="4881371"/>
            <a:ext cx="2810510" cy="929640"/>
            <a:chOff x="1515192" y="4881371"/>
            <a:chExt cx="2810510" cy="929640"/>
          </a:xfrm>
        </p:grpSpPr>
        <p:sp>
          <p:nvSpPr>
            <p:cNvPr id="16" name="object 16"/>
            <p:cNvSpPr/>
            <p:nvPr/>
          </p:nvSpPr>
          <p:spPr>
            <a:xfrm>
              <a:off x="1520190" y="5226557"/>
              <a:ext cx="2566670" cy="579120"/>
            </a:xfrm>
            <a:custGeom>
              <a:avLst/>
              <a:gdLst/>
              <a:ahLst/>
              <a:cxnLst/>
              <a:rect l="l" t="t" r="r" b="b"/>
              <a:pathLst>
                <a:path w="2566670" h="579120">
                  <a:moveTo>
                    <a:pt x="0" y="0"/>
                  </a:moveTo>
                  <a:lnTo>
                    <a:pt x="2566416" y="0"/>
                  </a:lnTo>
                  <a:lnTo>
                    <a:pt x="2566416" y="579120"/>
                  </a:lnTo>
                  <a:lnTo>
                    <a:pt x="0" y="579120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02308" y="4881371"/>
              <a:ext cx="2622803" cy="68732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824960" y="5049730"/>
            <a:ext cx="151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Wider</a:t>
            </a:r>
            <a:r>
              <a:rPr sz="1800" spc="-9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visibility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94824" y="949561"/>
            <a:ext cx="1715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sto MT"/>
                <a:cs typeface="Calisto MT"/>
              </a:rPr>
              <a:t>SPA</a:t>
            </a:r>
            <a:r>
              <a:rPr sz="1800" spc="-9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Architecture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33510" y="3524282"/>
            <a:ext cx="2637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Microservices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Architecture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93664" y="4072128"/>
            <a:ext cx="3946835" cy="200051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844790" y="4810505"/>
            <a:ext cx="943610" cy="756285"/>
          </a:xfrm>
          <a:prstGeom prst="rect">
            <a:avLst/>
          </a:prstGeom>
          <a:solidFill>
            <a:srgbClr val="F4B083"/>
          </a:solidFill>
          <a:ln w="25400">
            <a:solidFill>
              <a:srgbClr val="1C334E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b="1" spc="-25" dirty="0">
                <a:latin typeface="Calisto MT"/>
                <a:cs typeface="Calisto MT"/>
              </a:rPr>
              <a:t>API</a:t>
            </a:r>
            <a:endParaRPr sz="1200">
              <a:latin typeface="Calisto MT"/>
              <a:cs typeface="Calisto MT"/>
            </a:endParaRPr>
          </a:p>
          <a:p>
            <a:pPr algn="ctr">
              <a:lnSpc>
                <a:spcPct val="100000"/>
              </a:lnSpc>
            </a:pPr>
            <a:r>
              <a:rPr sz="1200" b="1" spc="-10" dirty="0">
                <a:latin typeface="Calisto MT"/>
                <a:cs typeface="Calisto MT"/>
              </a:rPr>
              <a:t>Gateway</a:t>
            </a:r>
            <a:endParaRPr sz="1200">
              <a:latin typeface="Calisto MT"/>
              <a:cs typeface="Calisto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640823" y="4072128"/>
            <a:ext cx="1498092" cy="212530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664708" y="1479804"/>
            <a:ext cx="5503162" cy="1837943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907" y="79546"/>
            <a:ext cx="46361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Web</a:t>
            </a:r>
            <a:r>
              <a:rPr spc="-120" dirty="0"/>
              <a:t> </a:t>
            </a:r>
            <a:r>
              <a:rPr dirty="0"/>
              <a:t>Application</a:t>
            </a:r>
            <a:r>
              <a:rPr spc="-100" dirty="0"/>
              <a:t> </a:t>
            </a:r>
            <a:r>
              <a:rPr spc="-10" dirty="0"/>
              <a:t>Technologies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29028" y="1260120"/>
            <a:ext cx="2988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8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Technologies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28344" y="2177795"/>
            <a:ext cx="4700270" cy="2188845"/>
            <a:chOff x="1228344" y="2177795"/>
            <a:chExt cx="4700270" cy="218884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8344" y="2177795"/>
              <a:ext cx="1133855" cy="21884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7967" y="2191511"/>
              <a:ext cx="1054608" cy="210921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323338" y="2192274"/>
              <a:ext cx="3599815" cy="2109470"/>
            </a:xfrm>
            <a:custGeom>
              <a:avLst/>
              <a:gdLst/>
              <a:ahLst/>
              <a:cxnLst/>
              <a:rect l="l" t="t" r="r" b="b"/>
              <a:pathLst>
                <a:path w="3599815" h="2109470">
                  <a:moveTo>
                    <a:pt x="3599688" y="0"/>
                  </a:moveTo>
                  <a:lnTo>
                    <a:pt x="0" y="0"/>
                  </a:lnTo>
                  <a:lnTo>
                    <a:pt x="0" y="2109216"/>
                  </a:lnTo>
                  <a:lnTo>
                    <a:pt x="3599688" y="2109216"/>
                  </a:lnTo>
                  <a:lnTo>
                    <a:pt x="359968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23338" y="2192274"/>
              <a:ext cx="3599815" cy="2109470"/>
            </a:xfrm>
            <a:custGeom>
              <a:avLst/>
              <a:gdLst/>
              <a:ahLst/>
              <a:cxnLst/>
              <a:rect l="l" t="t" r="r" b="b"/>
              <a:pathLst>
                <a:path w="3599815" h="2109470">
                  <a:moveTo>
                    <a:pt x="0" y="0"/>
                  </a:moveTo>
                  <a:lnTo>
                    <a:pt x="3599688" y="0"/>
                  </a:lnTo>
                  <a:lnTo>
                    <a:pt x="3599688" y="2109216"/>
                  </a:lnTo>
                  <a:lnTo>
                    <a:pt x="0" y="2109216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328335" y="2197271"/>
            <a:ext cx="3590290" cy="862330"/>
          </a:xfrm>
          <a:prstGeom prst="rect">
            <a:avLst/>
          </a:prstGeom>
          <a:solidFill>
            <a:srgbClr val="FFFFFF">
              <a:alpha val="90194"/>
            </a:srgbClr>
          </a:solidFill>
        </p:spPr>
        <p:txBody>
          <a:bodyPr vert="horz" wrap="square" lIns="0" tIns="698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0"/>
              </a:spcBef>
            </a:pPr>
            <a:endParaRPr sz="1800">
              <a:latin typeface="Times New Roman"/>
              <a:cs typeface="Times New Roman"/>
            </a:endParaRPr>
          </a:p>
          <a:p>
            <a:pPr marL="542925">
              <a:lnSpc>
                <a:spcPct val="100000"/>
              </a:lnSpc>
            </a:pPr>
            <a:r>
              <a:rPr sz="1800" spc="-20" dirty="0">
                <a:latin typeface="Calisto MT"/>
                <a:cs typeface="Calisto MT"/>
              </a:rPr>
              <a:t>HTML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81555" y="3059004"/>
            <a:ext cx="4146550" cy="1319530"/>
            <a:chOff x="1781555" y="3059004"/>
            <a:chExt cx="4146550" cy="131953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81555" y="3061716"/>
              <a:ext cx="580643" cy="13167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1181" y="3075432"/>
              <a:ext cx="501395" cy="123748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323337" y="3064002"/>
              <a:ext cx="3599815" cy="1262380"/>
            </a:xfrm>
            <a:custGeom>
              <a:avLst/>
              <a:gdLst/>
              <a:ahLst/>
              <a:cxnLst/>
              <a:rect l="l" t="t" r="r" b="b"/>
              <a:pathLst>
                <a:path w="3599815" h="1262379">
                  <a:moveTo>
                    <a:pt x="3599688" y="0"/>
                  </a:moveTo>
                  <a:lnTo>
                    <a:pt x="0" y="0"/>
                  </a:lnTo>
                  <a:lnTo>
                    <a:pt x="0" y="1261872"/>
                  </a:lnTo>
                  <a:lnTo>
                    <a:pt x="3599688" y="1261872"/>
                  </a:lnTo>
                  <a:lnTo>
                    <a:pt x="359968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23337" y="3064002"/>
              <a:ext cx="3599815" cy="1262380"/>
            </a:xfrm>
            <a:custGeom>
              <a:avLst/>
              <a:gdLst/>
              <a:ahLst/>
              <a:cxnLst/>
              <a:rect l="l" t="t" r="r" b="b"/>
              <a:pathLst>
                <a:path w="3599815" h="1262379">
                  <a:moveTo>
                    <a:pt x="0" y="0"/>
                  </a:moveTo>
                  <a:lnTo>
                    <a:pt x="3599688" y="0"/>
                  </a:lnTo>
                  <a:lnTo>
                    <a:pt x="3599688" y="1261872"/>
                  </a:lnTo>
                  <a:lnTo>
                    <a:pt x="0" y="1261872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468924" y="3518709"/>
            <a:ext cx="1518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HTTP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Protocol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69961" y="3142662"/>
            <a:ext cx="1102360" cy="1052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720" indent="-172720">
              <a:lnSpc>
                <a:spcPts val="2014"/>
              </a:lnSpc>
              <a:spcBef>
                <a:spcPts val="100"/>
              </a:spcBef>
              <a:buChar char="•"/>
              <a:tabLst>
                <a:tab pos="172720" algn="l"/>
              </a:tabLst>
            </a:pPr>
            <a:r>
              <a:rPr sz="1800" spc="-20" dirty="0">
                <a:latin typeface="Calisto MT"/>
                <a:cs typeface="Calisto MT"/>
              </a:rPr>
              <a:t>HTTP</a:t>
            </a:r>
            <a:endParaRPr sz="1800">
              <a:latin typeface="Calisto MT"/>
              <a:cs typeface="Calisto MT"/>
            </a:endParaRPr>
          </a:p>
          <a:p>
            <a:pPr marL="172085">
              <a:lnSpc>
                <a:spcPts val="2014"/>
              </a:lnSpc>
            </a:pPr>
            <a:r>
              <a:rPr sz="1800" spc="-10" dirty="0">
                <a:latin typeface="Calisto MT"/>
                <a:cs typeface="Calisto MT"/>
              </a:rPr>
              <a:t>Request</a:t>
            </a:r>
            <a:endParaRPr sz="1800">
              <a:latin typeface="Calisto MT"/>
              <a:cs typeface="Calisto MT"/>
            </a:endParaRPr>
          </a:p>
          <a:p>
            <a:pPr marL="172720" indent="-172720">
              <a:lnSpc>
                <a:spcPts val="2014"/>
              </a:lnSpc>
              <a:spcBef>
                <a:spcPts val="20"/>
              </a:spcBef>
              <a:buChar char="•"/>
              <a:tabLst>
                <a:tab pos="172720" algn="l"/>
              </a:tabLst>
            </a:pPr>
            <a:r>
              <a:rPr sz="1800" spc="-20" dirty="0">
                <a:latin typeface="Calisto MT"/>
                <a:cs typeface="Calisto MT"/>
              </a:rPr>
              <a:t>HTTP</a:t>
            </a:r>
            <a:endParaRPr sz="1800">
              <a:latin typeface="Calisto MT"/>
              <a:cs typeface="Calisto MT"/>
            </a:endParaRPr>
          </a:p>
          <a:p>
            <a:pPr marL="172085">
              <a:lnSpc>
                <a:spcPts val="2014"/>
              </a:lnSpc>
            </a:pPr>
            <a:r>
              <a:rPr sz="1800" spc="-10" dirty="0">
                <a:latin typeface="Calisto MT"/>
                <a:cs typeface="Calisto MT"/>
              </a:rPr>
              <a:t>Response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423404" y="1648967"/>
            <a:ext cx="3400425" cy="3199130"/>
            <a:chOff x="7423404" y="1648967"/>
            <a:chExt cx="3400425" cy="3199130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23404" y="1716023"/>
              <a:ext cx="3400043" cy="43281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98992" y="1648967"/>
              <a:ext cx="847343" cy="61874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66076" y="1735835"/>
              <a:ext cx="3314700" cy="34747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23404" y="2098547"/>
              <a:ext cx="3400043" cy="43281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22792" y="2033016"/>
              <a:ext cx="999743" cy="6187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66076" y="2118359"/>
              <a:ext cx="3314700" cy="34747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23404" y="2481071"/>
              <a:ext cx="3400043" cy="43281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698992" y="2415540"/>
              <a:ext cx="847343" cy="61874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66076" y="2500883"/>
              <a:ext cx="3314700" cy="34747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23404" y="2863595"/>
              <a:ext cx="3400043" cy="43281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70392" y="2798064"/>
              <a:ext cx="1304543" cy="61874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66076" y="2883407"/>
              <a:ext cx="3314700" cy="34747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23404" y="3246119"/>
              <a:ext cx="3400043" cy="43433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622792" y="3180588"/>
              <a:ext cx="999743" cy="61874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66076" y="3265931"/>
              <a:ext cx="3314700" cy="34899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23404" y="3628644"/>
              <a:ext cx="3400043" cy="4343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94192" y="3563111"/>
              <a:ext cx="1456943" cy="61874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466076" y="3648455"/>
              <a:ext cx="3314700" cy="34899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23404" y="4012691"/>
              <a:ext cx="3400043" cy="43281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546592" y="3945635"/>
              <a:ext cx="1152143" cy="61874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466076" y="4032503"/>
              <a:ext cx="3314700" cy="34747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23404" y="4413503"/>
              <a:ext cx="3400043" cy="43433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466076" y="4433317"/>
              <a:ext cx="3314700" cy="349250"/>
            </a:xfrm>
            <a:custGeom>
              <a:avLst/>
              <a:gdLst/>
              <a:ahLst/>
              <a:cxnLst/>
              <a:rect l="l" t="t" r="r" b="b"/>
              <a:pathLst>
                <a:path w="3314700" h="349250">
                  <a:moveTo>
                    <a:pt x="3219488" y="0"/>
                  </a:moveTo>
                  <a:lnTo>
                    <a:pt x="95211" y="0"/>
                  </a:lnTo>
                  <a:lnTo>
                    <a:pt x="58153" y="4570"/>
                  </a:lnTo>
                  <a:lnTo>
                    <a:pt x="27889" y="17033"/>
                  </a:lnTo>
                  <a:lnTo>
                    <a:pt x="7483" y="35522"/>
                  </a:lnTo>
                  <a:lnTo>
                    <a:pt x="0" y="58165"/>
                  </a:lnTo>
                  <a:lnTo>
                    <a:pt x="0" y="290829"/>
                  </a:lnTo>
                  <a:lnTo>
                    <a:pt x="7483" y="313468"/>
                  </a:lnTo>
                  <a:lnTo>
                    <a:pt x="27889" y="331957"/>
                  </a:lnTo>
                  <a:lnTo>
                    <a:pt x="58153" y="344424"/>
                  </a:lnTo>
                  <a:lnTo>
                    <a:pt x="95211" y="348995"/>
                  </a:lnTo>
                  <a:lnTo>
                    <a:pt x="3219488" y="348995"/>
                  </a:lnTo>
                  <a:lnTo>
                    <a:pt x="3256546" y="344424"/>
                  </a:lnTo>
                  <a:lnTo>
                    <a:pt x="3286810" y="331957"/>
                  </a:lnTo>
                  <a:lnTo>
                    <a:pt x="3307216" y="313468"/>
                  </a:lnTo>
                  <a:lnTo>
                    <a:pt x="3314700" y="290829"/>
                  </a:lnTo>
                  <a:lnTo>
                    <a:pt x="3314700" y="58165"/>
                  </a:lnTo>
                  <a:lnTo>
                    <a:pt x="3307216" y="35522"/>
                  </a:lnTo>
                  <a:lnTo>
                    <a:pt x="3286810" y="17033"/>
                  </a:lnTo>
                  <a:lnTo>
                    <a:pt x="3256546" y="4570"/>
                  </a:lnTo>
                  <a:lnTo>
                    <a:pt x="3219488" y="0"/>
                  </a:lnTo>
                  <a:close/>
                </a:path>
              </a:pathLst>
            </a:custGeom>
            <a:solidFill>
              <a:srgbClr val="3068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493321" y="1108944"/>
            <a:ext cx="1562735" cy="361251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800" dirty="0">
                <a:latin typeface="Calisto MT"/>
                <a:cs typeface="Calisto MT"/>
              </a:rPr>
              <a:t>HTTP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Methods</a:t>
            </a:r>
            <a:endParaRPr sz="1800">
              <a:latin typeface="Calisto MT"/>
              <a:cs typeface="Calisto MT"/>
            </a:endParaRPr>
          </a:p>
          <a:p>
            <a:pPr marL="96520" marR="390525" indent="-635" algn="ctr">
              <a:lnSpc>
                <a:spcPct val="125600"/>
              </a:lnSpc>
              <a:spcBef>
                <a:spcPts val="715"/>
              </a:spcBef>
            </a:pP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Get </a:t>
            </a:r>
            <a:r>
              <a:rPr sz="2000" spc="-20" dirty="0">
                <a:solidFill>
                  <a:srgbClr val="FFFFFF"/>
                </a:solidFill>
                <a:latin typeface="Courier New"/>
                <a:cs typeface="Courier New"/>
              </a:rPr>
              <a:t>Post 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Put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Delete </a:t>
            </a:r>
            <a:r>
              <a:rPr sz="2000" spc="-20" dirty="0">
                <a:solidFill>
                  <a:srgbClr val="FFFFFF"/>
                </a:solidFill>
                <a:latin typeface="Courier New"/>
                <a:cs typeface="Courier New"/>
              </a:rPr>
              <a:t>Head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Options Trace</a:t>
            </a:r>
            <a:endParaRPr sz="2000">
              <a:latin typeface="Courier New"/>
              <a:cs typeface="Courier New"/>
            </a:endParaRPr>
          </a:p>
          <a:p>
            <a:pPr marR="212725" algn="ctr">
              <a:lnSpc>
                <a:spcPct val="100000"/>
              </a:lnSpc>
              <a:spcBef>
                <a:spcPts val="92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Patch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76505" y="2739834"/>
            <a:ext cx="2302510" cy="935355"/>
            <a:chOff x="976505" y="2739834"/>
            <a:chExt cx="2302510" cy="935355"/>
          </a:xfrm>
        </p:grpSpPr>
        <p:sp>
          <p:nvSpPr>
            <p:cNvPr id="5" name="object 5"/>
            <p:cNvSpPr/>
            <p:nvPr/>
          </p:nvSpPr>
          <p:spPr>
            <a:xfrm>
              <a:off x="1041653" y="2766822"/>
              <a:ext cx="2199640" cy="881380"/>
            </a:xfrm>
            <a:custGeom>
              <a:avLst/>
              <a:gdLst/>
              <a:ahLst/>
              <a:cxnLst/>
              <a:rect l="l" t="t" r="r" b="b"/>
              <a:pathLst>
                <a:path w="2199640" h="881379">
                  <a:moveTo>
                    <a:pt x="1758695" y="0"/>
                  </a:moveTo>
                  <a:lnTo>
                    <a:pt x="0" y="0"/>
                  </a:lnTo>
                  <a:lnTo>
                    <a:pt x="440436" y="440436"/>
                  </a:lnTo>
                  <a:lnTo>
                    <a:pt x="0" y="880872"/>
                  </a:lnTo>
                  <a:lnTo>
                    <a:pt x="1758695" y="880872"/>
                  </a:lnTo>
                  <a:lnTo>
                    <a:pt x="2199132" y="440436"/>
                  </a:lnTo>
                  <a:lnTo>
                    <a:pt x="1758695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6505" y="2739834"/>
              <a:ext cx="2302510" cy="935355"/>
            </a:xfrm>
            <a:custGeom>
              <a:avLst/>
              <a:gdLst/>
              <a:ahLst/>
              <a:cxnLst/>
              <a:rect l="l" t="t" r="r" b="b"/>
              <a:pathLst>
                <a:path w="2302510" h="935354">
                  <a:moveTo>
                    <a:pt x="65151" y="0"/>
                  </a:moveTo>
                  <a:lnTo>
                    <a:pt x="0" y="0"/>
                  </a:lnTo>
                  <a:lnTo>
                    <a:pt x="467423" y="467423"/>
                  </a:lnTo>
                  <a:lnTo>
                    <a:pt x="0" y="934847"/>
                  </a:lnTo>
                  <a:lnTo>
                    <a:pt x="1835023" y="934847"/>
                  </a:lnTo>
                  <a:lnTo>
                    <a:pt x="1853018" y="916851"/>
                  </a:lnTo>
                  <a:lnTo>
                    <a:pt x="43434" y="916851"/>
                  </a:lnTo>
                  <a:lnTo>
                    <a:pt x="492861" y="467423"/>
                  </a:lnTo>
                  <a:lnTo>
                    <a:pt x="43434" y="17995"/>
                  </a:lnTo>
                  <a:lnTo>
                    <a:pt x="65151" y="17995"/>
                  </a:lnTo>
                  <a:lnTo>
                    <a:pt x="65151" y="0"/>
                  </a:lnTo>
                  <a:close/>
                </a:path>
                <a:path w="2302510" h="935354">
                  <a:moveTo>
                    <a:pt x="1835023" y="0"/>
                  </a:moveTo>
                  <a:lnTo>
                    <a:pt x="65151" y="0"/>
                  </a:lnTo>
                  <a:lnTo>
                    <a:pt x="65151" y="17995"/>
                  </a:lnTo>
                  <a:lnTo>
                    <a:pt x="1827568" y="17995"/>
                  </a:lnTo>
                  <a:lnTo>
                    <a:pt x="2277008" y="467423"/>
                  </a:lnTo>
                  <a:lnTo>
                    <a:pt x="1827568" y="916851"/>
                  </a:lnTo>
                  <a:lnTo>
                    <a:pt x="1853018" y="916851"/>
                  </a:lnTo>
                  <a:lnTo>
                    <a:pt x="2302446" y="467423"/>
                  </a:lnTo>
                  <a:lnTo>
                    <a:pt x="1835023" y="0"/>
                  </a:lnTo>
                  <a:close/>
                </a:path>
                <a:path w="2302510" h="935354">
                  <a:moveTo>
                    <a:pt x="86868" y="35979"/>
                  </a:moveTo>
                  <a:lnTo>
                    <a:pt x="518299" y="467423"/>
                  </a:lnTo>
                  <a:lnTo>
                    <a:pt x="86868" y="898867"/>
                  </a:lnTo>
                  <a:lnTo>
                    <a:pt x="1820113" y="898867"/>
                  </a:lnTo>
                  <a:lnTo>
                    <a:pt x="1838109" y="880872"/>
                  </a:lnTo>
                  <a:lnTo>
                    <a:pt x="130302" y="880872"/>
                  </a:lnTo>
                  <a:lnTo>
                    <a:pt x="543750" y="467423"/>
                  </a:lnTo>
                  <a:lnTo>
                    <a:pt x="130302" y="53975"/>
                  </a:lnTo>
                  <a:lnTo>
                    <a:pt x="86868" y="35979"/>
                  </a:lnTo>
                  <a:close/>
                </a:path>
                <a:path w="2302510" h="935354">
                  <a:moveTo>
                    <a:pt x="1820113" y="35979"/>
                  </a:moveTo>
                  <a:lnTo>
                    <a:pt x="86868" y="35979"/>
                  </a:lnTo>
                  <a:lnTo>
                    <a:pt x="130302" y="53975"/>
                  </a:lnTo>
                  <a:lnTo>
                    <a:pt x="1812671" y="53975"/>
                  </a:lnTo>
                  <a:lnTo>
                    <a:pt x="2226119" y="467423"/>
                  </a:lnTo>
                  <a:lnTo>
                    <a:pt x="1812671" y="880872"/>
                  </a:lnTo>
                  <a:lnTo>
                    <a:pt x="1838109" y="880872"/>
                  </a:lnTo>
                  <a:lnTo>
                    <a:pt x="2251557" y="467423"/>
                  </a:lnTo>
                  <a:lnTo>
                    <a:pt x="1820113" y="35979"/>
                  </a:lnTo>
                  <a:close/>
                </a:path>
              </a:pathLst>
            </a:custGeom>
            <a:solidFill>
              <a:srgbClr val="95A6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41128" y="2912193"/>
            <a:ext cx="1244600" cy="5378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 indent="313690">
              <a:lnSpc>
                <a:spcPts val="1870"/>
              </a:lnSpc>
              <a:spcBef>
                <a:spcPts val="405"/>
              </a:spcBef>
            </a:pPr>
            <a:r>
              <a:rPr sz="1800" spc="-10" dirty="0">
                <a:latin typeface="Calisto MT"/>
                <a:cs typeface="Calisto MT"/>
              </a:rPr>
              <a:t>Faster Connections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54657" y="2739834"/>
            <a:ext cx="2302510" cy="935355"/>
            <a:chOff x="2954657" y="2739834"/>
            <a:chExt cx="2302510" cy="935355"/>
          </a:xfrm>
        </p:grpSpPr>
        <p:sp>
          <p:nvSpPr>
            <p:cNvPr id="9" name="object 9"/>
            <p:cNvSpPr/>
            <p:nvPr/>
          </p:nvSpPr>
          <p:spPr>
            <a:xfrm>
              <a:off x="3019806" y="2766822"/>
              <a:ext cx="2199640" cy="881380"/>
            </a:xfrm>
            <a:custGeom>
              <a:avLst/>
              <a:gdLst/>
              <a:ahLst/>
              <a:cxnLst/>
              <a:rect l="l" t="t" r="r" b="b"/>
              <a:pathLst>
                <a:path w="2199640" h="881379">
                  <a:moveTo>
                    <a:pt x="1758695" y="0"/>
                  </a:moveTo>
                  <a:lnTo>
                    <a:pt x="0" y="0"/>
                  </a:lnTo>
                  <a:lnTo>
                    <a:pt x="440436" y="440436"/>
                  </a:lnTo>
                  <a:lnTo>
                    <a:pt x="0" y="880872"/>
                  </a:lnTo>
                  <a:lnTo>
                    <a:pt x="1758695" y="880872"/>
                  </a:lnTo>
                  <a:lnTo>
                    <a:pt x="2199132" y="440436"/>
                  </a:lnTo>
                  <a:lnTo>
                    <a:pt x="1758695" y="0"/>
                  </a:lnTo>
                  <a:close/>
                </a:path>
              </a:pathLst>
            </a:custGeom>
            <a:solidFill>
              <a:srgbClr val="22B5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54657" y="2739834"/>
              <a:ext cx="2302510" cy="935355"/>
            </a:xfrm>
            <a:custGeom>
              <a:avLst/>
              <a:gdLst/>
              <a:ahLst/>
              <a:cxnLst/>
              <a:rect l="l" t="t" r="r" b="b"/>
              <a:pathLst>
                <a:path w="2302510" h="935354">
                  <a:moveTo>
                    <a:pt x="65150" y="0"/>
                  </a:moveTo>
                  <a:lnTo>
                    <a:pt x="0" y="0"/>
                  </a:lnTo>
                  <a:lnTo>
                    <a:pt x="467423" y="467423"/>
                  </a:lnTo>
                  <a:lnTo>
                    <a:pt x="0" y="934847"/>
                  </a:lnTo>
                  <a:lnTo>
                    <a:pt x="1835022" y="934847"/>
                  </a:lnTo>
                  <a:lnTo>
                    <a:pt x="1853018" y="916851"/>
                  </a:lnTo>
                  <a:lnTo>
                    <a:pt x="43433" y="916851"/>
                  </a:lnTo>
                  <a:lnTo>
                    <a:pt x="492861" y="467423"/>
                  </a:lnTo>
                  <a:lnTo>
                    <a:pt x="43433" y="17995"/>
                  </a:lnTo>
                  <a:lnTo>
                    <a:pt x="65150" y="17995"/>
                  </a:lnTo>
                  <a:lnTo>
                    <a:pt x="65150" y="0"/>
                  </a:lnTo>
                  <a:close/>
                </a:path>
                <a:path w="2302510" h="935354">
                  <a:moveTo>
                    <a:pt x="1835022" y="0"/>
                  </a:moveTo>
                  <a:lnTo>
                    <a:pt x="65150" y="0"/>
                  </a:lnTo>
                  <a:lnTo>
                    <a:pt x="65150" y="17995"/>
                  </a:lnTo>
                  <a:lnTo>
                    <a:pt x="1827568" y="17995"/>
                  </a:lnTo>
                  <a:lnTo>
                    <a:pt x="2277008" y="467423"/>
                  </a:lnTo>
                  <a:lnTo>
                    <a:pt x="1827568" y="916851"/>
                  </a:lnTo>
                  <a:lnTo>
                    <a:pt x="1853018" y="916851"/>
                  </a:lnTo>
                  <a:lnTo>
                    <a:pt x="2302446" y="467423"/>
                  </a:lnTo>
                  <a:lnTo>
                    <a:pt x="1835022" y="0"/>
                  </a:lnTo>
                  <a:close/>
                </a:path>
                <a:path w="2302510" h="935354">
                  <a:moveTo>
                    <a:pt x="86867" y="35979"/>
                  </a:moveTo>
                  <a:lnTo>
                    <a:pt x="518299" y="467423"/>
                  </a:lnTo>
                  <a:lnTo>
                    <a:pt x="86867" y="898867"/>
                  </a:lnTo>
                  <a:lnTo>
                    <a:pt x="1820113" y="898867"/>
                  </a:lnTo>
                  <a:lnTo>
                    <a:pt x="1838109" y="880872"/>
                  </a:lnTo>
                  <a:lnTo>
                    <a:pt x="130301" y="880872"/>
                  </a:lnTo>
                  <a:lnTo>
                    <a:pt x="543750" y="467423"/>
                  </a:lnTo>
                  <a:lnTo>
                    <a:pt x="130301" y="53975"/>
                  </a:lnTo>
                  <a:lnTo>
                    <a:pt x="86867" y="35979"/>
                  </a:lnTo>
                  <a:close/>
                </a:path>
                <a:path w="2302510" h="935354">
                  <a:moveTo>
                    <a:pt x="1820113" y="35979"/>
                  </a:moveTo>
                  <a:lnTo>
                    <a:pt x="86867" y="35979"/>
                  </a:lnTo>
                  <a:lnTo>
                    <a:pt x="130301" y="53975"/>
                  </a:lnTo>
                  <a:lnTo>
                    <a:pt x="1812670" y="53975"/>
                  </a:lnTo>
                  <a:lnTo>
                    <a:pt x="2226119" y="467423"/>
                  </a:lnTo>
                  <a:lnTo>
                    <a:pt x="1812670" y="880872"/>
                  </a:lnTo>
                  <a:lnTo>
                    <a:pt x="1838109" y="880872"/>
                  </a:lnTo>
                  <a:lnTo>
                    <a:pt x="2251557" y="467423"/>
                  </a:lnTo>
                  <a:lnTo>
                    <a:pt x="1820113" y="35979"/>
                  </a:lnTo>
                  <a:close/>
                </a:path>
              </a:pathLst>
            </a:custGeom>
            <a:solidFill>
              <a:srgbClr val="95A6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642042" y="2793448"/>
            <a:ext cx="1000760" cy="77533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065" marR="5080" algn="ctr">
              <a:lnSpc>
                <a:spcPts val="1870"/>
              </a:lnSpc>
              <a:spcBef>
                <a:spcPts val="405"/>
              </a:spcBef>
            </a:pPr>
            <a:r>
              <a:rPr sz="1800" spc="-10" dirty="0">
                <a:latin typeface="Calisto MT"/>
                <a:cs typeface="Calisto MT"/>
              </a:rPr>
              <a:t>Resuming Visits Instantly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34333" y="2739834"/>
            <a:ext cx="2302510" cy="935355"/>
            <a:chOff x="4934333" y="2739834"/>
            <a:chExt cx="2302510" cy="935355"/>
          </a:xfrm>
        </p:grpSpPr>
        <p:sp>
          <p:nvSpPr>
            <p:cNvPr id="13" name="object 13"/>
            <p:cNvSpPr/>
            <p:nvPr/>
          </p:nvSpPr>
          <p:spPr>
            <a:xfrm>
              <a:off x="4999482" y="2766822"/>
              <a:ext cx="2199640" cy="881380"/>
            </a:xfrm>
            <a:custGeom>
              <a:avLst/>
              <a:gdLst/>
              <a:ahLst/>
              <a:cxnLst/>
              <a:rect l="l" t="t" r="r" b="b"/>
              <a:pathLst>
                <a:path w="2199640" h="881379">
                  <a:moveTo>
                    <a:pt x="1758695" y="0"/>
                  </a:moveTo>
                  <a:lnTo>
                    <a:pt x="0" y="0"/>
                  </a:lnTo>
                  <a:lnTo>
                    <a:pt x="440436" y="440436"/>
                  </a:lnTo>
                  <a:lnTo>
                    <a:pt x="0" y="880872"/>
                  </a:lnTo>
                  <a:lnTo>
                    <a:pt x="1758695" y="880872"/>
                  </a:lnTo>
                  <a:lnTo>
                    <a:pt x="2199132" y="440436"/>
                  </a:lnTo>
                  <a:lnTo>
                    <a:pt x="175869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34333" y="2739834"/>
              <a:ext cx="2302510" cy="935355"/>
            </a:xfrm>
            <a:custGeom>
              <a:avLst/>
              <a:gdLst/>
              <a:ahLst/>
              <a:cxnLst/>
              <a:rect l="l" t="t" r="r" b="b"/>
              <a:pathLst>
                <a:path w="2302509" h="935354">
                  <a:moveTo>
                    <a:pt x="65150" y="0"/>
                  </a:moveTo>
                  <a:lnTo>
                    <a:pt x="0" y="0"/>
                  </a:lnTo>
                  <a:lnTo>
                    <a:pt x="467423" y="467423"/>
                  </a:lnTo>
                  <a:lnTo>
                    <a:pt x="0" y="934847"/>
                  </a:lnTo>
                  <a:lnTo>
                    <a:pt x="1835022" y="934847"/>
                  </a:lnTo>
                  <a:lnTo>
                    <a:pt x="1853018" y="916851"/>
                  </a:lnTo>
                  <a:lnTo>
                    <a:pt x="43433" y="916851"/>
                  </a:lnTo>
                  <a:lnTo>
                    <a:pt x="492861" y="467423"/>
                  </a:lnTo>
                  <a:lnTo>
                    <a:pt x="43433" y="17995"/>
                  </a:lnTo>
                  <a:lnTo>
                    <a:pt x="65150" y="17995"/>
                  </a:lnTo>
                  <a:lnTo>
                    <a:pt x="65150" y="0"/>
                  </a:lnTo>
                  <a:close/>
                </a:path>
                <a:path w="2302509" h="935354">
                  <a:moveTo>
                    <a:pt x="1835022" y="0"/>
                  </a:moveTo>
                  <a:lnTo>
                    <a:pt x="65150" y="0"/>
                  </a:lnTo>
                  <a:lnTo>
                    <a:pt x="65150" y="17995"/>
                  </a:lnTo>
                  <a:lnTo>
                    <a:pt x="1827568" y="17995"/>
                  </a:lnTo>
                  <a:lnTo>
                    <a:pt x="2277008" y="467423"/>
                  </a:lnTo>
                  <a:lnTo>
                    <a:pt x="1827568" y="916851"/>
                  </a:lnTo>
                  <a:lnTo>
                    <a:pt x="1853018" y="916851"/>
                  </a:lnTo>
                  <a:lnTo>
                    <a:pt x="2302446" y="467423"/>
                  </a:lnTo>
                  <a:lnTo>
                    <a:pt x="1835022" y="0"/>
                  </a:lnTo>
                  <a:close/>
                </a:path>
                <a:path w="2302509" h="935354">
                  <a:moveTo>
                    <a:pt x="86867" y="35979"/>
                  </a:moveTo>
                  <a:lnTo>
                    <a:pt x="518299" y="467423"/>
                  </a:lnTo>
                  <a:lnTo>
                    <a:pt x="86867" y="898867"/>
                  </a:lnTo>
                  <a:lnTo>
                    <a:pt x="1820113" y="898867"/>
                  </a:lnTo>
                  <a:lnTo>
                    <a:pt x="1838109" y="880872"/>
                  </a:lnTo>
                  <a:lnTo>
                    <a:pt x="130301" y="880872"/>
                  </a:lnTo>
                  <a:lnTo>
                    <a:pt x="543750" y="467423"/>
                  </a:lnTo>
                  <a:lnTo>
                    <a:pt x="130301" y="53975"/>
                  </a:lnTo>
                  <a:lnTo>
                    <a:pt x="86867" y="35979"/>
                  </a:lnTo>
                  <a:close/>
                </a:path>
                <a:path w="2302509" h="935354">
                  <a:moveTo>
                    <a:pt x="1820113" y="35979"/>
                  </a:moveTo>
                  <a:lnTo>
                    <a:pt x="86867" y="35979"/>
                  </a:lnTo>
                  <a:lnTo>
                    <a:pt x="130301" y="53975"/>
                  </a:lnTo>
                  <a:lnTo>
                    <a:pt x="1812670" y="53975"/>
                  </a:lnTo>
                  <a:lnTo>
                    <a:pt x="2226119" y="467423"/>
                  </a:lnTo>
                  <a:lnTo>
                    <a:pt x="1812670" y="880872"/>
                  </a:lnTo>
                  <a:lnTo>
                    <a:pt x="1838109" y="880872"/>
                  </a:lnTo>
                  <a:lnTo>
                    <a:pt x="2251557" y="467423"/>
                  </a:lnTo>
                  <a:lnTo>
                    <a:pt x="1820113" y="35979"/>
                  </a:lnTo>
                  <a:close/>
                </a:path>
              </a:pathLst>
            </a:custGeom>
            <a:solidFill>
              <a:srgbClr val="95A6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698834" y="2912193"/>
            <a:ext cx="847725" cy="5378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7940" marR="5080" indent="-15875">
              <a:lnSpc>
                <a:spcPts val="1870"/>
              </a:lnSpc>
              <a:spcBef>
                <a:spcPts val="405"/>
              </a:spcBef>
            </a:pPr>
            <a:r>
              <a:rPr sz="1800" spc="-10" dirty="0">
                <a:latin typeface="Calisto MT"/>
                <a:cs typeface="Calisto MT"/>
              </a:rPr>
              <a:t>Stronger Security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914009" y="2739834"/>
            <a:ext cx="2301240" cy="935355"/>
            <a:chOff x="6914009" y="2739834"/>
            <a:chExt cx="2301240" cy="935355"/>
          </a:xfrm>
        </p:grpSpPr>
        <p:sp>
          <p:nvSpPr>
            <p:cNvPr id="17" name="object 17"/>
            <p:cNvSpPr/>
            <p:nvPr/>
          </p:nvSpPr>
          <p:spPr>
            <a:xfrm>
              <a:off x="6979158" y="2766822"/>
              <a:ext cx="2197735" cy="881380"/>
            </a:xfrm>
            <a:custGeom>
              <a:avLst/>
              <a:gdLst/>
              <a:ahLst/>
              <a:cxnLst/>
              <a:rect l="l" t="t" r="r" b="b"/>
              <a:pathLst>
                <a:path w="2197734" h="881379">
                  <a:moveTo>
                    <a:pt x="1757172" y="0"/>
                  </a:moveTo>
                  <a:lnTo>
                    <a:pt x="0" y="0"/>
                  </a:lnTo>
                  <a:lnTo>
                    <a:pt x="440436" y="440436"/>
                  </a:lnTo>
                  <a:lnTo>
                    <a:pt x="0" y="880872"/>
                  </a:lnTo>
                  <a:lnTo>
                    <a:pt x="1757172" y="880872"/>
                  </a:lnTo>
                  <a:lnTo>
                    <a:pt x="2197608" y="440436"/>
                  </a:lnTo>
                  <a:lnTo>
                    <a:pt x="1757172" y="0"/>
                  </a:lnTo>
                  <a:close/>
                </a:path>
              </a:pathLst>
            </a:custGeom>
            <a:solidFill>
              <a:srgbClr val="D2E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914009" y="2739834"/>
              <a:ext cx="2301240" cy="935355"/>
            </a:xfrm>
            <a:custGeom>
              <a:avLst/>
              <a:gdLst/>
              <a:ahLst/>
              <a:cxnLst/>
              <a:rect l="l" t="t" r="r" b="b"/>
              <a:pathLst>
                <a:path w="2301240" h="935354">
                  <a:moveTo>
                    <a:pt x="65150" y="0"/>
                  </a:moveTo>
                  <a:lnTo>
                    <a:pt x="0" y="0"/>
                  </a:lnTo>
                  <a:lnTo>
                    <a:pt x="467423" y="467423"/>
                  </a:lnTo>
                  <a:lnTo>
                    <a:pt x="0" y="934847"/>
                  </a:lnTo>
                  <a:lnTo>
                    <a:pt x="1833499" y="934847"/>
                  </a:lnTo>
                  <a:lnTo>
                    <a:pt x="1851494" y="916851"/>
                  </a:lnTo>
                  <a:lnTo>
                    <a:pt x="43433" y="916851"/>
                  </a:lnTo>
                  <a:lnTo>
                    <a:pt x="492861" y="467423"/>
                  </a:lnTo>
                  <a:lnTo>
                    <a:pt x="43433" y="17995"/>
                  </a:lnTo>
                  <a:lnTo>
                    <a:pt x="65150" y="17995"/>
                  </a:lnTo>
                  <a:lnTo>
                    <a:pt x="65150" y="0"/>
                  </a:lnTo>
                  <a:close/>
                </a:path>
                <a:path w="2301240" h="935354">
                  <a:moveTo>
                    <a:pt x="1833499" y="0"/>
                  </a:moveTo>
                  <a:lnTo>
                    <a:pt x="65150" y="0"/>
                  </a:lnTo>
                  <a:lnTo>
                    <a:pt x="65150" y="17995"/>
                  </a:lnTo>
                  <a:lnTo>
                    <a:pt x="1826044" y="17995"/>
                  </a:lnTo>
                  <a:lnTo>
                    <a:pt x="2275484" y="467423"/>
                  </a:lnTo>
                  <a:lnTo>
                    <a:pt x="1826044" y="916851"/>
                  </a:lnTo>
                  <a:lnTo>
                    <a:pt x="1851494" y="916851"/>
                  </a:lnTo>
                  <a:lnTo>
                    <a:pt x="2300922" y="467423"/>
                  </a:lnTo>
                  <a:lnTo>
                    <a:pt x="1833499" y="0"/>
                  </a:lnTo>
                  <a:close/>
                </a:path>
                <a:path w="2301240" h="935354">
                  <a:moveTo>
                    <a:pt x="86867" y="35979"/>
                  </a:moveTo>
                  <a:lnTo>
                    <a:pt x="518299" y="467423"/>
                  </a:lnTo>
                  <a:lnTo>
                    <a:pt x="86867" y="898867"/>
                  </a:lnTo>
                  <a:lnTo>
                    <a:pt x="1818601" y="898867"/>
                  </a:lnTo>
                  <a:lnTo>
                    <a:pt x="1836597" y="880872"/>
                  </a:lnTo>
                  <a:lnTo>
                    <a:pt x="130301" y="880872"/>
                  </a:lnTo>
                  <a:lnTo>
                    <a:pt x="543750" y="467423"/>
                  </a:lnTo>
                  <a:lnTo>
                    <a:pt x="130301" y="53975"/>
                  </a:lnTo>
                  <a:lnTo>
                    <a:pt x="86867" y="35979"/>
                  </a:lnTo>
                  <a:close/>
                </a:path>
                <a:path w="2301240" h="935354">
                  <a:moveTo>
                    <a:pt x="1818601" y="35979"/>
                  </a:moveTo>
                  <a:lnTo>
                    <a:pt x="86867" y="35979"/>
                  </a:lnTo>
                  <a:lnTo>
                    <a:pt x="130301" y="53975"/>
                  </a:lnTo>
                  <a:lnTo>
                    <a:pt x="1811146" y="53975"/>
                  </a:lnTo>
                  <a:lnTo>
                    <a:pt x="2224595" y="467423"/>
                  </a:lnTo>
                  <a:lnTo>
                    <a:pt x="1811146" y="880872"/>
                  </a:lnTo>
                  <a:lnTo>
                    <a:pt x="1836597" y="880872"/>
                  </a:lnTo>
                  <a:lnTo>
                    <a:pt x="2250033" y="467423"/>
                  </a:lnTo>
                  <a:lnTo>
                    <a:pt x="1818601" y="35979"/>
                  </a:lnTo>
                  <a:close/>
                </a:path>
              </a:pathLst>
            </a:custGeom>
            <a:solidFill>
              <a:srgbClr val="95A6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665742" y="2912193"/>
            <a:ext cx="870585" cy="5378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47015" marR="5080" indent="-234950">
              <a:lnSpc>
                <a:spcPts val="1870"/>
              </a:lnSpc>
              <a:spcBef>
                <a:spcPts val="405"/>
              </a:spcBef>
            </a:pPr>
            <a:r>
              <a:rPr sz="1800" spc="-20" dirty="0">
                <a:latin typeface="Calisto MT"/>
                <a:cs typeface="Calisto MT"/>
              </a:rPr>
              <a:t>Reduced </a:t>
            </a:r>
            <a:r>
              <a:rPr sz="1800" spc="-25" dirty="0">
                <a:latin typeface="Calisto MT"/>
                <a:cs typeface="Calisto MT"/>
              </a:rPr>
              <a:t>Lag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892161" y="2739834"/>
            <a:ext cx="2302510" cy="935355"/>
            <a:chOff x="8892161" y="2739834"/>
            <a:chExt cx="2302510" cy="935355"/>
          </a:xfrm>
        </p:grpSpPr>
        <p:sp>
          <p:nvSpPr>
            <p:cNvPr id="21" name="object 21"/>
            <p:cNvSpPr/>
            <p:nvPr/>
          </p:nvSpPr>
          <p:spPr>
            <a:xfrm>
              <a:off x="8957310" y="2766822"/>
              <a:ext cx="2199640" cy="881380"/>
            </a:xfrm>
            <a:custGeom>
              <a:avLst/>
              <a:gdLst/>
              <a:ahLst/>
              <a:cxnLst/>
              <a:rect l="l" t="t" r="r" b="b"/>
              <a:pathLst>
                <a:path w="2199640" h="881379">
                  <a:moveTo>
                    <a:pt x="1758695" y="0"/>
                  </a:moveTo>
                  <a:lnTo>
                    <a:pt x="0" y="0"/>
                  </a:lnTo>
                  <a:lnTo>
                    <a:pt x="440436" y="440436"/>
                  </a:lnTo>
                  <a:lnTo>
                    <a:pt x="0" y="880872"/>
                  </a:lnTo>
                  <a:lnTo>
                    <a:pt x="1758695" y="880872"/>
                  </a:lnTo>
                  <a:lnTo>
                    <a:pt x="2199132" y="440436"/>
                  </a:lnTo>
                  <a:lnTo>
                    <a:pt x="1758695" y="0"/>
                  </a:lnTo>
                  <a:close/>
                </a:path>
              </a:pathLst>
            </a:custGeom>
            <a:solidFill>
              <a:srgbClr val="B3B3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892161" y="2739834"/>
              <a:ext cx="2302510" cy="935355"/>
            </a:xfrm>
            <a:custGeom>
              <a:avLst/>
              <a:gdLst/>
              <a:ahLst/>
              <a:cxnLst/>
              <a:rect l="l" t="t" r="r" b="b"/>
              <a:pathLst>
                <a:path w="2302509" h="935354">
                  <a:moveTo>
                    <a:pt x="65150" y="0"/>
                  </a:moveTo>
                  <a:lnTo>
                    <a:pt x="0" y="0"/>
                  </a:lnTo>
                  <a:lnTo>
                    <a:pt x="467423" y="467423"/>
                  </a:lnTo>
                  <a:lnTo>
                    <a:pt x="0" y="934847"/>
                  </a:lnTo>
                  <a:lnTo>
                    <a:pt x="1835022" y="934847"/>
                  </a:lnTo>
                  <a:lnTo>
                    <a:pt x="1853018" y="916851"/>
                  </a:lnTo>
                  <a:lnTo>
                    <a:pt x="43433" y="916851"/>
                  </a:lnTo>
                  <a:lnTo>
                    <a:pt x="492861" y="467423"/>
                  </a:lnTo>
                  <a:lnTo>
                    <a:pt x="43433" y="17995"/>
                  </a:lnTo>
                  <a:lnTo>
                    <a:pt x="65150" y="17995"/>
                  </a:lnTo>
                  <a:lnTo>
                    <a:pt x="65150" y="0"/>
                  </a:lnTo>
                  <a:close/>
                </a:path>
                <a:path w="2302509" h="935354">
                  <a:moveTo>
                    <a:pt x="1835022" y="0"/>
                  </a:moveTo>
                  <a:lnTo>
                    <a:pt x="65150" y="0"/>
                  </a:lnTo>
                  <a:lnTo>
                    <a:pt x="65150" y="17995"/>
                  </a:lnTo>
                  <a:lnTo>
                    <a:pt x="1827568" y="17995"/>
                  </a:lnTo>
                  <a:lnTo>
                    <a:pt x="2277008" y="467423"/>
                  </a:lnTo>
                  <a:lnTo>
                    <a:pt x="1827568" y="916851"/>
                  </a:lnTo>
                  <a:lnTo>
                    <a:pt x="1853018" y="916851"/>
                  </a:lnTo>
                  <a:lnTo>
                    <a:pt x="2302446" y="467423"/>
                  </a:lnTo>
                  <a:lnTo>
                    <a:pt x="1835022" y="0"/>
                  </a:lnTo>
                  <a:close/>
                </a:path>
                <a:path w="2302509" h="935354">
                  <a:moveTo>
                    <a:pt x="86867" y="35979"/>
                  </a:moveTo>
                  <a:lnTo>
                    <a:pt x="518299" y="467423"/>
                  </a:lnTo>
                  <a:lnTo>
                    <a:pt x="86867" y="898867"/>
                  </a:lnTo>
                  <a:lnTo>
                    <a:pt x="1820125" y="898867"/>
                  </a:lnTo>
                  <a:lnTo>
                    <a:pt x="1838121" y="880872"/>
                  </a:lnTo>
                  <a:lnTo>
                    <a:pt x="130301" y="880872"/>
                  </a:lnTo>
                  <a:lnTo>
                    <a:pt x="543750" y="467423"/>
                  </a:lnTo>
                  <a:lnTo>
                    <a:pt x="130301" y="53975"/>
                  </a:lnTo>
                  <a:lnTo>
                    <a:pt x="86867" y="35979"/>
                  </a:lnTo>
                  <a:close/>
                </a:path>
                <a:path w="2302509" h="935354">
                  <a:moveTo>
                    <a:pt x="1820125" y="35979"/>
                  </a:moveTo>
                  <a:lnTo>
                    <a:pt x="86867" y="35979"/>
                  </a:lnTo>
                  <a:lnTo>
                    <a:pt x="130301" y="53975"/>
                  </a:lnTo>
                  <a:lnTo>
                    <a:pt x="1812670" y="53975"/>
                  </a:lnTo>
                  <a:lnTo>
                    <a:pt x="2226119" y="467423"/>
                  </a:lnTo>
                  <a:lnTo>
                    <a:pt x="1812670" y="880872"/>
                  </a:lnTo>
                  <a:lnTo>
                    <a:pt x="1838121" y="880872"/>
                  </a:lnTo>
                  <a:lnTo>
                    <a:pt x="2251557" y="467423"/>
                  </a:lnTo>
                  <a:lnTo>
                    <a:pt x="1820125" y="35979"/>
                  </a:lnTo>
                  <a:close/>
                </a:path>
              </a:pathLst>
            </a:custGeom>
            <a:solidFill>
              <a:srgbClr val="95A6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585190" y="2793448"/>
            <a:ext cx="989965" cy="77533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 indent="7620" algn="just">
              <a:lnSpc>
                <a:spcPts val="1870"/>
              </a:lnSpc>
              <a:spcBef>
                <a:spcPts val="405"/>
              </a:spcBef>
            </a:pPr>
            <a:r>
              <a:rPr sz="1800" spc="-10" dirty="0">
                <a:latin typeface="Calisto MT"/>
                <a:cs typeface="Calisto MT"/>
              </a:rPr>
              <a:t>Smoother Network Switching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HTTP/3</a:t>
            </a:r>
            <a:r>
              <a:rPr spc="-80" dirty="0"/>
              <a:t> </a:t>
            </a:r>
            <a:r>
              <a:rPr spc="-10" dirty="0"/>
              <a:t>Protocol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639242" y="1425530"/>
            <a:ext cx="2917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Features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HTTP/3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Protocol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907" y="79546"/>
            <a:ext cx="2387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Java</a:t>
            </a:r>
            <a:r>
              <a:rPr spc="-5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45" dirty="0"/>
              <a:t>Web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44395" y="3655769"/>
            <a:ext cx="1294130" cy="1036319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55"/>
              </a:spcBef>
            </a:pPr>
            <a:r>
              <a:rPr sz="1800" spc="-10" dirty="0">
                <a:latin typeface="Calisto MT"/>
                <a:cs typeface="Calisto MT"/>
              </a:rPr>
              <a:t>Prevalent</a:t>
            </a:r>
            <a:endParaRPr sz="1800">
              <a:latin typeface="Calisto MT"/>
              <a:cs typeface="Calisto MT"/>
            </a:endParaRPr>
          </a:p>
          <a:p>
            <a:pPr marL="12700" marR="5080" indent="168910" algn="r">
              <a:lnSpc>
                <a:spcPts val="2120"/>
              </a:lnSpc>
              <a:spcBef>
                <a:spcPts val="860"/>
              </a:spcBef>
            </a:pPr>
            <a:r>
              <a:rPr sz="1800" spc="-10" dirty="0">
                <a:latin typeface="Calisto MT"/>
                <a:cs typeface="Calisto MT"/>
              </a:rPr>
              <a:t>Server-</a:t>
            </a:r>
            <a:r>
              <a:rPr sz="1800" spc="-20" dirty="0">
                <a:latin typeface="Calisto MT"/>
                <a:cs typeface="Calisto MT"/>
              </a:rPr>
              <a:t>Side Technologies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21073" y="3224022"/>
            <a:ext cx="391795" cy="2019300"/>
          </a:xfrm>
          <a:custGeom>
            <a:avLst/>
            <a:gdLst/>
            <a:ahLst/>
            <a:cxnLst/>
            <a:rect l="l" t="t" r="r" b="b"/>
            <a:pathLst>
              <a:path w="391795" h="2019300">
                <a:moveTo>
                  <a:pt x="391667" y="2019300"/>
                </a:moveTo>
                <a:lnTo>
                  <a:pt x="339608" y="2014402"/>
                </a:lnTo>
                <a:lnTo>
                  <a:pt x="292828" y="2000583"/>
                </a:lnTo>
                <a:lnTo>
                  <a:pt x="253193" y="1979147"/>
                </a:lnTo>
                <a:lnTo>
                  <a:pt x="222571" y="1951402"/>
                </a:lnTo>
                <a:lnTo>
                  <a:pt x="202829" y="1918656"/>
                </a:lnTo>
                <a:lnTo>
                  <a:pt x="195833" y="1882216"/>
                </a:lnTo>
                <a:lnTo>
                  <a:pt x="195833" y="1146733"/>
                </a:lnTo>
                <a:lnTo>
                  <a:pt x="188838" y="1110293"/>
                </a:lnTo>
                <a:lnTo>
                  <a:pt x="169096" y="1077547"/>
                </a:lnTo>
                <a:lnTo>
                  <a:pt x="138474" y="1049802"/>
                </a:lnTo>
                <a:lnTo>
                  <a:pt x="98839" y="1028366"/>
                </a:lnTo>
                <a:lnTo>
                  <a:pt x="52059" y="1014547"/>
                </a:lnTo>
                <a:lnTo>
                  <a:pt x="0" y="1009650"/>
                </a:lnTo>
                <a:lnTo>
                  <a:pt x="52059" y="1004752"/>
                </a:lnTo>
                <a:lnTo>
                  <a:pt x="98839" y="990933"/>
                </a:lnTo>
                <a:lnTo>
                  <a:pt x="138474" y="969497"/>
                </a:lnTo>
                <a:lnTo>
                  <a:pt x="169096" y="941752"/>
                </a:lnTo>
                <a:lnTo>
                  <a:pt x="188838" y="909006"/>
                </a:lnTo>
                <a:lnTo>
                  <a:pt x="195833" y="872566"/>
                </a:lnTo>
                <a:lnTo>
                  <a:pt x="195833" y="137083"/>
                </a:lnTo>
                <a:lnTo>
                  <a:pt x="202829" y="100643"/>
                </a:lnTo>
                <a:lnTo>
                  <a:pt x="222571" y="67897"/>
                </a:lnTo>
                <a:lnTo>
                  <a:pt x="253193" y="40152"/>
                </a:lnTo>
                <a:lnTo>
                  <a:pt x="292828" y="18716"/>
                </a:lnTo>
                <a:lnTo>
                  <a:pt x="339608" y="4897"/>
                </a:lnTo>
                <a:lnTo>
                  <a:pt x="391667" y="0"/>
                </a:lnTo>
              </a:path>
            </a:pathLst>
          </a:custGeom>
          <a:ln w="19049">
            <a:solidFill>
              <a:srgbClr val="D6D3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61332" y="3220211"/>
            <a:ext cx="5867399" cy="202539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21095" y="3490797"/>
            <a:ext cx="4838700" cy="141097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83515" marR="5080" indent="-171450">
              <a:lnSpc>
                <a:spcPts val="1939"/>
              </a:lnSpc>
              <a:spcBef>
                <a:spcPts val="345"/>
              </a:spcBef>
              <a:buFont typeface="Courier New"/>
              <a:buChar char="•"/>
              <a:tabLst>
                <a:tab pos="184785" algn="l"/>
              </a:tabLst>
            </a:pPr>
            <a:r>
              <a:rPr sz="1800" b="1" dirty="0">
                <a:latin typeface="Courier New"/>
                <a:cs typeface="Courier New"/>
              </a:rPr>
              <a:t>Proprietary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Web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server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API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(ISAPI, 	NSAPI)</a:t>
            </a:r>
            <a:endParaRPr sz="1800">
              <a:latin typeface="Courier New"/>
              <a:cs typeface="Courier New"/>
            </a:endParaRPr>
          </a:p>
          <a:p>
            <a:pPr marL="276860" indent="-264160">
              <a:lnSpc>
                <a:spcPct val="100000"/>
              </a:lnSpc>
              <a:spcBef>
                <a:spcPts val="85"/>
              </a:spcBef>
              <a:buFont typeface="Symbol"/>
              <a:buChar char=""/>
              <a:tabLst>
                <a:tab pos="276860" algn="l"/>
              </a:tabLst>
            </a:pPr>
            <a:r>
              <a:rPr sz="1800" b="1" spc="-10" dirty="0">
                <a:latin typeface="Courier New"/>
                <a:cs typeface="Courier New"/>
              </a:rPr>
              <a:t>Server-</a:t>
            </a:r>
            <a:r>
              <a:rPr sz="1800" b="1" dirty="0">
                <a:latin typeface="Courier New"/>
                <a:cs typeface="Courier New"/>
              </a:rPr>
              <a:t>side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JavaScript</a:t>
            </a:r>
            <a:endParaRPr sz="1800">
              <a:latin typeface="Courier New"/>
              <a:cs typeface="Courier New"/>
            </a:endParaRPr>
          </a:p>
          <a:p>
            <a:pPr marL="276860" indent="-264160">
              <a:lnSpc>
                <a:spcPct val="100000"/>
              </a:lnSpc>
              <a:spcBef>
                <a:spcPts val="110"/>
              </a:spcBef>
              <a:buFont typeface="Symbol"/>
              <a:buChar char=""/>
              <a:tabLst>
                <a:tab pos="276860" algn="l"/>
              </a:tabLst>
            </a:pPr>
            <a:r>
              <a:rPr sz="1800" b="1" dirty="0">
                <a:latin typeface="Courier New"/>
                <a:cs typeface="Courier New"/>
              </a:rPr>
              <a:t>Servlets-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Solution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to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CGI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65" dirty="0">
                <a:latin typeface="Courier New"/>
                <a:cs typeface="Courier New"/>
              </a:rPr>
              <a:t>Problems</a:t>
            </a:r>
            <a:endParaRPr sz="1800">
              <a:latin typeface="Courier New"/>
              <a:cs typeface="Courier New"/>
            </a:endParaRPr>
          </a:p>
          <a:p>
            <a:pPr marL="276860" indent="-264160">
              <a:lnSpc>
                <a:spcPct val="100000"/>
              </a:lnSpc>
              <a:spcBef>
                <a:spcPts val="105"/>
              </a:spcBef>
              <a:buFont typeface="Symbol"/>
              <a:buChar char=""/>
              <a:tabLst>
                <a:tab pos="276860" algn="l"/>
              </a:tabLst>
            </a:pPr>
            <a:r>
              <a:rPr sz="1800" b="1" spc="-25" dirty="0">
                <a:latin typeface="Courier New"/>
                <a:cs typeface="Courier New"/>
              </a:rPr>
              <a:t>JSP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61332" y="2100072"/>
            <a:ext cx="4369307" cy="77723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621324" y="2157948"/>
            <a:ext cx="3747135" cy="588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Courier New"/>
              <a:buChar char="•"/>
              <a:tabLst>
                <a:tab pos="184150" algn="l"/>
              </a:tabLst>
            </a:pPr>
            <a:r>
              <a:rPr sz="1800" b="1" spc="-10" dirty="0">
                <a:latin typeface="Courier New"/>
                <a:cs typeface="Courier New"/>
              </a:rPr>
              <a:t>Servlet</a:t>
            </a:r>
            <a:endParaRPr sz="1800">
              <a:latin typeface="Courier New"/>
              <a:cs typeface="Courier New"/>
            </a:endParaRP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Courier New"/>
              <a:buChar char="•"/>
              <a:tabLst>
                <a:tab pos="184150" algn="l"/>
              </a:tabLst>
            </a:pPr>
            <a:r>
              <a:rPr sz="1800" b="1" dirty="0">
                <a:latin typeface="Courier New"/>
                <a:cs typeface="Courier New"/>
              </a:rPr>
              <a:t>Jakarta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Server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Pages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(JSP)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21073" y="1829561"/>
            <a:ext cx="391795" cy="1103630"/>
          </a:xfrm>
          <a:custGeom>
            <a:avLst/>
            <a:gdLst/>
            <a:ahLst/>
            <a:cxnLst/>
            <a:rect l="l" t="t" r="r" b="b"/>
            <a:pathLst>
              <a:path w="391795" h="1103630">
                <a:moveTo>
                  <a:pt x="391667" y="1103376"/>
                </a:moveTo>
                <a:lnTo>
                  <a:pt x="339608" y="1098478"/>
                </a:lnTo>
                <a:lnTo>
                  <a:pt x="292828" y="1084659"/>
                </a:lnTo>
                <a:lnTo>
                  <a:pt x="253193" y="1063223"/>
                </a:lnTo>
                <a:lnTo>
                  <a:pt x="222571" y="1035478"/>
                </a:lnTo>
                <a:lnTo>
                  <a:pt x="202829" y="1002732"/>
                </a:lnTo>
                <a:lnTo>
                  <a:pt x="195833" y="966292"/>
                </a:lnTo>
                <a:lnTo>
                  <a:pt x="195833" y="688771"/>
                </a:lnTo>
                <a:lnTo>
                  <a:pt x="188838" y="652331"/>
                </a:lnTo>
                <a:lnTo>
                  <a:pt x="169096" y="619585"/>
                </a:lnTo>
                <a:lnTo>
                  <a:pt x="138474" y="591840"/>
                </a:lnTo>
                <a:lnTo>
                  <a:pt x="98839" y="570404"/>
                </a:lnTo>
                <a:lnTo>
                  <a:pt x="52059" y="556585"/>
                </a:lnTo>
                <a:lnTo>
                  <a:pt x="0" y="551688"/>
                </a:lnTo>
                <a:lnTo>
                  <a:pt x="52059" y="546790"/>
                </a:lnTo>
                <a:lnTo>
                  <a:pt x="98839" y="532971"/>
                </a:lnTo>
                <a:lnTo>
                  <a:pt x="138474" y="511535"/>
                </a:lnTo>
                <a:lnTo>
                  <a:pt x="169096" y="483790"/>
                </a:lnTo>
                <a:lnTo>
                  <a:pt x="188838" y="451044"/>
                </a:lnTo>
                <a:lnTo>
                  <a:pt x="195833" y="414604"/>
                </a:lnTo>
                <a:lnTo>
                  <a:pt x="195833" y="137083"/>
                </a:lnTo>
                <a:lnTo>
                  <a:pt x="202829" y="100643"/>
                </a:lnTo>
                <a:lnTo>
                  <a:pt x="222571" y="67897"/>
                </a:lnTo>
                <a:lnTo>
                  <a:pt x="253193" y="40152"/>
                </a:lnTo>
                <a:lnTo>
                  <a:pt x="292828" y="18716"/>
                </a:lnTo>
                <a:lnTo>
                  <a:pt x="339608" y="4897"/>
                </a:lnTo>
                <a:lnTo>
                  <a:pt x="391667" y="0"/>
                </a:lnTo>
              </a:path>
            </a:pathLst>
          </a:custGeom>
          <a:ln w="19050">
            <a:solidFill>
              <a:srgbClr val="EB9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224321" y="1980661"/>
            <a:ext cx="1205865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67970" algn="just">
              <a:lnSpc>
                <a:spcPts val="1939"/>
              </a:lnSpc>
              <a:spcBef>
                <a:spcPts val="345"/>
              </a:spcBef>
            </a:pPr>
            <a:r>
              <a:rPr sz="1800" spc="-40" dirty="0">
                <a:latin typeface="Calisto MT"/>
                <a:cs typeface="Calisto MT"/>
              </a:rPr>
              <a:t>Java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70" dirty="0">
                <a:latin typeface="Calisto MT"/>
                <a:cs typeface="Calisto MT"/>
              </a:rPr>
              <a:t>Web </a:t>
            </a:r>
            <a:r>
              <a:rPr sz="1800" spc="-10" dirty="0">
                <a:latin typeface="Calisto MT"/>
                <a:cs typeface="Calisto MT"/>
              </a:rPr>
              <a:t>Application components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4024317" y="1027856"/>
            <a:ext cx="4143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Calisto MT"/>
                <a:cs typeface="Calisto MT"/>
              </a:rPr>
              <a:t>Java </a:t>
            </a:r>
            <a:r>
              <a:rPr sz="1800" spc="-45" dirty="0">
                <a:latin typeface="Calisto MT"/>
                <a:cs typeface="Calisto MT"/>
              </a:rPr>
              <a:t>Web </a:t>
            </a:r>
            <a:r>
              <a:rPr sz="1800" dirty="0">
                <a:latin typeface="Calisto MT"/>
                <a:cs typeface="Calisto MT"/>
              </a:rPr>
              <a:t>Applications</a:t>
            </a:r>
            <a:r>
              <a:rPr sz="1800" spc="-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–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Key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Components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Merits</a:t>
            </a:r>
            <a:r>
              <a:rPr spc="-4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Demerits</a:t>
            </a:r>
            <a:r>
              <a:rPr spc="-30" dirty="0"/>
              <a:t> </a:t>
            </a:r>
            <a:r>
              <a:rPr dirty="0"/>
              <a:t>of</a:t>
            </a:r>
            <a:r>
              <a:rPr spc="220" dirty="0"/>
              <a:t> </a:t>
            </a:r>
            <a:r>
              <a:rPr spc="-10" dirty="0"/>
              <a:t>Servlet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5924" y="2167128"/>
            <a:ext cx="1603247" cy="160477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16450" y="2675447"/>
            <a:ext cx="1002030" cy="5378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5240" marR="5080" indent="-3175">
              <a:lnSpc>
                <a:spcPts val="1870"/>
              </a:lnSpc>
              <a:spcBef>
                <a:spcPts val="405"/>
              </a:spcBef>
            </a:pPr>
            <a:r>
              <a:rPr sz="1800" spc="-10" dirty="0">
                <a:latin typeface="Calisto MT"/>
                <a:cs typeface="Calisto MT"/>
              </a:rPr>
              <a:t>Enhanced Efficiency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9739" y="3224784"/>
            <a:ext cx="1603247" cy="160324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52686" y="3731625"/>
            <a:ext cx="733425" cy="5378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17804" marR="5080" indent="-205740">
              <a:lnSpc>
                <a:spcPts val="1870"/>
              </a:lnSpc>
              <a:spcBef>
                <a:spcPts val="400"/>
              </a:spcBef>
            </a:pPr>
            <a:r>
              <a:rPr sz="1800" dirty="0">
                <a:latin typeface="Calisto MT"/>
                <a:cs typeface="Calisto MT"/>
              </a:rPr>
              <a:t>Ease</a:t>
            </a:r>
            <a:r>
              <a:rPr sz="1800" spc="-25" dirty="0">
                <a:latin typeface="Calisto MT"/>
                <a:cs typeface="Calisto MT"/>
              </a:rPr>
              <a:t> of use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45080" y="2167128"/>
            <a:ext cx="1603247" cy="160477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901989" y="2794191"/>
            <a:ext cx="889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Powerful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58896" y="3224783"/>
            <a:ext cx="1603235" cy="160324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745262" y="3850370"/>
            <a:ext cx="831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Portable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72711" y="2167128"/>
            <a:ext cx="1604771" cy="160477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545834" y="2675447"/>
            <a:ext cx="858519" cy="5378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13030" marR="5080" indent="-100965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latin typeface="Calisto MT"/>
                <a:cs typeface="Calisto MT"/>
              </a:rPr>
              <a:t>Safe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and </a:t>
            </a:r>
            <a:r>
              <a:rPr sz="1800" spc="-10" dirty="0">
                <a:latin typeface="Calisto MT"/>
                <a:cs typeface="Calisto MT"/>
              </a:rPr>
              <a:t>Cheap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19471" y="987694"/>
            <a:ext cx="653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Merits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61631" y="2167128"/>
            <a:ext cx="1603247" cy="160477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305243" y="2680050"/>
            <a:ext cx="915669" cy="54356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1270" algn="ctr">
              <a:lnSpc>
                <a:spcPts val="1320"/>
              </a:lnSpc>
              <a:spcBef>
                <a:spcPts val="240"/>
              </a:spcBef>
            </a:pPr>
            <a:r>
              <a:rPr sz="1200" b="1" spc="-10" dirty="0">
                <a:latin typeface="Corbel"/>
                <a:cs typeface="Corbel"/>
              </a:rPr>
              <a:t>Complicated Development Process</a:t>
            </a:r>
            <a:endParaRPr sz="1200">
              <a:latin typeface="Corbel"/>
              <a:cs typeface="Corbe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775447" y="3224783"/>
            <a:ext cx="1604771" cy="1603247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8076889" y="3689842"/>
            <a:ext cx="1002665" cy="62992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algn="ctr">
              <a:lnSpc>
                <a:spcPts val="1540"/>
              </a:lnSpc>
              <a:spcBef>
                <a:spcPts val="270"/>
              </a:spcBef>
            </a:pPr>
            <a:r>
              <a:rPr sz="1400" b="1" dirty="0">
                <a:latin typeface="Corbel"/>
                <a:cs typeface="Corbel"/>
              </a:rPr>
              <a:t>Tight</a:t>
            </a:r>
            <a:r>
              <a:rPr sz="1400" b="1" spc="-45" dirty="0">
                <a:latin typeface="Corbel"/>
                <a:cs typeface="Corbel"/>
              </a:rPr>
              <a:t> </a:t>
            </a:r>
            <a:r>
              <a:rPr sz="1400" b="1" spc="-10" dirty="0">
                <a:latin typeface="Corbel"/>
                <a:cs typeface="Corbel"/>
              </a:rPr>
              <a:t>HTML- </a:t>
            </a:r>
            <a:r>
              <a:rPr sz="1400" b="1" spc="-20" dirty="0">
                <a:latin typeface="Corbel"/>
                <a:cs typeface="Corbel"/>
              </a:rPr>
              <a:t>Java </a:t>
            </a:r>
            <a:r>
              <a:rPr sz="1400" b="1" spc="-10" dirty="0">
                <a:latin typeface="Corbel"/>
                <a:cs typeface="Corbel"/>
              </a:rPr>
              <a:t>Connection</a:t>
            </a:r>
            <a:endParaRPr sz="1400">
              <a:latin typeface="Corbel"/>
              <a:cs typeface="Corbe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590788" y="2167128"/>
            <a:ext cx="1603247" cy="160477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945057" y="2633665"/>
            <a:ext cx="895985" cy="62992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-1905" algn="ctr">
              <a:lnSpc>
                <a:spcPts val="1540"/>
              </a:lnSpc>
              <a:spcBef>
                <a:spcPts val="270"/>
              </a:spcBef>
            </a:pPr>
            <a:r>
              <a:rPr sz="1400" b="1" spc="-10" dirty="0">
                <a:latin typeface="Corbel"/>
                <a:cs typeface="Corbel"/>
              </a:rPr>
              <a:t>Extensive Knowledge Required</a:t>
            </a:r>
            <a:endParaRPr sz="1400">
              <a:latin typeface="Corbel"/>
              <a:cs typeface="Corbe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404604" y="3224783"/>
            <a:ext cx="1604771" cy="160324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9858356" y="3689842"/>
            <a:ext cx="695325" cy="62992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60960" algn="just">
              <a:lnSpc>
                <a:spcPts val="1540"/>
              </a:lnSpc>
              <a:spcBef>
                <a:spcPts val="270"/>
              </a:spcBef>
            </a:pPr>
            <a:r>
              <a:rPr sz="1400" b="1" dirty="0">
                <a:latin typeface="Corbel"/>
                <a:cs typeface="Corbel"/>
              </a:rPr>
              <a:t>Lack</a:t>
            </a:r>
            <a:r>
              <a:rPr sz="1400" b="1" spc="-30" dirty="0">
                <a:latin typeface="Corbel"/>
                <a:cs typeface="Corbel"/>
              </a:rPr>
              <a:t> </a:t>
            </a:r>
            <a:r>
              <a:rPr sz="1400" b="1" spc="-25" dirty="0">
                <a:latin typeface="Corbel"/>
                <a:cs typeface="Corbel"/>
              </a:rPr>
              <a:t>of </a:t>
            </a:r>
            <a:r>
              <a:rPr sz="1400" b="1" spc="-10" dirty="0">
                <a:latin typeface="Corbel"/>
                <a:cs typeface="Corbel"/>
              </a:rPr>
              <a:t>Modern Features</a:t>
            </a:r>
            <a:endParaRPr sz="1400">
              <a:latin typeface="Corbel"/>
              <a:cs typeface="Corbe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219944" y="2167128"/>
            <a:ext cx="1603247" cy="1604771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0526390" y="2633665"/>
            <a:ext cx="988694" cy="62992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065" marR="5080" algn="ctr">
              <a:lnSpc>
                <a:spcPts val="1540"/>
              </a:lnSpc>
              <a:spcBef>
                <a:spcPts val="270"/>
              </a:spcBef>
            </a:pPr>
            <a:r>
              <a:rPr sz="1400" b="1" spc="-10" dirty="0">
                <a:latin typeface="Corbel"/>
                <a:cs typeface="Corbel"/>
              </a:rPr>
              <a:t>Dependency </a:t>
            </a:r>
            <a:r>
              <a:rPr sz="1400" b="1" dirty="0">
                <a:latin typeface="Corbel"/>
                <a:cs typeface="Corbel"/>
              </a:rPr>
              <a:t>on</a:t>
            </a:r>
            <a:r>
              <a:rPr sz="1400" b="1" spc="-40" dirty="0">
                <a:latin typeface="Corbel"/>
                <a:cs typeface="Corbel"/>
              </a:rPr>
              <a:t> </a:t>
            </a:r>
            <a:r>
              <a:rPr sz="1400" b="1" spc="-20" dirty="0">
                <a:latin typeface="Corbel"/>
                <a:cs typeface="Corbel"/>
              </a:rPr>
              <a:t>Java </a:t>
            </a:r>
            <a:r>
              <a:rPr sz="1400" b="1" spc="-10" dirty="0">
                <a:latin typeface="Corbel"/>
                <a:cs typeface="Corbel"/>
              </a:rPr>
              <a:t>Runtime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6" name="object 26"/>
          <p:cNvSpPr txBox="1"/>
          <p:nvPr/>
        </p:nvSpPr>
        <p:spPr>
          <a:xfrm>
            <a:off x="8933391" y="987800"/>
            <a:ext cx="916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Demerits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246376" y="993647"/>
            <a:ext cx="7714615" cy="4853940"/>
            <a:chOff x="2246376" y="993647"/>
            <a:chExt cx="7714615" cy="4853940"/>
          </a:xfrm>
        </p:grpSpPr>
        <p:sp>
          <p:nvSpPr>
            <p:cNvPr id="5" name="object 5"/>
            <p:cNvSpPr/>
            <p:nvPr/>
          </p:nvSpPr>
          <p:spPr>
            <a:xfrm>
              <a:off x="7386828" y="993647"/>
              <a:ext cx="2574290" cy="4853940"/>
            </a:xfrm>
            <a:custGeom>
              <a:avLst/>
              <a:gdLst/>
              <a:ahLst/>
              <a:cxnLst/>
              <a:rect l="l" t="t" r="r" b="b"/>
              <a:pathLst>
                <a:path w="2574290" h="4853940">
                  <a:moveTo>
                    <a:pt x="2574035" y="0"/>
                  </a:moveTo>
                  <a:lnTo>
                    <a:pt x="0" y="0"/>
                  </a:lnTo>
                  <a:lnTo>
                    <a:pt x="0" y="4853940"/>
                  </a:lnTo>
                  <a:lnTo>
                    <a:pt x="2574035" y="4853940"/>
                  </a:lnTo>
                  <a:lnTo>
                    <a:pt x="2574035" y="0"/>
                  </a:lnTo>
                  <a:close/>
                </a:path>
              </a:pathLst>
            </a:custGeom>
            <a:solidFill>
              <a:srgbClr val="BE9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00955" y="2855975"/>
              <a:ext cx="882650" cy="1109980"/>
            </a:xfrm>
            <a:custGeom>
              <a:avLst/>
              <a:gdLst/>
              <a:ahLst/>
              <a:cxnLst/>
              <a:rect l="l" t="t" r="r" b="b"/>
              <a:pathLst>
                <a:path w="882650" h="1109979">
                  <a:moveTo>
                    <a:pt x="882396" y="0"/>
                  </a:moveTo>
                  <a:lnTo>
                    <a:pt x="0" y="0"/>
                  </a:lnTo>
                  <a:lnTo>
                    <a:pt x="0" y="1109472"/>
                  </a:lnTo>
                  <a:lnTo>
                    <a:pt x="882396" y="1109472"/>
                  </a:lnTo>
                  <a:lnTo>
                    <a:pt x="882396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46376" y="2855975"/>
              <a:ext cx="850900" cy="1109980"/>
            </a:xfrm>
            <a:custGeom>
              <a:avLst/>
              <a:gdLst/>
              <a:ahLst/>
              <a:cxnLst/>
              <a:rect l="l" t="t" r="r" b="b"/>
              <a:pathLst>
                <a:path w="850900" h="1109979">
                  <a:moveTo>
                    <a:pt x="850391" y="0"/>
                  </a:moveTo>
                  <a:lnTo>
                    <a:pt x="0" y="0"/>
                  </a:lnTo>
                  <a:lnTo>
                    <a:pt x="0" y="1109472"/>
                  </a:lnTo>
                  <a:lnTo>
                    <a:pt x="850391" y="1109472"/>
                  </a:lnTo>
                  <a:lnTo>
                    <a:pt x="85039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97977" y="3257844"/>
            <a:ext cx="3454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Rockwell"/>
                <a:cs typeface="Rockwell"/>
              </a:rPr>
              <a:t>Client</a:t>
            </a:r>
            <a:endParaRPr sz="900">
              <a:latin typeface="Rockwell"/>
              <a:cs typeface="Rockwel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58056" y="3216925"/>
            <a:ext cx="37528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 indent="48260">
              <a:lnSpc>
                <a:spcPts val="1060"/>
              </a:lnSpc>
              <a:spcBef>
                <a:spcPts val="150"/>
              </a:spcBef>
            </a:pPr>
            <a:r>
              <a:rPr sz="900" spc="-25" dirty="0">
                <a:solidFill>
                  <a:srgbClr val="FFFFFF"/>
                </a:solidFill>
                <a:latin typeface="Rockwell"/>
                <a:cs typeface="Rockwell"/>
              </a:rPr>
              <a:t>Web</a:t>
            </a:r>
            <a:r>
              <a:rPr sz="900" spc="-10" dirty="0">
                <a:solidFill>
                  <a:srgbClr val="FFFFFF"/>
                </a:solidFill>
                <a:latin typeface="Rockwell"/>
                <a:cs typeface="Rockwell"/>
              </a:rPr>
              <a:t> Server</a:t>
            </a:r>
            <a:endParaRPr sz="900">
              <a:latin typeface="Rockwell"/>
              <a:cs typeface="Rockwel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463028" y="1374647"/>
            <a:ext cx="2432685" cy="1286510"/>
          </a:xfrm>
          <a:custGeom>
            <a:avLst/>
            <a:gdLst/>
            <a:ahLst/>
            <a:cxnLst/>
            <a:rect l="l" t="t" r="r" b="b"/>
            <a:pathLst>
              <a:path w="2432684" h="1286510">
                <a:moveTo>
                  <a:pt x="2432304" y="0"/>
                </a:moveTo>
                <a:lnTo>
                  <a:pt x="0" y="0"/>
                </a:lnTo>
                <a:lnTo>
                  <a:pt x="0" y="1286255"/>
                </a:lnTo>
                <a:lnTo>
                  <a:pt x="2432304" y="1286255"/>
                </a:lnTo>
                <a:lnTo>
                  <a:pt x="243230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696419" y="1680490"/>
            <a:ext cx="194119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Web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Container/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Servlet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Container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41207" y="3393947"/>
            <a:ext cx="1140460" cy="551815"/>
          </a:xfrm>
          <a:prstGeom prst="rect">
            <a:avLst/>
          </a:prstGeom>
          <a:solidFill>
            <a:srgbClr val="FFFFFF"/>
          </a:solidFill>
          <a:ln w="6350">
            <a:solidFill>
              <a:srgbClr val="585858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5"/>
              </a:spcBef>
            </a:pPr>
            <a:r>
              <a:rPr sz="900" spc="-10" dirty="0">
                <a:latin typeface="Rockwell"/>
                <a:cs typeface="Rockwell"/>
              </a:rPr>
              <a:t>Servlet</a:t>
            </a:r>
            <a:endParaRPr sz="900">
              <a:latin typeface="Rockwell"/>
              <a:cs typeface="Rockwel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63028" y="4736591"/>
            <a:ext cx="1140460" cy="551815"/>
          </a:xfrm>
          <a:prstGeom prst="rect">
            <a:avLst/>
          </a:prstGeom>
          <a:solidFill>
            <a:srgbClr val="FFFFFF"/>
          </a:solidFill>
          <a:ln w="6350">
            <a:solidFill>
              <a:srgbClr val="585858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393065" marR="350520" indent="-32384">
              <a:lnSpc>
                <a:spcPts val="1060"/>
              </a:lnSpc>
              <a:spcBef>
                <a:spcPts val="590"/>
              </a:spcBef>
            </a:pPr>
            <a:r>
              <a:rPr sz="900" spc="-10" dirty="0">
                <a:latin typeface="Rockwell"/>
                <a:cs typeface="Rockwell"/>
              </a:rPr>
              <a:t>Request Object</a:t>
            </a:r>
            <a:endParaRPr sz="900">
              <a:latin typeface="Rockwell"/>
              <a:cs typeface="Rockwel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87383" y="4736591"/>
            <a:ext cx="1140460" cy="551815"/>
          </a:xfrm>
          <a:prstGeom prst="rect">
            <a:avLst/>
          </a:prstGeom>
          <a:solidFill>
            <a:srgbClr val="FFFFFF"/>
          </a:solidFill>
          <a:ln w="6350">
            <a:solidFill>
              <a:srgbClr val="585858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434975" marR="265430" indent="-74930">
              <a:lnSpc>
                <a:spcPts val="1060"/>
              </a:lnSpc>
              <a:spcBef>
                <a:spcPts val="590"/>
              </a:spcBef>
            </a:pPr>
            <a:r>
              <a:rPr sz="900" spc="-10" dirty="0">
                <a:latin typeface="Rockwell"/>
                <a:cs typeface="Rockwell"/>
              </a:rPr>
              <a:t>Response Object</a:t>
            </a:r>
            <a:endParaRPr sz="900">
              <a:latin typeface="Rockwell"/>
              <a:cs typeface="Rockwel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52800" y="2667000"/>
            <a:ext cx="868680" cy="478790"/>
          </a:xfrm>
          <a:prstGeom prst="rect">
            <a:avLst/>
          </a:prstGeom>
          <a:solidFill>
            <a:srgbClr val="FFE699"/>
          </a:solidFill>
          <a:ln w="6350">
            <a:solidFill>
              <a:srgbClr val="444A09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20955" algn="ctr">
              <a:lnSpc>
                <a:spcPts val="1070"/>
              </a:lnSpc>
              <a:spcBef>
                <a:spcPts val="114"/>
              </a:spcBef>
            </a:pPr>
            <a:r>
              <a:rPr sz="900" spc="-20" dirty="0">
                <a:latin typeface="Rockwell"/>
                <a:cs typeface="Rockwell"/>
              </a:rPr>
              <a:t>HTTP</a:t>
            </a:r>
            <a:endParaRPr sz="900">
              <a:latin typeface="Rockwell"/>
              <a:cs typeface="Rockwell"/>
            </a:endParaRPr>
          </a:p>
          <a:p>
            <a:pPr marL="20320" algn="ctr">
              <a:lnSpc>
                <a:spcPts val="1070"/>
              </a:lnSpc>
            </a:pPr>
            <a:r>
              <a:rPr sz="900" spc="-10" dirty="0">
                <a:latin typeface="Rockwell"/>
                <a:cs typeface="Rockwell"/>
              </a:rPr>
              <a:t>Request</a:t>
            </a:r>
            <a:endParaRPr sz="900">
              <a:latin typeface="Rockwell"/>
              <a:cs typeface="Rockwel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52800" y="3567684"/>
            <a:ext cx="868680" cy="478790"/>
          </a:xfrm>
          <a:prstGeom prst="rect">
            <a:avLst/>
          </a:prstGeom>
          <a:solidFill>
            <a:srgbClr val="E1EFD9"/>
          </a:solidFill>
          <a:ln w="6350">
            <a:solidFill>
              <a:srgbClr val="444A09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172085" marR="182245" indent="53340">
              <a:lnSpc>
                <a:spcPts val="1060"/>
              </a:lnSpc>
              <a:spcBef>
                <a:spcPts val="95"/>
              </a:spcBef>
            </a:pPr>
            <a:r>
              <a:rPr sz="900" spc="-10" dirty="0">
                <a:latin typeface="Rockwell"/>
                <a:cs typeface="Rockwell"/>
              </a:rPr>
              <a:t>Display Response</a:t>
            </a:r>
            <a:endParaRPr sz="900">
              <a:latin typeface="Rockwell"/>
              <a:cs typeface="Rockwel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105148" y="2655316"/>
            <a:ext cx="6280150" cy="2082800"/>
            <a:chOff x="3105148" y="2655316"/>
            <a:chExt cx="6280150" cy="2082800"/>
          </a:xfrm>
        </p:grpSpPr>
        <p:sp>
          <p:nvSpPr>
            <p:cNvPr id="18" name="object 18"/>
            <p:cNvSpPr/>
            <p:nvPr/>
          </p:nvSpPr>
          <p:spPr>
            <a:xfrm>
              <a:off x="3105149" y="3262122"/>
              <a:ext cx="1426210" cy="0"/>
            </a:xfrm>
            <a:custGeom>
              <a:avLst/>
              <a:gdLst/>
              <a:ahLst/>
              <a:cxnLst/>
              <a:rect l="l" t="t" r="r" b="b"/>
              <a:pathLst>
                <a:path w="1426210">
                  <a:moveTo>
                    <a:pt x="0" y="0"/>
                  </a:moveTo>
                  <a:lnTo>
                    <a:pt x="1426108" y="0"/>
                  </a:lnTo>
                </a:path>
              </a:pathLst>
            </a:custGeom>
            <a:ln w="12700">
              <a:solidFill>
                <a:srgbClr val="6E6E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18563" y="322401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6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68653" y="3428238"/>
              <a:ext cx="1426210" cy="0"/>
            </a:xfrm>
            <a:custGeom>
              <a:avLst/>
              <a:gdLst/>
              <a:ahLst/>
              <a:cxnLst/>
              <a:rect l="l" t="t" r="r" b="b"/>
              <a:pathLst>
                <a:path w="1426210">
                  <a:moveTo>
                    <a:pt x="142610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6E6E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05148" y="339013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6E6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91733" y="3262122"/>
              <a:ext cx="1817370" cy="0"/>
            </a:xfrm>
            <a:custGeom>
              <a:avLst/>
              <a:gdLst/>
              <a:ahLst/>
              <a:cxnLst/>
              <a:rect l="l" t="t" r="r" b="b"/>
              <a:pathLst>
                <a:path w="1817370">
                  <a:moveTo>
                    <a:pt x="0" y="0"/>
                  </a:moveTo>
                  <a:lnTo>
                    <a:pt x="1817027" y="0"/>
                  </a:lnTo>
                </a:path>
              </a:pathLst>
            </a:custGeom>
            <a:ln w="12700">
              <a:solidFill>
                <a:srgbClr val="6E6E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96057" y="322401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6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56545" y="3433042"/>
              <a:ext cx="1838325" cy="17145"/>
            </a:xfrm>
            <a:custGeom>
              <a:avLst/>
              <a:gdLst/>
              <a:ahLst/>
              <a:cxnLst/>
              <a:rect l="l" t="t" r="r" b="b"/>
              <a:pathLst>
                <a:path w="1838325" h="17145">
                  <a:moveTo>
                    <a:pt x="1837740" y="17043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6E6E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93054" y="3395063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76542" y="0"/>
                  </a:moveTo>
                  <a:lnTo>
                    <a:pt x="0" y="37401"/>
                  </a:lnTo>
                  <a:lnTo>
                    <a:pt x="75844" y="76200"/>
                  </a:lnTo>
                  <a:lnTo>
                    <a:pt x="76542" y="0"/>
                  </a:lnTo>
                  <a:close/>
                </a:path>
              </a:pathLst>
            </a:custGeom>
            <a:solidFill>
              <a:srgbClr val="6E6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482234" y="2661666"/>
              <a:ext cx="4445" cy="649605"/>
            </a:xfrm>
            <a:custGeom>
              <a:avLst/>
              <a:gdLst/>
              <a:ahLst/>
              <a:cxnLst/>
              <a:rect l="l" t="t" r="r" b="b"/>
              <a:pathLst>
                <a:path w="4445" h="649604">
                  <a:moveTo>
                    <a:pt x="4229" y="0"/>
                  </a:moveTo>
                  <a:lnTo>
                    <a:pt x="0" y="649439"/>
                  </a:lnTo>
                </a:path>
              </a:pathLst>
            </a:custGeom>
            <a:ln w="1269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444214" y="3298157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0" y="0"/>
                  </a:moveTo>
                  <a:lnTo>
                    <a:pt x="37604" y="76441"/>
                  </a:lnTo>
                  <a:lnTo>
                    <a:pt x="76200" y="4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942482" y="2725162"/>
              <a:ext cx="4445" cy="649605"/>
            </a:xfrm>
            <a:custGeom>
              <a:avLst/>
              <a:gdLst/>
              <a:ahLst/>
              <a:cxnLst/>
              <a:rect l="l" t="t" r="r" b="b"/>
              <a:pathLst>
                <a:path w="4445" h="649604">
                  <a:moveTo>
                    <a:pt x="4229" y="649439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904464" y="2661668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04" y="0"/>
                  </a:moveTo>
                  <a:lnTo>
                    <a:pt x="0" y="76441"/>
                  </a:lnTo>
                  <a:lnTo>
                    <a:pt x="76200" y="75946"/>
                  </a:lnTo>
                  <a:lnTo>
                    <a:pt x="3760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75066" y="3946398"/>
              <a:ext cx="636905" cy="743585"/>
            </a:xfrm>
            <a:custGeom>
              <a:avLst/>
              <a:gdLst/>
              <a:ahLst/>
              <a:cxnLst/>
              <a:rect l="l" t="t" r="r" b="b"/>
              <a:pathLst>
                <a:path w="636904" h="743585">
                  <a:moveTo>
                    <a:pt x="636587" y="0"/>
                  </a:moveTo>
                  <a:lnTo>
                    <a:pt x="0" y="743331"/>
                  </a:lnTo>
                </a:path>
              </a:pathLst>
            </a:custGeom>
            <a:ln w="127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033764" y="4655298"/>
              <a:ext cx="78740" cy="83185"/>
            </a:xfrm>
            <a:custGeom>
              <a:avLst/>
              <a:gdLst/>
              <a:ahLst/>
              <a:cxnLst/>
              <a:rect l="l" t="t" r="r" b="b"/>
              <a:pathLst>
                <a:path w="78740" h="83185">
                  <a:moveTo>
                    <a:pt x="20624" y="0"/>
                  </a:moveTo>
                  <a:lnTo>
                    <a:pt x="0" y="82664"/>
                  </a:lnTo>
                  <a:lnTo>
                    <a:pt x="78498" y="49568"/>
                  </a:lnTo>
                  <a:lnTo>
                    <a:pt x="2062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07373" y="3946398"/>
              <a:ext cx="636905" cy="743585"/>
            </a:xfrm>
            <a:custGeom>
              <a:avLst/>
              <a:gdLst/>
              <a:ahLst/>
              <a:cxnLst/>
              <a:rect l="l" t="t" r="r" b="b"/>
              <a:pathLst>
                <a:path w="636904" h="743585">
                  <a:moveTo>
                    <a:pt x="0" y="0"/>
                  </a:moveTo>
                  <a:lnTo>
                    <a:pt x="636587" y="743331"/>
                  </a:lnTo>
                </a:path>
              </a:pathLst>
            </a:custGeom>
            <a:ln w="127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306764" y="4655298"/>
              <a:ext cx="78740" cy="83185"/>
            </a:xfrm>
            <a:custGeom>
              <a:avLst/>
              <a:gdLst/>
              <a:ahLst/>
              <a:cxnLst/>
              <a:rect l="l" t="t" r="r" b="b"/>
              <a:pathLst>
                <a:path w="78740" h="83185">
                  <a:moveTo>
                    <a:pt x="57873" y="0"/>
                  </a:moveTo>
                  <a:lnTo>
                    <a:pt x="0" y="49568"/>
                  </a:lnTo>
                  <a:lnTo>
                    <a:pt x="78498" y="82664"/>
                  </a:lnTo>
                  <a:lnTo>
                    <a:pt x="5787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955791" y="2667000"/>
            <a:ext cx="868680" cy="478790"/>
          </a:xfrm>
          <a:prstGeom prst="rect">
            <a:avLst/>
          </a:prstGeom>
          <a:solidFill>
            <a:srgbClr val="FFE699"/>
          </a:solidFill>
          <a:ln w="6350">
            <a:solidFill>
              <a:srgbClr val="444A09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231140" marR="198755" indent="-12700">
              <a:lnSpc>
                <a:spcPts val="1060"/>
              </a:lnSpc>
              <a:spcBef>
                <a:spcPts val="40"/>
              </a:spcBef>
            </a:pPr>
            <a:r>
              <a:rPr sz="900" spc="-10" dirty="0">
                <a:latin typeface="Rockwell"/>
                <a:cs typeface="Rockwell"/>
              </a:rPr>
              <a:t>Forward Request</a:t>
            </a:r>
            <a:endParaRPr sz="900">
              <a:latin typeface="Rockwell"/>
              <a:cs typeface="Rockwell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5" name="object 35"/>
          <p:cNvSpPr txBox="1"/>
          <p:nvPr/>
        </p:nvSpPr>
        <p:spPr>
          <a:xfrm>
            <a:off x="5945123" y="3531108"/>
            <a:ext cx="868680" cy="478790"/>
          </a:xfrm>
          <a:prstGeom prst="rect">
            <a:avLst/>
          </a:prstGeom>
          <a:solidFill>
            <a:srgbClr val="E1EFD9"/>
          </a:solidFill>
          <a:ln w="6350">
            <a:solidFill>
              <a:srgbClr val="444A0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2384">
              <a:lnSpc>
                <a:spcPts val="1050"/>
              </a:lnSpc>
            </a:pPr>
            <a:r>
              <a:rPr sz="900" dirty="0">
                <a:latin typeface="Rockwell"/>
                <a:cs typeface="Rockwell"/>
              </a:rPr>
              <a:t>HTTP</a:t>
            </a:r>
            <a:r>
              <a:rPr sz="900" spc="-35" dirty="0">
                <a:latin typeface="Rockwell"/>
                <a:cs typeface="Rockwell"/>
              </a:rPr>
              <a:t> </a:t>
            </a:r>
            <a:r>
              <a:rPr sz="900" spc="-10" dirty="0">
                <a:latin typeface="Rockwell"/>
                <a:cs typeface="Rockwell"/>
              </a:rPr>
              <a:t>Response</a:t>
            </a:r>
            <a:endParaRPr sz="900">
              <a:latin typeface="Rockwell"/>
              <a:cs typeface="Rockwel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819006" y="2760017"/>
            <a:ext cx="38290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R="5080">
              <a:lnSpc>
                <a:spcPts val="1060"/>
              </a:lnSpc>
              <a:spcBef>
                <a:spcPts val="150"/>
              </a:spcBef>
            </a:pPr>
            <a:r>
              <a:rPr sz="900" spc="-20" dirty="0">
                <a:solidFill>
                  <a:srgbClr val="FFFFFF"/>
                </a:solidFill>
                <a:latin typeface="Rockwell"/>
                <a:cs typeface="Rockwell"/>
              </a:rPr>
              <a:t>Call </a:t>
            </a:r>
            <a:r>
              <a:rPr sz="900" spc="-10" dirty="0">
                <a:solidFill>
                  <a:srgbClr val="FFFFFF"/>
                </a:solidFill>
                <a:latin typeface="Rockwell"/>
                <a:cs typeface="Rockwell"/>
              </a:rPr>
              <a:t>Servlet</a:t>
            </a:r>
            <a:endParaRPr sz="900">
              <a:latin typeface="Rockwell"/>
              <a:cs typeface="Rockwel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064533" y="2759560"/>
            <a:ext cx="5187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R="5080">
              <a:lnSpc>
                <a:spcPts val="1060"/>
              </a:lnSpc>
              <a:spcBef>
                <a:spcPts val="150"/>
              </a:spcBef>
            </a:pPr>
            <a:r>
              <a:rPr sz="900" spc="-10" dirty="0">
                <a:solidFill>
                  <a:srgbClr val="FFFFFF"/>
                </a:solidFill>
                <a:latin typeface="Rockwell"/>
                <a:cs typeface="Rockwell"/>
              </a:rPr>
              <a:t>Return Response</a:t>
            </a:r>
            <a:endParaRPr sz="900">
              <a:latin typeface="Rockwell"/>
              <a:cs typeface="Rockwel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545143" y="3958452"/>
            <a:ext cx="70294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R="5080">
              <a:lnSpc>
                <a:spcPts val="1060"/>
              </a:lnSpc>
              <a:spcBef>
                <a:spcPts val="150"/>
              </a:spcBef>
            </a:pPr>
            <a:r>
              <a:rPr sz="900" spc="-10" dirty="0">
                <a:solidFill>
                  <a:srgbClr val="FFFFFF"/>
                </a:solidFill>
                <a:latin typeface="Rockwell"/>
                <a:cs typeface="Rockwell"/>
              </a:rPr>
              <a:t>Process </a:t>
            </a:r>
            <a:r>
              <a:rPr sz="900" dirty="0">
                <a:solidFill>
                  <a:srgbClr val="FFFFFF"/>
                </a:solidFill>
                <a:latin typeface="Rockwell"/>
                <a:cs typeface="Rockwell"/>
              </a:rPr>
              <a:t>Request</a:t>
            </a:r>
            <a:r>
              <a:rPr sz="900" spc="-3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Rockwell"/>
                <a:cs typeface="Rockwell"/>
              </a:rPr>
              <a:t>Data</a:t>
            </a:r>
            <a:endParaRPr sz="900">
              <a:latin typeface="Rockwell"/>
              <a:cs typeface="Rockwel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064533" y="3933421"/>
            <a:ext cx="5187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R="5080">
              <a:lnSpc>
                <a:spcPts val="1060"/>
              </a:lnSpc>
              <a:spcBef>
                <a:spcPts val="150"/>
              </a:spcBef>
            </a:pPr>
            <a:r>
              <a:rPr sz="900" spc="-10" dirty="0">
                <a:solidFill>
                  <a:srgbClr val="FFFFFF"/>
                </a:solidFill>
                <a:latin typeface="Rockwell"/>
                <a:cs typeface="Rockwell"/>
              </a:rPr>
              <a:t>Generate Response</a:t>
            </a:r>
            <a:endParaRPr sz="900">
              <a:latin typeface="Rockwell"/>
              <a:cs typeface="Rockwel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90907" y="73450"/>
            <a:ext cx="41694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Web</a:t>
            </a:r>
            <a:r>
              <a:rPr spc="-120" dirty="0"/>
              <a:t> </a:t>
            </a:r>
            <a:r>
              <a:rPr dirty="0"/>
              <a:t>Application</a:t>
            </a:r>
            <a:r>
              <a:rPr spc="-100" dirty="0"/>
              <a:t> </a:t>
            </a:r>
            <a:r>
              <a:rPr spc="-10" dirty="0"/>
              <a:t>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Capabilities</a:t>
            </a:r>
            <a:r>
              <a:rPr spc="-35" dirty="0"/>
              <a:t> </a:t>
            </a:r>
            <a:r>
              <a:rPr dirty="0"/>
              <a:t>of</a:t>
            </a:r>
            <a:r>
              <a:rPr spc="190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spc="-50" dirty="0"/>
              <a:t>Web</a:t>
            </a:r>
            <a:r>
              <a:rPr spc="-70" dirty="0"/>
              <a:t> </a:t>
            </a:r>
            <a:r>
              <a:rPr spc="-10" dirty="0"/>
              <a:t>Container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480940" y="3432432"/>
            <a:ext cx="1197610" cy="1355725"/>
            <a:chOff x="4480940" y="3432432"/>
            <a:chExt cx="1197610" cy="1355725"/>
          </a:xfrm>
        </p:grpSpPr>
        <p:sp>
          <p:nvSpPr>
            <p:cNvPr id="6" name="object 6"/>
            <p:cNvSpPr/>
            <p:nvPr/>
          </p:nvSpPr>
          <p:spPr>
            <a:xfrm>
              <a:off x="4490465" y="3441957"/>
              <a:ext cx="1178560" cy="1336675"/>
            </a:xfrm>
            <a:custGeom>
              <a:avLst/>
              <a:gdLst/>
              <a:ahLst/>
              <a:cxnLst/>
              <a:rect l="l" t="t" r="r" b="b"/>
              <a:pathLst>
                <a:path w="1178560" h="1336675">
                  <a:moveTo>
                    <a:pt x="981710" y="0"/>
                  </a:moveTo>
                  <a:lnTo>
                    <a:pt x="196342" y="0"/>
                  </a:lnTo>
                  <a:lnTo>
                    <a:pt x="151323" y="5185"/>
                  </a:lnTo>
                  <a:lnTo>
                    <a:pt x="109997" y="19957"/>
                  </a:lnTo>
                  <a:lnTo>
                    <a:pt x="73541" y="43135"/>
                  </a:lnTo>
                  <a:lnTo>
                    <a:pt x="43135" y="73541"/>
                  </a:lnTo>
                  <a:lnTo>
                    <a:pt x="19957" y="109997"/>
                  </a:lnTo>
                  <a:lnTo>
                    <a:pt x="5185" y="151323"/>
                  </a:lnTo>
                  <a:lnTo>
                    <a:pt x="0" y="196341"/>
                  </a:lnTo>
                  <a:lnTo>
                    <a:pt x="0" y="1140193"/>
                  </a:lnTo>
                  <a:lnTo>
                    <a:pt x="5185" y="1185216"/>
                  </a:lnTo>
                  <a:lnTo>
                    <a:pt x="19957" y="1226545"/>
                  </a:lnTo>
                  <a:lnTo>
                    <a:pt x="43135" y="1263003"/>
                  </a:lnTo>
                  <a:lnTo>
                    <a:pt x="73541" y="1293411"/>
                  </a:lnTo>
                  <a:lnTo>
                    <a:pt x="109997" y="1316590"/>
                  </a:lnTo>
                  <a:lnTo>
                    <a:pt x="151323" y="1331362"/>
                  </a:lnTo>
                  <a:lnTo>
                    <a:pt x="196342" y="1336547"/>
                  </a:lnTo>
                  <a:lnTo>
                    <a:pt x="981710" y="1336547"/>
                  </a:lnTo>
                  <a:lnTo>
                    <a:pt x="1026728" y="1331362"/>
                  </a:lnTo>
                  <a:lnTo>
                    <a:pt x="1068054" y="1316590"/>
                  </a:lnTo>
                  <a:lnTo>
                    <a:pt x="1104510" y="1293411"/>
                  </a:lnTo>
                  <a:lnTo>
                    <a:pt x="1134916" y="1263003"/>
                  </a:lnTo>
                  <a:lnTo>
                    <a:pt x="1158094" y="1226545"/>
                  </a:lnTo>
                  <a:lnTo>
                    <a:pt x="1172866" y="1185216"/>
                  </a:lnTo>
                  <a:lnTo>
                    <a:pt x="1178052" y="1140193"/>
                  </a:lnTo>
                  <a:lnTo>
                    <a:pt x="1178052" y="196341"/>
                  </a:lnTo>
                  <a:lnTo>
                    <a:pt x="1172866" y="151323"/>
                  </a:lnTo>
                  <a:lnTo>
                    <a:pt x="1158094" y="109997"/>
                  </a:lnTo>
                  <a:lnTo>
                    <a:pt x="1134916" y="73541"/>
                  </a:lnTo>
                  <a:lnTo>
                    <a:pt x="1104510" y="43135"/>
                  </a:lnTo>
                  <a:lnTo>
                    <a:pt x="1068054" y="19957"/>
                  </a:lnTo>
                  <a:lnTo>
                    <a:pt x="1026728" y="5185"/>
                  </a:lnTo>
                  <a:lnTo>
                    <a:pt x="98171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0465" y="3441957"/>
              <a:ext cx="1178560" cy="1336675"/>
            </a:xfrm>
            <a:custGeom>
              <a:avLst/>
              <a:gdLst/>
              <a:ahLst/>
              <a:cxnLst/>
              <a:rect l="l" t="t" r="r" b="b"/>
              <a:pathLst>
                <a:path w="1178560" h="1336675">
                  <a:moveTo>
                    <a:pt x="0" y="196341"/>
                  </a:moveTo>
                  <a:lnTo>
                    <a:pt x="5185" y="151323"/>
                  </a:lnTo>
                  <a:lnTo>
                    <a:pt x="19957" y="109997"/>
                  </a:lnTo>
                  <a:lnTo>
                    <a:pt x="43135" y="73541"/>
                  </a:lnTo>
                  <a:lnTo>
                    <a:pt x="73541" y="43135"/>
                  </a:lnTo>
                  <a:lnTo>
                    <a:pt x="109997" y="19957"/>
                  </a:lnTo>
                  <a:lnTo>
                    <a:pt x="151323" y="5185"/>
                  </a:lnTo>
                  <a:lnTo>
                    <a:pt x="196342" y="0"/>
                  </a:lnTo>
                  <a:lnTo>
                    <a:pt x="981710" y="0"/>
                  </a:lnTo>
                  <a:lnTo>
                    <a:pt x="1026728" y="5185"/>
                  </a:lnTo>
                  <a:lnTo>
                    <a:pt x="1068054" y="19957"/>
                  </a:lnTo>
                  <a:lnTo>
                    <a:pt x="1104510" y="43135"/>
                  </a:lnTo>
                  <a:lnTo>
                    <a:pt x="1134916" y="73541"/>
                  </a:lnTo>
                  <a:lnTo>
                    <a:pt x="1158094" y="109997"/>
                  </a:lnTo>
                  <a:lnTo>
                    <a:pt x="1172866" y="151323"/>
                  </a:lnTo>
                  <a:lnTo>
                    <a:pt x="1178052" y="196341"/>
                  </a:lnTo>
                  <a:lnTo>
                    <a:pt x="1178052" y="1140193"/>
                  </a:lnTo>
                  <a:lnTo>
                    <a:pt x="1172866" y="1185216"/>
                  </a:lnTo>
                  <a:lnTo>
                    <a:pt x="1158094" y="1226545"/>
                  </a:lnTo>
                  <a:lnTo>
                    <a:pt x="1134916" y="1263003"/>
                  </a:lnTo>
                  <a:lnTo>
                    <a:pt x="1104510" y="1293411"/>
                  </a:lnTo>
                  <a:lnTo>
                    <a:pt x="1068054" y="1316590"/>
                  </a:lnTo>
                  <a:lnTo>
                    <a:pt x="1026728" y="1331362"/>
                  </a:lnTo>
                  <a:lnTo>
                    <a:pt x="981710" y="1336547"/>
                  </a:lnTo>
                  <a:lnTo>
                    <a:pt x="196342" y="1336547"/>
                  </a:lnTo>
                  <a:lnTo>
                    <a:pt x="151323" y="1331362"/>
                  </a:lnTo>
                  <a:lnTo>
                    <a:pt x="109997" y="1316590"/>
                  </a:lnTo>
                  <a:lnTo>
                    <a:pt x="73541" y="1293411"/>
                  </a:lnTo>
                  <a:lnTo>
                    <a:pt x="43135" y="1263003"/>
                  </a:lnTo>
                  <a:lnTo>
                    <a:pt x="19957" y="1226545"/>
                  </a:lnTo>
                  <a:lnTo>
                    <a:pt x="5185" y="1185216"/>
                  </a:lnTo>
                  <a:lnTo>
                    <a:pt x="0" y="1140193"/>
                  </a:lnTo>
                  <a:lnTo>
                    <a:pt x="0" y="196341"/>
                  </a:lnTo>
                  <a:close/>
                </a:path>
              </a:pathLst>
            </a:custGeom>
            <a:ln w="19050">
              <a:solidFill>
                <a:srgbClr val="444A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68773" y="3559303"/>
              <a:ext cx="828040" cy="304800"/>
            </a:xfrm>
            <a:custGeom>
              <a:avLst/>
              <a:gdLst/>
              <a:ahLst/>
              <a:cxnLst/>
              <a:rect l="l" t="t" r="r" b="b"/>
              <a:pathLst>
                <a:path w="828039" h="304800">
                  <a:moveTo>
                    <a:pt x="776732" y="0"/>
                  </a:moveTo>
                  <a:lnTo>
                    <a:pt x="50800" y="0"/>
                  </a:lnTo>
                  <a:lnTo>
                    <a:pt x="31027" y="3992"/>
                  </a:lnTo>
                  <a:lnTo>
                    <a:pt x="14879" y="14879"/>
                  </a:lnTo>
                  <a:lnTo>
                    <a:pt x="3992" y="31027"/>
                  </a:lnTo>
                  <a:lnTo>
                    <a:pt x="0" y="50800"/>
                  </a:lnTo>
                  <a:lnTo>
                    <a:pt x="0" y="254000"/>
                  </a:lnTo>
                  <a:lnTo>
                    <a:pt x="3992" y="273772"/>
                  </a:lnTo>
                  <a:lnTo>
                    <a:pt x="14879" y="289920"/>
                  </a:lnTo>
                  <a:lnTo>
                    <a:pt x="31027" y="300807"/>
                  </a:lnTo>
                  <a:lnTo>
                    <a:pt x="50800" y="304800"/>
                  </a:lnTo>
                  <a:lnTo>
                    <a:pt x="776732" y="304800"/>
                  </a:lnTo>
                  <a:lnTo>
                    <a:pt x="796504" y="300807"/>
                  </a:lnTo>
                  <a:lnTo>
                    <a:pt x="812652" y="289920"/>
                  </a:lnTo>
                  <a:lnTo>
                    <a:pt x="823539" y="273772"/>
                  </a:lnTo>
                  <a:lnTo>
                    <a:pt x="827532" y="254000"/>
                  </a:lnTo>
                  <a:lnTo>
                    <a:pt x="827532" y="50800"/>
                  </a:lnTo>
                  <a:lnTo>
                    <a:pt x="823539" y="31027"/>
                  </a:lnTo>
                  <a:lnTo>
                    <a:pt x="812652" y="14879"/>
                  </a:lnTo>
                  <a:lnTo>
                    <a:pt x="796504" y="3992"/>
                  </a:lnTo>
                  <a:lnTo>
                    <a:pt x="7767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68773" y="3559303"/>
              <a:ext cx="828040" cy="304800"/>
            </a:xfrm>
            <a:custGeom>
              <a:avLst/>
              <a:gdLst/>
              <a:ahLst/>
              <a:cxnLst/>
              <a:rect l="l" t="t" r="r" b="b"/>
              <a:pathLst>
                <a:path w="828039" h="304800">
                  <a:moveTo>
                    <a:pt x="0" y="50800"/>
                  </a:moveTo>
                  <a:lnTo>
                    <a:pt x="3992" y="31027"/>
                  </a:lnTo>
                  <a:lnTo>
                    <a:pt x="14879" y="14879"/>
                  </a:lnTo>
                  <a:lnTo>
                    <a:pt x="31027" y="3992"/>
                  </a:lnTo>
                  <a:lnTo>
                    <a:pt x="50800" y="0"/>
                  </a:lnTo>
                  <a:lnTo>
                    <a:pt x="776732" y="0"/>
                  </a:lnTo>
                  <a:lnTo>
                    <a:pt x="796504" y="3992"/>
                  </a:lnTo>
                  <a:lnTo>
                    <a:pt x="812652" y="14879"/>
                  </a:lnTo>
                  <a:lnTo>
                    <a:pt x="823539" y="31027"/>
                  </a:lnTo>
                  <a:lnTo>
                    <a:pt x="827532" y="50800"/>
                  </a:lnTo>
                  <a:lnTo>
                    <a:pt x="827532" y="254000"/>
                  </a:lnTo>
                  <a:lnTo>
                    <a:pt x="823539" y="273772"/>
                  </a:lnTo>
                  <a:lnTo>
                    <a:pt x="812652" y="289920"/>
                  </a:lnTo>
                  <a:lnTo>
                    <a:pt x="796504" y="300807"/>
                  </a:lnTo>
                  <a:lnTo>
                    <a:pt x="776732" y="304800"/>
                  </a:lnTo>
                  <a:lnTo>
                    <a:pt x="50800" y="304800"/>
                  </a:lnTo>
                  <a:lnTo>
                    <a:pt x="31027" y="300807"/>
                  </a:lnTo>
                  <a:lnTo>
                    <a:pt x="14879" y="289920"/>
                  </a:lnTo>
                  <a:lnTo>
                    <a:pt x="3992" y="273772"/>
                  </a:lnTo>
                  <a:lnTo>
                    <a:pt x="0" y="254000"/>
                  </a:lnTo>
                  <a:lnTo>
                    <a:pt x="0" y="50800"/>
                  </a:lnTo>
                  <a:close/>
                </a:path>
              </a:pathLst>
            </a:custGeom>
            <a:ln w="19050">
              <a:solidFill>
                <a:srgbClr val="444A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765180" y="3605134"/>
            <a:ext cx="6305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Rockwell"/>
                <a:cs typeface="Rockwell"/>
              </a:rPr>
              <a:t>Thread</a:t>
            </a:r>
            <a:r>
              <a:rPr sz="1100" b="1" spc="-40" dirty="0">
                <a:latin typeface="Rockwell"/>
                <a:cs typeface="Rockwell"/>
              </a:rPr>
              <a:t> </a:t>
            </a:r>
            <a:r>
              <a:rPr sz="1100" b="1" spc="-50" dirty="0">
                <a:latin typeface="Rockwell"/>
                <a:cs typeface="Rockwell"/>
              </a:rPr>
              <a:t>1</a:t>
            </a:r>
            <a:endParaRPr sz="1100">
              <a:latin typeface="Rockwell"/>
              <a:cs typeface="Rockwel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46572" y="2438782"/>
            <a:ext cx="3120390" cy="2765425"/>
            <a:chOff x="5346572" y="2438782"/>
            <a:chExt cx="3120390" cy="2765425"/>
          </a:xfrm>
        </p:grpSpPr>
        <p:sp>
          <p:nvSpPr>
            <p:cNvPr id="12" name="object 12"/>
            <p:cNvSpPr/>
            <p:nvPr/>
          </p:nvSpPr>
          <p:spPr>
            <a:xfrm>
              <a:off x="5356097" y="2448307"/>
              <a:ext cx="1367155" cy="320040"/>
            </a:xfrm>
            <a:custGeom>
              <a:avLst/>
              <a:gdLst/>
              <a:ahLst/>
              <a:cxnLst/>
              <a:rect l="l" t="t" r="r" b="b"/>
              <a:pathLst>
                <a:path w="1367154" h="320039">
                  <a:moveTo>
                    <a:pt x="1313688" y="0"/>
                  </a:moveTo>
                  <a:lnTo>
                    <a:pt x="53340" y="0"/>
                  </a:lnTo>
                  <a:lnTo>
                    <a:pt x="32575" y="4190"/>
                  </a:lnTo>
                  <a:lnTo>
                    <a:pt x="15621" y="15620"/>
                  </a:lnTo>
                  <a:lnTo>
                    <a:pt x="4190" y="32575"/>
                  </a:lnTo>
                  <a:lnTo>
                    <a:pt x="0" y="53339"/>
                  </a:lnTo>
                  <a:lnTo>
                    <a:pt x="0" y="266699"/>
                  </a:lnTo>
                  <a:lnTo>
                    <a:pt x="4190" y="287459"/>
                  </a:lnTo>
                  <a:lnTo>
                    <a:pt x="15620" y="304414"/>
                  </a:lnTo>
                  <a:lnTo>
                    <a:pt x="32575" y="315847"/>
                  </a:lnTo>
                  <a:lnTo>
                    <a:pt x="53340" y="320039"/>
                  </a:lnTo>
                  <a:lnTo>
                    <a:pt x="1313688" y="320039"/>
                  </a:lnTo>
                  <a:lnTo>
                    <a:pt x="1334452" y="315847"/>
                  </a:lnTo>
                  <a:lnTo>
                    <a:pt x="1351407" y="304414"/>
                  </a:lnTo>
                  <a:lnTo>
                    <a:pt x="1362837" y="287459"/>
                  </a:lnTo>
                  <a:lnTo>
                    <a:pt x="1367028" y="266699"/>
                  </a:lnTo>
                  <a:lnTo>
                    <a:pt x="1367028" y="53339"/>
                  </a:lnTo>
                  <a:lnTo>
                    <a:pt x="1362837" y="32575"/>
                  </a:lnTo>
                  <a:lnTo>
                    <a:pt x="1351407" y="15620"/>
                  </a:lnTo>
                  <a:lnTo>
                    <a:pt x="1334452" y="4190"/>
                  </a:lnTo>
                  <a:lnTo>
                    <a:pt x="131368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56097" y="2448307"/>
              <a:ext cx="1367155" cy="320040"/>
            </a:xfrm>
            <a:custGeom>
              <a:avLst/>
              <a:gdLst/>
              <a:ahLst/>
              <a:cxnLst/>
              <a:rect l="l" t="t" r="r" b="b"/>
              <a:pathLst>
                <a:path w="1367154" h="320039">
                  <a:moveTo>
                    <a:pt x="0" y="53339"/>
                  </a:moveTo>
                  <a:lnTo>
                    <a:pt x="4190" y="32575"/>
                  </a:lnTo>
                  <a:lnTo>
                    <a:pt x="15621" y="15620"/>
                  </a:lnTo>
                  <a:lnTo>
                    <a:pt x="32575" y="4190"/>
                  </a:lnTo>
                  <a:lnTo>
                    <a:pt x="53340" y="0"/>
                  </a:lnTo>
                  <a:lnTo>
                    <a:pt x="1313688" y="0"/>
                  </a:lnTo>
                  <a:lnTo>
                    <a:pt x="1334452" y="4190"/>
                  </a:lnTo>
                  <a:lnTo>
                    <a:pt x="1351407" y="15620"/>
                  </a:lnTo>
                  <a:lnTo>
                    <a:pt x="1362837" y="32575"/>
                  </a:lnTo>
                  <a:lnTo>
                    <a:pt x="1367028" y="53339"/>
                  </a:lnTo>
                  <a:lnTo>
                    <a:pt x="1367028" y="266699"/>
                  </a:lnTo>
                  <a:lnTo>
                    <a:pt x="1362837" y="287459"/>
                  </a:lnTo>
                  <a:lnTo>
                    <a:pt x="1351407" y="304414"/>
                  </a:lnTo>
                  <a:lnTo>
                    <a:pt x="1334452" y="315847"/>
                  </a:lnTo>
                  <a:lnTo>
                    <a:pt x="1313688" y="320039"/>
                  </a:lnTo>
                  <a:lnTo>
                    <a:pt x="53340" y="320039"/>
                  </a:lnTo>
                  <a:lnTo>
                    <a:pt x="32575" y="315847"/>
                  </a:lnTo>
                  <a:lnTo>
                    <a:pt x="15620" y="304414"/>
                  </a:lnTo>
                  <a:lnTo>
                    <a:pt x="4190" y="287459"/>
                  </a:lnTo>
                  <a:lnTo>
                    <a:pt x="0" y="266699"/>
                  </a:lnTo>
                  <a:lnTo>
                    <a:pt x="0" y="53339"/>
                  </a:lnTo>
                  <a:close/>
                </a:path>
              </a:pathLst>
            </a:custGeom>
            <a:ln w="19050">
              <a:solidFill>
                <a:srgbClr val="444A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64985" y="3001518"/>
              <a:ext cx="1069975" cy="349250"/>
            </a:xfrm>
            <a:custGeom>
              <a:avLst/>
              <a:gdLst/>
              <a:ahLst/>
              <a:cxnLst/>
              <a:rect l="l" t="t" r="r" b="b"/>
              <a:pathLst>
                <a:path w="1069975" h="349250">
                  <a:moveTo>
                    <a:pt x="1011682" y="0"/>
                  </a:moveTo>
                  <a:lnTo>
                    <a:pt x="58166" y="0"/>
                  </a:lnTo>
                  <a:lnTo>
                    <a:pt x="35527" y="4571"/>
                  </a:lnTo>
                  <a:lnTo>
                    <a:pt x="17038" y="17038"/>
                  </a:lnTo>
                  <a:lnTo>
                    <a:pt x="4571" y="35527"/>
                  </a:lnTo>
                  <a:lnTo>
                    <a:pt x="0" y="58165"/>
                  </a:lnTo>
                  <a:lnTo>
                    <a:pt x="0" y="290829"/>
                  </a:lnTo>
                  <a:lnTo>
                    <a:pt x="4571" y="313468"/>
                  </a:lnTo>
                  <a:lnTo>
                    <a:pt x="17038" y="331957"/>
                  </a:lnTo>
                  <a:lnTo>
                    <a:pt x="35527" y="344424"/>
                  </a:lnTo>
                  <a:lnTo>
                    <a:pt x="58166" y="348995"/>
                  </a:lnTo>
                  <a:lnTo>
                    <a:pt x="1011682" y="348995"/>
                  </a:lnTo>
                  <a:lnTo>
                    <a:pt x="1034320" y="344424"/>
                  </a:lnTo>
                  <a:lnTo>
                    <a:pt x="1052809" y="331957"/>
                  </a:lnTo>
                  <a:lnTo>
                    <a:pt x="1065276" y="313468"/>
                  </a:lnTo>
                  <a:lnTo>
                    <a:pt x="1069848" y="290829"/>
                  </a:lnTo>
                  <a:lnTo>
                    <a:pt x="1069848" y="58165"/>
                  </a:lnTo>
                  <a:lnTo>
                    <a:pt x="1065276" y="35527"/>
                  </a:lnTo>
                  <a:lnTo>
                    <a:pt x="1052809" y="17038"/>
                  </a:lnTo>
                  <a:lnTo>
                    <a:pt x="1034320" y="4571"/>
                  </a:lnTo>
                  <a:lnTo>
                    <a:pt x="1011682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64985" y="3001518"/>
              <a:ext cx="1069975" cy="349250"/>
            </a:xfrm>
            <a:custGeom>
              <a:avLst/>
              <a:gdLst/>
              <a:ahLst/>
              <a:cxnLst/>
              <a:rect l="l" t="t" r="r" b="b"/>
              <a:pathLst>
                <a:path w="1069975" h="349250">
                  <a:moveTo>
                    <a:pt x="0" y="58165"/>
                  </a:moveTo>
                  <a:lnTo>
                    <a:pt x="4571" y="35527"/>
                  </a:lnTo>
                  <a:lnTo>
                    <a:pt x="17038" y="17038"/>
                  </a:lnTo>
                  <a:lnTo>
                    <a:pt x="35527" y="4571"/>
                  </a:lnTo>
                  <a:lnTo>
                    <a:pt x="58166" y="0"/>
                  </a:lnTo>
                  <a:lnTo>
                    <a:pt x="1011682" y="0"/>
                  </a:lnTo>
                  <a:lnTo>
                    <a:pt x="1034320" y="4571"/>
                  </a:lnTo>
                  <a:lnTo>
                    <a:pt x="1052809" y="17038"/>
                  </a:lnTo>
                  <a:lnTo>
                    <a:pt x="1065276" y="35527"/>
                  </a:lnTo>
                  <a:lnTo>
                    <a:pt x="1069848" y="58165"/>
                  </a:lnTo>
                  <a:lnTo>
                    <a:pt x="1069848" y="290829"/>
                  </a:lnTo>
                  <a:lnTo>
                    <a:pt x="1065276" y="313468"/>
                  </a:lnTo>
                  <a:lnTo>
                    <a:pt x="1052809" y="331957"/>
                  </a:lnTo>
                  <a:lnTo>
                    <a:pt x="1034320" y="344424"/>
                  </a:lnTo>
                  <a:lnTo>
                    <a:pt x="1011682" y="348995"/>
                  </a:lnTo>
                  <a:lnTo>
                    <a:pt x="58166" y="348995"/>
                  </a:lnTo>
                  <a:lnTo>
                    <a:pt x="35527" y="344424"/>
                  </a:lnTo>
                  <a:lnTo>
                    <a:pt x="17038" y="331957"/>
                  </a:lnTo>
                  <a:lnTo>
                    <a:pt x="4571" y="313468"/>
                  </a:lnTo>
                  <a:lnTo>
                    <a:pt x="0" y="290829"/>
                  </a:lnTo>
                  <a:lnTo>
                    <a:pt x="0" y="58165"/>
                  </a:lnTo>
                  <a:close/>
                </a:path>
              </a:pathLst>
            </a:custGeom>
            <a:ln w="19050">
              <a:solidFill>
                <a:srgbClr val="444A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101077" y="3739137"/>
              <a:ext cx="1356360" cy="1455420"/>
            </a:xfrm>
            <a:custGeom>
              <a:avLst/>
              <a:gdLst/>
              <a:ahLst/>
              <a:cxnLst/>
              <a:rect l="l" t="t" r="r" b="b"/>
              <a:pathLst>
                <a:path w="1356359" h="1455420">
                  <a:moveTo>
                    <a:pt x="1130300" y="0"/>
                  </a:moveTo>
                  <a:lnTo>
                    <a:pt x="226060" y="0"/>
                  </a:lnTo>
                  <a:lnTo>
                    <a:pt x="180499" y="4592"/>
                  </a:lnTo>
                  <a:lnTo>
                    <a:pt x="138065" y="17764"/>
                  </a:lnTo>
                  <a:lnTo>
                    <a:pt x="99665" y="38606"/>
                  </a:lnTo>
                  <a:lnTo>
                    <a:pt x="66209" y="66209"/>
                  </a:lnTo>
                  <a:lnTo>
                    <a:pt x="38606" y="99665"/>
                  </a:lnTo>
                  <a:lnTo>
                    <a:pt x="17764" y="138065"/>
                  </a:lnTo>
                  <a:lnTo>
                    <a:pt x="4592" y="180499"/>
                  </a:lnTo>
                  <a:lnTo>
                    <a:pt x="0" y="226060"/>
                  </a:lnTo>
                  <a:lnTo>
                    <a:pt x="0" y="1229347"/>
                  </a:lnTo>
                  <a:lnTo>
                    <a:pt x="4592" y="1274908"/>
                  </a:lnTo>
                  <a:lnTo>
                    <a:pt x="17764" y="1317343"/>
                  </a:lnTo>
                  <a:lnTo>
                    <a:pt x="38606" y="1355745"/>
                  </a:lnTo>
                  <a:lnTo>
                    <a:pt x="66209" y="1389203"/>
                  </a:lnTo>
                  <a:lnTo>
                    <a:pt x="99665" y="1416809"/>
                  </a:lnTo>
                  <a:lnTo>
                    <a:pt x="138065" y="1437653"/>
                  </a:lnTo>
                  <a:lnTo>
                    <a:pt x="180499" y="1450826"/>
                  </a:lnTo>
                  <a:lnTo>
                    <a:pt x="226060" y="1455420"/>
                  </a:lnTo>
                  <a:lnTo>
                    <a:pt x="1130300" y="1455420"/>
                  </a:lnTo>
                  <a:lnTo>
                    <a:pt x="1175860" y="1450826"/>
                  </a:lnTo>
                  <a:lnTo>
                    <a:pt x="1218294" y="1437653"/>
                  </a:lnTo>
                  <a:lnTo>
                    <a:pt x="1256694" y="1416809"/>
                  </a:lnTo>
                  <a:lnTo>
                    <a:pt x="1290150" y="1389203"/>
                  </a:lnTo>
                  <a:lnTo>
                    <a:pt x="1317753" y="1355745"/>
                  </a:lnTo>
                  <a:lnTo>
                    <a:pt x="1338595" y="1317343"/>
                  </a:lnTo>
                  <a:lnTo>
                    <a:pt x="1351767" y="1274908"/>
                  </a:lnTo>
                  <a:lnTo>
                    <a:pt x="1356360" y="1229347"/>
                  </a:lnTo>
                  <a:lnTo>
                    <a:pt x="1356360" y="226060"/>
                  </a:lnTo>
                  <a:lnTo>
                    <a:pt x="1351767" y="180499"/>
                  </a:lnTo>
                  <a:lnTo>
                    <a:pt x="1338595" y="138065"/>
                  </a:lnTo>
                  <a:lnTo>
                    <a:pt x="1317753" y="99665"/>
                  </a:lnTo>
                  <a:lnTo>
                    <a:pt x="1290150" y="66209"/>
                  </a:lnTo>
                  <a:lnTo>
                    <a:pt x="1256694" y="38606"/>
                  </a:lnTo>
                  <a:lnTo>
                    <a:pt x="1218294" y="17764"/>
                  </a:lnTo>
                  <a:lnTo>
                    <a:pt x="1175860" y="4592"/>
                  </a:lnTo>
                  <a:lnTo>
                    <a:pt x="1130300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101077" y="3739137"/>
              <a:ext cx="1356360" cy="1455420"/>
            </a:xfrm>
            <a:custGeom>
              <a:avLst/>
              <a:gdLst/>
              <a:ahLst/>
              <a:cxnLst/>
              <a:rect l="l" t="t" r="r" b="b"/>
              <a:pathLst>
                <a:path w="1356359" h="1455420">
                  <a:moveTo>
                    <a:pt x="0" y="226060"/>
                  </a:moveTo>
                  <a:lnTo>
                    <a:pt x="4592" y="180499"/>
                  </a:lnTo>
                  <a:lnTo>
                    <a:pt x="17764" y="138065"/>
                  </a:lnTo>
                  <a:lnTo>
                    <a:pt x="38606" y="99665"/>
                  </a:lnTo>
                  <a:lnTo>
                    <a:pt x="66209" y="66209"/>
                  </a:lnTo>
                  <a:lnTo>
                    <a:pt x="99665" y="38606"/>
                  </a:lnTo>
                  <a:lnTo>
                    <a:pt x="138065" y="17764"/>
                  </a:lnTo>
                  <a:lnTo>
                    <a:pt x="180499" y="4592"/>
                  </a:lnTo>
                  <a:lnTo>
                    <a:pt x="226060" y="0"/>
                  </a:lnTo>
                  <a:lnTo>
                    <a:pt x="1130300" y="0"/>
                  </a:lnTo>
                  <a:lnTo>
                    <a:pt x="1175860" y="4592"/>
                  </a:lnTo>
                  <a:lnTo>
                    <a:pt x="1218294" y="17764"/>
                  </a:lnTo>
                  <a:lnTo>
                    <a:pt x="1256694" y="38606"/>
                  </a:lnTo>
                  <a:lnTo>
                    <a:pt x="1290150" y="66209"/>
                  </a:lnTo>
                  <a:lnTo>
                    <a:pt x="1317753" y="99665"/>
                  </a:lnTo>
                  <a:lnTo>
                    <a:pt x="1338595" y="138065"/>
                  </a:lnTo>
                  <a:lnTo>
                    <a:pt x="1351767" y="180499"/>
                  </a:lnTo>
                  <a:lnTo>
                    <a:pt x="1356360" y="226060"/>
                  </a:lnTo>
                  <a:lnTo>
                    <a:pt x="1356360" y="1229347"/>
                  </a:lnTo>
                  <a:lnTo>
                    <a:pt x="1351767" y="1274908"/>
                  </a:lnTo>
                  <a:lnTo>
                    <a:pt x="1338595" y="1317343"/>
                  </a:lnTo>
                  <a:lnTo>
                    <a:pt x="1317753" y="1355745"/>
                  </a:lnTo>
                  <a:lnTo>
                    <a:pt x="1290150" y="1389203"/>
                  </a:lnTo>
                  <a:lnTo>
                    <a:pt x="1256694" y="1416809"/>
                  </a:lnTo>
                  <a:lnTo>
                    <a:pt x="1218294" y="1437653"/>
                  </a:lnTo>
                  <a:lnTo>
                    <a:pt x="1175860" y="1450826"/>
                  </a:lnTo>
                  <a:lnTo>
                    <a:pt x="1130300" y="1455420"/>
                  </a:lnTo>
                  <a:lnTo>
                    <a:pt x="226060" y="1455420"/>
                  </a:lnTo>
                  <a:lnTo>
                    <a:pt x="180499" y="1450826"/>
                  </a:lnTo>
                  <a:lnTo>
                    <a:pt x="138065" y="1437653"/>
                  </a:lnTo>
                  <a:lnTo>
                    <a:pt x="99665" y="1416809"/>
                  </a:lnTo>
                  <a:lnTo>
                    <a:pt x="66209" y="1389203"/>
                  </a:lnTo>
                  <a:lnTo>
                    <a:pt x="38606" y="1355745"/>
                  </a:lnTo>
                  <a:lnTo>
                    <a:pt x="17764" y="1317343"/>
                  </a:lnTo>
                  <a:lnTo>
                    <a:pt x="4592" y="1274908"/>
                  </a:lnTo>
                  <a:lnTo>
                    <a:pt x="0" y="1229347"/>
                  </a:lnTo>
                  <a:lnTo>
                    <a:pt x="0" y="226060"/>
                  </a:lnTo>
                  <a:close/>
                </a:path>
              </a:pathLst>
            </a:custGeom>
            <a:ln w="19050">
              <a:solidFill>
                <a:srgbClr val="444A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464138" y="3828639"/>
            <a:ext cx="6254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FFFFF"/>
                </a:solidFill>
                <a:latin typeface="Rockwell"/>
                <a:cs typeface="Rockwell"/>
              </a:rPr>
              <a:t>service()</a:t>
            </a:r>
            <a:endParaRPr sz="1100">
              <a:latin typeface="Rockwell"/>
              <a:cs typeface="Rockwel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291196" y="4112134"/>
            <a:ext cx="1045210" cy="406400"/>
            <a:chOff x="7291196" y="4112134"/>
            <a:chExt cx="1045210" cy="406400"/>
          </a:xfrm>
        </p:grpSpPr>
        <p:sp>
          <p:nvSpPr>
            <p:cNvPr id="20" name="object 20"/>
            <p:cNvSpPr/>
            <p:nvPr/>
          </p:nvSpPr>
          <p:spPr>
            <a:xfrm>
              <a:off x="7300721" y="4121659"/>
              <a:ext cx="1026160" cy="387350"/>
            </a:xfrm>
            <a:custGeom>
              <a:avLst/>
              <a:gdLst/>
              <a:ahLst/>
              <a:cxnLst/>
              <a:rect l="l" t="t" r="r" b="b"/>
              <a:pathLst>
                <a:path w="1026159" h="387350">
                  <a:moveTo>
                    <a:pt x="961136" y="0"/>
                  </a:moveTo>
                  <a:lnTo>
                    <a:pt x="64516" y="0"/>
                  </a:lnTo>
                  <a:lnTo>
                    <a:pt x="39401" y="5069"/>
                  </a:lnTo>
                  <a:lnTo>
                    <a:pt x="18894" y="18894"/>
                  </a:lnTo>
                  <a:lnTo>
                    <a:pt x="5069" y="39401"/>
                  </a:lnTo>
                  <a:lnTo>
                    <a:pt x="0" y="64516"/>
                  </a:lnTo>
                  <a:lnTo>
                    <a:pt x="0" y="322580"/>
                  </a:lnTo>
                  <a:lnTo>
                    <a:pt x="5069" y="347689"/>
                  </a:lnTo>
                  <a:lnTo>
                    <a:pt x="18894" y="368196"/>
                  </a:lnTo>
                  <a:lnTo>
                    <a:pt x="39401" y="382024"/>
                  </a:lnTo>
                  <a:lnTo>
                    <a:pt x="64516" y="387096"/>
                  </a:lnTo>
                  <a:lnTo>
                    <a:pt x="961136" y="387096"/>
                  </a:lnTo>
                  <a:lnTo>
                    <a:pt x="986250" y="382024"/>
                  </a:lnTo>
                  <a:lnTo>
                    <a:pt x="1006757" y="368196"/>
                  </a:lnTo>
                  <a:lnTo>
                    <a:pt x="1020582" y="347689"/>
                  </a:lnTo>
                  <a:lnTo>
                    <a:pt x="1025652" y="322580"/>
                  </a:lnTo>
                  <a:lnTo>
                    <a:pt x="1025652" y="64516"/>
                  </a:lnTo>
                  <a:lnTo>
                    <a:pt x="1020582" y="39401"/>
                  </a:lnTo>
                  <a:lnTo>
                    <a:pt x="1006757" y="18894"/>
                  </a:lnTo>
                  <a:lnTo>
                    <a:pt x="986250" y="5069"/>
                  </a:lnTo>
                  <a:lnTo>
                    <a:pt x="961136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00721" y="4121659"/>
              <a:ext cx="1026160" cy="387350"/>
            </a:xfrm>
            <a:custGeom>
              <a:avLst/>
              <a:gdLst/>
              <a:ahLst/>
              <a:cxnLst/>
              <a:rect l="l" t="t" r="r" b="b"/>
              <a:pathLst>
                <a:path w="1026159" h="387350">
                  <a:moveTo>
                    <a:pt x="0" y="64516"/>
                  </a:moveTo>
                  <a:lnTo>
                    <a:pt x="5069" y="39401"/>
                  </a:lnTo>
                  <a:lnTo>
                    <a:pt x="18894" y="18894"/>
                  </a:lnTo>
                  <a:lnTo>
                    <a:pt x="39401" y="5069"/>
                  </a:lnTo>
                  <a:lnTo>
                    <a:pt x="64516" y="0"/>
                  </a:lnTo>
                  <a:lnTo>
                    <a:pt x="961136" y="0"/>
                  </a:lnTo>
                  <a:lnTo>
                    <a:pt x="986250" y="5069"/>
                  </a:lnTo>
                  <a:lnTo>
                    <a:pt x="1006757" y="18894"/>
                  </a:lnTo>
                  <a:lnTo>
                    <a:pt x="1020582" y="39401"/>
                  </a:lnTo>
                  <a:lnTo>
                    <a:pt x="1025652" y="64516"/>
                  </a:lnTo>
                  <a:lnTo>
                    <a:pt x="1025652" y="322580"/>
                  </a:lnTo>
                  <a:lnTo>
                    <a:pt x="1020582" y="347689"/>
                  </a:lnTo>
                  <a:lnTo>
                    <a:pt x="1006757" y="368196"/>
                  </a:lnTo>
                  <a:lnTo>
                    <a:pt x="986250" y="382024"/>
                  </a:lnTo>
                  <a:lnTo>
                    <a:pt x="961136" y="387096"/>
                  </a:lnTo>
                  <a:lnTo>
                    <a:pt x="64516" y="387096"/>
                  </a:lnTo>
                  <a:lnTo>
                    <a:pt x="39401" y="382024"/>
                  </a:lnTo>
                  <a:lnTo>
                    <a:pt x="18894" y="368196"/>
                  </a:lnTo>
                  <a:lnTo>
                    <a:pt x="5069" y="347689"/>
                  </a:lnTo>
                  <a:lnTo>
                    <a:pt x="0" y="322580"/>
                  </a:lnTo>
                  <a:lnTo>
                    <a:pt x="0" y="64516"/>
                  </a:lnTo>
                  <a:close/>
                </a:path>
              </a:pathLst>
            </a:custGeom>
            <a:ln w="19050">
              <a:solidFill>
                <a:srgbClr val="444A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559291" y="4208340"/>
            <a:ext cx="50609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FFFFF"/>
                </a:solidFill>
                <a:latin typeface="Rockwell"/>
                <a:cs typeface="Rockwell"/>
              </a:rPr>
              <a:t>doget()</a:t>
            </a:r>
            <a:endParaRPr sz="1100">
              <a:latin typeface="Rockwell"/>
              <a:cs typeface="Rockwel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91196" y="4589146"/>
            <a:ext cx="1045210" cy="478155"/>
            <a:chOff x="7291196" y="4589146"/>
            <a:chExt cx="1045210" cy="478155"/>
          </a:xfrm>
        </p:grpSpPr>
        <p:sp>
          <p:nvSpPr>
            <p:cNvPr id="24" name="object 24"/>
            <p:cNvSpPr/>
            <p:nvPr/>
          </p:nvSpPr>
          <p:spPr>
            <a:xfrm>
              <a:off x="7300721" y="4598671"/>
              <a:ext cx="1026160" cy="459105"/>
            </a:xfrm>
            <a:custGeom>
              <a:avLst/>
              <a:gdLst/>
              <a:ahLst/>
              <a:cxnLst/>
              <a:rect l="l" t="t" r="r" b="b"/>
              <a:pathLst>
                <a:path w="1026159" h="459104">
                  <a:moveTo>
                    <a:pt x="949197" y="0"/>
                  </a:moveTo>
                  <a:lnTo>
                    <a:pt x="76454" y="0"/>
                  </a:lnTo>
                  <a:lnTo>
                    <a:pt x="46693" y="6007"/>
                  </a:lnTo>
                  <a:lnTo>
                    <a:pt x="22391" y="22391"/>
                  </a:lnTo>
                  <a:lnTo>
                    <a:pt x="6007" y="46693"/>
                  </a:lnTo>
                  <a:lnTo>
                    <a:pt x="0" y="76454"/>
                  </a:lnTo>
                  <a:lnTo>
                    <a:pt x="0" y="382270"/>
                  </a:lnTo>
                  <a:lnTo>
                    <a:pt x="6007" y="412030"/>
                  </a:lnTo>
                  <a:lnTo>
                    <a:pt x="22391" y="436332"/>
                  </a:lnTo>
                  <a:lnTo>
                    <a:pt x="46693" y="452716"/>
                  </a:lnTo>
                  <a:lnTo>
                    <a:pt x="76454" y="458724"/>
                  </a:lnTo>
                  <a:lnTo>
                    <a:pt x="949197" y="458724"/>
                  </a:lnTo>
                  <a:lnTo>
                    <a:pt x="978958" y="452716"/>
                  </a:lnTo>
                  <a:lnTo>
                    <a:pt x="1003260" y="436332"/>
                  </a:lnTo>
                  <a:lnTo>
                    <a:pt x="1019644" y="412030"/>
                  </a:lnTo>
                  <a:lnTo>
                    <a:pt x="1025652" y="382270"/>
                  </a:lnTo>
                  <a:lnTo>
                    <a:pt x="1025652" y="76454"/>
                  </a:lnTo>
                  <a:lnTo>
                    <a:pt x="1019644" y="46693"/>
                  </a:lnTo>
                  <a:lnTo>
                    <a:pt x="1003260" y="22391"/>
                  </a:lnTo>
                  <a:lnTo>
                    <a:pt x="978958" y="6007"/>
                  </a:lnTo>
                  <a:lnTo>
                    <a:pt x="949197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00721" y="4598671"/>
              <a:ext cx="1026160" cy="459105"/>
            </a:xfrm>
            <a:custGeom>
              <a:avLst/>
              <a:gdLst/>
              <a:ahLst/>
              <a:cxnLst/>
              <a:rect l="l" t="t" r="r" b="b"/>
              <a:pathLst>
                <a:path w="1026159" h="459104">
                  <a:moveTo>
                    <a:pt x="0" y="76454"/>
                  </a:moveTo>
                  <a:lnTo>
                    <a:pt x="6007" y="46693"/>
                  </a:lnTo>
                  <a:lnTo>
                    <a:pt x="22391" y="22391"/>
                  </a:lnTo>
                  <a:lnTo>
                    <a:pt x="46693" y="6007"/>
                  </a:lnTo>
                  <a:lnTo>
                    <a:pt x="76454" y="0"/>
                  </a:lnTo>
                  <a:lnTo>
                    <a:pt x="949197" y="0"/>
                  </a:lnTo>
                  <a:lnTo>
                    <a:pt x="978958" y="6007"/>
                  </a:lnTo>
                  <a:lnTo>
                    <a:pt x="1003260" y="22391"/>
                  </a:lnTo>
                  <a:lnTo>
                    <a:pt x="1019644" y="46693"/>
                  </a:lnTo>
                  <a:lnTo>
                    <a:pt x="1025652" y="76454"/>
                  </a:lnTo>
                  <a:lnTo>
                    <a:pt x="1025652" y="382270"/>
                  </a:lnTo>
                  <a:lnTo>
                    <a:pt x="1019644" y="412030"/>
                  </a:lnTo>
                  <a:lnTo>
                    <a:pt x="1003260" y="436332"/>
                  </a:lnTo>
                  <a:lnTo>
                    <a:pt x="978958" y="452716"/>
                  </a:lnTo>
                  <a:lnTo>
                    <a:pt x="949197" y="458724"/>
                  </a:lnTo>
                  <a:lnTo>
                    <a:pt x="76454" y="458724"/>
                  </a:lnTo>
                  <a:lnTo>
                    <a:pt x="46693" y="452716"/>
                  </a:lnTo>
                  <a:lnTo>
                    <a:pt x="22391" y="436332"/>
                  </a:lnTo>
                  <a:lnTo>
                    <a:pt x="6007" y="412030"/>
                  </a:lnTo>
                  <a:lnTo>
                    <a:pt x="0" y="382270"/>
                  </a:lnTo>
                  <a:lnTo>
                    <a:pt x="0" y="76454"/>
                  </a:lnTo>
                  <a:close/>
                </a:path>
              </a:pathLst>
            </a:custGeom>
            <a:ln w="19050">
              <a:solidFill>
                <a:srgbClr val="444A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554815" y="4721580"/>
            <a:ext cx="514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FFFFF"/>
                </a:solidFill>
                <a:latin typeface="Rockwell"/>
                <a:cs typeface="Rockwell"/>
              </a:rPr>
              <a:t>doput()</a:t>
            </a:r>
            <a:endParaRPr sz="1100">
              <a:latin typeface="Rockwell"/>
              <a:cs typeface="Rockwel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544436" y="5335906"/>
            <a:ext cx="1024890" cy="383540"/>
            <a:chOff x="6544436" y="5335906"/>
            <a:chExt cx="1024890" cy="383540"/>
          </a:xfrm>
        </p:grpSpPr>
        <p:sp>
          <p:nvSpPr>
            <p:cNvPr id="28" name="object 28"/>
            <p:cNvSpPr/>
            <p:nvPr/>
          </p:nvSpPr>
          <p:spPr>
            <a:xfrm>
              <a:off x="6553961" y="5345431"/>
              <a:ext cx="1005840" cy="364490"/>
            </a:xfrm>
            <a:custGeom>
              <a:avLst/>
              <a:gdLst/>
              <a:ahLst/>
              <a:cxnLst/>
              <a:rect l="l" t="t" r="r" b="b"/>
              <a:pathLst>
                <a:path w="1005840" h="364489">
                  <a:moveTo>
                    <a:pt x="945134" y="0"/>
                  </a:moveTo>
                  <a:lnTo>
                    <a:pt x="60706" y="0"/>
                  </a:lnTo>
                  <a:lnTo>
                    <a:pt x="37076" y="4770"/>
                  </a:lnTo>
                  <a:lnTo>
                    <a:pt x="17780" y="17779"/>
                  </a:lnTo>
                  <a:lnTo>
                    <a:pt x="4770" y="37076"/>
                  </a:lnTo>
                  <a:lnTo>
                    <a:pt x="0" y="60705"/>
                  </a:lnTo>
                  <a:lnTo>
                    <a:pt x="0" y="303529"/>
                  </a:lnTo>
                  <a:lnTo>
                    <a:pt x="4770" y="327159"/>
                  </a:lnTo>
                  <a:lnTo>
                    <a:pt x="17780" y="346455"/>
                  </a:lnTo>
                  <a:lnTo>
                    <a:pt x="37076" y="359465"/>
                  </a:lnTo>
                  <a:lnTo>
                    <a:pt x="60706" y="364235"/>
                  </a:lnTo>
                  <a:lnTo>
                    <a:pt x="945134" y="364235"/>
                  </a:lnTo>
                  <a:lnTo>
                    <a:pt x="968763" y="359465"/>
                  </a:lnTo>
                  <a:lnTo>
                    <a:pt x="988060" y="346455"/>
                  </a:lnTo>
                  <a:lnTo>
                    <a:pt x="1001069" y="327159"/>
                  </a:lnTo>
                  <a:lnTo>
                    <a:pt x="1005840" y="303529"/>
                  </a:lnTo>
                  <a:lnTo>
                    <a:pt x="1005840" y="60705"/>
                  </a:lnTo>
                  <a:lnTo>
                    <a:pt x="1001069" y="37076"/>
                  </a:lnTo>
                  <a:lnTo>
                    <a:pt x="988060" y="17779"/>
                  </a:lnTo>
                  <a:lnTo>
                    <a:pt x="968763" y="4770"/>
                  </a:lnTo>
                  <a:lnTo>
                    <a:pt x="94513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553961" y="5345431"/>
              <a:ext cx="1005840" cy="364490"/>
            </a:xfrm>
            <a:custGeom>
              <a:avLst/>
              <a:gdLst/>
              <a:ahLst/>
              <a:cxnLst/>
              <a:rect l="l" t="t" r="r" b="b"/>
              <a:pathLst>
                <a:path w="1005840" h="364489">
                  <a:moveTo>
                    <a:pt x="0" y="60705"/>
                  </a:moveTo>
                  <a:lnTo>
                    <a:pt x="4770" y="37076"/>
                  </a:lnTo>
                  <a:lnTo>
                    <a:pt x="17780" y="17779"/>
                  </a:lnTo>
                  <a:lnTo>
                    <a:pt x="37076" y="4770"/>
                  </a:lnTo>
                  <a:lnTo>
                    <a:pt x="60706" y="0"/>
                  </a:lnTo>
                  <a:lnTo>
                    <a:pt x="945134" y="0"/>
                  </a:lnTo>
                  <a:lnTo>
                    <a:pt x="968763" y="4770"/>
                  </a:lnTo>
                  <a:lnTo>
                    <a:pt x="988060" y="17779"/>
                  </a:lnTo>
                  <a:lnTo>
                    <a:pt x="1001069" y="37076"/>
                  </a:lnTo>
                  <a:lnTo>
                    <a:pt x="1005840" y="60705"/>
                  </a:lnTo>
                  <a:lnTo>
                    <a:pt x="1005840" y="303529"/>
                  </a:lnTo>
                  <a:lnTo>
                    <a:pt x="1001069" y="327159"/>
                  </a:lnTo>
                  <a:lnTo>
                    <a:pt x="988060" y="346455"/>
                  </a:lnTo>
                  <a:lnTo>
                    <a:pt x="968763" y="359465"/>
                  </a:lnTo>
                  <a:lnTo>
                    <a:pt x="945134" y="364235"/>
                  </a:lnTo>
                  <a:lnTo>
                    <a:pt x="60706" y="364235"/>
                  </a:lnTo>
                  <a:lnTo>
                    <a:pt x="37076" y="359465"/>
                  </a:lnTo>
                  <a:lnTo>
                    <a:pt x="17780" y="346455"/>
                  </a:lnTo>
                  <a:lnTo>
                    <a:pt x="4770" y="327159"/>
                  </a:lnTo>
                  <a:lnTo>
                    <a:pt x="0" y="303529"/>
                  </a:lnTo>
                  <a:lnTo>
                    <a:pt x="0" y="60705"/>
                  </a:lnTo>
                  <a:close/>
                </a:path>
              </a:pathLst>
            </a:custGeom>
            <a:ln w="19049">
              <a:solidFill>
                <a:srgbClr val="444A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739142" y="5421215"/>
            <a:ext cx="6369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FFFFF"/>
                </a:solidFill>
                <a:latin typeface="Rockwell"/>
                <a:cs typeface="Rockwell"/>
              </a:rPr>
              <a:t>destroy()</a:t>
            </a:r>
            <a:endParaRPr sz="1100">
              <a:latin typeface="Rockwell"/>
              <a:cs typeface="Rockwel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154170" y="1703577"/>
            <a:ext cx="2955290" cy="3862070"/>
            <a:chOff x="4154170" y="1703577"/>
            <a:chExt cx="2955290" cy="3862070"/>
          </a:xfrm>
        </p:grpSpPr>
        <p:sp>
          <p:nvSpPr>
            <p:cNvPr id="32" name="object 32"/>
            <p:cNvSpPr/>
            <p:nvPr/>
          </p:nvSpPr>
          <p:spPr>
            <a:xfrm>
              <a:off x="4160520" y="1709927"/>
              <a:ext cx="2329815" cy="3817620"/>
            </a:xfrm>
            <a:custGeom>
              <a:avLst/>
              <a:gdLst/>
              <a:ahLst/>
              <a:cxnLst/>
              <a:rect l="l" t="t" r="r" b="b"/>
              <a:pathLst>
                <a:path w="2329815" h="3817620">
                  <a:moveTo>
                    <a:pt x="0" y="0"/>
                  </a:moveTo>
                  <a:lnTo>
                    <a:pt x="0" y="3817023"/>
                  </a:lnTo>
                  <a:lnTo>
                    <a:pt x="2329726" y="381702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77551" y="548885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13120" y="2767583"/>
              <a:ext cx="0" cy="2759710"/>
            </a:xfrm>
            <a:custGeom>
              <a:avLst/>
              <a:gdLst/>
              <a:ahLst/>
              <a:cxnLst/>
              <a:rect l="l" t="t" r="r" b="b"/>
              <a:pathLst>
                <a:path h="2759710">
                  <a:moveTo>
                    <a:pt x="0" y="0"/>
                  </a:moveTo>
                  <a:lnTo>
                    <a:pt x="0" y="275925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160520" y="3195827"/>
              <a:ext cx="1689100" cy="0"/>
            </a:xfrm>
            <a:custGeom>
              <a:avLst/>
              <a:gdLst/>
              <a:ahLst/>
              <a:cxnLst/>
              <a:rect l="l" t="t" r="r" b="b"/>
              <a:pathLst>
                <a:path w="1689100">
                  <a:moveTo>
                    <a:pt x="0" y="0"/>
                  </a:moveTo>
                  <a:lnTo>
                    <a:pt x="168859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36410" y="31577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925312" y="3195827"/>
              <a:ext cx="364490" cy="0"/>
            </a:xfrm>
            <a:custGeom>
              <a:avLst/>
              <a:gdLst/>
              <a:ahLst/>
              <a:cxnLst/>
              <a:rect l="l" t="t" r="r" b="b"/>
              <a:pathLst>
                <a:path w="364489">
                  <a:moveTo>
                    <a:pt x="0" y="0"/>
                  </a:moveTo>
                  <a:lnTo>
                    <a:pt x="36391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76530" y="31577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925312" y="4020311"/>
              <a:ext cx="1120140" cy="0"/>
            </a:xfrm>
            <a:custGeom>
              <a:avLst/>
              <a:gdLst/>
              <a:ahLst/>
              <a:cxnLst/>
              <a:rect l="l" t="t" r="r" b="b"/>
              <a:pathLst>
                <a:path w="1120140">
                  <a:moveTo>
                    <a:pt x="0" y="0"/>
                  </a:moveTo>
                  <a:lnTo>
                    <a:pt x="112011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32731" y="39822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160520" y="4029455"/>
              <a:ext cx="265430" cy="0"/>
            </a:xfrm>
            <a:custGeom>
              <a:avLst/>
              <a:gdLst/>
              <a:ahLst/>
              <a:cxnLst/>
              <a:rect l="l" t="t" r="r" b="b"/>
              <a:pathLst>
                <a:path w="265429">
                  <a:moveTo>
                    <a:pt x="0" y="0"/>
                  </a:moveTo>
                  <a:lnTo>
                    <a:pt x="26527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413105" y="399135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663184" y="4020311"/>
              <a:ext cx="200025" cy="0"/>
            </a:xfrm>
            <a:custGeom>
              <a:avLst/>
              <a:gdLst/>
              <a:ahLst/>
              <a:cxnLst/>
              <a:rect l="l" t="t" r="r" b="b"/>
              <a:pathLst>
                <a:path w="200025">
                  <a:moveTo>
                    <a:pt x="0" y="0"/>
                  </a:moveTo>
                  <a:lnTo>
                    <a:pt x="19952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850012" y="39822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668774" y="3946399"/>
              <a:ext cx="828040" cy="306705"/>
            </a:xfrm>
            <a:custGeom>
              <a:avLst/>
              <a:gdLst/>
              <a:ahLst/>
              <a:cxnLst/>
              <a:rect l="l" t="t" r="r" b="b"/>
              <a:pathLst>
                <a:path w="828039" h="306704">
                  <a:moveTo>
                    <a:pt x="776478" y="0"/>
                  </a:moveTo>
                  <a:lnTo>
                    <a:pt x="51053" y="0"/>
                  </a:lnTo>
                  <a:lnTo>
                    <a:pt x="31182" y="4012"/>
                  </a:lnTo>
                  <a:lnTo>
                    <a:pt x="14954" y="14954"/>
                  </a:lnTo>
                  <a:lnTo>
                    <a:pt x="4012" y="31182"/>
                  </a:lnTo>
                  <a:lnTo>
                    <a:pt x="0" y="51054"/>
                  </a:lnTo>
                  <a:lnTo>
                    <a:pt x="0" y="255270"/>
                  </a:lnTo>
                  <a:lnTo>
                    <a:pt x="4012" y="275141"/>
                  </a:lnTo>
                  <a:lnTo>
                    <a:pt x="14954" y="291369"/>
                  </a:lnTo>
                  <a:lnTo>
                    <a:pt x="31182" y="302311"/>
                  </a:lnTo>
                  <a:lnTo>
                    <a:pt x="51053" y="306324"/>
                  </a:lnTo>
                  <a:lnTo>
                    <a:pt x="776478" y="306324"/>
                  </a:lnTo>
                  <a:lnTo>
                    <a:pt x="796349" y="302311"/>
                  </a:lnTo>
                  <a:lnTo>
                    <a:pt x="812577" y="291369"/>
                  </a:lnTo>
                  <a:lnTo>
                    <a:pt x="823519" y="275141"/>
                  </a:lnTo>
                  <a:lnTo>
                    <a:pt x="827532" y="255270"/>
                  </a:lnTo>
                  <a:lnTo>
                    <a:pt x="827532" y="51054"/>
                  </a:lnTo>
                  <a:lnTo>
                    <a:pt x="823519" y="31182"/>
                  </a:lnTo>
                  <a:lnTo>
                    <a:pt x="812577" y="14954"/>
                  </a:lnTo>
                  <a:lnTo>
                    <a:pt x="796349" y="4012"/>
                  </a:lnTo>
                  <a:lnTo>
                    <a:pt x="7764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668774" y="3946399"/>
              <a:ext cx="828040" cy="306705"/>
            </a:xfrm>
            <a:custGeom>
              <a:avLst/>
              <a:gdLst/>
              <a:ahLst/>
              <a:cxnLst/>
              <a:rect l="l" t="t" r="r" b="b"/>
              <a:pathLst>
                <a:path w="828039" h="306704">
                  <a:moveTo>
                    <a:pt x="0" y="51054"/>
                  </a:moveTo>
                  <a:lnTo>
                    <a:pt x="4012" y="31182"/>
                  </a:lnTo>
                  <a:lnTo>
                    <a:pt x="14954" y="14954"/>
                  </a:lnTo>
                  <a:lnTo>
                    <a:pt x="31182" y="4012"/>
                  </a:lnTo>
                  <a:lnTo>
                    <a:pt x="51053" y="0"/>
                  </a:lnTo>
                  <a:lnTo>
                    <a:pt x="776478" y="0"/>
                  </a:lnTo>
                  <a:lnTo>
                    <a:pt x="796349" y="4012"/>
                  </a:lnTo>
                  <a:lnTo>
                    <a:pt x="812577" y="14954"/>
                  </a:lnTo>
                  <a:lnTo>
                    <a:pt x="823519" y="31182"/>
                  </a:lnTo>
                  <a:lnTo>
                    <a:pt x="827532" y="51054"/>
                  </a:lnTo>
                  <a:lnTo>
                    <a:pt x="827532" y="255270"/>
                  </a:lnTo>
                  <a:lnTo>
                    <a:pt x="823519" y="275141"/>
                  </a:lnTo>
                  <a:lnTo>
                    <a:pt x="812577" y="291369"/>
                  </a:lnTo>
                  <a:lnTo>
                    <a:pt x="796349" y="302311"/>
                  </a:lnTo>
                  <a:lnTo>
                    <a:pt x="776478" y="306324"/>
                  </a:lnTo>
                  <a:lnTo>
                    <a:pt x="51053" y="306324"/>
                  </a:lnTo>
                  <a:lnTo>
                    <a:pt x="31182" y="302311"/>
                  </a:lnTo>
                  <a:lnTo>
                    <a:pt x="14954" y="291369"/>
                  </a:lnTo>
                  <a:lnTo>
                    <a:pt x="4012" y="275141"/>
                  </a:lnTo>
                  <a:lnTo>
                    <a:pt x="0" y="255270"/>
                  </a:lnTo>
                  <a:lnTo>
                    <a:pt x="0" y="51054"/>
                  </a:lnTo>
                  <a:close/>
                </a:path>
              </a:pathLst>
            </a:custGeom>
            <a:ln w="19049">
              <a:solidFill>
                <a:srgbClr val="444A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765180" y="3993076"/>
            <a:ext cx="6305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Rockwell"/>
                <a:cs typeface="Rockwell"/>
              </a:rPr>
              <a:t>Thread</a:t>
            </a:r>
            <a:r>
              <a:rPr sz="1100" b="1" spc="-40" dirty="0">
                <a:latin typeface="Rockwell"/>
                <a:cs typeface="Rockwell"/>
              </a:rPr>
              <a:t> </a:t>
            </a:r>
            <a:r>
              <a:rPr sz="1100" b="1" spc="-50" dirty="0">
                <a:latin typeface="Rockwell"/>
                <a:cs typeface="Rockwell"/>
              </a:rPr>
              <a:t>2</a:t>
            </a:r>
            <a:endParaRPr sz="1100">
              <a:latin typeface="Rockwell"/>
              <a:cs typeface="Rockwel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659248" y="4320921"/>
            <a:ext cx="847090" cy="325755"/>
            <a:chOff x="4659248" y="4320921"/>
            <a:chExt cx="847090" cy="325755"/>
          </a:xfrm>
        </p:grpSpPr>
        <p:sp>
          <p:nvSpPr>
            <p:cNvPr id="49" name="object 49"/>
            <p:cNvSpPr/>
            <p:nvPr/>
          </p:nvSpPr>
          <p:spPr>
            <a:xfrm>
              <a:off x="4668773" y="4330446"/>
              <a:ext cx="828040" cy="306705"/>
            </a:xfrm>
            <a:custGeom>
              <a:avLst/>
              <a:gdLst/>
              <a:ahLst/>
              <a:cxnLst/>
              <a:rect l="l" t="t" r="r" b="b"/>
              <a:pathLst>
                <a:path w="828039" h="306704">
                  <a:moveTo>
                    <a:pt x="776478" y="0"/>
                  </a:moveTo>
                  <a:lnTo>
                    <a:pt x="51053" y="0"/>
                  </a:lnTo>
                  <a:lnTo>
                    <a:pt x="31182" y="4012"/>
                  </a:lnTo>
                  <a:lnTo>
                    <a:pt x="14954" y="14954"/>
                  </a:lnTo>
                  <a:lnTo>
                    <a:pt x="4012" y="31182"/>
                  </a:lnTo>
                  <a:lnTo>
                    <a:pt x="0" y="51053"/>
                  </a:lnTo>
                  <a:lnTo>
                    <a:pt x="0" y="255269"/>
                  </a:lnTo>
                  <a:lnTo>
                    <a:pt x="4012" y="275141"/>
                  </a:lnTo>
                  <a:lnTo>
                    <a:pt x="14954" y="291369"/>
                  </a:lnTo>
                  <a:lnTo>
                    <a:pt x="31182" y="302311"/>
                  </a:lnTo>
                  <a:lnTo>
                    <a:pt x="51053" y="306323"/>
                  </a:lnTo>
                  <a:lnTo>
                    <a:pt x="776478" y="306323"/>
                  </a:lnTo>
                  <a:lnTo>
                    <a:pt x="796349" y="302311"/>
                  </a:lnTo>
                  <a:lnTo>
                    <a:pt x="812577" y="291369"/>
                  </a:lnTo>
                  <a:lnTo>
                    <a:pt x="823519" y="275141"/>
                  </a:lnTo>
                  <a:lnTo>
                    <a:pt x="827532" y="255269"/>
                  </a:lnTo>
                  <a:lnTo>
                    <a:pt x="827532" y="51053"/>
                  </a:lnTo>
                  <a:lnTo>
                    <a:pt x="823519" y="31182"/>
                  </a:lnTo>
                  <a:lnTo>
                    <a:pt x="812577" y="14954"/>
                  </a:lnTo>
                  <a:lnTo>
                    <a:pt x="796349" y="4012"/>
                  </a:lnTo>
                  <a:lnTo>
                    <a:pt x="7764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668773" y="4330446"/>
              <a:ext cx="828040" cy="306705"/>
            </a:xfrm>
            <a:custGeom>
              <a:avLst/>
              <a:gdLst/>
              <a:ahLst/>
              <a:cxnLst/>
              <a:rect l="l" t="t" r="r" b="b"/>
              <a:pathLst>
                <a:path w="828039" h="306704">
                  <a:moveTo>
                    <a:pt x="0" y="51053"/>
                  </a:moveTo>
                  <a:lnTo>
                    <a:pt x="4012" y="31182"/>
                  </a:lnTo>
                  <a:lnTo>
                    <a:pt x="14954" y="14954"/>
                  </a:lnTo>
                  <a:lnTo>
                    <a:pt x="31182" y="4012"/>
                  </a:lnTo>
                  <a:lnTo>
                    <a:pt x="51053" y="0"/>
                  </a:lnTo>
                  <a:lnTo>
                    <a:pt x="776478" y="0"/>
                  </a:lnTo>
                  <a:lnTo>
                    <a:pt x="796349" y="4012"/>
                  </a:lnTo>
                  <a:lnTo>
                    <a:pt x="812577" y="14954"/>
                  </a:lnTo>
                  <a:lnTo>
                    <a:pt x="823519" y="31182"/>
                  </a:lnTo>
                  <a:lnTo>
                    <a:pt x="827532" y="51053"/>
                  </a:lnTo>
                  <a:lnTo>
                    <a:pt x="827532" y="255269"/>
                  </a:lnTo>
                  <a:lnTo>
                    <a:pt x="823519" y="275141"/>
                  </a:lnTo>
                  <a:lnTo>
                    <a:pt x="812577" y="291369"/>
                  </a:lnTo>
                  <a:lnTo>
                    <a:pt x="796349" y="302311"/>
                  </a:lnTo>
                  <a:lnTo>
                    <a:pt x="776478" y="306323"/>
                  </a:lnTo>
                  <a:lnTo>
                    <a:pt x="51053" y="306323"/>
                  </a:lnTo>
                  <a:lnTo>
                    <a:pt x="31182" y="302311"/>
                  </a:lnTo>
                  <a:lnTo>
                    <a:pt x="14954" y="291369"/>
                  </a:lnTo>
                  <a:lnTo>
                    <a:pt x="4012" y="275141"/>
                  </a:lnTo>
                  <a:lnTo>
                    <a:pt x="0" y="255269"/>
                  </a:lnTo>
                  <a:lnTo>
                    <a:pt x="0" y="51053"/>
                  </a:lnTo>
                  <a:close/>
                </a:path>
              </a:pathLst>
            </a:custGeom>
            <a:ln w="19049">
              <a:solidFill>
                <a:srgbClr val="444A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765180" y="4377029"/>
            <a:ext cx="6305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Rockwell"/>
                <a:cs typeface="Rockwell"/>
              </a:rPr>
              <a:t>Thread</a:t>
            </a:r>
            <a:r>
              <a:rPr sz="1100" b="1" spc="-40" dirty="0">
                <a:latin typeface="Rockwell"/>
                <a:cs typeface="Rockwell"/>
              </a:rPr>
              <a:t> </a:t>
            </a:r>
            <a:r>
              <a:rPr sz="1100" b="1" spc="-50" dirty="0">
                <a:latin typeface="Rockwell"/>
                <a:cs typeface="Rockwell"/>
              </a:rPr>
              <a:t>3</a:t>
            </a:r>
            <a:endParaRPr sz="1100">
              <a:latin typeface="Rockwell"/>
              <a:cs typeface="Rockwel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750945" y="1486283"/>
            <a:ext cx="1755139" cy="864869"/>
            <a:chOff x="3750945" y="1486283"/>
            <a:chExt cx="1755139" cy="864869"/>
          </a:xfrm>
        </p:grpSpPr>
        <p:sp>
          <p:nvSpPr>
            <p:cNvPr id="53" name="object 53"/>
            <p:cNvSpPr/>
            <p:nvPr/>
          </p:nvSpPr>
          <p:spPr>
            <a:xfrm>
              <a:off x="3760470" y="1495808"/>
              <a:ext cx="1736089" cy="845819"/>
            </a:xfrm>
            <a:custGeom>
              <a:avLst/>
              <a:gdLst/>
              <a:ahLst/>
              <a:cxnLst/>
              <a:rect l="l" t="t" r="r" b="b"/>
              <a:pathLst>
                <a:path w="1736089" h="845819">
                  <a:moveTo>
                    <a:pt x="1594866" y="0"/>
                  </a:moveTo>
                  <a:lnTo>
                    <a:pt x="140970" y="0"/>
                  </a:lnTo>
                  <a:lnTo>
                    <a:pt x="96414" y="7187"/>
                  </a:lnTo>
                  <a:lnTo>
                    <a:pt x="57716" y="27200"/>
                  </a:lnTo>
                  <a:lnTo>
                    <a:pt x="27200" y="57716"/>
                  </a:lnTo>
                  <a:lnTo>
                    <a:pt x="7187" y="96414"/>
                  </a:lnTo>
                  <a:lnTo>
                    <a:pt x="0" y="140970"/>
                  </a:lnTo>
                  <a:lnTo>
                    <a:pt x="0" y="704850"/>
                  </a:lnTo>
                  <a:lnTo>
                    <a:pt x="7187" y="749405"/>
                  </a:lnTo>
                  <a:lnTo>
                    <a:pt x="27200" y="788103"/>
                  </a:lnTo>
                  <a:lnTo>
                    <a:pt x="57716" y="818619"/>
                  </a:lnTo>
                  <a:lnTo>
                    <a:pt x="96414" y="838632"/>
                  </a:lnTo>
                  <a:lnTo>
                    <a:pt x="140970" y="845820"/>
                  </a:lnTo>
                  <a:lnTo>
                    <a:pt x="1594866" y="845820"/>
                  </a:lnTo>
                  <a:lnTo>
                    <a:pt x="1639421" y="838632"/>
                  </a:lnTo>
                  <a:lnTo>
                    <a:pt x="1678119" y="818619"/>
                  </a:lnTo>
                  <a:lnTo>
                    <a:pt x="1708635" y="788103"/>
                  </a:lnTo>
                  <a:lnTo>
                    <a:pt x="1728648" y="749405"/>
                  </a:lnTo>
                  <a:lnTo>
                    <a:pt x="1735836" y="704850"/>
                  </a:lnTo>
                  <a:lnTo>
                    <a:pt x="1735836" y="140970"/>
                  </a:lnTo>
                  <a:lnTo>
                    <a:pt x="1728648" y="96414"/>
                  </a:lnTo>
                  <a:lnTo>
                    <a:pt x="1708635" y="57716"/>
                  </a:lnTo>
                  <a:lnTo>
                    <a:pt x="1678119" y="27200"/>
                  </a:lnTo>
                  <a:lnTo>
                    <a:pt x="1639421" y="7187"/>
                  </a:lnTo>
                  <a:lnTo>
                    <a:pt x="1594866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760470" y="1495808"/>
              <a:ext cx="1736089" cy="845819"/>
            </a:xfrm>
            <a:custGeom>
              <a:avLst/>
              <a:gdLst/>
              <a:ahLst/>
              <a:cxnLst/>
              <a:rect l="l" t="t" r="r" b="b"/>
              <a:pathLst>
                <a:path w="1736089" h="845819">
                  <a:moveTo>
                    <a:pt x="0" y="140970"/>
                  </a:moveTo>
                  <a:lnTo>
                    <a:pt x="7187" y="96414"/>
                  </a:lnTo>
                  <a:lnTo>
                    <a:pt x="27200" y="57716"/>
                  </a:lnTo>
                  <a:lnTo>
                    <a:pt x="57716" y="27200"/>
                  </a:lnTo>
                  <a:lnTo>
                    <a:pt x="96414" y="7187"/>
                  </a:lnTo>
                  <a:lnTo>
                    <a:pt x="140970" y="0"/>
                  </a:lnTo>
                  <a:lnTo>
                    <a:pt x="1594866" y="0"/>
                  </a:lnTo>
                  <a:lnTo>
                    <a:pt x="1639421" y="7187"/>
                  </a:lnTo>
                  <a:lnTo>
                    <a:pt x="1678119" y="27200"/>
                  </a:lnTo>
                  <a:lnTo>
                    <a:pt x="1708635" y="57716"/>
                  </a:lnTo>
                  <a:lnTo>
                    <a:pt x="1728648" y="96414"/>
                  </a:lnTo>
                  <a:lnTo>
                    <a:pt x="1735836" y="140970"/>
                  </a:lnTo>
                  <a:lnTo>
                    <a:pt x="1735836" y="704850"/>
                  </a:lnTo>
                  <a:lnTo>
                    <a:pt x="1728648" y="749405"/>
                  </a:lnTo>
                  <a:lnTo>
                    <a:pt x="1708635" y="788103"/>
                  </a:lnTo>
                  <a:lnTo>
                    <a:pt x="1678119" y="818619"/>
                  </a:lnTo>
                  <a:lnTo>
                    <a:pt x="1639421" y="838632"/>
                  </a:lnTo>
                  <a:lnTo>
                    <a:pt x="1594866" y="845820"/>
                  </a:lnTo>
                  <a:lnTo>
                    <a:pt x="140970" y="845820"/>
                  </a:lnTo>
                  <a:lnTo>
                    <a:pt x="96414" y="838632"/>
                  </a:lnTo>
                  <a:lnTo>
                    <a:pt x="57716" y="818619"/>
                  </a:lnTo>
                  <a:lnTo>
                    <a:pt x="27200" y="788103"/>
                  </a:lnTo>
                  <a:lnTo>
                    <a:pt x="7187" y="749405"/>
                  </a:lnTo>
                  <a:lnTo>
                    <a:pt x="0" y="704850"/>
                  </a:lnTo>
                  <a:lnTo>
                    <a:pt x="0" y="140970"/>
                  </a:lnTo>
                  <a:close/>
                </a:path>
              </a:pathLst>
            </a:custGeom>
            <a:ln w="19050">
              <a:solidFill>
                <a:srgbClr val="444A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4097274" y="1649106"/>
            <a:ext cx="2980690" cy="16148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1926589" indent="1270" algn="ctr">
              <a:lnSpc>
                <a:spcPct val="98600"/>
              </a:lnSpc>
              <a:spcBef>
                <a:spcPts val="120"/>
              </a:spcBef>
            </a:pPr>
            <a:r>
              <a:rPr sz="1100" b="1" spc="-10" dirty="0">
                <a:solidFill>
                  <a:srgbClr val="FFFFFF"/>
                </a:solidFill>
                <a:latin typeface="Rockwell"/>
                <a:cs typeface="Rockwell"/>
              </a:rPr>
              <a:t>Servlet container/Web container</a:t>
            </a:r>
            <a:endParaRPr sz="1100">
              <a:latin typeface="Rockwell"/>
              <a:cs typeface="Rockwell"/>
            </a:endParaRPr>
          </a:p>
          <a:p>
            <a:pPr>
              <a:lnSpc>
                <a:spcPct val="100000"/>
              </a:lnSpc>
            </a:pPr>
            <a:endParaRPr sz="1100">
              <a:latin typeface="Rockwell"/>
              <a:cs typeface="Rockwell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>
              <a:latin typeface="Rockwell"/>
              <a:cs typeface="Rockwell"/>
            </a:endParaRPr>
          </a:p>
          <a:p>
            <a:pPr marL="1703070">
              <a:lnSpc>
                <a:spcPct val="100000"/>
              </a:lnSpc>
              <a:spcBef>
                <a:spcPts val="5"/>
              </a:spcBef>
            </a:pPr>
            <a:r>
              <a:rPr sz="1100" b="1" spc="-10" dirty="0">
                <a:solidFill>
                  <a:srgbClr val="FFFFFF"/>
                </a:solidFill>
                <a:latin typeface="Rockwell"/>
                <a:cs typeface="Rockwell"/>
              </a:rPr>
              <a:t>Servlet</a:t>
            </a:r>
            <a:endParaRPr sz="1100">
              <a:latin typeface="Rockwell"/>
              <a:cs typeface="Rockwell"/>
            </a:endParaRPr>
          </a:p>
          <a:p>
            <a:pPr>
              <a:lnSpc>
                <a:spcPct val="100000"/>
              </a:lnSpc>
            </a:pPr>
            <a:endParaRPr sz="1100">
              <a:latin typeface="Rockwell"/>
              <a:cs typeface="Rockwell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100">
              <a:latin typeface="Rockwell"/>
              <a:cs typeface="Rockwell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100" b="1" spc="-10" dirty="0">
                <a:solidFill>
                  <a:srgbClr val="FFFFFF"/>
                </a:solidFill>
                <a:latin typeface="Rockwell"/>
                <a:cs typeface="Rockwell"/>
              </a:rPr>
              <a:t>init()</a:t>
            </a:r>
            <a:endParaRPr sz="1100">
              <a:latin typeface="Rockwell"/>
              <a:cs typeface="Rockwell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56" name="object 56"/>
          <p:cNvSpPr txBox="1"/>
          <p:nvPr/>
        </p:nvSpPr>
        <p:spPr>
          <a:xfrm>
            <a:off x="4783626" y="860076"/>
            <a:ext cx="2648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Container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Lifecycle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Summary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07488" y="1147132"/>
            <a:ext cx="11577955" cy="493268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93675" marR="304165" indent="-181610">
              <a:lnSpc>
                <a:spcPts val="1939"/>
              </a:lnSpc>
              <a:spcBef>
                <a:spcPts val="345"/>
              </a:spcBef>
              <a:buSzPct val="80555"/>
              <a:buFont typeface="Corbel"/>
              <a:buChar char="•"/>
              <a:tabLst>
                <a:tab pos="194945" algn="l"/>
              </a:tabLst>
            </a:pP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collection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programs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designed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perform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particular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task.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Different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types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applications</a:t>
            </a:r>
            <a:r>
              <a:rPr sz="1800" spc="-25" dirty="0">
                <a:latin typeface="Calisto MT"/>
                <a:cs typeface="Calisto MT"/>
              </a:rPr>
              <a:t> are 	</a:t>
            </a:r>
            <a:r>
              <a:rPr sz="1800" dirty="0">
                <a:latin typeface="Calisto MT"/>
                <a:cs typeface="Calisto MT"/>
              </a:rPr>
              <a:t>designed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different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purposes.</a:t>
            </a:r>
            <a:endParaRPr sz="1800">
              <a:latin typeface="Calisto MT"/>
              <a:cs typeface="Calisto MT"/>
            </a:endParaRPr>
          </a:p>
          <a:p>
            <a:pPr marL="254635" indent="-241935">
              <a:lnSpc>
                <a:spcPct val="100000"/>
              </a:lnSpc>
              <a:spcBef>
                <a:spcPts val="1165"/>
              </a:spcBef>
              <a:buSzPct val="80555"/>
              <a:buFont typeface="Corbel"/>
              <a:buChar char="•"/>
              <a:tabLst>
                <a:tab pos="254635" algn="l"/>
              </a:tabLst>
            </a:pP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45" dirty="0">
                <a:latin typeface="Calisto MT"/>
                <a:cs typeface="Calisto MT"/>
              </a:rPr>
              <a:t>Web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software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runs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spc="-45" dirty="0">
                <a:latin typeface="Calisto MT"/>
                <a:cs typeface="Calisto MT"/>
              </a:rPr>
              <a:t>Web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server.</a:t>
            </a:r>
            <a:endParaRPr sz="1800">
              <a:latin typeface="Calisto MT"/>
              <a:cs typeface="Calisto MT"/>
            </a:endParaRPr>
          </a:p>
          <a:p>
            <a:pPr marL="254635" indent="-241935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254635" algn="l"/>
              </a:tabLst>
            </a:pPr>
            <a:r>
              <a:rPr sz="1800" spc="-45" dirty="0">
                <a:latin typeface="Calisto MT"/>
                <a:cs typeface="Calisto MT"/>
              </a:rPr>
              <a:t>Web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architecture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refers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logic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distribution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between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server.</a:t>
            </a:r>
            <a:endParaRPr sz="1800">
              <a:latin typeface="Calisto MT"/>
              <a:cs typeface="Calisto MT"/>
            </a:endParaRPr>
          </a:p>
          <a:p>
            <a:pPr marL="193675" marR="554355" indent="-181610">
              <a:lnSpc>
                <a:spcPts val="1939"/>
              </a:lnSpc>
              <a:spcBef>
                <a:spcPts val="1420"/>
              </a:spcBef>
              <a:buSzPct val="80555"/>
              <a:buFont typeface="Corbel"/>
              <a:buChar char="•"/>
              <a:tabLst>
                <a:tab pos="194945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primary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technologies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utilized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communication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include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HTML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50" dirty="0">
                <a:latin typeface="Calisto MT"/>
                <a:cs typeface="Calisto MT"/>
              </a:rPr>
              <a:t>HTTP.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HTML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50" dirty="0">
                <a:latin typeface="Calisto MT"/>
                <a:cs typeface="Calisto MT"/>
              </a:rPr>
              <a:t>a 	</a:t>
            </a:r>
            <a:r>
              <a:rPr sz="1800" dirty="0">
                <a:latin typeface="Calisto MT"/>
                <a:cs typeface="Calisto MT"/>
              </a:rPr>
              <a:t>presentation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language,</a:t>
            </a:r>
            <a:r>
              <a:rPr sz="1800" spc="-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allowing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designers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craft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visually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appealing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pages.</a:t>
            </a:r>
            <a:endParaRPr sz="1800">
              <a:latin typeface="Calisto MT"/>
              <a:cs typeface="Calisto MT"/>
            </a:endParaRPr>
          </a:p>
          <a:p>
            <a:pPr marL="254635" indent="-241935">
              <a:lnSpc>
                <a:spcPct val="100000"/>
              </a:lnSpc>
              <a:spcBef>
                <a:spcPts val="1165"/>
              </a:spcBef>
              <a:buSzPct val="80555"/>
              <a:buFont typeface="Corbel"/>
              <a:buChar char="•"/>
              <a:tabLst>
                <a:tab pos="254635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responses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sent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spc="-45" dirty="0">
                <a:latin typeface="Calisto MT"/>
                <a:cs typeface="Calisto MT"/>
              </a:rPr>
              <a:t>Web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from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computer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another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computer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sent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HTTP.</a:t>
            </a:r>
            <a:endParaRPr sz="1800">
              <a:latin typeface="Calisto MT"/>
              <a:cs typeface="Calisto MT"/>
            </a:endParaRPr>
          </a:p>
          <a:p>
            <a:pPr marL="254635" indent="-241935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254635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HTTP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messages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HTTP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methods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transmitting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over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Web.</a:t>
            </a:r>
            <a:endParaRPr sz="1800">
              <a:latin typeface="Calisto MT"/>
              <a:cs typeface="Calisto MT"/>
            </a:endParaRPr>
          </a:p>
          <a:p>
            <a:pPr marL="194945" marR="171450" indent="-182880">
              <a:lnSpc>
                <a:spcPts val="1939"/>
              </a:lnSpc>
              <a:spcBef>
                <a:spcPts val="1425"/>
              </a:spcBef>
              <a:buChar char="•"/>
              <a:tabLst>
                <a:tab pos="194945" algn="l"/>
                <a:tab pos="254635" algn="l"/>
              </a:tabLst>
            </a:pPr>
            <a:r>
              <a:rPr sz="1450" dirty="0">
                <a:latin typeface="Corbel"/>
                <a:cs typeface="Corbel"/>
              </a:rPr>
              <a:t>	</a:t>
            </a:r>
            <a:r>
              <a:rPr sz="1800" spc="-45" dirty="0">
                <a:latin typeface="Calisto MT"/>
                <a:cs typeface="Calisto MT"/>
              </a:rPr>
              <a:t>Web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applications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packaged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.war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files,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which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allow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content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Web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accessed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from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 </a:t>
            </a:r>
            <a:r>
              <a:rPr sz="1800" spc="-10" dirty="0">
                <a:latin typeface="Calisto MT"/>
                <a:cs typeface="Calisto MT"/>
              </a:rPr>
              <a:t>application’s</a:t>
            </a:r>
            <a:r>
              <a:rPr sz="1800" spc="-8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context</a:t>
            </a:r>
            <a:r>
              <a:rPr sz="1800" spc="-9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root.</a:t>
            </a:r>
            <a:endParaRPr sz="1800">
              <a:latin typeface="Calisto MT"/>
              <a:cs typeface="Calisto MT"/>
            </a:endParaRPr>
          </a:p>
          <a:p>
            <a:pPr marL="193675" marR="5080" indent="-181610">
              <a:lnSpc>
                <a:spcPts val="1939"/>
              </a:lnSpc>
              <a:spcBef>
                <a:spcPts val="1410"/>
              </a:spcBef>
              <a:buSzPct val="80555"/>
              <a:buFont typeface="Corbel"/>
              <a:buChar char="•"/>
              <a:tabLst>
                <a:tab pos="194945" algn="l"/>
              </a:tabLst>
            </a:pPr>
            <a:r>
              <a:rPr sz="1800" dirty="0">
                <a:latin typeface="Calisto MT"/>
                <a:cs typeface="Calisto MT"/>
              </a:rPr>
              <a:t>Servlets,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while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50" dirty="0">
                <a:latin typeface="Calisto MT"/>
                <a:cs typeface="Calisto MT"/>
              </a:rPr>
              <a:t>Java-</a:t>
            </a:r>
            <a:r>
              <a:rPr sz="1800" spc="-25" dirty="0">
                <a:latin typeface="Calisto MT"/>
                <a:cs typeface="Calisto MT"/>
              </a:rPr>
              <a:t>friendly,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pose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challenges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development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maintenance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due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their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complexity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reliance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on 	</a:t>
            </a:r>
            <a:r>
              <a:rPr sz="1800" spc="-40" dirty="0">
                <a:latin typeface="Calisto MT"/>
                <a:cs typeface="Calisto MT"/>
              </a:rPr>
              <a:t>Java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runtime.</a:t>
            </a:r>
            <a:endParaRPr sz="1800">
              <a:latin typeface="Calisto MT"/>
              <a:cs typeface="Calisto MT"/>
            </a:endParaRPr>
          </a:p>
          <a:p>
            <a:pPr marL="193675" marR="784860" indent="-181610">
              <a:lnSpc>
                <a:spcPts val="1939"/>
              </a:lnSpc>
              <a:spcBef>
                <a:spcPts val="1410"/>
              </a:spcBef>
              <a:buSzPct val="80555"/>
              <a:buFont typeface="Corbel"/>
              <a:buChar char="•"/>
              <a:tabLst>
                <a:tab pos="194945" algn="l"/>
              </a:tabLst>
            </a:pPr>
            <a:r>
              <a:rPr sz="1800" spc="-40" dirty="0">
                <a:latin typeface="Calisto MT"/>
                <a:cs typeface="Calisto MT"/>
              </a:rPr>
              <a:t>Web </a:t>
            </a:r>
            <a:r>
              <a:rPr sz="1800" dirty="0">
                <a:latin typeface="Calisto MT"/>
                <a:cs typeface="Calisto MT"/>
              </a:rPr>
              <a:t>container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manages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servlets,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maps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URLs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specific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servlets,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ensures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rights,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provides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runtime 	environment</a:t>
            </a:r>
            <a:r>
              <a:rPr sz="1800" spc="-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components,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facilitating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efficient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delivery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dynamic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content.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560</Words>
  <Application>Microsoft Office PowerPoint</Application>
  <PresentationFormat>Widescreen</PresentationFormat>
  <Paragraphs>139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Algerian</vt:lpstr>
      <vt:lpstr>Arial Black</vt:lpstr>
      <vt:lpstr>Arial Rounded MT Bold</vt:lpstr>
      <vt:lpstr>Calibri</vt:lpstr>
      <vt:lpstr>Calisto MT</vt:lpstr>
      <vt:lpstr>Corbel</vt:lpstr>
      <vt:lpstr>Courier New</vt:lpstr>
      <vt:lpstr>Rockwell</vt:lpstr>
      <vt:lpstr>Symbol</vt:lpstr>
      <vt:lpstr>Times New Roman</vt:lpstr>
      <vt:lpstr>Office Theme</vt:lpstr>
      <vt:lpstr>Jakarta Server Pages and</vt:lpstr>
      <vt:lpstr>Objectives</vt:lpstr>
      <vt:lpstr>Introduction</vt:lpstr>
      <vt:lpstr>Web Applications and their Architecture</vt:lpstr>
      <vt:lpstr>Web Application Technologies</vt:lpstr>
      <vt:lpstr>HTTP/3 Protocol</vt:lpstr>
      <vt:lpstr>Java in the Web</vt:lpstr>
      <vt:lpstr>Merits and Demerits of Servlet</vt:lpstr>
      <vt:lpstr>Web Application Workflow</vt:lpstr>
      <vt:lpstr>Capabilities of a Web Container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Aptech Limited</dc:creator>
  <cp:lastModifiedBy>Hoang Duc Quang</cp:lastModifiedBy>
  <cp:revision>1</cp:revision>
  <dcterms:created xsi:type="dcterms:W3CDTF">2025-10-19T10:33:49Z</dcterms:created>
  <dcterms:modified xsi:type="dcterms:W3CDTF">2025-10-20T01:30:49Z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2024-07-10T00:00:00Z</vt:filetime>
  </property>
  <property fmtid="{D5CDD505-2E9C-101B-9397-08002B2CF9AE}" pid="3" name="Creator">
    <vt:lpwstr>Acrobat PDFMaker 24 for PowerPoint</vt:lpwstr>
  </property>
  <property fmtid="{D5CDD505-2E9C-101B-9397-08002B2CF9AE}" pid="4" name="EBX_PUBLISHER">
    <vt:lpwstr>Aptech</vt:lpwstr>
  </property>
  <property fmtid="{D5CDD505-2E9C-101B-9397-08002B2CF9AE}" pid="5" name="LastSaved">
    <vt:filetime>2025-10-19T00:00:00Z</vt:filetime>
  </property>
  <property fmtid="{D5CDD505-2E9C-101B-9397-08002B2CF9AE}" pid="6" name="Producer">
    <vt:lpwstr>Adobe PDF Library 24.2.159</vt:lpwstr>
  </property>
</Properties>
</file>