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25" r:id="rId2"/>
    <p:sldId id="326" r:id="rId3"/>
    <p:sldId id="327" r:id="rId4"/>
    <p:sldId id="328" r:id="rId5"/>
    <p:sldId id="329" r:id="rId6"/>
    <p:sldId id="330" r:id="rId7"/>
    <p:sldId id="331" r:id="rId8"/>
    <p:sldId id="332" r:id="rId9"/>
    <p:sldId id="333" r:id="rId10"/>
    <p:sldId id="334" r:id="rId11"/>
    <p:sldId id="335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87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907" y="79546"/>
            <a:ext cx="580898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180291" y="1592148"/>
            <a:ext cx="2744470" cy="3464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907" y="33827"/>
            <a:ext cx="1201018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0712" y="1300308"/>
            <a:ext cx="6851650" cy="424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74575" y="6635253"/>
            <a:ext cx="1028700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19714" y="6613906"/>
            <a:ext cx="330833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572" y="0"/>
            <a:ext cx="12187555" cy="6858000"/>
            <a:chOff x="4572" y="0"/>
            <a:chExt cx="12187555" cy="6858000"/>
          </a:xfrm>
        </p:grpSpPr>
        <p:sp>
          <p:nvSpPr>
            <p:cNvPr id="4" name="object 4"/>
            <p:cNvSpPr/>
            <p:nvPr/>
          </p:nvSpPr>
          <p:spPr>
            <a:xfrm>
              <a:off x="126492" y="2930651"/>
              <a:ext cx="11963400" cy="3736975"/>
            </a:xfrm>
            <a:custGeom>
              <a:avLst/>
              <a:gdLst/>
              <a:ahLst/>
              <a:cxnLst/>
              <a:rect l="l" t="t" r="r" b="b"/>
              <a:pathLst>
                <a:path w="11963400" h="3736975">
                  <a:moveTo>
                    <a:pt x="11963400" y="0"/>
                  </a:moveTo>
                  <a:lnTo>
                    <a:pt x="0" y="0"/>
                  </a:lnTo>
                  <a:lnTo>
                    <a:pt x="0" y="3736848"/>
                  </a:lnTo>
                  <a:lnTo>
                    <a:pt x="11963400" y="3736848"/>
                  </a:lnTo>
                  <a:lnTo>
                    <a:pt x="11963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0"/>
              <a:ext cx="12187427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6827" y="2222496"/>
            <a:ext cx="69913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 Rounded MT Bold"/>
                <a:cs typeface="Arial Rounded MT Bold"/>
              </a:rPr>
              <a:t>Jakarta</a:t>
            </a:r>
            <a:r>
              <a:rPr sz="4400" spc="-190" dirty="0">
                <a:latin typeface="Arial Rounded MT Bold"/>
                <a:cs typeface="Arial Rounded MT Bold"/>
              </a:rPr>
              <a:t> </a:t>
            </a:r>
            <a:r>
              <a:rPr sz="4400" dirty="0">
                <a:latin typeface="Arial Rounded MT Bold"/>
                <a:cs typeface="Arial Rounded MT Bold"/>
              </a:rPr>
              <a:t>Server</a:t>
            </a:r>
            <a:r>
              <a:rPr sz="4400" spc="-204" dirty="0">
                <a:latin typeface="Arial Rounded MT Bold"/>
                <a:cs typeface="Arial Rounded MT Bold"/>
              </a:rPr>
              <a:t> </a:t>
            </a:r>
            <a:r>
              <a:rPr sz="4400" spc="-30" dirty="0">
                <a:latin typeface="Arial Rounded MT Bold"/>
                <a:cs typeface="Arial Rounded MT Bold"/>
              </a:rPr>
              <a:t>Pages</a:t>
            </a:r>
            <a:r>
              <a:rPr sz="4400" spc="-195" dirty="0">
                <a:latin typeface="Arial Rounded MT Bold"/>
                <a:cs typeface="Arial Rounded MT Bold"/>
              </a:rPr>
              <a:t> </a:t>
            </a:r>
            <a:r>
              <a:rPr sz="4400" spc="-25" dirty="0">
                <a:latin typeface="Arial Rounded MT Bold"/>
                <a:cs typeface="Arial Rounded MT Bold"/>
              </a:rPr>
              <a:t>and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6827" y="2893106"/>
            <a:ext cx="22567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Servlets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4805" y="4517499"/>
            <a:ext cx="3919220" cy="1108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C564"/>
                </a:solidFill>
                <a:latin typeface="Algerian"/>
                <a:cs typeface="Algerian"/>
              </a:rPr>
              <a:t>SESSION:</a:t>
            </a:r>
            <a:r>
              <a:rPr sz="2400" spc="-75" dirty="0">
                <a:solidFill>
                  <a:srgbClr val="FFC564"/>
                </a:solidFill>
                <a:latin typeface="Algerian"/>
                <a:cs typeface="Algerian"/>
              </a:rPr>
              <a:t> </a:t>
            </a:r>
            <a:r>
              <a:rPr sz="2400" spc="-50" dirty="0">
                <a:solidFill>
                  <a:srgbClr val="FFC564"/>
                </a:solidFill>
                <a:latin typeface="Algerian"/>
                <a:cs typeface="Algerian"/>
              </a:rPr>
              <a:t>7</a:t>
            </a:r>
            <a:endParaRPr sz="2400">
              <a:latin typeface="Algerian"/>
              <a:cs typeface="Algerian"/>
            </a:endParaRPr>
          </a:p>
          <a:p>
            <a:pPr marL="12700">
              <a:lnSpc>
                <a:spcPct val="100000"/>
              </a:lnSpc>
              <a:spcBef>
                <a:spcPts val="2770"/>
              </a:spcBef>
            </a:pP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Filters and</a:t>
            </a:r>
            <a:r>
              <a:rPr sz="2400" spc="10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FFC564"/>
                </a:solidFill>
                <a:latin typeface="Arial Black"/>
                <a:cs typeface="Arial Black"/>
              </a:rPr>
              <a:t>Annotations</a:t>
            </a:r>
            <a:endParaRPr sz="2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027" y="44682"/>
            <a:ext cx="1570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9259" y="759967"/>
            <a:ext cx="6510655" cy="512318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2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concept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working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filters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filter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configuration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List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benefits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filters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Filter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API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interfaces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their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methods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Filter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mapping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Identify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wrapper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classes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managing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Servlets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how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alter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request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response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filters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basic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concept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5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annotations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List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different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types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8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annotations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supported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 Servlet</a:t>
            </a:r>
            <a:r>
              <a:rPr sz="1800" spc="-25" dirty="0">
                <a:latin typeface="Calisto MT"/>
                <a:cs typeface="Calisto MT"/>
              </a:rPr>
              <a:t> API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Outline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steps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upload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HTML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form</a:t>
            </a:r>
            <a:r>
              <a:rPr sz="1800" spc="-10" dirty="0">
                <a:latin typeface="Calisto MT"/>
                <a:cs typeface="Calisto MT"/>
              </a:rPr>
              <a:t> elements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mechanism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upload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files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Servlet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Server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push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25" dirty="0">
                <a:latin typeface="Calisto MT"/>
                <a:cs typeface="Calisto MT"/>
              </a:rPr>
              <a:t> 6.0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0752" y="995172"/>
            <a:ext cx="4190999" cy="27919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41684" y="1972421"/>
            <a:ext cx="638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Filters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30752" y="3954779"/>
            <a:ext cx="6172199" cy="218084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09917" y="4563998"/>
            <a:ext cx="1503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Filter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Chaining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Filter</a:t>
            </a:r>
            <a:r>
              <a:rPr spc="-50" dirty="0"/>
              <a:t> </a:t>
            </a:r>
            <a:r>
              <a:rPr spc="-25" dirty="0"/>
              <a:t>API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25971" y="1266686"/>
            <a:ext cx="2305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Hierarchy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Filter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API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9360" y="2173223"/>
            <a:ext cx="7955803" cy="301904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Configuring</a:t>
            </a:r>
            <a:r>
              <a:rPr spc="-125" dirty="0"/>
              <a:t> </a:t>
            </a:r>
            <a:r>
              <a:rPr spc="-10" dirty="0"/>
              <a:t>Filters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79697" y="965453"/>
            <a:ext cx="5662295" cy="4928870"/>
            <a:chOff x="3679697" y="965453"/>
            <a:chExt cx="5662295" cy="4928870"/>
          </a:xfrm>
        </p:grpSpPr>
        <p:sp>
          <p:nvSpPr>
            <p:cNvPr id="4" name="object 4"/>
            <p:cNvSpPr/>
            <p:nvPr/>
          </p:nvSpPr>
          <p:spPr>
            <a:xfrm>
              <a:off x="3679697" y="965453"/>
              <a:ext cx="4928870" cy="4928870"/>
            </a:xfrm>
            <a:custGeom>
              <a:avLst/>
              <a:gdLst/>
              <a:ahLst/>
              <a:cxnLst/>
              <a:rect l="l" t="t" r="r" b="b"/>
              <a:pathLst>
                <a:path w="4928870" h="4928870">
                  <a:moveTo>
                    <a:pt x="2464308" y="0"/>
                  </a:moveTo>
                  <a:lnTo>
                    <a:pt x="0" y="4928616"/>
                  </a:lnTo>
                  <a:lnTo>
                    <a:pt x="4928616" y="4928616"/>
                  </a:lnTo>
                  <a:lnTo>
                    <a:pt x="2464308" y="0"/>
                  </a:lnTo>
                  <a:close/>
                </a:path>
              </a:pathLst>
            </a:custGeom>
            <a:solidFill>
              <a:srgbClr val="4189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30289" y="1459233"/>
              <a:ext cx="3202305" cy="701040"/>
            </a:xfrm>
            <a:custGeom>
              <a:avLst/>
              <a:gdLst/>
              <a:ahLst/>
              <a:cxnLst/>
              <a:rect l="l" t="t" r="r" b="b"/>
              <a:pathLst>
                <a:path w="3202304" h="701039">
                  <a:moveTo>
                    <a:pt x="3085084" y="0"/>
                  </a:moveTo>
                  <a:lnTo>
                    <a:pt x="116839" y="0"/>
                  </a:lnTo>
                  <a:lnTo>
                    <a:pt x="71360" y="9181"/>
                  </a:lnTo>
                  <a:lnTo>
                    <a:pt x="34221" y="34221"/>
                  </a:lnTo>
                  <a:lnTo>
                    <a:pt x="9181" y="71360"/>
                  </a:lnTo>
                  <a:lnTo>
                    <a:pt x="0" y="116839"/>
                  </a:lnTo>
                  <a:lnTo>
                    <a:pt x="0" y="584187"/>
                  </a:lnTo>
                  <a:lnTo>
                    <a:pt x="9181" y="629673"/>
                  </a:lnTo>
                  <a:lnTo>
                    <a:pt x="34221" y="666816"/>
                  </a:lnTo>
                  <a:lnTo>
                    <a:pt x="71360" y="691857"/>
                  </a:lnTo>
                  <a:lnTo>
                    <a:pt x="116839" y="701039"/>
                  </a:lnTo>
                  <a:lnTo>
                    <a:pt x="3085084" y="701039"/>
                  </a:lnTo>
                  <a:lnTo>
                    <a:pt x="3130563" y="691857"/>
                  </a:lnTo>
                  <a:lnTo>
                    <a:pt x="3167702" y="666816"/>
                  </a:lnTo>
                  <a:lnTo>
                    <a:pt x="3192742" y="629673"/>
                  </a:lnTo>
                  <a:lnTo>
                    <a:pt x="3201924" y="584187"/>
                  </a:lnTo>
                  <a:lnTo>
                    <a:pt x="3201924" y="116839"/>
                  </a:lnTo>
                  <a:lnTo>
                    <a:pt x="3192742" y="71360"/>
                  </a:lnTo>
                  <a:lnTo>
                    <a:pt x="3167702" y="34221"/>
                  </a:lnTo>
                  <a:lnTo>
                    <a:pt x="3130563" y="9181"/>
                  </a:lnTo>
                  <a:lnTo>
                    <a:pt x="308508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30289" y="1459233"/>
              <a:ext cx="3202305" cy="701040"/>
            </a:xfrm>
            <a:custGeom>
              <a:avLst/>
              <a:gdLst/>
              <a:ahLst/>
              <a:cxnLst/>
              <a:rect l="l" t="t" r="r" b="b"/>
              <a:pathLst>
                <a:path w="3202304" h="701039">
                  <a:moveTo>
                    <a:pt x="0" y="116839"/>
                  </a:moveTo>
                  <a:lnTo>
                    <a:pt x="9181" y="71360"/>
                  </a:lnTo>
                  <a:lnTo>
                    <a:pt x="34221" y="34221"/>
                  </a:lnTo>
                  <a:lnTo>
                    <a:pt x="71360" y="9181"/>
                  </a:lnTo>
                  <a:lnTo>
                    <a:pt x="116839" y="0"/>
                  </a:lnTo>
                  <a:lnTo>
                    <a:pt x="3085084" y="0"/>
                  </a:lnTo>
                  <a:lnTo>
                    <a:pt x="3130563" y="9181"/>
                  </a:lnTo>
                  <a:lnTo>
                    <a:pt x="3167702" y="34221"/>
                  </a:lnTo>
                  <a:lnTo>
                    <a:pt x="3192742" y="71360"/>
                  </a:lnTo>
                  <a:lnTo>
                    <a:pt x="3201924" y="116839"/>
                  </a:lnTo>
                  <a:lnTo>
                    <a:pt x="3201924" y="584187"/>
                  </a:lnTo>
                  <a:lnTo>
                    <a:pt x="3192742" y="629673"/>
                  </a:lnTo>
                  <a:lnTo>
                    <a:pt x="3167702" y="666816"/>
                  </a:lnTo>
                  <a:lnTo>
                    <a:pt x="3130563" y="691857"/>
                  </a:lnTo>
                  <a:lnTo>
                    <a:pt x="3085084" y="701039"/>
                  </a:lnTo>
                  <a:lnTo>
                    <a:pt x="116839" y="701039"/>
                  </a:lnTo>
                  <a:lnTo>
                    <a:pt x="71360" y="691857"/>
                  </a:lnTo>
                  <a:lnTo>
                    <a:pt x="34221" y="666816"/>
                  </a:lnTo>
                  <a:lnTo>
                    <a:pt x="9181" y="629673"/>
                  </a:lnTo>
                  <a:lnTo>
                    <a:pt x="0" y="584187"/>
                  </a:lnTo>
                  <a:lnTo>
                    <a:pt x="0" y="116839"/>
                  </a:lnTo>
                  <a:close/>
                </a:path>
              </a:pathLst>
            </a:custGeom>
            <a:ln w="19050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30289" y="2247141"/>
              <a:ext cx="3202305" cy="701040"/>
            </a:xfrm>
            <a:custGeom>
              <a:avLst/>
              <a:gdLst/>
              <a:ahLst/>
              <a:cxnLst/>
              <a:rect l="l" t="t" r="r" b="b"/>
              <a:pathLst>
                <a:path w="3202304" h="701039">
                  <a:moveTo>
                    <a:pt x="3085084" y="0"/>
                  </a:moveTo>
                  <a:lnTo>
                    <a:pt x="116839" y="0"/>
                  </a:lnTo>
                  <a:lnTo>
                    <a:pt x="71360" y="9181"/>
                  </a:lnTo>
                  <a:lnTo>
                    <a:pt x="34221" y="34221"/>
                  </a:lnTo>
                  <a:lnTo>
                    <a:pt x="9181" y="71360"/>
                  </a:lnTo>
                  <a:lnTo>
                    <a:pt x="0" y="116839"/>
                  </a:lnTo>
                  <a:lnTo>
                    <a:pt x="0" y="584187"/>
                  </a:lnTo>
                  <a:lnTo>
                    <a:pt x="9181" y="629673"/>
                  </a:lnTo>
                  <a:lnTo>
                    <a:pt x="34221" y="666816"/>
                  </a:lnTo>
                  <a:lnTo>
                    <a:pt x="71360" y="691857"/>
                  </a:lnTo>
                  <a:lnTo>
                    <a:pt x="116839" y="701039"/>
                  </a:lnTo>
                  <a:lnTo>
                    <a:pt x="3085084" y="701039"/>
                  </a:lnTo>
                  <a:lnTo>
                    <a:pt x="3130563" y="691857"/>
                  </a:lnTo>
                  <a:lnTo>
                    <a:pt x="3167702" y="666816"/>
                  </a:lnTo>
                  <a:lnTo>
                    <a:pt x="3192742" y="629673"/>
                  </a:lnTo>
                  <a:lnTo>
                    <a:pt x="3201924" y="584187"/>
                  </a:lnTo>
                  <a:lnTo>
                    <a:pt x="3201924" y="116839"/>
                  </a:lnTo>
                  <a:lnTo>
                    <a:pt x="3192742" y="71360"/>
                  </a:lnTo>
                  <a:lnTo>
                    <a:pt x="3167702" y="34221"/>
                  </a:lnTo>
                  <a:lnTo>
                    <a:pt x="3130563" y="9181"/>
                  </a:lnTo>
                  <a:lnTo>
                    <a:pt x="308508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30289" y="2247141"/>
              <a:ext cx="3202305" cy="701040"/>
            </a:xfrm>
            <a:custGeom>
              <a:avLst/>
              <a:gdLst/>
              <a:ahLst/>
              <a:cxnLst/>
              <a:rect l="l" t="t" r="r" b="b"/>
              <a:pathLst>
                <a:path w="3202304" h="701039">
                  <a:moveTo>
                    <a:pt x="0" y="116839"/>
                  </a:moveTo>
                  <a:lnTo>
                    <a:pt x="9181" y="71360"/>
                  </a:lnTo>
                  <a:lnTo>
                    <a:pt x="34221" y="34221"/>
                  </a:lnTo>
                  <a:lnTo>
                    <a:pt x="71360" y="9181"/>
                  </a:lnTo>
                  <a:lnTo>
                    <a:pt x="116839" y="0"/>
                  </a:lnTo>
                  <a:lnTo>
                    <a:pt x="3085084" y="0"/>
                  </a:lnTo>
                  <a:lnTo>
                    <a:pt x="3130563" y="9181"/>
                  </a:lnTo>
                  <a:lnTo>
                    <a:pt x="3167702" y="34221"/>
                  </a:lnTo>
                  <a:lnTo>
                    <a:pt x="3192742" y="71360"/>
                  </a:lnTo>
                  <a:lnTo>
                    <a:pt x="3201924" y="116839"/>
                  </a:lnTo>
                  <a:lnTo>
                    <a:pt x="3201924" y="584187"/>
                  </a:lnTo>
                  <a:lnTo>
                    <a:pt x="3192742" y="629673"/>
                  </a:lnTo>
                  <a:lnTo>
                    <a:pt x="3167702" y="666816"/>
                  </a:lnTo>
                  <a:lnTo>
                    <a:pt x="3130563" y="691857"/>
                  </a:lnTo>
                  <a:lnTo>
                    <a:pt x="3085084" y="701039"/>
                  </a:lnTo>
                  <a:lnTo>
                    <a:pt x="116839" y="701039"/>
                  </a:lnTo>
                  <a:lnTo>
                    <a:pt x="71360" y="691857"/>
                  </a:lnTo>
                  <a:lnTo>
                    <a:pt x="34221" y="666816"/>
                  </a:lnTo>
                  <a:lnTo>
                    <a:pt x="9181" y="629673"/>
                  </a:lnTo>
                  <a:lnTo>
                    <a:pt x="0" y="584187"/>
                  </a:lnTo>
                  <a:lnTo>
                    <a:pt x="0" y="116839"/>
                  </a:lnTo>
                  <a:close/>
                </a:path>
              </a:pathLst>
            </a:custGeom>
            <a:ln w="19050">
              <a:solidFill>
                <a:srgbClr val="3DC0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30289" y="3035049"/>
              <a:ext cx="3202305" cy="701040"/>
            </a:xfrm>
            <a:custGeom>
              <a:avLst/>
              <a:gdLst/>
              <a:ahLst/>
              <a:cxnLst/>
              <a:rect l="l" t="t" r="r" b="b"/>
              <a:pathLst>
                <a:path w="3202304" h="701039">
                  <a:moveTo>
                    <a:pt x="3085084" y="0"/>
                  </a:moveTo>
                  <a:lnTo>
                    <a:pt x="116839" y="0"/>
                  </a:lnTo>
                  <a:lnTo>
                    <a:pt x="71360" y="9181"/>
                  </a:lnTo>
                  <a:lnTo>
                    <a:pt x="34221" y="34221"/>
                  </a:lnTo>
                  <a:lnTo>
                    <a:pt x="9181" y="71360"/>
                  </a:lnTo>
                  <a:lnTo>
                    <a:pt x="0" y="116839"/>
                  </a:lnTo>
                  <a:lnTo>
                    <a:pt x="0" y="584187"/>
                  </a:lnTo>
                  <a:lnTo>
                    <a:pt x="9181" y="629673"/>
                  </a:lnTo>
                  <a:lnTo>
                    <a:pt x="34221" y="666816"/>
                  </a:lnTo>
                  <a:lnTo>
                    <a:pt x="71360" y="691857"/>
                  </a:lnTo>
                  <a:lnTo>
                    <a:pt x="116839" y="701039"/>
                  </a:lnTo>
                  <a:lnTo>
                    <a:pt x="3085084" y="701039"/>
                  </a:lnTo>
                  <a:lnTo>
                    <a:pt x="3130563" y="691857"/>
                  </a:lnTo>
                  <a:lnTo>
                    <a:pt x="3167702" y="666816"/>
                  </a:lnTo>
                  <a:lnTo>
                    <a:pt x="3192742" y="629673"/>
                  </a:lnTo>
                  <a:lnTo>
                    <a:pt x="3201924" y="584187"/>
                  </a:lnTo>
                  <a:lnTo>
                    <a:pt x="3201924" y="116839"/>
                  </a:lnTo>
                  <a:lnTo>
                    <a:pt x="3192742" y="71360"/>
                  </a:lnTo>
                  <a:lnTo>
                    <a:pt x="3167702" y="34221"/>
                  </a:lnTo>
                  <a:lnTo>
                    <a:pt x="3130563" y="9181"/>
                  </a:lnTo>
                  <a:lnTo>
                    <a:pt x="308508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30289" y="3035049"/>
              <a:ext cx="3202305" cy="701040"/>
            </a:xfrm>
            <a:custGeom>
              <a:avLst/>
              <a:gdLst/>
              <a:ahLst/>
              <a:cxnLst/>
              <a:rect l="l" t="t" r="r" b="b"/>
              <a:pathLst>
                <a:path w="3202304" h="701039">
                  <a:moveTo>
                    <a:pt x="0" y="116839"/>
                  </a:moveTo>
                  <a:lnTo>
                    <a:pt x="9181" y="71360"/>
                  </a:lnTo>
                  <a:lnTo>
                    <a:pt x="34221" y="34221"/>
                  </a:lnTo>
                  <a:lnTo>
                    <a:pt x="71360" y="9181"/>
                  </a:lnTo>
                  <a:lnTo>
                    <a:pt x="116839" y="0"/>
                  </a:lnTo>
                  <a:lnTo>
                    <a:pt x="3085084" y="0"/>
                  </a:lnTo>
                  <a:lnTo>
                    <a:pt x="3130563" y="9181"/>
                  </a:lnTo>
                  <a:lnTo>
                    <a:pt x="3167702" y="34221"/>
                  </a:lnTo>
                  <a:lnTo>
                    <a:pt x="3192742" y="71360"/>
                  </a:lnTo>
                  <a:lnTo>
                    <a:pt x="3201924" y="116839"/>
                  </a:lnTo>
                  <a:lnTo>
                    <a:pt x="3201924" y="584187"/>
                  </a:lnTo>
                  <a:lnTo>
                    <a:pt x="3192742" y="629673"/>
                  </a:lnTo>
                  <a:lnTo>
                    <a:pt x="3167702" y="666816"/>
                  </a:lnTo>
                  <a:lnTo>
                    <a:pt x="3130563" y="691857"/>
                  </a:lnTo>
                  <a:lnTo>
                    <a:pt x="3085084" y="701039"/>
                  </a:lnTo>
                  <a:lnTo>
                    <a:pt x="116839" y="701039"/>
                  </a:lnTo>
                  <a:lnTo>
                    <a:pt x="71360" y="691857"/>
                  </a:lnTo>
                  <a:lnTo>
                    <a:pt x="34221" y="666816"/>
                  </a:lnTo>
                  <a:lnTo>
                    <a:pt x="9181" y="629673"/>
                  </a:lnTo>
                  <a:lnTo>
                    <a:pt x="0" y="584187"/>
                  </a:lnTo>
                  <a:lnTo>
                    <a:pt x="0" y="116839"/>
                  </a:lnTo>
                  <a:close/>
                </a:path>
              </a:pathLst>
            </a:custGeom>
            <a:ln w="19050">
              <a:solidFill>
                <a:srgbClr val="41C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30289" y="3824480"/>
              <a:ext cx="3202305" cy="699770"/>
            </a:xfrm>
            <a:custGeom>
              <a:avLst/>
              <a:gdLst/>
              <a:ahLst/>
              <a:cxnLst/>
              <a:rect l="l" t="t" r="r" b="b"/>
              <a:pathLst>
                <a:path w="3202304" h="699770">
                  <a:moveTo>
                    <a:pt x="3085338" y="0"/>
                  </a:moveTo>
                  <a:lnTo>
                    <a:pt x="116586" y="0"/>
                  </a:lnTo>
                  <a:lnTo>
                    <a:pt x="71205" y="9161"/>
                  </a:lnTo>
                  <a:lnTo>
                    <a:pt x="34147" y="34147"/>
                  </a:lnTo>
                  <a:lnTo>
                    <a:pt x="9161" y="71205"/>
                  </a:lnTo>
                  <a:lnTo>
                    <a:pt x="0" y="116586"/>
                  </a:lnTo>
                  <a:lnTo>
                    <a:pt x="0" y="582930"/>
                  </a:lnTo>
                  <a:lnTo>
                    <a:pt x="9161" y="628310"/>
                  </a:lnTo>
                  <a:lnTo>
                    <a:pt x="34147" y="665368"/>
                  </a:lnTo>
                  <a:lnTo>
                    <a:pt x="71205" y="690354"/>
                  </a:lnTo>
                  <a:lnTo>
                    <a:pt x="116586" y="699516"/>
                  </a:lnTo>
                  <a:lnTo>
                    <a:pt x="3085338" y="699516"/>
                  </a:lnTo>
                  <a:lnTo>
                    <a:pt x="3130718" y="690354"/>
                  </a:lnTo>
                  <a:lnTo>
                    <a:pt x="3167776" y="665368"/>
                  </a:lnTo>
                  <a:lnTo>
                    <a:pt x="3192762" y="628310"/>
                  </a:lnTo>
                  <a:lnTo>
                    <a:pt x="3201924" y="582930"/>
                  </a:lnTo>
                  <a:lnTo>
                    <a:pt x="3201924" y="116586"/>
                  </a:lnTo>
                  <a:lnTo>
                    <a:pt x="3192762" y="71205"/>
                  </a:lnTo>
                  <a:lnTo>
                    <a:pt x="3167776" y="34147"/>
                  </a:lnTo>
                  <a:lnTo>
                    <a:pt x="3130718" y="9161"/>
                  </a:lnTo>
                  <a:lnTo>
                    <a:pt x="308533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30289" y="3824480"/>
              <a:ext cx="3202305" cy="699770"/>
            </a:xfrm>
            <a:custGeom>
              <a:avLst/>
              <a:gdLst/>
              <a:ahLst/>
              <a:cxnLst/>
              <a:rect l="l" t="t" r="r" b="b"/>
              <a:pathLst>
                <a:path w="3202304" h="699770">
                  <a:moveTo>
                    <a:pt x="0" y="116586"/>
                  </a:moveTo>
                  <a:lnTo>
                    <a:pt x="9161" y="71205"/>
                  </a:lnTo>
                  <a:lnTo>
                    <a:pt x="34147" y="34147"/>
                  </a:lnTo>
                  <a:lnTo>
                    <a:pt x="71205" y="9161"/>
                  </a:lnTo>
                  <a:lnTo>
                    <a:pt x="116586" y="0"/>
                  </a:lnTo>
                  <a:lnTo>
                    <a:pt x="3085338" y="0"/>
                  </a:lnTo>
                  <a:lnTo>
                    <a:pt x="3130718" y="9161"/>
                  </a:lnTo>
                  <a:lnTo>
                    <a:pt x="3167776" y="34147"/>
                  </a:lnTo>
                  <a:lnTo>
                    <a:pt x="3192762" y="71205"/>
                  </a:lnTo>
                  <a:lnTo>
                    <a:pt x="3201924" y="116586"/>
                  </a:lnTo>
                  <a:lnTo>
                    <a:pt x="3201924" y="582930"/>
                  </a:lnTo>
                  <a:lnTo>
                    <a:pt x="3192762" y="628310"/>
                  </a:lnTo>
                  <a:lnTo>
                    <a:pt x="3167776" y="665368"/>
                  </a:lnTo>
                  <a:lnTo>
                    <a:pt x="3130718" y="690354"/>
                  </a:lnTo>
                  <a:lnTo>
                    <a:pt x="3085338" y="699516"/>
                  </a:lnTo>
                  <a:lnTo>
                    <a:pt x="116586" y="699516"/>
                  </a:lnTo>
                  <a:lnTo>
                    <a:pt x="71205" y="690354"/>
                  </a:lnTo>
                  <a:lnTo>
                    <a:pt x="34147" y="665368"/>
                  </a:lnTo>
                  <a:lnTo>
                    <a:pt x="9161" y="628310"/>
                  </a:lnTo>
                  <a:lnTo>
                    <a:pt x="0" y="582930"/>
                  </a:lnTo>
                  <a:lnTo>
                    <a:pt x="0" y="116586"/>
                  </a:lnTo>
                  <a:close/>
                </a:path>
              </a:pathLst>
            </a:custGeom>
            <a:ln w="19050">
              <a:solidFill>
                <a:srgbClr val="7ED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30289" y="4612389"/>
              <a:ext cx="3202305" cy="701040"/>
            </a:xfrm>
            <a:custGeom>
              <a:avLst/>
              <a:gdLst/>
              <a:ahLst/>
              <a:cxnLst/>
              <a:rect l="l" t="t" r="r" b="b"/>
              <a:pathLst>
                <a:path w="3202304" h="701039">
                  <a:moveTo>
                    <a:pt x="3085084" y="0"/>
                  </a:moveTo>
                  <a:lnTo>
                    <a:pt x="116839" y="0"/>
                  </a:lnTo>
                  <a:lnTo>
                    <a:pt x="71360" y="9181"/>
                  </a:lnTo>
                  <a:lnTo>
                    <a:pt x="34221" y="34221"/>
                  </a:lnTo>
                  <a:lnTo>
                    <a:pt x="9181" y="71360"/>
                  </a:lnTo>
                  <a:lnTo>
                    <a:pt x="0" y="116840"/>
                  </a:lnTo>
                  <a:lnTo>
                    <a:pt x="0" y="584187"/>
                  </a:lnTo>
                  <a:lnTo>
                    <a:pt x="9181" y="629673"/>
                  </a:lnTo>
                  <a:lnTo>
                    <a:pt x="34221" y="666816"/>
                  </a:lnTo>
                  <a:lnTo>
                    <a:pt x="71360" y="691857"/>
                  </a:lnTo>
                  <a:lnTo>
                    <a:pt x="116839" y="701040"/>
                  </a:lnTo>
                  <a:lnTo>
                    <a:pt x="3085084" y="701040"/>
                  </a:lnTo>
                  <a:lnTo>
                    <a:pt x="3130563" y="691857"/>
                  </a:lnTo>
                  <a:lnTo>
                    <a:pt x="3167702" y="666816"/>
                  </a:lnTo>
                  <a:lnTo>
                    <a:pt x="3192742" y="629673"/>
                  </a:lnTo>
                  <a:lnTo>
                    <a:pt x="3201924" y="584187"/>
                  </a:lnTo>
                  <a:lnTo>
                    <a:pt x="3201924" y="116840"/>
                  </a:lnTo>
                  <a:lnTo>
                    <a:pt x="3192742" y="71360"/>
                  </a:lnTo>
                  <a:lnTo>
                    <a:pt x="3167702" y="34221"/>
                  </a:lnTo>
                  <a:lnTo>
                    <a:pt x="3130563" y="9181"/>
                  </a:lnTo>
                  <a:lnTo>
                    <a:pt x="308508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30289" y="4612389"/>
              <a:ext cx="3202305" cy="701040"/>
            </a:xfrm>
            <a:custGeom>
              <a:avLst/>
              <a:gdLst/>
              <a:ahLst/>
              <a:cxnLst/>
              <a:rect l="l" t="t" r="r" b="b"/>
              <a:pathLst>
                <a:path w="3202304" h="701039">
                  <a:moveTo>
                    <a:pt x="0" y="116840"/>
                  </a:moveTo>
                  <a:lnTo>
                    <a:pt x="9181" y="71360"/>
                  </a:lnTo>
                  <a:lnTo>
                    <a:pt x="34221" y="34221"/>
                  </a:lnTo>
                  <a:lnTo>
                    <a:pt x="71360" y="9181"/>
                  </a:lnTo>
                  <a:lnTo>
                    <a:pt x="116839" y="0"/>
                  </a:lnTo>
                  <a:lnTo>
                    <a:pt x="3085084" y="0"/>
                  </a:lnTo>
                  <a:lnTo>
                    <a:pt x="3130563" y="9181"/>
                  </a:lnTo>
                  <a:lnTo>
                    <a:pt x="3167702" y="34221"/>
                  </a:lnTo>
                  <a:lnTo>
                    <a:pt x="3192742" y="71360"/>
                  </a:lnTo>
                  <a:lnTo>
                    <a:pt x="3201924" y="116840"/>
                  </a:lnTo>
                  <a:lnTo>
                    <a:pt x="3201924" y="584187"/>
                  </a:lnTo>
                  <a:lnTo>
                    <a:pt x="3192742" y="629673"/>
                  </a:lnTo>
                  <a:lnTo>
                    <a:pt x="3167702" y="666816"/>
                  </a:lnTo>
                  <a:lnTo>
                    <a:pt x="3130563" y="691857"/>
                  </a:lnTo>
                  <a:lnTo>
                    <a:pt x="3085084" y="701040"/>
                  </a:lnTo>
                  <a:lnTo>
                    <a:pt x="116839" y="701040"/>
                  </a:lnTo>
                  <a:lnTo>
                    <a:pt x="71360" y="691857"/>
                  </a:lnTo>
                  <a:lnTo>
                    <a:pt x="34221" y="666816"/>
                  </a:lnTo>
                  <a:lnTo>
                    <a:pt x="9181" y="629673"/>
                  </a:lnTo>
                  <a:lnTo>
                    <a:pt x="0" y="584187"/>
                  </a:lnTo>
                  <a:lnTo>
                    <a:pt x="0" y="116840"/>
                  </a:lnTo>
                  <a:close/>
                </a:path>
              </a:pathLst>
            </a:custGeom>
            <a:ln w="19050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633834" y="1610770"/>
            <a:ext cx="2193925" cy="3484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alisto MT"/>
                <a:cs typeface="Calisto MT"/>
              </a:rPr>
              <a:t>&lt;</a:t>
            </a:r>
            <a:r>
              <a:rPr sz="2000" b="1" spc="-10" dirty="0">
                <a:latin typeface="Courier New"/>
                <a:cs typeface="Courier New"/>
              </a:rPr>
              <a:t>display-name</a:t>
            </a:r>
            <a:r>
              <a:rPr sz="2000" b="1" spc="-10" dirty="0">
                <a:latin typeface="Calisto MT"/>
                <a:cs typeface="Calisto MT"/>
              </a:rPr>
              <a:t>&gt;</a:t>
            </a:r>
            <a:endParaRPr sz="20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endParaRPr sz="2000">
              <a:latin typeface="Calisto MT"/>
              <a:cs typeface="Calisto MT"/>
            </a:endParaRPr>
          </a:p>
          <a:p>
            <a:pPr algn="ctr">
              <a:lnSpc>
                <a:spcPct val="100000"/>
              </a:lnSpc>
            </a:pPr>
            <a:r>
              <a:rPr sz="2000" b="1" spc="-10" dirty="0">
                <a:latin typeface="Calisto MT"/>
                <a:cs typeface="Calisto MT"/>
              </a:rPr>
              <a:t>&lt;</a:t>
            </a:r>
            <a:r>
              <a:rPr sz="2000" b="1" spc="-10" dirty="0">
                <a:latin typeface="Courier New"/>
                <a:cs typeface="Courier New"/>
              </a:rPr>
              <a:t>description</a:t>
            </a:r>
            <a:r>
              <a:rPr sz="2000" b="1" spc="-10" dirty="0">
                <a:latin typeface="Calisto MT"/>
                <a:cs typeface="Calisto MT"/>
              </a:rPr>
              <a:t>&gt;</a:t>
            </a:r>
            <a:endParaRPr sz="20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1445"/>
              </a:spcBef>
            </a:pPr>
            <a:endParaRPr sz="2000">
              <a:latin typeface="Calisto MT"/>
              <a:cs typeface="Calisto MT"/>
            </a:endParaRPr>
          </a:p>
          <a:p>
            <a:pPr marL="635" algn="ctr">
              <a:lnSpc>
                <a:spcPct val="100000"/>
              </a:lnSpc>
            </a:pPr>
            <a:r>
              <a:rPr sz="2000" b="1" spc="-10" dirty="0">
                <a:latin typeface="Calisto MT"/>
                <a:cs typeface="Calisto MT"/>
              </a:rPr>
              <a:t>&lt;</a:t>
            </a:r>
            <a:r>
              <a:rPr sz="2000" b="1" spc="-10" dirty="0">
                <a:latin typeface="Courier New"/>
                <a:cs typeface="Courier New"/>
              </a:rPr>
              <a:t>filter-name&gt;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2000">
              <a:latin typeface="Courier New"/>
              <a:cs typeface="Courier New"/>
            </a:endParaRPr>
          </a:p>
          <a:p>
            <a:pPr marL="635" algn="ctr">
              <a:lnSpc>
                <a:spcPct val="100000"/>
              </a:lnSpc>
            </a:pPr>
            <a:r>
              <a:rPr sz="2000" b="1" spc="-10" dirty="0">
                <a:latin typeface="Calisto MT"/>
                <a:cs typeface="Calisto MT"/>
              </a:rPr>
              <a:t>&lt;</a:t>
            </a:r>
            <a:r>
              <a:rPr sz="2000" b="1" spc="-10" dirty="0">
                <a:latin typeface="Courier New"/>
                <a:cs typeface="Courier New"/>
              </a:rPr>
              <a:t>filter-class&gt;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2000">
              <a:latin typeface="Courier New"/>
              <a:cs typeface="Courier New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2000" b="1" spc="-10" dirty="0">
                <a:latin typeface="Calisto MT"/>
                <a:cs typeface="Calisto MT"/>
              </a:rPr>
              <a:t>&lt;</a:t>
            </a:r>
            <a:r>
              <a:rPr sz="2000" b="1" spc="-10" dirty="0">
                <a:latin typeface="Courier New"/>
                <a:cs typeface="Courier New"/>
              </a:rPr>
              <a:t>init-param&gt;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Manipulating</a:t>
            </a:r>
            <a:r>
              <a:rPr spc="-90" dirty="0"/>
              <a:t> </a:t>
            </a:r>
            <a:r>
              <a:rPr dirty="0"/>
              <a:t>Requests</a:t>
            </a:r>
            <a:r>
              <a:rPr spc="-114" dirty="0"/>
              <a:t> </a:t>
            </a:r>
            <a:r>
              <a:rPr dirty="0"/>
              <a:t>and</a:t>
            </a:r>
            <a:r>
              <a:rPr spc="-130" dirty="0"/>
              <a:t> </a:t>
            </a:r>
            <a:r>
              <a:rPr spc="-10" dirty="0"/>
              <a:t>Responses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55976" y="1452372"/>
            <a:ext cx="6535420" cy="4878705"/>
            <a:chOff x="2855976" y="1452372"/>
            <a:chExt cx="6535420" cy="48787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55976" y="1452372"/>
              <a:ext cx="6534911" cy="48783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19984" y="1516380"/>
              <a:ext cx="6352030" cy="469544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900934" y="1497330"/>
              <a:ext cx="6390640" cy="4733925"/>
            </a:xfrm>
            <a:custGeom>
              <a:avLst/>
              <a:gdLst/>
              <a:ahLst/>
              <a:cxnLst/>
              <a:rect l="l" t="t" r="r" b="b"/>
              <a:pathLst>
                <a:path w="6390640" h="4733925">
                  <a:moveTo>
                    <a:pt x="0" y="0"/>
                  </a:moveTo>
                  <a:lnTo>
                    <a:pt x="6390132" y="0"/>
                  </a:lnTo>
                  <a:lnTo>
                    <a:pt x="6390132" y="4733544"/>
                  </a:lnTo>
                  <a:lnTo>
                    <a:pt x="0" y="4733544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268973" y="937680"/>
            <a:ext cx="1652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Wrapper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Objects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Introduction</a:t>
            </a:r>
            <a:r>
              <a:rPr spc="-55" dirty="0"/>
              <a:t> </a:t>
            </a:r>
            <a:r>
              <a:rPr dirty="0"/>
              <a:t>to</a:t>
            </a:r>
            <a:r>
              <a:rPr spc="-90" dirty="0"/>
              <a:t> </a:t>
            </a:r>
            <a:r>
              <a:rPr spc="-10" dirty="0"/>
              <a:t>Annotations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15867" y="1042416"/>
            <a:ext cx="5160645" cy="5160645"/>
            <a:chOff x="3515867" y="1042416"/>
            <a:chExt cx="5160645" cy="51606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15867" y="1042416"/>
              <a:ext cx="5160263" cy="51602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55492" y="1056131"/>
              <a:ext cx="5081270" cy="5081270"/>
            </a:xfrm>
            <a:custGeom>
              <a:avLst/>
              <a:gdLst/>
              <a:ahLst/>
              <a:cxnLst/>
              <a:rect l="l" t="t" r="r" b="b"/>
              <a:pathLst>
                <a:path w="5081270" h="5081270">
                  <a:moveTo>
                    <a:pt x="2540508" y="0"/>
                  </a:moveTo>
                  <a:lnTo>
                    <a:pt x="0" y="2540508"/>
                  </a:lnTo>
                  <a:lnTo>
                    <a:pt x="2540508" y="5081016"/>
                  </a:lnTo>
                  <a:lnTo>
                    <a:pt x="5081016" y="2540508"/>
                  </a:lnTo>
                  <a:lnTo>
                    <a:pt x="2540508" y="0"/>
                  </a:lnTo>
                  <a:close/>
                </a:path>
              </a:pathLst>
            </a:custGeom>
            <a:solidFill>
              <a:srgbClr val="CFDA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98976" y="1525536"/>
              <a:ext cx="2060435" cy="20604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94048" y="2281428"/>
              <a:ext cx="1668779" cy="59131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38600" y="1539233"/>
              <a:ext cx="1981200" cy="198119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368007" y="2336290"/>
            <a:ext cx="13233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Ease</a:t>
            </a:r>
            <a:r>
              <a:rPr sz="20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of</a:t>
            </a:r>
            <a:r>
              <a:rPr sz="2000" spc="18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sto MT"/>
                <a:cs typeface="Calisto MT"/>
              </a:rPr>
              <a:t>Use</a:t>
            </a:r>
            <a:endParaRPr sz="2000">
              <a:latin typeface="Calisto MT"/>
              <a:cs typeface="Calisto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32576" y="1525536"/>
            <a:ext cx="2060575" cy="2060575"/>
            <a:chOff x="6132576" y="1525536"/>
            <a:chExt cx="2060575" cy="206057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2576" y="1525536"/>
              <a:ext cx="2060447" cy="206043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11468" y="2281428"/>
              <a:ext cx="1501139" cy="59131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72200" y="1539233"/>
              <a:ext cx="1981200" cy="198119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585429" y="2336290"/>
            <a:ext cx="11550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alisto MT"/>
                <a:cs typeface="Calisto MT"/>
              </a:rPr>
              <a:t>Portability</a:t>
            </a:r>
            <a:endParaRPr sz="2000">
              <a:latin typeface="Calisto MT"/>
              <a:cs typeface="Calisto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998976" y="3659123"/>
            <a:ext cx="2060575" cy="2060575"/>
            <a:chOff x="3998976" y="3659123"/>
            <a:chExt cx="2060575" cy="206057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98976" y="3659123"/>
              <a:ext cx="2060435" cy="206044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27932" y="4415027"/>
              <a:ext cx="1999487" cy="59131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38600" y="3672833"/>
              <a:ext cx="1981200" cy="198120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201891" y="4469890"/>
            <a:ext cx="16529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Type</a:t>
            </a:r>
            <a:r>
              <a:rPr sz="2000" spc="-7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sto MT"/>
                <a:cs typeface="Calisto MT"/>
              </a:rPr>
              <a:t>Checking</a:t>
            </a:r>
            <a:endParaRPr sz="2000">
              <a:latin typeface="Calisto MT"/>
              <a:cs typeface="Calisto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132575" y="3659123"/>
            <a:ext cx="2060575" cy="2060575"/>
            <a:chOff x="6132575" y="3659123"/>
            <a:chExt cx="2060575" cy="2060575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2575" y="3659123"/>
              <a:ext cx="2060447" cy="206044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26708" y="4282440"/>
              <a:ext cx="1469135" cy="85496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72200" y="3672833"/>
              <a:ext cx="1981200" cy="198120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600761" y="4337970"/>
            <a:ext cx="1123315" cy="59499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 marR="5080" indent="80645">
              <a:lnSpc>
                <a:spcPts val="2080"/>
              </a:lnSpc>
              <a:spcBef>
                <a:spcPts val="440"/>
              </a:spcBef>
            </a:pPr>
            <a:r>
              <a:rPr sz="2000" spc="-10" dirty="0">
                <a:solidFill>
                  <a:srgbClr val="FFFFFF"/>
                </a:solidFill>
                <a:latin typeface="Calisto MT"/>
                <a:cs typeface="Calisto MT"/>
              </a:rPr>
              <a:t>Runtime Reflection</a:t>
            </a:r>
            <a:endParaRPr sz="2000">
              <a:latin typeface="Calisto MT"/>
              <a:cs typeface="Calisto MT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Uploading</a:t>
            </a:r>
            <a:r>
              <a:rPr spc="-70" dirty="0"/>
              <a:t> </a:t>
            </a:r>
            <a:r>
              <a:rPr dirty="0"/>
              <a:t>Files</a:t>
            </a:r>
            <a:r>
              <a:rPr spc="-70" dirty="0"/>
              <a:t> </a:t>
            </a:r>
            <a:r>
              <a:rPr dirty="0"/>
              <a:t>with</a:t>
            </a:r>
            <a:r>
              <a:rPr spc="-70" dirty="0"/>
              <a:t> </a:t>
            </a:r>
            <a:r>
              <a:rPr spc="-10" dirty="0"/>
              <a:t>Servlet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9551" y="1395983"/>
            <a:ext cx="1812035" cy="75133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15864" y="1405590"/>
            <a:ext cx="878205" cy="68643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 indent="22860" algn="just">
              <a:lnSpc>
                <a:spcPct val="85600"/>
              </a:lnSpc>
              <a:spcBef>
                <a:spcPts val="370"/>
              </a:spcBef>
            </a:pPr>
            <a:r>
              <a:rPr sz="1600" spc="-20" dirty="0">
                <a:latin typeface="Calisto MT"/>
                <a:cs typeface="Calisto MT"/>
              </a:rPr>
              <a:t>Values</a:t>
            </a:r>
            <a:r>
              <a:rPr sz="1600" spc="-45" dirty="0">
                <a:latin typeface="Calisto MT"/>
                <a:cs typeface="Calisto MT"/>
              </a:rPr>
              <a:t> </a:t>
            </a:r>
            <a:r>
              <a:rPr sz="1600" spc="-35" dirty="0">
                <a:latin typeface="Calisto MT"/>
                <a:cs typeface="Calisto MT"/>
              </a:rPr>
              <a:t>of </a:t>
            </a:r>
            <a:r>
              <a:rPr sz="1600" spc="-10" dirty="0">
                <a:latin typeface="Courier New"/>
                <a:cs typeface="Courier New"/>
              </a:rPr>
              <a:t>enctype </a:t>
            </a:r>
            <a:r>
              <a:rPr sz="1600" spc="-10" dirty="0">
                <a:latin typeface="Calisto MT"/>
                <a:cs typeface="Calisto MT"/>
              </a:rPr>
              <a:t>Attribute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25192" y="2133980"/>
            <a:ext cx="2656205" cy="944244"/>
            <a:chOff x="1925192" y="2133980"/>
            <a:chExt cx="2656205" cy="944244"/>
          </a:xfrm>
        </p:grpSpPr>
        <p:sp>
          <p:nvSpPr>
            <p:cNvPr id="6" name="object 6"/>
            <p:cNvSpPr/>
            <p:nvPr/>
          </p:nvSpPr>
          <p:spPr>
            <a:xfrm>
              <a:off x="1934717" y="2143505"/>
              <a:ext cx="180975" cy="558165"/>
            </a:xfrm>
            <a:custGeom>
              <a:avLst/>
              <a:gdLst/>
              <a:ahLst/>
              <a:cxnLst/>
              <a:rect l="l" t="t" r="r" b="b"/>
              <a:pathLst>
                <a:path w="180975" h="558164">
                  <a:moveTo>
                    <a:pt x="0" y="0"/>
                  </a:moveTo>
                  <a:lnTo>
                    <a:pt x="0" y="557618"/>
                  </a:lnTo>
                  <a:lnTo>
                    <a:pt x="180568" y="557618"/>
                  </a:lnTo>
                </a:path>
              </a:pathLst>
            </a:custGeom>
            <a:ln w="19050">
              <a:solidFill>
                <a:srgbClr val="FD9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14549" y="2329433"/>
              <a:ext cx="2461260" cy="744220"/>
            </a:xfrm>
            <a:custGeom>
              <a:avLst/>
              <a:gdLst/>
              <a:ahLst/>
              <a:cxnLst/>
              <a:rect l="l" t="t" r="r" b="b"/>
              <a:pathLst>
                <a:path w="2461260" h="744219">
                  <a:moveTo>
                    <a:pt x="0" y="74371"/>
                  </a:moveTo>
                  <a:lnTo>
                    <a:pt x="5844" y="45423"/>
                  </a:lnTo>
                  <a:lnTo>
                    <a:pt x="21783" y="21783"/>
                  </a:lnTo>
                  <a:lnTo>
                    <a:pt x="45423" y="5844"/>
                  </a:lnTo>
                  <a:lnTo>
                    <a:pt x="74371" y="0"/>
                  </a:lnTo>
                  <a:lnTo>
                    <a:pt x="2386888" y="0"/>
                  </a:lnTo>
                  <a:lnTo>
                    <a:pt x="2415836" y="5844"/>
                  </a:lnTo>
                  <a:lnTo>
                    <a:pt x="2439476" y="21783"/>
                  </a:lnTo>
                  <a:lnTo>
                    <a:pt x="2455415" y="45423"/>
                  </a:lnTo>
                  <a:lnTo>
                    <a:pt x="2461260" y="74371"/>
                  </a:lnTo>
                  <a:lnTo>
                    <a:pt x="2461260" y="669340"/>
                  </a:lnTo>
                  <a:lnTo>
                    <a:pt x="2455415" y="698288"/>
                  </a:lnTo>
                  <a:lnTo>
                    <a:pt x="2439476" y="721928"/>
                  </a:lnTo>
                  <a:lnTo>
                    <a:pt x="2415836" y="737867"/>
                  </a:lnTo>
                  <a:lnTo>
                    <a:pt x="2386888" y="743711"/>
                  </a:lnTo>
                  <a:lnTo>
                    <a:pt x="74371" y="743711"/>
                  </a:lnTo>
                  <a:lnTo>
                    <a:pt x="45423" y="737867"/>
                  </a:lnTo>
                  <a:lnTo>
                    <a:pt x="21783" y="721928"/>
                  </a:lnTo>
                  <a:lnTo>
                    <a:pt x="5844" y="698288"/>
                  </a:lnTo>
                  <a:lnTo>
                    <a:pt x="0" y="669340"/>
                  </a:lnTo>
                  <a:lnTo>
                    <a:pt x="0" y="74371"/>
                  </a:lnTo>
                  <a:close/>
                </a:path>
              </a:pathLst>
            </a:custGeom>
            <a:ln w="9994">
              <a:solidFill>
                <a:srgbClr val="DF52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234115" y="2427391"/>
            <a:ext cx="2219960" cy="47625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94945" marR="5080" indent="-182880">
              <a:lnSpc>
                <a:spcPts val="1630"/>
              </a:lnSpc>
              <a:spcBef>
                <a:spcPts val="390"/>
              </a:spcBef>
            </a:pPr>
            <a:r>
              <a:rPr sz="1600" spc="-10" dirty="0">
                <a:latin typeface="Courier New"/>
                <a:cs typeface="Courier New"/>
              </a:rPr>
              <a:t>application/x-</a:t>
            </a:r>
            <a:r>
              <a:rPr sz="1600" spc="-20" dirty="0">
                <a:latin typeface="Courier New"/>
                <a:cs typeface="Courier New"/>
              </a:rPr>
              <a:t>www- </a:t>
            </a:r>
            <a:r>
              <a:rPr sz="1600" spc="-10" dirty="0">
                <a:latin typeface="Courier New"/>
                <a:cs typeface="Courier New"/>
              </a:rPr>
              <a:t>form-urlencoded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925192" y="2133980"/>
            <a:ext cx="2361565" cy="1873885"/>
            <a:chOff x="1925192" y="2133980"/>
            <a:chExt cx="2361565" cy="1873885"/>
          </a:xfrm>
        </p:grpSpPr>
        <p:sp>
          <p:nvSpPr>
            <p:cNvPr id="10" name="object 10"/>
            <p:cNvSpPr/>
            <p:nvPr/>
          </p:nvSpPr>
          <p:spPr>
            <a:xfrm>
              <a:off x="1934717" y="2143505"/>
              <a:ext cx="180975" cy="1487170"/>
            </a:xfrm>
            <a:custGeom>
              <a:avLst/>
              <a:gdLst/>
              <a:ahLst/>
              <a:cxnLst/>
              <a:rect l="l" t="t" r="r" b="b"/>
              <a:pathLst>
                <a:path w="180975" h="1487170">
                  <a:moveTo>
                    <a:pt x="0" y="0"/>
                  </a:moveTo>
                  <a:lnTo>
                    <a:pt x="0" y="1487004"/>
                  </a:lnTo>
                  <a:lnTo>
                    <a:pt x="180568" y="1487004"/>
                  </a:lnTo>
                </a:path>
              </a:pathLst>
            </a:custGeom>
            <a:ln w="19050">
              <a:solidFill>
                <a:srgbClr val="FD9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14549" y="3259073"/>
              <a:ext cx="2167255" cy="744220"/>
            </a:xfrm>
            <a:custGeom>
              <a:avLst/>
              <a:gdLst/>
              <a:ahLst/>
              <a:cxnLst/>
              <a:rect l="l" t="t" r="r" b="b"/>
              <a:pathLst>
                <a:path w="2167254" h="744220">
                  <a:moveTo>
                    <a:pt x="0" y="74371"/>
                  </a:moveTo>
                  <a:lnTo>
                    <a:pt x="5844" y="45423"/>
                  </a:lnTo>
                  <a:lnTo>
                    <a:pt x="21783" y="21783"/>
                  </a:lnTo>
                  <a:lnTo>
                    <a:pt x="45423" y="5844"/>
                  </a:lnTo>
                  <a:lnTo>
                    <a:pt x="74371" y="0"/>
                  </a:lnTo>
                  <a:lnTo>
                    <a:pt x="2092756" y="0"/>
                  </a:lnTo>
                  <a:lnTo>
                    <a:pt x="2121704" y="5844"/>
                  </a:lnTo>
                  <a:lnTo>
                    <a:pt x="2145344" y="21783"/>
                  </a:lnTo>
                  <a:lnTo>
                    <a:pt x="2161283" y="45423"/>
                  </a:lnTo>
                  <a:lnTo>
                    <a:pt x="2167128" y="74371"/>
                  </a:lnTo>
                  <a:lnTo>
                    <a:pt x="2167128" y="669340"/>
                  </a:lnTo>
                  <a:lnTo>
                    <a:pt x="2161283" y="698288"/>
                  </a:lnTo>
                  <a:lnTo>
                    <a:pt x="2145344" y="721928"/>
                  </a:lnTo>
                  <a:lnTo>
                    <a:pt x="2121704" y="737867"/>
                  </a:lnTo>
                  <a:lnTo>
                    <a:pt x="2092756" y="743711"/>
                  </a:lnTo>
                  <a:lnTo>
                    <a:pt x="74371" y="743711"/>
                  </a:lnTo>
                  <a:lnTo>
                    <a:pt x="45423" y="737867"/>
                  </a:lnTo>
                  <a:lnTo>
                    <a:pt x="21783" y="721928"/>
                  </a:lnTo>
                  <a:lnTo>
                    <a:pt x="5844" y="698288"/>
                  </a:lnTo>
                  <a:lnTo>
                    <a:pt x="0" y="669340"/>
                  </a:lnTo>
                  <a:lnTo>
                    <a:pt x="0" y="74371"/>
                  </a:lnTo>
                  <a:close/>
                </a:path>
              </a:pathLst>
            </a:custGeom>
            <a:ln w="9994">
              <a:solidFill>
                <a:srgbClr val="E258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269161" y="3356768"/>
            <a:ext cx="1852930" cy="47625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682625" marR="5080" indent="-670560">
              <a:lnSpc>
                <a:spcPts val="1630"/>
              </a:lnSpc>
              <a:spcBef>
                <a:spcPts val="390"/>
              </a:spcBef>
            </a:pPr>
            <a:r>
              <a:rPr sz="1600" spc="-10" dirty="0">
                <a:latin typeface="Courier New"/>
                <a:cs typeface="Courier New"/>
              </a:rPr>
              <a:t>multipart/form- </a:t>
            </a:r>
            <a:r>
              <a:rPr sz="1600" spc="-20" dirty="0">
                <a:latin typeface="Courier New"/>
                <a:cs typeface="Courier New"/>
              </a:rPr>
              <a:t>data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25192" y="2133980"/>
            <a:ext cx="2055495" cy="2803525"/>
            <a:chOff x="1925192" y="2133980"/>
            <a:chExt cx="2055495" cy="2803525"/>
          </a:xfrm>
        </p:grpSpPr>
        <p:sp>
          <p:nvSpPr>
            <p:cNvPr id="14" name="object 14"/>
            <p:cNvSpPr/>
            <p:nvPr/>
          </p:nvSpPr>
          <p:spPr>
            <a:xfrm>
              <a:off x="1934717" y="2143505"/>
              <a:ext cx="180975" cy="2416810"/>
            </a:xfrm>
            <a:custGeom>
              <a:avLst/>
              <a:gdLst/>
              <a:ahLst/>
              <a:cxnLst/>
              <a:rect l="l" t="t" r="r" b="b"/>
              <a:pathLst>
                <a:path w="180975" h="2416810">
                  <a:moveTo>
                    <a:pt x="0" y="0"/>
                  </a:moveTo>
                  <a:lnTo>
                    <a:pt x="0" y="2416378"/>
                  </a:lnTo>
                  <a:lnTo>
                    <a:pt x="180568" y="2416378"/>
                  </a:lnTo>
                </a:path>
              </a:pathLst>
            </a:custGeom>
            <a:ln w="19049">
              <a:solidFill>
                <a:srgbClr val="FD9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14549" y="4188713"/>
              <a:ext cx="1861185" cy="744220"/>
            </a:xfrm>
            <a:custGeom>
              <a:avLst/>
              <a:gdLst/>
              <a:ahLst/>
              <a:cxnLst/>
              <a:rect l="l" t="t" r="r" b="b"/>
              <a:pathLst>
                <a:path w="1861185" h="744220">
                  <a:moveTo>
                    <a:pt x="0" y="74371"/>
                  </a:moveTo>
                  <a:lnTo>
                    <a:pt x="5844" y="45423"/>
                  </a:lnTo>
                  <a:lnTo>
                    <a:pt x="21783" y="21783"/>
                  </a:lnTo>
                  <a:lnTo>
                    <a:pt x="45423" y="5844"/>
                  </a:lnTo>
                  <a:lnTo>
                    <a:pt x="74371" y="0"/>
                  </a:lnTo>
                  <a:lnTo>
                    <a:pt x="1786432" y="0"/>
                  </a:lnTo>
                  <a:lnTo>
                    <a:pt x="1815380" y="5844"/>
                  </a:lnTo>
                  <a:lnTo>
                    <a:pt x="1839020" y="21783"/>
                  </a:lnTo>
                  <a:lnTo>
                    <a:pt x="1854959" y="45423"/>
                  </a:lnTo>
                  <a:lnTo>
                    <a:pt x="1860804" y="74371"/>
                  </a:lnTo>
                  <a:lnTo>
                    <a:pt x="1860804" y="669340"/>
                  </a:lnTo>
                  <a:lnTo>
                    <a:pt x="1854959" y="698288"/>
                  </a:lnTo>
                  <a:lnTo>
                    <a:pt x="1839020" y="721928"/>
                  </a:lnTo>
                  <a:lnTo>
                    <a:pt x="1815380" y="737867"/>
                  </a:lnTo>
                  <a:lnTo>
                    <a:pt x="1786432" y="743711"/>
                  </a:lnTo>
                  <a:lnTo>
                    <a:pt x="74371" y="743711"/>
                  </a:lnTo>
                  <a:lnTo>
                    <a:pt x="45423" y="737867"/>
                  </a:lnTo>
                  <a:lnTo>
                    <a:pt x="21783" y="721928"/>
                  </a:lnTo>
                  <a:lnTo>
                    <a:pt x="5844" y="698288"/>
                  </a:lnTo>
                  <a:lnTo>
                    <a:pt x="0" y="669340"/>
                  </a:lnTo>
                  <a:lnTo>
                    <a:pt x="0" y="74371"/>
                  </a:lnTo>
                  <a:close/>
                </a:path>
              </a:pathLst>
            </a:custGeom>
            <a:ln w="9994">
              <a:solidFill>
                <a:srgbClr val="E76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421589" y="4389744"/>
            <a:ext cx="12439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ourier New"/>
                <a:cs typeface="Courier New"/>
              </a:rPr>
              <a:t>text/plain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77512" y="1395983"/>
            <a:ext cx="2334767" cy="75133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534375" y="1498936"/>
            <a:ext cx="2218690" cy="488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825"/>
              </a:lnSpc>
              <a:spcBef>
                <a:spcPts val="95"/>
              </a:spcBef>
            </a:pPr>
            <a:r>
              <a:rPr sz="1600" spc="-10" dirty="0">
                <a:latin typeface="Courier New"/>
                <a:cs typeface="Courier New"/>
              </a:rPr>
              <a:t>HttpServletRequest</a:t>
            </a:r>
            <a:endParaRPr sz="1600">
              <a:latin typeface="Courier New"/>
              <a:cs typeface="Courier New"/>
            </a:endParaRPr>
          </a:p>
          <a:p>
            <a:pPr algn="ctr">
              <a:lnSpc>
                <a:spcPts val="1825"/>
              </a:lnSpc>
            </a:pPr>
            <a:r>
              <a:rPr sz="1600" dirty="0">
                <a:latin typeface="Calisto MT"/>
                <a:cs typeface="Calisto MT"/>
              </a:rPr>
              <a:t>class</a:t>
            </a:r>
            <a:r>
              <a:rPr sz="1600" spc="-35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methods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704969" y="2133980"/>
            <a:ext cx="2806700" cy="944244"/>
            <a:chOff x="4704969" y="2133980"/>
            <a:chExt cx="2806700" cy="944244"/>
          </a:xfrm>
        </p:grpSpPr>
        <p:sp>
          <p:nvSpPr>
            <p:cNvPr id="20" name="object 20"/>
            <p:cNvSpPr/>
            <p:nvPr/>
          </p:nvSpPr>
          <p:spPr>
            <a:xfrm>
              <a:off x="4714494" y="2143505"/>
              <a:ext cx="233045" cy="558165"/>
            </a:xfrm>
            <a:custGeom>
              <a:avLst/>
              <a:gdLst/>
              <a:ahLst/>
              <a:cxnLst/>
              <a:rect l="l" t="t" r="r" b="b"/>
              <a:pathLst>
                <a:path w="233045" h="558164">
                  <a:moveTo>
                    <a:pt x="0" y="0"/>
                  </a:moveTo>
                  <a:lnTo>
                    <a:pt x="0" y="557618"/>
                  </a:lnTo>
                  <a:lnTo>
                    <a:pt x="232664" y="557618"/>
                  </a:lnTo>
                </a:path>
              </a:pathLst>
            </a:custGeom>
            <a:ln w="19049">
              <a:solidFill>
                <a:srgbClr val="FD9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47666" y="2329433"/>
              <a:ext cx="2559050" cy="744220"/>
            </a:xfrm>
            <a:custGeom>
              <a:avLst/>
              <a:gdLst/>
              <a:ahLst/>
              <a:cxnLst/>
              <a:rect l="l" t="t" r="r" b="b"/>
              <a:pathLst>
                <a:path w="2559050" h="744219">
                  <a:moveTo>
                    <a:pt x="0" y="74371"/>
                  </a:moveTo>
                  <a:lnTo>
                    <a:pt x="5844" y="45423"/>
                  </a:lnTo>
                  <a:lnTo>
                    <a:pt x="21783" y="21783"/>
                  </a:lnTo>
                  <a:lnTo>
                    <a:pt x="45423" y="5844"/>
                  </a:lnTo>
                  <a:lnTo>
                    <a:pt x="74371" y="0"/>
                  </a:lnTo>
                  <a:lnTo>
                    <a:pt x="2484424" y="0"/>
                  </a:lnTo>
                  <a:lnTo>
                    <a:pt x="2513372" y="5844"/>
                  </a:lnTo>
                  <a:lnTo>
                    <a:pt x="2537012" y="21783"/>
                  </a:lnTo>
                  <a:lnTo>
                    <a:pt x="2552951" y="45423"/>
                  </a:lnTo>
                  <a:lnTo>
                    <a:pt x="2558796" y="74371"/>
                  </a:lnTo>
                  <a:lnTo>
                    <a:pt x="2558796" y="669340"/>
                  </a:lnTo>
                  <a:lnTo>
                    <a:pt x="2552951" y="698288"/>
                  </a:lnTo>
                  <a:lnTo>
                    <a:pt x="2537012" y="721928"/>
                  </a:lnTo>
                  <a:lnTo>
                    <a:pt x="2513372" y="737867"/>
                  </a:lnTo>
                  <a:lnTo>
                    <a:pt x="2484424" y="743711"/>
                  </a:lnTo>
                  <a:lnTo>
                    <a:pt x="74371" y="743711"/>
                  </a:lnTo>
                  <a:lnTo>
                    <a:pt x="45423" y="737867"/>
                  </a:lnTo>
                  <a:lnTo>
                    <a:pt x="21783" y="721928"/>
                  </a:lnTo>
                  <a:lnTo>
                    <a:pt x="5844" y="698288"/>
                  </a:lnTo>
                  <a:lnTo>
                    <a:pt x="0" y="669340"/>
                  </a:lnTo>
                  <a:lnTo>
                    <a:pt x="0" y="74371"/>
                  </a:lnTo>
                  <a:close/>
                </a:path>
              </a:pathLst>
            </a:custGeom>
            <a:ln w="9994">
              <a:solidFill>
                <a:srgbClr val="EB69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054584" y="2427391"/>
            <a:ext cx="2340610" cy="47625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866140" marR="5080" indent="-854075">
              <a:lnSpc>
                <a:spcPts val="1630"/>
              </a:lnSpc>
              <a:spcBef>
                <a:spcPts val="390"/>
              </a:spcBef>
            </a:pPr>
            <a:r>
              <a:rPr sz="1600" dirty="0">
                <a:latin typeface="Courier New"/>
                <a:cs typeface="Courier New"/>
              </a:rPr>
              <a:t>Part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getPart(String name)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704969" y="2133980"/>
            <a:ext cx="2459355" cy="1873885"/>
            <a:chOff x="4704969" y="2133980"/>
            <a:chExt cx="2459355" cy="1873885"/>
          </a:xfrm>
        </p:grpSpPr>
        <p:sp>
          <p:nvSpPr>
            <p:cNvPr id="24" name="object 24"/>
            <p:cNvSpPr/>
            <p:nvPr/>
          </p:nvSpPr>
          <p:spPr>
            <a:xfrm>
              <a:off x="4714494" y="2143505"/>
              <a:ext cx="233045" cy="1487170"/>
            </a:xfrm>
            <a:custGeom>
              <a:avLst/>
              <a:gdLst/>
              <a:ahLst/>
              <a:cxnLst/>
              <a:rect l="l" t="t" r="r" b="b"/>
              <a:pathLst>
                <a:path w="233045" h="1487170">
                  <a:moveTo>
                    <a:pt x="0" y="0"/>
                  </a:moveTo>
                  <a:lnTo>
                    <a:pt x="0" y="1487004"/>
                  </a:lnTo>
                  <a:lnTo>
                    <a:pt x="232664" y="1487004"/>
                  </a:lnTo>
                </a:path>
              </a:pathLst>
            </a:custGeom>
            <a:ln w="19050">
              <a:solidFill>
                <a:srgbClr val="FD9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47666" y="3259073"/>
              <a:ext cx="2211705" cy="744220"/>
            </a:xfrm>
            <a:custGeom>
              <a:avLst/>
              <a:gdLst/>
              <a:ahLst/>
              <a:cxnLst/>
              <a:rect l="l" t="t" r="r" b="b"/>
              <a:pathLst>
                <a:path w="2211704" h="744220">
                  <a:moveTo>
                    <a:pt x="0" y="74371"/>
                  </a:moveTo>
                  <a:lnTo>
                    <a:pt x="5844" y="45423"/>
                  </a:lnTo>
                  <a:lnTo>
                    <a:pt x="21783" y="21783"/>
                  </a:lnTo>
                  <a:lnTo>
                    <a:pt x="45423" y="5844"/>
                  </a:lnTo>
                  <a:lnTo>
                    <a:pt x="74371" y="0"/>
                  </a:lnTo>
                  <a:lnTo>
                    <a:pt x="2136952" y="0"/>
                  </a:lnTo>
                  <a:lnTo>
                    <a:pt x="2165900" y="5844"/>
                  </a:lnTo>
                  <a:lnTo>
                    <a:pt x="2189540" y="21783"/>
                  </a:lnTo>
                  <a:lnTo>
                    <a:pt x="2205479" y="45423"/>
                  </a:lnTo>
                  <a:lnTo>
                    <a:pt x="2211324" y="74371"/>
                  </a:lnTo>
                  <a:lnTo>
                    <a:pt x="2211324" y="669340"/>
                  </a:lnTo>
                  <a:lnTo>
                    <a:pt x="2205479" y="698288"/>
                  </a:lnTo>
                  <a:lnTo>
                    <a:pt x="2189540" y="721928"/>
                  </a:lnTo>
                  <a:lnTo>
                    <a:pt x="2165900" y="737867"/>
                  </a:lnTo>
                  <a:lnTo>
                    <a:pt x="2136952" y="743711"/>
                  </a:lnTo>
                  <a:lnTo>
                    <a:pt x="74371" y="743711"/>
                  </a:lnTo>
                  <a:lnTo>
                    <a:pt x="45423" y="737867"/>
                  </a:lnTo>
                  <a:lnTo>
                    <a:pt x="21783" y="721928"/>
                  </a:lnTo>
                  <a:lnTo>
                    <a:pt x="5844" y="698288"/>
                  </a:lnTo>
                  <a:lnTo>
                    <a:pt x="0" y="669340"/>
                  </a:lnTo>
                  <a:lnTo>
                    <a:pt x="0" y="74371"/>
                  </a:lnTo>
                  <a:close/>
                </a:path>
              </a:pathLst>
            </a:custGeom>
            <a:ln w="9994">
              <a:solidFill>
                <a:srgbClr val="EE71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063756" y="3356768"/>
            <a:ext cx="1974850" cy="47625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78460" marR="5080" indent="-366395">
              <a:lnSpc>
                <a:spcPts val="1630"/>
              </a:lnSpc>
              <a:spcBef>
                <a:spcPts val="390"/>
              </a:spcBef>
            </a:pPr>
            <a:r>
              <a:rPr sz="1600" spc="-10" dirty="0">
                <a:latin typeface="Courier New"/>
                <a:cs typeface="Courier New"/>
              </a:rPr>
              <a:t>Collection&lt;Part&gt; getParts()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27" name="object 2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37119" y="1395983"/>
            <a:ext cx="2188463" cy="751331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7603731" y="1405590"/>
            <a:ext cx="1852930" cy="68643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 indent="-20320" algn="ctr">
              <a:lnSpc>
                <a:spcPct val="85600"/>
              </a:lnSpc>
              <a:spcBef>
                <a:spcPts val="370"/>
              </a:spcBef>
            </a:pPr>
            <a:r>
              <a:rPr sz="1600" dirty="0">
                <a:latin typeface="Calisto MT"/>
                <a:cs typeface="Calisto MT"/>
              </a:rPr>
              <a:t>Methods</a:t>
            </a:r>
            <a:r>
              <a:rPr sz="1600" spc="-40" dirty="0">
                <a:latin typeface="Calisto MT"/>
                <a:cs typeface="Calisto MT"/>
              </a:rPr>
              <a:t> </a:t>
            </a:r>
            <a:r>
              <a:rPr sz="1600" spc="-25" dirty="0">
                <a:latin typeface="Calisto MT"/>
                <a:cs typeface="Calisto MT"/>
              </a:rPr>
              <a:t>of </a:t>
            </a:r>
            <a:r>
              <a:rPr sz="1600" spc="-10" dirty="0">
                <a:latin typeface="Courier New"/>
                <a:cs typeface="Courier New"/>
              </a:rPr>
              <a:t>MultipartConfig </a:t>
            </a:r>
            <a:r>
              <a:rPr sz="1600" spc="-10" dirty="0">
                <a:latin typeface="Calisto MT"/>
                <a:cs typeface="Calisto MT"/>
              </a:rPr>
              <a:t>Annotation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649336" y="2133980"/>
            <a:ext cx="2800985" cy="944244"/>
            <a:chOff x="7649336" y="2133980"/>
            <a:chExt cx="2800985" cy="944244"/>
          </a:xfrm>
        </p:grpSpPr>
        <p:sp>
          <p:nvSpPr>
            <p:cNvPr id="30" name="object 30"/>
            <p:cNvSpPr/>
            <p:nvPr/>
          </p:nvSpPr>
          <p:spPr>
            <a:xfrm>
              <a:off x="7658861" y="2143505"/>
              <a:ext cx="218440" cy="558165"/>
            </a:xfrm>
            <a:custGeom>
              <a:avLst/>
              <a:gdLst/>
              <a:ahLst/>
              <a:cxnLst/>
              <a:rect l="l" t="t" r="r" b="b"/>
              <a:pathLst>
                <a:path w="218440" h="558164">
                  <a:moveTo>
                    <a:pt x="0" y="0"/>
                  </a:moveTo>
                  <a:lnTo>
                    <a:pt x="0" y="557618"/>
                  </a:lnTo>
                  <a:lnTo>
                    <a:pt x="218147" y="557618"/>
                  </a:lnTo>
                </a:path>
              </a:pathLst>
            </a:custGeom>
            <a:ln w="19050">
              <a:solidFill>
                <a:srgbClr val="FD9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878317" y="2329433"/>
              <a:ext cx="2566670" cy="744220"/>
            </a:xfrm>
            <a:custGeom>
              <a:avLst/>
              <a:gdLst/>
              <a:ahLst/>
              <a:cxnLst/>
              <a:rect l="l" t="t" r="r" b="b"/>
              <a:pathLst>
                <a:path w="2566670" h="744219">
                  <a:moveTo>
                    <a:pt x="0" y="74371"/>
                  </a:moveTo>
                  <a:lnTo>
                    <a:pt x="5844" y="45423"/>
                  </a:lnTo>
                  <a:lnTo>
                    <a:pt x="21783" y="21783"/>
                  </a:lnTo>
                  <a:lnTo>
                    <a:pt x="45423" y="5844"/>
                  </a:lnTo>
                  <a:lnTo>
                    <a:pt x="74371" y="0"/>
                  </a:lnTo>
                  <a:lnTo>
                    <a:pt x="2492044" y="0"/>
                  </a:lnTo>
                  <a:lnTo>
                    <a:pt x="2520992" y="5844"/>
                  </a:lnTo>
                  <a:lnTo>
                    <a:pt x="2544632" y="21783"/>
                  </a:lnTo>
                  <a:lnTo>
                    <a:pt x="2560571" y="45423"/>
                  </a:lnTo>
                  <a:lnTo>
                    <a:pt x="2566416" y="74371"/>
                  </a:lnTo>
                  <a:lnTo>
                    <a:pt x="2566416" y="669340"/>
                  </a:lnTo>
                  <a:lnTo>
                    <a:pt x="2560571" y="698288"/>
                  </a:lnTo>
                  <a:lnTo>
                    <a:pt x="2544632" y="721928"/>
                  </a:lnTo>
                  <a:lnTo>
                    <a:pt x="2520992" y="737867"/>
                  </a:lnTo>
                  <a:lnTo>
                    <a:pt x="2492044" y="743711"/>
                  </a:lnTo>
                  <a:lnTo>
                    <a:pt x="74371" y="743711"/>
                  </a:lnTo>
                  <a:lnTo>
                    <a:pt x="45423" y="737867"/>
                  </a:lnTo>
                  <a:lnTo>
                    <a:pt x="21783" y="721928"/>
                  </a:lnTo>
                  <a:lnTo>
                    <a:pt x="5844" y="698288"/>
                  </a:lnTo>
                  <a:lnTo>
                    <a:pt x="0" y="669340"/>
                  </a:lnTo>
                  <a:lnTo>
                    <a:pt x="0" y="74371"/>
                  </a:lnTo>
                  <a:close/>
                </a:path>
              </a:pathLst>
            </a:custGeom>
            <a:ln w="9994">
              <a:solidFill>
                <a:srgbClr val="F37B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111673" y="2530991"/>
            <a:ext cx="20967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ourier New"/>
                <a:cs typeface="Courier New"/>
              </a:rPr>
              <a:t>fileSizeThreshold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649336" y="2133980"/>
            <a:ext cx="1886585" cy="1873885"/>
            <a:chOff x="7649336" y="2133980"/>
            <a:chExt cx="1886585" cy="1873885"/>
          </a:xfrm>
        </p:grpSpPr>
        <p:sp>
          <p:nvSpPr>
            <p:cNvPr id="34" name="object 34"/>
            <p:cNvSpPr/>
            <p:nvPr/>
          </p:nvSpPr>
          <p:spPr>
            <a:xfrm>
              <a:off x="7658861" y="2143505"/>
              <a:ext cx="218440" cy="1487170"/>
            </a:xfrm>
            <a:custGeom>
              <a:avLst/>
              <a:gdLst/>
              <a:ahLst/>
              <a:cxnLst/>
              <a:rect l="l" t="t" r="r" b="b"/>
              <a:pathLst>
                <a:path w="218440" h="1487170">
                  <a:moveTo>
                    <a:pt x="0" y="0"/>
                  </a:moveTo>
                  <a:lnTo>
                    <a:pt x="0" y="1487004"/>
                  </a:lnTo>
                  <a:lnTo>
                    <a:pt x="218147" y="1487004"/>
                  </a:lnTo>
                </a:path>
              </a:pathLst>
            </a:custGeom>
            <a:ln w="19050">
              <a:solidFill>
                <a:srgbClr val="FD9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878317" y="3259073"/>
              <a:ext cx="1652270" cy="744220"/>
            </a:xfrm>
            <a:custGeom>
              <a:avLst/>
              <a:gdLst/>
              <a:ahLst/>
              <a:cxnLst/>
              <a:rect l="l" t="t" r="r" b="b"/>
              <a:pathLst>
                <a:path w="1652270" h="744220">
                  <a:moveTo>
                    <a:pt x="0" y="74371"/>
                  </a:moveTo>
                  <a:lnTo>
                    <a:pt x="5844" y="45423"/>
                  </a:lnTo>
                  <a:lnTo>
                    <a:pt x="21783" y="21783"/>
                  </a:lnTo>
                  <a:lnTo>
                    <a:pt x="45423" y="5844"/>
                  </a:lnTo>
                  <a:lnTo>
                    <a:pt x="74371" y="0"/>
                  </a:lnTo>
                  <a:lnTo>
                    <a:pt x="1577644" y="0"/>
                  </a:lnTo>
                  <a:lnTo>
                    <a:pt x="1606592" y="5844"/>
                  </a:lnTo>
                  <a:lnTo>
                    <a:pt x="1630232" y="21783"/>
                  </a:lnTo>
                  <a:lnTo>
                    <a:pt x="1646171" y="45423"/>
                  </a:lnTo>
                  <a:lnTo>
                    <a:pt x="1652016" y="74371"/>
                  </a:lnTo>
                  <a:lnTo>
                    <a:pt x="1652016" y="669340"/>
                  </a:lnTo>
                  <a:lnTo>
                    <a:pt x="1646171" y="698288"/>
                  </a:lnTo>
                  <a:lnTo>
                    <a:pt x="1630232" y="721928"/>
                  </a:lnTo>
                  <a:lnTo>
                    <a:pt x="1606592" y="737867"/>
                  </a:lnTo>
                  <a:lnTo>
                    <a:pt x="1577644" y="743711"/>
                  </a:lnTo>
                  <a:lnTo>
                    <a:pt x="74371" y="743711"/>
                  </a:lnTo>
                  <a:lnTo>
                    <a:pt x="45423" y="737867"/>
                  </a:lnTo>
                  <a:lnTo>
                    <a:pt x="21783" y="721928"/>
                  </a:lnTo>
                  <a:lnTo>
                    <a:pt x="5844" y="698288"/>
                  </a:lnTo>
                  <a:lnTo>
                    <a:pt x="0" y="669340"/>
                  </a:lnTo>
                  <a:lnTo>
                    <a:pt x="0" y="74371"/>
                  </a:lnTo>
                  <a:close/>
                </a:path>
              </a:pathLst>
            </a:custGeom>
            <a:ln w="9994">
              <a:solidFill>
                <a:srgbClr val="F785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8018688" y="3460367"/>
            <a:ext cx="13658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ourier New"/>
                <a:cs typeface="Courier New"/>
              </a:rPr>
              <a:t>maxFileSize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649336" y="2133980"/>
            <a:ext cx="2360295" cy="2803525"/>
            <a:chOff x="7649336" y="2133980"/>
            <a:chExt cx="2360295" cy="2803525"/>
          </a:xfrm>
        </p:grpSpPr>
        <p:sp>
          <p:nvSpPr>
            <p:cNvPr id="38" name="object 38"/>
            <p:cNvSpPr/>
            <p:nvPr/>
          </p:nvSpPr>
          <p:spPr>
            <a:xfrm>
              <a:off x="7658861" y="2143505"/>
              <a:ext cx="218440" cy="2416810"/>
            </a:xfrm>
            <a:custGeom>
              <a:avLst/>
              <a:gdLst/>
              <a:ahLst/>
              <a:cxnLst/>
              <a:rect l="l" t="t" r="r" b="b"/>
              <a:pathLst>
                <a:path w="218440" h="2416810">
                  <a:moveTo>
                    <a:pt x="0" y="0"/>
                  </a:moveTo>
                  <a:lnTo>
                    <a:pt x="0" y="2416378"/>
                  </a:lnTo>
                  <a:lnTo>
                    <a:pt x="218147" y="2416378"/>
                  </a:lnTo>
                </a:path>
              </a:pathLst>
            </a:custGeom>
            <a:ln w="19050">
              <a:solidFill>
                <a:srgbClr val="FD9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878317" y="4188715"/>
              <a:ext cx="2125980" cy="744220"/>
            </a:xfrm>
            <a:custGeom>
              <a:avLst/>
              <a:gdLst/>
              <a:ahLst/>
              <a:cxnLst/>
              <a:rect l="l" t="t" r="r" b="b"/>
              <a:pathLst>
                <a:path w="2125979" h="744220">
                  <a:moveTo>
                    <a:pt x="0" y="74371"/>
                  </a:moveTo>
                  <a:lnTo>
                    <a:pt x="5844" y="45423"/>
                  </a:lnTo>
                  <a:lnTo>
                    <a:pt x="21783" y="21783"/>
                  </a:lnTo>
                  <a:lnTo>
                    <a:pt x="45423" y="5844"/>
                  </a:lnTo>
                  <a:lnTo>
                    <a:pt x="74371" y="0"/>
                  </a:lnTo>
                  <a:lnTo>
                    <a:pt x="2051608" y="0"/>
                  </a:lnTo>
                  <a:lnTo>
                    <a:pt x="2080556" y="5844"/>
                  </a:lnTo>
                  <a:lnTo>
                    <a:pt x="2104196" y="21783"/>
                  </a:lnTo>
                  <a:lnTo>
                    <a:pt x="2120135" y="45423"/>
                  </a:lnTo>
                  <a:lnTo>
                    <a:pt x="2125980" y="74371"/>
                  </a:lnTo>
                  <a:lnTo>
                    <a:pt x="2125980" y="669340"/>
                  </a:lnTo>
                  <a:lnTo>
                    <a:pt x="2120135" y="698288"/>
                  </a:lnTo>
                  <a:lnTo>
                    <a:pt x="2104196" y="721928"/>
                  </a:lnTo>
                  <a:lnTo>
                    <a:pt x="2080556" y="737867"/>
                  </a:lnTo>
                  <a:lnTo>
                    <a:pt x="2051608" y="743711"/>
                  </a:lnTo>
                  <a:lnTo>
                    <a:pt x="74371" y="743711"/>
                  </a:lnTo>
                  <a:lnTo>
                    <a:pt x="45423" y="737867"/>
                  </a:lnTo>
                  <a:lnTo>
                    <a:pt x="21783" y="721928"/>
                  </a:lnTo>
                  <a:lnTo>
                    <a:pt x="5844" y="698288"/>
                  </a:lnTo>
                  <a:lnTo>
                    <a:pt x="0" y="669340"/>
                  </a:lnTo>
                  <a:lnTo>
                    <a:pt x="0" y="74371"/>
                  </a:lnTo>
                  <a:close/>
                </a:path>
              </a:pathLst>
            </a:custGeom>
            <a:ln w="9994">
              <a:solidFill>
                <a:srgbClr val="FA92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073573" y="4389744"/>
            <a:ext cx="17310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ourier New"/>
                <a:cs typeface="Courier New"/>
              </a:rPr>
              <a:t>maxRequestSize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649336" y="2133980"/>
            <a:ext cx="1793239" cy="3731895"/>
            <a:chOff x="7649336" y="2133980"/>
            <a:chExt cx="1793239" cy="3731895"/>
          </a:xfrm>
        </p:grpSpPr>
        <p:sp>
          <p:nvSpPr>
            <p:cNvPr id="42" name="object 42"/>
            <p:cNvSpPr/>
            <p:nvPr/>
          </p:nvSpPr>
          <p:spPr>
            <a:xfrm>
              <a:off x="7658861" y="2143505"/>
              <a:ext cx="218440" cy="3345815"/>
            </a:xfrm>
            <a:custGeom>
              <a:avLst/>
              <a:gdLst/>
              <a:ahLst/>
              <a:cxnLst/>
              <a:rect l="l" t="t" r="r" b="b"/>
              <a:pathLst>
                <a:path w="218440" h="3345815">
                  <a:moveTo>
                    <a:pt x="0" y="0"/>
                  </a:moveTo>
                  <a:lnTo>
                    <a:pt x="0" y="3345751"/>
                  </a:lnTo>
                  <a:lnTo>
                    <a:pt x="218147" y="3345751"/>
                  </a:lnTo>
                </a:path>
              </a:pathLst>
            </a:custGeom>
            <a:ln w="19050">
              <a:solidFill>
                <a:srgbClr val="FD9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878317" y="5116828"/>
              <a:ext cx="1559560" cy="744220"/>
            </a:xfrm>
            <a:custGeom>
              <a:avLst/>
              <a:gdLst/>
              <a:ahLst/>
              <a:cxnLst/>
              <a:rect l="l" t="t" r="r" b="b"/>
              <a:pathLst>
                <a:path w="1559559" h="744220">
                  <a:moveTo>
                    <a:pt x="0" y="74371"/>
                  </a:moveTo>
                  <a:lnTo>
                    <a:pt x="5844" y="45423"/>
                  </a:lnTo>
                  <a:lnTo>
                    <a:pt x="21783" y="21783"/>
                  </a:lnTo>
                  <a:lnTo>
                    <a:pt x="45423" y="5844"/>
                  </a:lnTo>
                  <a:lnTo>
                    <a:pt x="74371" y="0"/>
                  </a:lnTo>
                  <a:lnTo>
                    <a:pt x="1484680" y="0"/>
                  </a:lnTo>
                  <a:lnTo>
                    <a:pt x="1513628" y="5844"/>
                  </a:lnTo>
                  <a:lnTo>
                    <a:pt x="1537268" y="21783"/>
                  </a:lnTo>
                  <a:lnTo>
                    <a:pt x="1553207" y="45423"/>
                  </a:lnTo>
                  <a:lnTo>
                    <a:pt x="1559052" y="74371"/>
                  </a:lnTo>
                  <a:lnTo>
                    <a:pt x="1559052" y="669340"/>
                  </a:lnTo>
                  <a:lnTo>
                    <a:pt x="1553207" y="698288"/>
                  </a:lnTo>
                  <a:lnTo>
                    <a:pt x="1537268" y="721928"/>
                  </a:lnTo>
                  <a:lnTo>
                    <a:pt x="1513628" y="737867"/>
                  </a:lnTo>
                  <a:lnTo>
                    <a:pt x="1484680" y="743711"/>
                  </a:lnTo>
                  <a:lnTo>
                    <a:pt x="74371" y="743711"/>
                  </a:lnTo>
                  <a:lnTo>
                    <a:pt x="45423" y="737867"/>
                  </a:lnTo>
                  <a:lnTo>
                    <a:pt x="21783" y="721928"/>
                  </a:lnTo>
                  <a:lnTo>
                    <a:pt x="5844" y="698288"/>
                  </a:lnTo>
                  <a:lnTo>
                    <a:pt x="0" y="669340"/>
                  </a:lnTo>
                  <a:lnTo>
                    <a:pt x="0" y="74371"/>
                  </a:lnTo>
                  <a:close/>
                </a:path>
              </a:pathLst>
            </a:custGeom>
            <a:ln w="9994">
              <a:solidFill>
                <a:srgbClr val="FD9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8155828" y="5319121"/>
            <a:ext cx="10001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ourier New"/>
                <a:cs typeface="Courier New"/>
              </a:rPr>
              <a:t>location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Server</a:t>
            </a:r>
            <a:r>
              <a:rPr spc="-60" dirty="0"/>
              <a:t> </a:t>
            </a:r>
            <a:r>
              <a:rPr dirty="0"/>
              <a:t>Push</a:t>
            </a:r>
            <a:r>
              <a:rPr spc="-45" dirty="0"/>
              <a:t> </a:t>
            </a:r>
            <a:r>
              <a:rPr spc="-20" dirty="0"/>
              <a:t>Technology</a:t>
            </a:r>
            <a:r>
              <a:rPr spc="-25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Servlet</a:t>
            </a:r>
            <a:r>
              <a:rPr spc="-30" dirty="0"/>
              <a:t> </a:t>
            </a:r>
            <a:r>
              <a:rPr spc="-25" dirty="0"/>
              <a:t>6.0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65860" y="1283208"/>
            <a:ext cx="9808210" cy="4628515"/>
            <a:chOff x="1165860" y="1283208"/>
            <a:chExt cx="9808210" cy="46285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5860" y="1283208"/>
              <a:ext cx="2353055" cy="462838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5484" y="1296924"/>
              <a:ext cx="2274570" cy="45491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480054" y="1297686"/>
              <a:ext cx="7493634" cy="4549140"/>
            </a:xfrm>
            <a:custGeom>
              <a:avLst/>
              <a:gdLst/>
              <a:ahLst/>
              <a:cxnLst/>
              <a:rect l="l" t="t" r="r" b="b"/>
              <a:pathLst>
                <a:path w="7493634" h="4549140">
                  <a:moveTo>
                    <a:pt x="7493508" y="0"/>
                  </a:moveTo>
                  <a:lnTo>
                    <a:pt x="0" y="0"/>
                  </a:lnTo>
                  <a:lnTo>
                    <a:pt x="0" y="4549140"/>
                  </a:lnTo>
                  <a:lnTo>
                    <a:pt x="7493508" y="4549140"/>
                  </a:lnTo>
                  <a:lnTo>
                    <a:pt x="749350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1388" y="2647188"/>
              <a:ext cx="1557527" cy="3035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1012" y="2660903"/>
              <a:ext cx="1478280" cy="295656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480054" y="2661666"/>
              <a:ext cx="7493634" cy="2956560"/>
            </a:xfrm>
            <a:custGeom>
              <a:avLst/>
              <a:gdLst/>
              <a:ahLst/>
              <a:cxnLst/>
              <a:rect l="l" t="t" r="r" b="b"/>
              <a:pathLst>
                <a:path w="7493634" h="2956560">
                  <a:moveTo>
                    <a:pt x="7493508" y="0"/>
                  </a:moveTo>
                  <a:lnTo>
                    <a:pt x="0" y="0"/>
                  </a:lnTo>
                  <a:lnTo>
                    <a:pt x="0" y="2956560"/>
                  </a:lnTo>
                  <a:lnTo>
                    <a:pt x="7493508" y="2956560"/>
                  </a:lnTo>
                  <a:lnTo>
                    <a:pt x="749350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56916" y="4012692"/>
              <a:ext cx="761999" cy="144322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96539" y="4026407"/>
              <a:ext cx="682751" cy="1363980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3480053" y="4027170"/>
            <a:ext cx="7493634" cy="1363980"/>
          </a:xfrm>
          <a:custGeom>
            <a:avLst/>
            <a:gdLst/>
            <a:ahLst/>
            <a:cxnLst/>
            <a:rect l="l" t="t" r="r" b="b"/>
            <a:pathLst>
              <a:path w="7493634" h="1363979">
                <a:moveTo>
                  <a:pt x="7493508" y="0"/>
                </a:moveTo>
                <a:lnTo>
                  <a:pt x="0" y="0"/>
                </a:lnTo>
                <a:lnTo>
                  <a:pt x="0" y="1363979"/>
                </a:lnTo>
                <a:lnTo>
                  <a:pt x="7493508" y="1363979"/>
                </a:lnTo>
                <a:lnTo>
                  <a:pt x="7493508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475056" y="1292688"/>
          <a:ext cx="7579995" cy="4547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93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63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1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Referred</a:t>
                      </a:r>
                      <a:r>
                        <a:rPr sz="1800" spc="-3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to</a:t>
                      </a:r>
                      <a:r>
                        <a:rPr sz="1800" spc="-1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as</a:t>
                      </a:r>
                      <a:r>
                        <a:rPr sz="1800" spc="-3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push</a:t>
                      </a:r>
                      <a:r>
                        <a:rPr sz="1800" spc="-3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technology.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25527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C757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5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14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Calisto MT"/>
                          <a:cs typeface="Calisto MT"/>
                        </a:rPr>
                        <a:t>Available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in</a:t>
                      </a:r>
                      <a:r>
                        <a:rPr sz="1800" spc="-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HTTP/2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 protocol.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255904" marB="0">
                    <a:lnL w="12700">
                      <a:solidFill>
                        <a:srgbClr val="41C757"/>
                      </a:solidFill>
                      <a:prstDash val="solid"/>
                    </a:lnL>
                    <a:lnR w="12700">
                      <a:solidFill>
                        <a:srgbClr val="41C757"/>
                      </a:solidFill>
                      <a:prstDash val="solid"/>
                    </a:lnR>
                    <a:lnT w="12700">
                      <a:solidFill>
                        <a:srgbClr val="41C757"/>
                      </a:solidFill>
                      <a:prstDash val="solid"/>
                    </a:lnT>
                    <a:lnB w="12700">
                      <a:solidFill>
                        <a:srgbClr val="D6D3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Responsibility</a:t>
                      </a:r>
                      <a:r>
                        <a:rPr sz="1800" spc="-3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of</a:t>
                      </a:r>
                      <a:r>
                        <a:rPr sz="1800" spc="18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the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PushBuilder</a:t>
                      </a:r>
                      <a:r>
                        <a:rPr sz="1800" spc="-6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interface.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252095" marB="0">
                    <a:lnL w="12700">
                      <a:solidFill>
                        <a:srgbClr val="D6D346"/>
                      </a:solidFill>
                      <a:prstDash val="solid"/>
                    </a:lnL>
                    <a:lnR w="12700">
                      <a:solidFill>
                        <a:srgbClr val="D6D346"/>
                      </a:solidFill>
                      <a:prstDash val="solid"/>
                    </a:lnR>
                    <a:lnT w="12700">
                      <a:solidFill>
                        <a:srgbClr val="D6D346"/>
                      </a:solidFill>
                      <a:prstDash val="solid"/>
                    </a:lnT>
                    <a:lnB w="12700">
                      <a:solidFill>
                        <a:srgbClr val="D6D3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1C757"/>
                      </a:solidFill>
                      <a:prstDash val="solid"/>
                    </a:lnL>
                    <a:lnR w="12700">
                      <a:solidFill>
                        <a:srgbClr val="41C757"/>
                      </a:solidFill>
                      <a:prstDash val="solid"/>
                    </a:lnR>
                    <a:lnT w="12700">
                      <a:solidFill>
                        <a:srgbClr val="D6D346"/>
                      </a:solidFill>
                      <a:prstDash val="solid"/>
                    </a:lnT>
                    <a:lnB w="12700">
                      <a:solidFill>
                        <a:srgbClr val="41C7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C757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Summary</a:t>
            </a:r>
            <a:r>
              <a:rPr spc="20" dirty="0"/>
              <a:t> </a:t>
            </a:r>
            <a:r>
              <a:rPr spc="-10" dirty="0"/>
              <a:t>[1-</a:t>
            </a:r>
            <a:r>
              <a:rPr spc="-25" dirty="0"/>
              <a:t>2]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618" y="904990"/>
            <a:ext cx="11133455" cy="397446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93675" marR="6350" indent="-181610" algn="just">
              <a:lnSpc>
                <a:spcPts val="1939"/>
              </a:lnSpc>
              <a:spcBef>
                <a:spcPts val="345"/>
              </a:spcBef>
              <a:buSzPct val="80555"/>
              <a:buFont typeface="Corbel"/>
              <a:buChar char="•"/>
              <a:tabLst>
                <a:tab pos="194945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3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filterer</a:t>
            </a:r>
            <a:r>
              <a:rPr sz="1800" spc="3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acts</a:t>
            </a:r>
            <a:r>
              <a:rPr sz="1800" spc="3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</a:t>
            </a:r>
            <a:r>
              <a:rPr sz="1800" spc="3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</a:t>
            </a:r>
            <a:r>
              <a:rPr sz="1800" spc="3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interface</a:t>
            </a:r>
            <a:r>
              <a:rPr sz="1800" spc="3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between</a:t>
            </a:r>
            <a:r>
              <a:rPr sz="1800" spc="3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3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client</a:t>
            </a:r>
            <a:r>
              <a:rPr sz="1800" spc="3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3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3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inside</a:t>
            </a:r>
            <a:r>
              <a:rPr sz="1800" spc="3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3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server.</a:t>
            </a:r>
            <a:r>
              <a:rPr sz="1800" spc="3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It</a:t>
            </a:r>
            <a:r>
              <a:rPr sz="1800" spc="3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intercepts</a:t>
            </a:r>
            <a:r>
              <a:rPr sz="1800" spc="3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3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request</a:t>
            </a:r>
            <a:r>
              <a:rPr sz="1800" spc="33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or 	</a:t>
            </a:r>
            <a:r>
              <a:rPr sz="1800" dirty="0">
                <a:latin typeface="Calisto MT"/>
                <a:cs typeface="Calisto MT"/>
              </a:rPr>
              <a:t>response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from the </a:t>
            </a:r>
            <a:r>
              <a:rPr sz="1800" spc="-10" dirty="0">
                <a:latin typeface="Calisto MT"/>
                <a:cs typeface="Calisto MT"/>
              </a:rPr>
              <a:t>server.</a:t>
            </a:r>
            <a:r>
              <a:rPr sz="1800" dirty="0">
                <a:latin typeface="Calisto MT"/>
                <a:cs typeface="Calisto MT"/>
              </a:rPr>
              <a:t> More</a:t>
            </a:r>
            <a:r>
              <a:rPr sz="1800" spc="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than one filter can also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exist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between a client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 servlet. This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 called </a:t>
            </a:r>
            <a:r>
              <a:rPr sz="1800" spc="-50" dirty="0">
                <a:latin typeface="Calisto MT"/>
                <a:cs typeface="Calisto MT"/>
              </a:rPr>
              <a:t>a 	</a:t>
            </a:r>
            <a:r>
              <a:rPr sz="1800" dirty="0">
                <a:latin typeface="Calisto MT"/>
                <a:cs typeface="Calisto MT"/>
              </a:rPr>
              <a:t>filter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chain.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Filter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API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part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package.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It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contains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interfaces</a:t>
            </a:r>
            <a:r>
              <a:rPr sz="1800" spc="-30" dirty="0">
                <a:latin typeface="Calisto MT"/>
                <a:cs typeface="Calisto MT"/>
              </a:rPr>
              <a:t> namely,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Filter,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FilterConfig,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FilterChain.</a:t>
            </a:r>
            <a:endParaRPr sz="1800">
              <a:latin typeface="Calisto MT"/>
              <a:cs typeface="Calisto MT"/>
            </a:endParaRPr>
          </a:p>
          <a:p>
            <a:pPr marL="193675" marR="5080" indent="-181610" algn="just">
              <a:lnSpc>
                <a:spcPct val="90000"/>
              </a:lnSpc>
              <a:spcBef>
                <a:spcPts val="134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All</a:t>
            </a:r>
            <a:r>
              <a:rPr sz="1800" spc="19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19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information</a:t>
            </a:r>
            <a:r>
              <a:rPr sz="1800" spc="19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about</a:t>
            </a:r>
            <a:r>
              <a:rPr sz="1800" spc="18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20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filter</a:t>
            </a:r>
            <a:r>
              <a:rPr sz="1800" spc="19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19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described</a:t>
            </a:r>
            <a:r>
              <a:rPr sz="1800" spc="19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within</a:t>
            </a:r>
            <a:r>
              <a:rPr sz="1800" spc="19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190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&lt;filter&gt;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element</a:t>
            </a:r>
            <a:r>
              <a:rPr sz="1800" spc="18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inside</a:t>
            </a:r>
            <a:r>
              <a:rPr sz="1800" spc="19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195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web.xml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file.</a:t>
            </a:r>
            <a:r>
              <a:rPr sz="1800" spc="18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The 	</a:t>
            </a:r>
            <a:r>
              <a:rPr sz="1800" dirty="0">
                <a:latin typeface="Calisto MT"/>
                <a:cs typeface="Calisto MT"/>
              </a:rPr>
              <a:t>filter</a:t>
            </a:r>
            <a:r>
              <a:rPr sz="1800" spc="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also</a:t>
            </a:r>
            <a:r>
              <a:rPr sz="1800" spc="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8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</a:t>
            </a:r>
            <a:r>
              <a:rPr sz="1800" spc="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mapped</a:t>
            </a:r>
            <a:r>
              <a:rPr sz="1800" spc="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which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it</a:t>
            </a:r>
            <a:r>
              <a:rPr sz="1800" spc="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will</a:t>
            </a:r>
            <a:r>
              <a:rPr sz="1800" spc="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function.</a:t>
            </a:r>
            <a:r>
              <a:rPr sz="1800" spc="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This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done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by</a:t>
            </a:r>
            <a:r>
              <a:rPr sz="1800" spc="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assigning</a:t>
            </a:r>
            <a:r>
              <a:rPr sz="1800" spc="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URL</a:t>
            </a:r>
            <a:r>
              <a:rPr sz="1800" spc="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name</a:t>
            </a:r>
            <a:r>
              <a:rPr sz="1800" spc="8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and 	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name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inside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0" dirty="0">
                <a:latin typeface="Calisto MT"/>
                <a:cs typeface="Calisto MT"/>
              </a:rPr>
              <a:t> &lt;</a:t>
            </a:r>
            <a:r>
              <a:rPr sz="1800" spc="-10" dirty="0">
                <a:latin typeface="Courier New"/>
                <a:cs typeface="Courier New"/>
              </a:rPr>
              <a:t>filter-</a:t>
            </a:r>
            <a:r>
              <a:rPr sz="1800" dirty="0">
                <a:latin typeface="Courier New"/>
                <a:cs typeface="Courier New"/>
              </a:rPr>
              <a:t>mapping&gt;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element.</a:t>
            </a:r>
            <a:endParaRPr sz="1800">
              <a:latin typeface="Calisto MT"/>
              <a:cs typeface="Calisto MT"/>
            </a:endParaRPr>
          </a:p>
          <a:p>
            <a:pPr marL="193675" marR="6350" indent="-181610" algn="just">
              <a:lnSpc>
                <a:spcPct val="90000"/>
              </a:lnSpc>
              <a:spcBef>
                <a:spcPts val="1450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35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request</a:t>
            </a:r>
            <a:r>
              <a:rPr sz="1800" spc="30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35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response</a:t>
            </a:r>
            <a:r>
              <a:rPr sz="1800" spc="35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25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35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from</a:t>
            </a:r>
            <a:r>
              <a:rPr sz="1800" spc="40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30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30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35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manipulated</a:t>
            </a:r>
            <a:r>
              <a:rPr sz="1800" spc="35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by</a:t>
            </a:r>
            <a:r>
              <a:rPr sz="1800" spc="35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35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filter.</a:t>
            </a:r>
            <a:r>
              <a:rPr sz="1800" spc="35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25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wrapper</a:t>
            </a:r>
            <a:r>
              <a:rPr sz="1800" spc="35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object</a:t>
            </a:r>
            <a:r>
              <a:rPr sz="1800" spc="30" dirty="0">
                <a:latin typeface="Calisto MT"/>
                <a:cs typeface="Calisto MT"/>
              </a:rPr>
              <a:t>  </a:t>
            </a:r>
            <a:r>
              <a:rPr sz="1800" spc="-25" dirty="0">
                <a:latin typeface="Calisto MT"/>
                <a:cs typeface="Calisto MT"/>
              </a:rPr>
              <a:t>of 	</a:t>
            </a:r>
            <a:r>
              <a:rPr sz="1800" dirty="0">
                <a:latin typeface="Courier New"/>
                <a:cs typeface="Courier New"/>
              </a:rPr>
              <a:t>RequestWrapper</a:t>
            </a:r>
            <a:r>
              <a:rPr sz="1800" spc="-235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or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ourier New"/>
                <a:cs typeface="Courier New"/>
              </a:rPr>
              <a:t>ResponseWrapper</a:t>
            </a:r>
            <a:r>
              <a:rPr sz="1800" spc="-245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classes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created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by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1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filter</a:t>
            </a:r>
            <a:r>
              <a:rPr sz="1800" spc="1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intercepts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request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or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response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and 	</a:t>
            </a:r>
            <a:r>
              <a:rPr sz="1800" dirty="0">
                <a:latin typeface="Calisto MT"/>
                <a:cs typeface="Calisto MT"/>
              </a:rPr>
              <a:t>sends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it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 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filter.</a:t>
            </a:r>
            <a:endParaRPr sz="1800">
              <a:latin typeface="Calisto MT"/>
              <a:cs typeface="Calisto MT"/>
            </a:endParaRPr>
          </a:p>
          <a:p>
            <a:pPr marL="194310" marR="5715" indent="-182245" algn="just">
              <a:lnSpc>
                <a:spcPts val="1939"/>
              </a:lnSpc>
              <a:spcBef>
                <a:spcPts val="143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Annotation</a:t>
            </a:r>
            <a:r>
              <a:rPr sz="1800" spc="3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can</a:t>
            </a:r>
            <a:r>
              <a:rPr sz="1800" spc="3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</a:t>
            </a:r>
            <a:r>
              <a:rPr sz="1800" spc="3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defined</a:t>
            </a:r>
            <a:r>
              <a:rPr sz="1800" spc="3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</a:t>
            </a:r>
            <a:r>
              <a:rPr sz="1800" spc="3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metadata</a:t>
            </a:r>
            <a:r>
              <a:rPr sz="1800" spc="3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information</a:t>
            </a:r>
            <a:r>
              <a:rPr sz="1800" spc="3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that</a:t>
            </a:r>
            <a:r>
              <a:rPr sz="1800" spc="3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can</a:t>
            </a:r>
            <a:r>
              <a:rPr sz="1800" spc="3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</a:t>
            </a:r>
            <a:r>
              <a:rPr sz="1800" spc="3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attached</a:t>
            </a:r>
            <a:r>
              <a:rPr sz="1800" spc="3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3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</a:t>
            </a:r>
            <a:r>
              <a:rPr sz="1800" spc="3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element</a:t>
            </a:r>
            <a:r>
              <a:rPr sz="1800" spc="3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within</a:t>
            </a:r>
            <a:r>
              <a:rPr sz="1800" spc="3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3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code</a:t>
            </a:r>
            <a:r>
              <a:rPr sz="1800" spc="34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to </a:t>
            </a:r>
            <a:r>
              <a:rPr sz="1800" dirty="0">
                <a:latin typeface="Calisto MT"/>
                <a:cs typeface="Calisto MT"/>
              </a:rPr>
              <a:t>characterize</a:t>
            </a:r>
            <a:r>
              <a:rPr sz="1800" spc="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it.</a:t>
            </a:r>
            <a:r>
              <a:rPr sz="1800" spc="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Annotation</a:t>
            </a:r>
            <a:r>
              <a:rPr sz="1800" spc="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can</a:t>
            </a:r>
            <a:r>
              <a:rPr sz="1800" spc="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</a:t>
            </a:r>
            <a:r>
              <a:rPr sz="1800" spc="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added</a:t>
            </a:r>
            <a:r>
              <a:rPr sz="1800" spc="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program</a:t>
            </a:r>
            <a:r>
              <a:rPr sz="1800" spc="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elements</a:t>
            </a:r>
            <a:r>
              <a:rPr sz="1800" spc="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such</a:t>
            </a:r>
            <a:r>
              <a:rPr sz="1800" spc="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</a:t>
            </a:r>
            <a:r>
              <a:rPr sz="1800" spc="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classes,</a:t>
            </a:r>
            <a:r>
              <a:rPr sz="1800" spc="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methods,</a:t>
            </a:r>
            <a:r>
              <a:rPr sz="1800" spc="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fields,</a:t>
            </a:r>
            <a:r>
              <a:rPr sz="1800" spc="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parameters,</a:t>
            </a:r>
            <a:r>
              <a:rPr sz="1800" spc="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local variables,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packages.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Summary</a:t>
            </a:r>
            <a:r>
              <a:rPr spc="20" dirty="0"/>
              <a:t> </a:t>
            </a:r>
            <a:r>
              <a:rPr spc="-10" dirty="0"/>
              <a:t>[2-</a:t>
            </a:r>
            <a:r>
              <a:rPr spc="-25" dirty="0"/>
              <a:t>2]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11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618" y="898894"/>
            <a:ext cx="11132820" cy="232092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93675" marR="5080" indent="-181610">
              <a:lnSpc>
                <a:spcPts val="1989"/>
              </a:lnSpc>
              <a:spcBef>
                <a:spcPts val="305"/>
              </a:spcBef>
              <a:buSzPct val="80555"/>
              <a:buFont typeface="Corbel"/>
              <a:buChar char="•"/>
              <a:tabLst>
                <a:tab pos="194945" algn="l"/>
                <a:tab pos="711835" algn="l"/>
                <a:tab pos="5332730" algn="l"/>
                <a:tab pos="6278880" algn="l"/>
                <a:tab pos="6527165" algn="l"/>
                <a:tab pos="7406640" algn="l"/>
                <a:tab pos="7756525" algn="l"/>
                <a:tab pos="9084310" algn="l"/>
                <a:tab pos="10030460" algn="l"/>
                <a:tab pos="10756265" algn="l"/>
              </a:tabLst>
            </a:pPr>
            <a:r>
              <a:rPr sz="1800" spc="-25" dirty="0">
                <a:latin typeface="Calisto MT"/>
                <a:cs typeface="Calisto MT"/>
              </a:rPr>
              <a:t>The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dirty="0">
                <a:latin typeface="Courier New"/>
                <a:cs typeface="Courier New"/>
              </a:rPr>
              <a:t>jakarta.servlet.annotation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package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10" dirty="0">
                <a:latin typeface="Calisto MT"/>
                <a:cs typeface="Calisto MT"/>
              </a:rPr>
              <a:t>contains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50" dirty="0">
                <a:latin typeface="Calisto MT"/>
                <a:cs typeface="Calisto MT"/>
              </a:rPr>
              <a:t>a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10" dirty="0">
                <a:latin typeface="Calisto MT"/>
                <a:cs typeface="Calisto MT"/>
              </a:rPr>
              <a:t>number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25" dirty="0">
                <a:latin typeface="Calisto MT"/>
                <a:cs typeface="Calisto MT"/>
              </a:rPr>
              <a:t>of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10" dirty="0">
                <a:latin typeface="Calisto MT"/>
                <a:cs typeface="Calisto MT"/>
              </a:rPr>
              <a:t>annotations,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10" dirty="0">
                <a:latin typeface="Calisto MT"/>
                <a:cs typeface="Calisto MT"/>
              </a:rPr>
              <a:t>Servlets,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10" dirty="0">
                <a:latin typeface="Calisto MT"/>
                <a:cs typeface="Calisto MT"/>
              </a:rPr>
              <a:t>filters,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25" dirty="0">
                <a:latin typeface="Calisto MT"/>
                <a:cs typeface="Calisto MT"/>
              </a:rPr>
              <a:t>and 	</a:t>
            </a:r>
            <a:r>
              <a:rPr sz="1800" spc="-10" dirty="0">
                <a:latin typeface="Calisto MT"/>
                <a:cs typeface="Calisto MT"/>
              </a:rPr>
              <a:t>listeners.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Apart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from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this,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API also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supports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several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dependency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injection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annotations.</a:t>
            </a:r>
            <a:endParaRPr sz="1800">
              <a:latin typeface="Calisto MT"/>
              <a:cs typeface="Calisto MT"/>
            </a:endParaRPr>
          </a:p>
          <a:p>
            <a:pPr marL="194310" marR="6350" indent="-182245">
              <a:lnSpc>
                <a:spcPts val="1939"/>
              </a:lnSpc>
              <a:spcBef>
                <a:spcPts val="140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file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can</a:t>
            </a:r>
            <a:r>
              <a:rPr sz="1800" spc="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</a:t>
            </a:r>
            <a:r>
              <a:rPr sz="1800" spc="8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uploaded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server</a:t>
            </a:r>
            <a:r>
              <a:rPr sz="1800" spc="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following</a:t>
            </a:r>
            <a:r>
              <a:rPr sz="1800" spc="8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two</a:t>
            </a:r>
            <a:r>
              <a:rPr sz="1800" spc="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ways</a:t>
            </a:r>
            <a:r>
              <a:rPr sz="1800" spc="7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namely,</a:t>
            </a:r>
            <a:r>
              <a:rPr sz="1800" spc="6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Client-</a:t>
            </a:r>
            <a:r>
              <a:rPr sz="1800" dirty="0">
                <a:latin typeface="Calisto MT"/>
                <a:cs typeface="Calisto MT"/>
              </a:rPr>
              <a:t>side</a:t>
            </a:r>
            <a:r>
              <a:rPr sz="1800" spc="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file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upload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6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Server-</a:t>
            </a:r>
            <a:r>
              <a:rPr sz="1800" spc="-20" dirty="0">
                <a:latin typeface="Calisto MT"/>
                <a:cs typeface="Calisto MT"/>
              </a:rPr>
              <a:t>side </a:t>
            </a:r>
            <a:r>
              <a:rPr sz="1800" dirty="0">
                <a:latin typeface="Calisto MT"/>
                <a:cs typeface="Calisto MT"/>
              </a:rPr>
              <a:t>file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upload.</a:t>
            </a:r>
            <a:endParaRPr sz="1800">
              <a:latin typeface="Calisto MT"/>
              <a:cs typeface="Calisto MT"/>
            </a:endParaRPr>
          </a:p>
          <a:p>
            <a:pPr marL="194310" marR="6350" indent="-181610">
              <a:lnSpc>
                <a:spcPts val="2000"/>
              </a:lnSpc>
              <a:spcBef>
                <a:spcPts val="130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46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jakarta.servlet.annotation.MultipartConfig</a:t>
            </a:r>
            <a:r>
              <a:rPr sz="1800" spc="20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annotation</a:t>
            </a:r>
            <a:r>
              <a:rPr sz="1800" spc="459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4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specified</a:t>
            </a:r>
            <a:r>
              <a:rPr sz="1800" spc="459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</a:t>
            </a:r>
            <a:r>
              <a:rPr sz="1800" spc="4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4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4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class</a:t>
            </a:r>
            <a:r>
              <a:rPr sz="1800" spc="46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to 	</a:t>
            </a:r>
            <a:r>
              <a:rPr sz="1800" dirty="0">
                <a:latin typeface="Calisto MT"/>
                <a:cs typeface="Calisto MT"/>
              </a:rPr>
              <a:t>provide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information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server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while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uploading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its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content.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4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Server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Push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allows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server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push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Website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resources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client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pre-emptively.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586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Algerian</vt:lpstr>
      <vt:lpstr>Arial Black</vt:lpstr>
      <vt:lpstr>Arial Rounded MT Bold</vt:lpstr>
      <vt:lpstr>Calibri</vt:lpstr>
      <vt:lpstr>Calisto MT</vt:lpstr>
      <vt:lpstr>Corbel</vt:lpstr>
      <vt:lpstr>Courier New</vt:lpstr>
      <vt:lpstr>Times New Roman</vt:lpstr>
      <vt:lpstr>Office Theme</vt:lpstr>
      <vt:lpstr>Jakarta Server Pages and</vt:lpstr>
      <vt:lpstr>Objectives</vt:lpstr>
      <vt:lpstr>Introduction</vt:lpstr>
      <vt:lpstr>Filter API</vt:lpstr>
      <vt:lpstr>Configuring Filters</vt:lpstr>
      <vt:lpstr>Manipulating Requests and Responses</vt:lpstr>
      <vt:lpstr>Introduction to Annotations</vt:lpstr>
      <vt:lpstr>Uploading Files with Servlet</vt:lpstr>
      <vt:lpstr>Server Push Technology in Servlet 6.0</vt:lpstr>
      <vt:lpstr>Summary [1-2]</vt:lpstr>
      <vt:lpstr>Summary [2-2]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Aptech Limited</dc:creator>
  <cp:lastModifiedBy>Hoang Duc Quang</cp:lastModifiedBy>
  <cp:revision>4</cp:revision>
  <dcterms:created xsi:type="dcterms:W3CDTF">2025-10-19T10:33:49Z</dcterms:created>
  <dcterms:modified xsi:type="dcterms:W3CDTF">2025-10-20T01:22:52Z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2024-07-10T00:00:00Z</vt:filetime>
  </property>
  <property fmtid="{D5CDD505-2E9C-101B-9397-08002B2CF9AE}" pid="3" name="Creator">
    <vt:lpwstr>Acrobat PDFMaker 24 for PowerPoint</vt:lpwstr>
  </property>
  <property fmtid="{D5CDD505-2E9C-101B-9397-08002B2CF9AE}" pid="4" name="EBX_PUBLISHER">
    <vt:lpwstr>Aptech</vt:lpwstr>
  </property>
  <property fmtid="{D5CDD505-2E9C-101B-9397-08002B2CF9AE}" pid="5" name="LastSaved">
    <vt:filetime>2025-10-19T00:00:00Z</vt:filetime>
  </property>
  <property fmtid="{D5CDD505-2E9C-101B-9397-08002B2CF9AE}" pid="6" name="Producer">
    <vt:lpwstr>Adobe PDF Library 24.2.159</vt:lpwstr>
  </property>
</Properties>
</file>