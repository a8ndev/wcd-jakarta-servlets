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72" r:id="rId2"/>
    <p:sldId id="373" r:id="rId3"/>
    <p:sldId id="374" r:id="rId4"/>
    <p:sldId id="375" r:id="rId5"/>
    <p:sldId id="376" r:id="rId6"/>
    <p:sldId id="377" r:id="rId7"/>
    <p:sldId id="378" r:id="rId8"/>
    <p:sldId id="379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4349750" cy="110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25" dirty="0">
                <a:solidFill>
                  <a:srgbClr val="FFC564"/>
                </a:solidFill>
                <a:latin typeface="Algerian"/>
                <a:cs typeface="Algerian"/>
              </a:rPr>
              <a:t>12</a:t>
            </a:r>
            <a:endParaRPr sz="2400">
              <a:latin typeface="Algerian"/>
              <a:cs typeface="Algerian"/>
            </a:endParaRPr>
          </a:p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JSP</a:t>
            </a:r>
            <a:r>
              <a:rPr sz="2400" spc="-2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Expression</a:t>
            </a:r>
            <a:r>
              <a:rPr sz="2400" spc="-3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Language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825" y="759967"/>
            <a:ext cx="7104380" cy="299910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script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expressions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implicit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EL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various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operators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EL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static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library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descriptor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EL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EL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functions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concept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boxing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unboxing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coerce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value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string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number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type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Expression</a:t>
            </a:r>
            <a:r>
              <a:rPr spc="-75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7238" y="954351"/>
            <a:ext cx="2103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Expression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Language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5080" y="1482344"/>
            <a:ext cx="10248900" cy="3864610"/>
            <a:chOff x="1275080" y="1482344"/>
            <a:chExt cx="10248900" cy="38646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7780" y="1495044"/>
              <a:ext cx="10222979" cy="34918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81430" y="1488694"/>
              <a:ext cx="10236200" cy="3851910"/>
            </a:xfrm>
            <a:custGeom>
              <a:avLst/>
              <a:gdLst/>
              <a:ahLst/>
              <a:cxnLst/>
              <a:rect l="l" t="t" r="r" b="b"/>
              <a:pathLst>
                <a:path w="10236200" h="3851910">
                  <a:moveTo>
                    <a:pt x="0" y="0"/>
                  </a:moveTo>
                  <a:lnTo>
                    <a:pt x="10235692" y="0"/>
                  </a:lnTo>
                  <a:lnTo>
                    <a:pt x="10235692" y="3851655"/>
                  </a:lnTo>
                  <a:lnTo>
                    <a:pt x="0" y="385165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</a:t>
            </a:r>
            <a:r>
              <a:rPr spc="-75" dirty="0"/>
              <a:t> </a:t>
            </a:r>
            <a:r>
              <a:rPr dirty="0"/>
              <a:t>Implicit</a:t>
            </a:r>
            <a:r>
              <a:rPr spc="-60" dirty="0"/>
              <a:t> </a:t>
            </a:r>
            <a:r>
              <a:rPr spc="-10" dirty="0"/>
              <a:t>Objects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63852" y="1075944"/>
            <a:ext cx="9153525" cy="612775"/>
            <a:chOff x="1863852" y="1075944"/>
            <a:chExt cx="9153525" cy="612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5480" y="1075944"/>
              <a:ext cx="9081515" cy="611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3852" y="1123188"/>
              <a:ext cx="1860803" cy="565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8152" y="1095755"/>
              <a:ext cx="8996172" cy="52578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967483" y="2247900"/>
            <a:ext cx="9153525" cy="622300"/>
            <a:chOff x="1967483" y="2247900"/>
            <a:chExt cx="9153525" cy="6223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9112" y="2247900"/>
              <a:ext cx="9081515" cy="6217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67483" y="2301240"/>
              <a:ext cx="2270759" cy="5654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81783" y="2267711"/>
              <a:ext cx="8996171" cy="53644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030591" y="1171135"/>
            <a:ext cx="8757285" cy="1974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pageContext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800">
              <a:latin typeface="Courier New"/>
              <a:cs typeface="Courier New"/>
            </a:endParaRPr>
          </a:p>
          <a:p>
            <a:pPr marL="287655">
              <a:lnSpc>
                <a:spcPct val="100000"/>
              </a:lnSpc>
            </a:pP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Provides</a:t>
            </a:r>
            <a:r>
              <a:rPr sz="1800" spc="-4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access</a:t>
            </a:r>
            <a:r>
              <a:rPr sz="1800" spc="-3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to</a:t>
            </a:r>
            <a:r>
              <a:rPr sz="1800" spc="-5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page</a:t>
            </a:r>
            <a:r>
              <a:rPr sz="1800" spc="-5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1D1B11"/>
                </a:solidFill>
                <a:latin typeface="Calisto MT"/>
                <a:cs typeface="Calisto MT"/>
              </a:rPr>
              <a:t>attributes.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800">
              <a:latin typeface="Calisto MT"/>
              <a:cs typeface="Calisto MT"/>
            </a:endParaRPr>
          </a:p>
          <a:p>
            <a:pPr marL="11620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servletContext</a:t>
            </a:r>
            <a:endParaRPr sz="1800">
              <a:latin typeface="Courier New"/>
              <a:cs typeface="Courier New"/>
            </a:endParaRPr>
          </a:p>
          <a:p>
            <a:pPr marL="282575">
              <a:lnSpc>
                <a:spcPct val="100000"/>
              </a:lnSpc>
              <a:spcBef>
                <a:spcPts val="1750"/>
              </a:spcBef>
            </a:pP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Specifies</a:t>
            </a:r>
            <a:r>
              <a:rPr sz="1800" spc="-5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the</a:t>
            </a:r>
            <a:r>
              <a:rPr sz="1800" spc="-3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JSP</a:t>
            </a:r>
            <a:r>
              <a:rPr sz="1800" spc="-3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1D1B11"/>
                </a:solidFill>
                <a:latin typeface="Calisto MT"/>
                <a:cs typeface="Calisto MT"/>
              </a:rPr>
              <a:t>page,</a:t>
            </a:r>
            <a:r>
              <a:rPr sz="1800" spc="-3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servlet,</a:t>
            </a:r>
            <a:r>
              <a:rPr sz="1800" spc="-4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and</a:t>
            </a:r>
            <a:r>
              <a:rPr sz="1800" spc="-3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spc="-40" dirty="0">
                <a:solidFill>
                  <a:srgbClr val="1D1B11"/>
                </a:solidFill>
                <a:latin typeface="Calisto MT"/>
                <a:cs typeface="Calisto MT"/>
              </a:rPr>
              <a:t>Web</a:t>
            </a:r>
            <a:r>
              <a:rPr sz="1800" spc="-3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components</a:t>
            </a:r>
            <a:r>
              <a:rPr sz="1800" spc="-3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contained</a:t>
            </a:r>
            <a:r>
              <a:rPr sz="1800" spc="-4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in</a:t>
            </a:r>
            <a:r>
              <a:rPr sz="1800" spc="-2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the</a:t>
            </a:r>
            <a:r>
              <a:rPr sz="1800" spc="-4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same</a:t>
            </a:r>
            <a:r>
              <a:rPr sz="1800" spc="-2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1D1B11"/>
                </a:solidFill>
                <a:latin typeface="Calisto MT"/>
                <a:cs typeface="Calisto MT"/>
              </a:rPr>
              <a:t>application.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41576" y="3543300"/>
            <a:ext cx="9153525" cy="622300"/>
            <a:chOff x="1941576" y="3543300"/>
            <a:chExt cx="9153525" cy="62230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13204" y="3543300"/>
              <a:ext cx="9081515" cy="6217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41576" y="3596639"/>
              <a:ext cx="1315211" cy="5654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5876" y="3563111"/>
              <a:ext cx="8996172" cy="536448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1915667" y="4738115"/>
            <a:ext cx="9151620" cy="620395"/>
            <a:chOff x="1915667" y="4738115"/>
            <a:chExt cx="9151620" cy="62039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87295" y="4738115"/>
              <a:ext cx="9079991" cy="62026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5667" y="4789932"/>
              <a:ext cx="1315211" cy="56540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29967" y="4757927"/>
              <a:ext cx="8994648" cy="53492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082068" y="3644167"/>
            <a:ext cx="6181090" cy="203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session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800">
              <a:latin typeface="Courier New"/>
              <a:cs typeface="Courier New"/>
            </a:endParaRPr>
          </a:p>
          <a:p>
            <a:pPr marL="205104">
              <a:lnSpc>
                <a:spcPct val="100000"/>
              </a:lnSpc>
            </a:pP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Represents</a:t>
            </a:r>
            <a:r>
              <a:rPr sz="1800" spc="-3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the</a:t>
            </a:r>
            <a:r>
              <a:rPr sz="1800" spc="-6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session</a:t>
            </a:r>
            <a:r>
              <a:rPr sz="1800" spc="-5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created</a:t>
            </a:r>
            <a:r>
              <a:rPr sz="1800" spc="-1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for</a:t>
            </a:r>
            <a:r>
              <a:rPr sz="1800" spc="-2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the</a:t>
            </a:r>
            <a:r>
              <a:rPr sz="1800" spc="-2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client</a:t>
            </a:r>
            <a:r>
              <a:rPr sz="1800" spc="-4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sending</a:t>
            </a:r>
            <a:r>
              <a:rPr sz="1800" spc="-4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a</a:t>
            </a:r>
            <a:r>
              <a:rPr sz="1800" spc="-10" dirty="0">
                <a:solidFill>
                  <a:srgbClr val="1D1B11"/>
                </a:solidFill>
                <a:latin typeface="Calisto MT"/>
                <a:cs typeface="Calisto MT"/>
              </a:rPr>
              <a:t> request.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Calisto MT"/>
              <a:cs typeface="Calisto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request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ourier New"/>
              <a:cs typeface="Courier New"/>
            </a:endParaRPr>
          </a:p>
          <a:p>
            <a:pPr marL="257175">
              <a:lnSpc>
                <a:spcPct val="100000"/>
              </a:lnSpc>
            </a:pP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Represents</a:t>
            </a:r>
            <a:r>
              <a:rPr sz="1800" spc="-4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the</a:t>
            </a:r>
            <a:r>
              <a:rPr sz="1800" spc="-6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request</a:t>
            </a:r>
            <a:r>
              <a:rPr sz="1800" spc="-4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accepted</a:t>
            </a:r>
            <a:r>
              <a:rPr sz="1800" spc="-2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by</a:t>
            </a:r>
            <a:r>
              <a:rPr sz="1800" spc="-3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the</a:t>
            </a:r>
            <a:r>
              <a:rPr sz="1800" spc="-3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JSP</a:t>
            </a:r>
            <a:r>
              <a:rPr sz="1800" spc="-4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page</a:t>
            </a:r>
            <a:r>
              <a:rPr sz="1800" spc="-3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1D1B11"/>
                </a:solidFill>
                <a:latin typeface="Calisto MT"/>
                <a:cs typeface="Calisto MT"/>
              </a:rPr>
              <a:t>from</a:t>
            </a:r>
            <a:r>
              <a:rPr sz="1800" spc="-1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1D1B11"/>
                </a:solidFill>
                <a:latin typeface="Calisto MT"/>
                <a:cs typeface="Calisto MT"/>
              </a:rPr>
              <a:t>client.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</a:t>
            </a:r>
            <a:r>
              <a:rPr spc="-40" dirty="0"/>
              <a:t> </a:t>
            </a:r>
            <a:r>
              <a:rPr spc="-10" dirty="0"/>
              <a:t>Operators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54252" y="1117091"/>
            <a:ext cx="9703435" cy="5741035"/>
            <a:chOff x="1254252" y="1117091"/>
            <a:chExt cx="9703435" cy="57410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4252" y="5737859"/>
              <a:ext cx="9703307" cy="11201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9047" y="1124254"/>
              <a:ext cx="9653905" cy="1152525"/>
            </a:xfrm>
            <a:custGeom>
              <a:avLst/>
              <a:gdLst/>
              <a:ahLst/>
              <a:cxnLst/>
              <a:rect l="l" t="t" r="r" b="b"/>
              <a:pathLst>
                <a:path w="9653905" h="1152525">
                  <a:moveTo>
                    <a:pt x="9653905" y="0"/>
                  </a:moveTo>
                  <a:lnTo>
                    <a:pt x="2694114" y="0"/>
                  </a:lnTo>
                  <a:lnTo>
                    <a:pt x="0" y="0"/>
                  </a:lnTo>
                  <a:lnTo>
                    <a:pt x="0" y="576186"/>
                  </a:lnTo>
                  <a:lnTo>
                    <a:pt x="0" y="1152372"/>
                  </a:lnTo>
                  <a:lnTo>
                    <a:pt x="2694114" y="1152372"/>
                  </a:lnTo>
                  <a:lnTo>
                    <a:pt x="2694114" y="576186"/>
                  </a:lnTo>
                  <a:lnTo>
                    <a:pt x="9653905" y="576186"/>
                  </a:lnTo>
                  <a:lnTo>
                    <a:pt x="9653905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63162" y="1700441"/>
              <a:ext cx="6960234" cy="576580"/>
            </a:xfrm>
            <a:custGeom>
              <a:avLst/>
              <a:gdLst/>
              <a:ahLst/>
              <a:cxnLst/>
              <a:rect l="l" t="t" r="r" b="b"/>
              <a:pathLst>
                <a:path w="6960234" h="576580">
                  <a:moveTo>
                    <a:pt x="6959790" y="0"/>
                  </a:moveTo>
                  <a:lnTo>
                    <a:pt x="0" y="0"/>
                  </a:lnTo>
                  <a:lnTo>
                    <a:pt x="0" y="576186"/>
                  </a:lnTo>
                  <a:lnTo>
                    <a:pt x="6959790" y="576186"/>
                  </a:lnTo>
                  <a:lnTo>
                    <a:pt x="6959790" y="0"/>
                  </a:lnTo>
                  <a:close/>
                </a:path>
              </a:pathLst>
            </a:custGeom>
            <a:solidFill>
              <a:srgbClr val="CFD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69047" y="2276627"/>
              <a:ext cx="2694305" cy="576580"/>
            </a:xfrm>
            <a:custGeom>
              <a:avLst/>
              <a:gdLst/>
              <a:ahLst/>
              <a:cxnLst/>
              <a:rect l="l" t="t" r="r" b="b"/>
              <a:pathLst>
                <a:path w="2694304" h="576580">
                  <a:moveTo>
                    <a:pt x="2694114" y="0"/>
                  </a:moveTo>
                  <a:lnTo>
                    <a:pt x="0" y="0"/>
                  </a:lnTo>
                  <a:lnTo>
                    <a:pt x="0" y="576186"/>
                  </a:lnTo>
                  <a:lnTo>
                    <a:pt x="2694114" y="576186"/>
                  </a:lnTo>
                  <a:lnTo>
                    <a:pt x="2694114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63162" y="2276627"/>
              <a:ext cx="6960234" cy="576580"/>
            </a:xfrm>
            <a:custGeom>
              <a:avLst/>
              <a:gdLst/>
              <a:ahLst/>
              <a:cxnLst/>
              <a:rect l="l" t="t" r="r" b="b"/>
              <a:pathLst>
                <a:path w="6960234" h="576580">
                  <a:moveTo>
                    <a:pt x="6959790" y="0"/>
                  </a:moveTo>
                  <a:lnTo>
                    <a:pt x="0" y="0"/>
                  </a:lnTo>
                  <a:lnTo>
                    <a:pt x="0" y="576186"/>
                  </a:lnTo>
                  <a:lnTo>
                    <a:pt x="6959790" y="576186"/>
                  </a:lnTo>
                  <a:lnTo>
                    <a:pt x="6959790" y="0"/>
                  </a:lnTo>
                  <a:close/>
                </a:path>
              </a:pathLst>
            </a:custGeom>
            <a:solidFill>
              <a:srgbClr val="E8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69047" y="2852813"/>
              <a:ext cx="2694305" cy="576580"/>
            </a:xfrm>
            <a:custGeom>
              <a:avLst/>
              <a:gdLst/>
              <a:ahLst/>
              <a:cxnLst/>
              <a:rect l="l" t="t" r="r" b="b"/>
              <a:pathLst>
                <a:path w="2694304" h="576579">
                  <a:moveTo>
                    <a:pt x="2694114" y="0"/>
                  </a:moveTo>
                  <a:lnTo>
                    <a:pt x="0" y="0"/>
                  </a:lnTo>
                  <a:lnTo>
                    <a:pt x="0" y="576186"/>
                  </a:lnTo>
                  <a:lnTo>
                    <a:pt x="2694114" y="576186"/>
                  </a:lnTo>
                  <a:lnTo>
                    <a:pt x="2694114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63162" y="2852813"/>
              <a:ext cx="6960234" cy="576580"/>
            </a:xfrm>
            <a:custGeom>
              <a:avLst/>
              <a:gdLst/>
              <a:ahLst/>
              <a:cxnLst/>
              <a:rect l="l" t="t" r="r" b="b"/>
              <a:pathLst>
                <a:path w="6960234" h="576579">
                  <a:moveTo>
                    <a:pt x="6959790" y="0"/>
                  </a:moveTo>
                  <a:lnTo>
                    <a:pt x="0" y="0"/>
                  </a:lnTo>
                  <a:lnTo>
                    <a:pt x="0" y="576186"/>
                  </a:lnTo>
                  <a:lnTo>
                    <a:pt x="6959790" y="576186"/>
                  </a:lnTo>
                  <a:lnTo>
                    <a:pt x="6959790" y="0"/>
                  </a:lnTo>
                  <a:close/>
                </a:path>
              </a:pathLst>
            </a:custGeom>
            <a:solidFill>
              <a:srgbClr val="CFD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69047" y="3428999"/>
              <a:ext cx="2694305" cy="576580"/>
            </a:xfrm>
            <a:custGeom>
              <a:avLst/>
              <a:gdLst/>
              <a:ahLst/>
              <a:cxnLst/>
              <a:rect l="l" t="t" r="r" b="b"/>
              <a:pathLst>
                <a:path w="2694304" h="576579">
                  <a:moveTo>
                    <a:pt x="2694114" y="0"/>
                  </a:moveTo>
                  <a:lnTo>
                    <a:pt x="0" y="0"/>
                  </a:lnTo>
                  <a:lnTo>
                    <a:pt x="0" y="576186"/>
                  </a:lnTo>
                  <a:lnTo>
                    <a:pt x="2694114" y="576186"/>
                  </a:lnTo>
                  <a:lnTo>
                    <a:pt x="2694114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63162" y="3428999"/>
              <a:ext cx="6960234" cy="576580"/>
            </a:xfrm>
            <a:custGeom>
              <a:avLst/>
              <a:gdLst/>
              <a:ahLst/>
              <a:cxnLst/>
              <a:rect l="l" t="t" r="r" b="b"/>
              <a:pathLst>
                <a:path w="6960234" h="576579">
                  <a:moveTo>
                    <a:pt x="6959790" y="0"/>
                  </a:moveTo>
                  <a:lnTo>
                    <a:pt x="0" y="0"/>
                  </a:lnTo>
                  <a:lnTo>
                    <a:pt x="0" y="576186"/>
                  </a:lnTo>
                  <a:lnTo>
                    <a:pt x="6959790" y="576186"/>
                  </a:lnTo>
                  <a:lnTo>
                    <a:pt x="6959790" y="0"/>
                  </a:lnTo>
                  <a:close/>
                </a:path>
              </a:pathLst>
            </a:custGeom>
            <a:solidFill>
              <a:srgbClr val="E8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69047" y="4005186"/>
              <a:ext cx="2694305" cy="576580"/>
            </a:xfrm>
            <a:custGeom>
              <a:avLst/>
              <a:gdLst/>
              <a:ahLst/>
              <a:cxnLst/>
              <a:rect l="l" t="t" r="r" b="b"/>
              <a:pathLst>
                <a:path w="2694304" h="576579">
                  <a:moveTo>
                    <a:pt x="2694114" y="0"/>
                  </a:moveTo>
                  <a:lnTo>
                    <a:pt x="0" y="0"/>
                  </a:lnTo>
                  <a:lnTo>
                    <a:pt x="0" y="576186"/>
                  </a:lnTo>
                  <a:lnTo>
                    <a:pt x="2694114" y="576186"/>
                  </a:lnTo>
                  <a:lnTo>
                    <a:pt x="2694114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63162" y="4005186"/>
              <a:ext cx="6960234" cy="576580"/>
            </a:xfrm>
            <a:custGeom>
              <a:avLst/>
              <a:gdLst/>
              <a:ahLst/>
              <a:cxnLst/>
              <a:rect l="l" t="t" r="r" b="b"/>
              <a:pathLst>
                <a:path w="6960234" h="576579">
                  <a:moveTo>
                    <a:pt x="6959790" y="0"/>
                  </a:moveTo>
                  <a:lnTo>
                    <a:pt x="0" y="0"/>
                  </a:lnTo>
                  <a:lnTo>
                    <a:pt x="0" y="576186"/>
                  </a:lnTo>
                  <a:lnTo>
                    <a:pt x="6959790" y="576186"/>
                  </a:lnTo>
                  <a:lnTo>
                    <a:pt x="6959790" y="0"/>
                  </a:lnTo>
                  <a:close/>
                </a:path>
              </a:pathLst>
            </a:custGeom>
            <a:solidFill>
              <a:srgbClr val="CFD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69047" y="4581372"/>
              <a:ext cx="2694305" cy="1152525"/>
            </a:xfrm>
            <a:custGeom>
              <a:avLst/>
              <a:gdLst/>
              <a:ahLst/>
              <a:cxnLst/>
              <a:rect l="l" t="t" r="r" b="b"/>
              <a:pathLst>
                <a:path w="2694304" h="1152525">
                  <a:moveTo>
                    <a:pt x="2694114" y="0"/>
                  </a:moveTo>
                  <a:lnTo>
                    <a:pt x="0" y="0"/>
                  </a:lnTo>
                  <a:lnTo>
                    <a:pt x="0" y="1152372"/>
                  </a:lnTo>
                  <a:lnTo>
                    <a:pt x="2694114" y="1152372"/>
                  </a:lnTo>
                  <a:lnTo>
                    <a:pt x="2694114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63162" y="4581372"/>
              <a:ext cx="6960234" cy="1152525"/>
            </a:xfrm>
            <a:custGeom>
              <a:avLst/>
              <a:gdLst/>
              <a:ahLst/>
              <a:cxnLst/>
              <a:rect l="l" t="t" r="r" b="b"/>
              <a:pathLst>
                <a:path w="6960234" h="1152525">
                  <a:moveTo>
                    <a:pt x="6959790" y="0"/>
                  </a:moveTo>
                  <a:lnTo>
                    <a:pt x="0" y="0"/>
                  </a:lnTo>
                  <a:lnTo>
                    <a:pt x="0" y="1152372"/>
                  </a:lnTo>
                  <a:lnTo>
                    <a:pt x="6959790" y="1152372"/>
                  </a:lnTo>
                  <a:lnTo>
                    <a:pt x="6959790" y="0"/>
                  </a:lnTo>
                  <a:close/>
                </a:path>
              </a:pathLst>
            </a:custGeom>
            <a:solidFill>
              <a:srgbClr val="E8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1872" y="1117091"/>
              <a:ext cx="9688067" cy="463143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153540" y="1253339"/>
            <a:ext cx="9347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Category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5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941566" y="1253339"/>
            <a:ext cx="10140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Operators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7438" y="1829639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Variable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18789" y="1815923"/>
            <a:ext cx="9156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.</a:t>
            </a:r>
            <a:r>
              <a:rPr sz="1800" spc="-62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[]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37209" y="2405939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Arithmetic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18560" y="2392224"/>
            <a:ext cx="5559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+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(binary)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*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/</a:t>
            </a:r>
            <a:r>
              <a:rPr sz="1800" spc="-62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div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%</a:t>
            </a:r>
            <a:r>
              <a:rPr sz="1800" spc="-62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mod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(unary)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36981" y="2982240"/>
            <a:ext cx="1224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Conditional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18332" y="2968524"/>
            <a:ext cx="1022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A </a:t>
            </a:r>
            <a:r>
              <a:rPr sz="1800" dirty="0">
                <a:latin typeface="Courier New"/>
                <a:cs typeface="Courier New"/>
              </a:rPr>
              <a:t>?</a:t>
            </a:r>
            <a:r>
              <a:rPr sz="1800" spc="-62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B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62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alisto MT"/>
                <a:cs typeface="Calisto MT"/>
              </a:rPr>
              <a:t>C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36981" y="3558541"/>
            <a:ext cx="1060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Relational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18332" y="3544825"/>
            <a:ext cx="4375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==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eq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!=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ne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&lt;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lt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&gt;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gt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&lt;=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le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&gt;=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ge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36981" y="4134841"/>
            <a:ext cx="769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Logical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18332" y="4121125"/>
            <a:ext cx="241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and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&amp;&amp;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or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||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not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!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37209" y="4999178"/>
            <a:ext cx="2188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Empty/Null</a:t>
            </a:r>
            <a:r>
              <a:rPr sz="1800" b="1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checking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18560" y="4980890"/>
            <a:ext cx="70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empty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Functions</a:t>
            </a:r>
            <a:r>
              <a:rPr spc="-75" dirty="0"/>
              <a:t> </a:t>
            </a:r>
            <a:r>
              <a:rPr dirty="0"/>
              <a:t>Using</a:t>
            </a:r>
            <a:r>
              <a:rPr spc="-80" dirty="0"/>
              <a:t> </a:t>
            </a:r>
            <a:r>
              <a:rPr spc="-25" dirty="0"/>
              <a:t>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37588" y="1420367"/>
            <a:ext cx="8167370" cy="1045844"/>
            <a:chOff x="2037588" y="1420367"/>
            <a:chExt cx="8167370" cy="104584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7588" y="1772412"/>
              <a:ext cx="8167115" cy="69341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82546" y="1791461"/>
              <a:ext cx="8077200" cy="605155"/>
            </a:xfrm>
            <a:custGeom>
              <a:avLst/>
              <a:gdLst/>
              <a:ahLst/>
              <a:cxnLst/>
              <a:rect l="l" t="t" r="r" b="b"/>
              <a:pathLst>
                <a:path w="8077200" h="605155">
                  <a:moveTo>
                    <a:pt x="8077200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8077200" y="605027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82546" y="1791461"/>
              <a:ext cx="8077200" cy="605155"/>
            </a:xfrm>
            <a:custGeom>
              <a:avLst/>
              <a:gdLst/>
              <a:ahLst/>
              <a:cxnLst/>
              <a:rect l="l" t="t" r="r" b="b"/>
              <a:pathLst>
                <a:path w="8077200" h="605155">
                  <a:moveTo>
                    <a:pt x="0" y="0"/>
                  </a:moveTo>
                  <a:lnTo>
                    <a:pt x="8077200" y="0"/>
                  </a:lnTo>
                  <a:lnTo>
                    <a:pt x="8077200" y="605027"/>
                  </a:lnTo>
                  <a:lnTo>
                    <a:pt x="0" y="605027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2972" y="1420367"/>
              <a:ext cx="5737859" cy="7924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721875" y="1609723"/>
            <a:ext cx="2856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Creating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‘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static'</a:t>
            </a:r>
            <a:r>
              <a:rPr sz="1800" spc="-6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Methods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37588" y="2508504"/>
            <a:ext cx="8167370" cy="1045844"/>
            <a:chOff x="2037588" y="2508504"/>
            <a:chExt cx="8167370" cy="1045844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7588" y="2860548"/>
              <a:ext cx="8167115" cy="69341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82546" y="2879597"/>
              <a:ext cx="8077200" cy="605155"/>
            </a:xfrm>
            <a:custGeom>
              <a:avLst/>
              <a:gdLst/>
              <a:ahLst/>
              <a:cxnLst/>
              <a:rect l="l" t="t" r="r" b="b"/>
              <a:pathLst>
                <a:path w="8077200" h="605154">
                  <a:moveTo>
                    <a:pt x="8077200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8077200" y="605027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82546" y="2879597"/>
              <a:ext cx="8077200" cy="605155"/>
            </a:xfrm>
            <a:custGeom>
              <a:avLst/>
              <a:gdLst/>
              <a:ahLst/>
              <a:cxnLst/>
              <a:rect l="l" t="t" r="r" b="b"/>
              <a:pathLst>
                <a:path w="8077200" h="605154">
                  <a:moveTo>
                    <a:pt x="0" y="0"/>
                  </a:moveTo>
                  <a:lnTo>
                    <a:pt x="8077200" y="0"/>
                  </a:lnTo>
                  <a:lnTo>
                    <a:pt x="8077200" y="605027"/>
                  </a:lnTo>
                  <a:lnTo>
                    <a:pt x="0" y="605027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3EC3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2972" y="2508504"/>
              <a:ext cx="5737859" cy="79247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721875" y="2703888"/>
            <a:ext cx="3147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Creating</a:t>
            </a:r>
            <a:r>
              <a:rPr sz="1800" spc="-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Tag</a:t>
            </a:r>
            <a:r>
              <a:rPr sz="18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Library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Descriptor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37588" y="3596640"/>
            <a:ext cx="8167370" cy="1047115"/>
            <a:chOff x="2037588" y="3596640"/>
            <a:chExt cx="8167370" cy="104711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7588" y="3950208"/>
              <a:ext cx="8167115" cy="69341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82546" y="3969258"/>
              <a:ext cx="8077200" cy="605155"/>
            </a:xfrm>
            <a:custGeom>
              <a:avLst/>
              <a:gdLst/>
              <a:ahLst/>
              <a:cxnLst/>
              <a:rect l="l" t="t" r="r" b="b"/>
              <a:pathLst>
                <a:path w="8077200" h="605154">
                  <a:moveTo>
                    <a:pt x="8077200" y="0"/>
                  </a:moveTo>
                  <a:lnTo>
                    <a:pt x="0" y="0"/>
                  </a:lnTo>
                  <a:lnTo>
                    <a:pt x="0" y="605028"/>
                  </a:lnTo>
                  <a:lnTo>
                    <a:pt x="8077200" y="605028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82546" y="3969258"/>
              <a:ext cx="8077200" cy="605155"/>
            </a:xfrm>
            <a:custGeom>
              <a:avLst/>
              <a:gdLst/>
              <a:ahLst/>
              <a:cxnLst/>
              <a:rect l="l" t="t" r="r" b="b"/>
              <a:pathLst>
                <a:path w="8077200" h="605154">
                  <a:moveTo>
                    <a:pt x="0" y="0"/>
                  </a:moveTo>
                  <a:lnTo>
                    <a:pt x="8077200" y="0"/>
                  </a:lnTo>
                  <a:lnTo>
                    <a:pt x="8077200" y="605028"/>
                  </a:lnTo>
                  <a:lnTo>
                    <a:pt x="0" y="605028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61C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2972" y="3596640"/>
              <a:ext cx="5737859" cy="79247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721875" y="3792527"/>
            <a:ext cx="3392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Modifying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Deployment</a:t>
            </a:r>
            <a:r>
              <a:rPr sz="18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Descriptor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37588" y="4686300"/>
            <a:ext cx="8167370" cy="1045844"/>
            <a:chOff x="2037588" y="4686300"/>
            <a:chExt cx="8167370" cy="1045844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7588" y="5038344"/>
              <a:ext cx="8167115" cy="69341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082546" y="5057393"/>
              <a:ext cx="8077200" cy="605155"/>
            </a:xfrm>
            <a:custGeom>
              <a:avLst/>
              <a:gdLst/>
              <a:ahLst/>
              <a:cxnLst/>
              <a:rect l="l" t="t" r="r" b="b"/>
              <a:pathLst>
                <a:path w="8077200" h="605154">
                  <a:moveTo>
                    <a:pt x="8077200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8077200" y="605027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82546" y="5057393"/>
              <a:ext cx="8077200" cy="605155"/>
            </a:xfrm>
            <a:custGeom>
              <a:avLst/>
              <a:gdLst/>
              <a:ahLst/>
              <a:cxnLst/>
              <a:rect l="l" t="t" r="r" b="b"/>
              <a:pathLst>
                <a:path w="8077200" h="605154">
                  <a:moveTo>
                    <a:pt x="0" y="0"/>
                  </a:moveTo>
                  <a:lnTo>
                    <a:pt x="8077200" y="0"/>
                  </a:lnTo>
                  <a:lnTo>
                    <a:pt x="8077200" y="605027"/>
                  </a:lnTo>
                  <a:lnTo>
                    <a:pt x="0" y="605027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2972" y="4686300"/>
              <a:ext cx="5737859" cy="79247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721875" y="4881167"/>
            <a:ext cx="348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Accessing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EL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Functions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within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JSP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Coercion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39668" y="1453896"/>
            <a:ext cx="5247640" cy="2007235"/>
            <a:chOff x="3439668" y="1453896"/>
            <a:chExt cx="5247640" cy="2007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9668" y="2822447"/>
              <a:ext cx="5247131" cy="6385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4524" y="1453896"/>
              <a:ext cx="2218943" cy="14386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6172" y="1673352"/>
              <a:ext cx="2231135" cy="145237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791897" y="2180045"/>
            <a:ext cx="10179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sto MT"/>
                <a:cs typeface="Calisto MT"/>
              </a:rPr>
              <a:t>Coercion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45435" y="3430523"/>
            <a:ext cx="2461260" cy="1671955"/>
            <a:chOff x="2345435" y="3430523"/>
            <a:chExt cx="2461260" cy="167195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5435" y="3430523"/>
              <a:ext cx="2217419" cy="14386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5559" y="3649979"/>
              <a:ext cx="2231135" cy="145237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61948" y="4024859"/>
            <a:ext cx="1256665" cy="5949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91440" marR="5080" indent="-79375">
              <a:lnSpc>
                <a:spcPts val="2080"/>
              </a:lnSpc>
              <a:spcBef>
                <a:spcPts val="440"/>
              </a:spcBef>
            </a:pPr>
            <a:r>
              <a:rPr sz="2000" dirty="0">
                <a:latin typeface="Calisto MT"/>
                <a:cs typeface="Calisto MT"/>
              </a:rPr>
              <a:t>Boxing</a:t>
            </a:r>
            <a:r>
              <a:rPr sz="2000" spc="-95" dirty="0">
                <a:latin typeface="Calisto MT"/>
                <a:cs typeface="Calisto MT"/>
              </a:rPr>
              <a:t> </a:t>
            </a:r>
            <a:r>
              <a:rPr sz="2000" spc="-25" dirty="0">
                <a:latin typeface="Calisto MT"/>
                <a:cs typeface="Calisto MT"/>
              </a:rPr>
              <a:t>and </a:t>
            </a:r>
            <a:r>
              <a:rPr sz="2000" spc="-10" dirty="0">
                <a:latin typeface="Calisto MT"/>
                <a:cs typeface="Calisto MT"/>
              </a:rPr>
              <a:t>Unboxing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54523" y="3430523"/>
            <a:ext cx="2463165" cy="1671955"/>
            <a:chOff x="4954523" y="3430523"/>
            <a:chExt cx="2463165" cy="167195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4523" y="3430523"/>
              <a:ext cx="2218943" cy="14386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86171" y="3649979"/>
              <a:ext cx="2231135" cy="145237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653181" y="4024859"/>
            <a:ext cx="1294130" cy="5949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25120" marR="5080" indent="-313055">
              <a:lnSpc>
                <a:spcPts val="2080"/>
              </a:lnSpc>
              <a:spcBef>
                <a:spcPts val="440"/>
              </a:spcBef>
            </a:pPr>
            <a:r>
              <a:rPr sz="2000" dirty="0">
                <a:latin typeface="Calisto MT"/>
                <a:cs typeface="Calisto MT"/>
              </a:rPr>
              <a:t>Coercion</a:t>
            </a:r>
            <a:r>
              <a:rPr sz="2000" spc="-70" dirty="0">
                <a:latin typeface="Calisto MT"/>
                <a:cs typeface="Calisto MT"/>
              </a:rPr>
              <a:t> </a:t>
            </a:r>
            <a:r>
              <a:rPr sz="2000" spc="-25" dirty="0">
                <a:latin typeface="Calisto MT"/>
                <a:cs typeface="Calisto MT"/>
              </a:rPr>
              <a:t>to </a:t>
            </a:r>
            <a:r>
              <a:rPr sz="2000" spc="-10" dirty="0">
                <a:latin typeface="Calisto MT"/>
                <a:cs typeface="Calisto MT"/>
              </a:rPr>
              <a:t>String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63611" y="3430523"/>
            <a:ext cx="2463165" cy="1671955"/>
            <a:chOff x="7563611" y="3430523"/>
            <a:chExt cx="2463165" cy="167195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63611" y="3430523"/>
              <a:ext cx="2217419" cy="14386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95260" y="3651503"/>
              <a:ext cx="2231135" cy="145084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262732" y="4024859"/>
            <a:ext cx="1294130" cy="5949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98120" marR="5080" indent="-186055">
              <a:lnSpc>
                <a:spcPts val="2080"/>
              </a:lnSpc>
              <a:spcBef>
                <a:spcPts val="440"/>
              </a:spcBef>
            </a:pPr>
            <a:r>
              <a:rPr sz="2000" dirty="0">
                <a:latin typeface="Calisto MT"/>
                <a:cs typeface="Calisto MT"/>
              </a:rPr>
              <a:t>Coercion</a:t>
            </a:r>
            <a:r>
              <a:rPr sz="2000" spc="-70" dirty="0">
                <a:latin typeface="Calisto MT"/>
                <a:cs typeface="Calisto MT"/>
              </a:rPr>
              <a:t> </a:t>
            </a:r>
            <a:r>
              <a:rPr sz="2000" spc="-25" dirty="0">
                <a:latin typeface="Calisto MT"/>
                <a:cs typeface="Calisto MT"/>
              </a:rPr>
              <a:t>to </a:t>
            </a:r>
            <a:r>
              <a:rPr sz="2000" spc="-10" dirty="0">
                <a:latin typeface="Calisto MT"/>
                <a:cs typeface="Calisto MT"/>
              </a:rPr>
              <a:t>Number</a:t>
            </a:r>
            <a:endParaRPr sz="2000">
              <a:latin typeface="Calisto MT"/>
              <a:cs typeface="Calisto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904990"/>
            <a:ext cx="11061700" cy="549529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4310" marR="168910" indent="-181610">
              <a:lnSpc>
                <a:spcPts val="1939"/>
              </a:lnSpc>
              <a:spcBef>
                <a:spcPts val="34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EL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simple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robust.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both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expressions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literals,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which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constants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assigned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some 	</a:t>
            </a:r>
            <a:r>
              <a:rPr sz="1800" dirty="0">
                <a:latin typeface="Calisto MT"/>
                <a:cs typeface="Calisto MT"/>
              </a:rPr>
              <a:t>memory </a:t>
            </a:r>
            <a:r>
              <a:rPr sz="1800" spc="-10" dirty="0">
                <a:latin typeface="Calisto MT"/>
                <a:cs typeface="Calisto MT"/>
              </a:rPr>
              <a:t>location.</a:t>
            </a:r>
            <a:endParaRPr sz="1800">
              <a:latin typeface="Calisto MT"/>
              <a:cs typeface="Calisto MT"/>
            </a:endParaRPr>
          </a:p>
          <a:p>
            <a:pPr marL="194310" marR="152400" indent="-181610">
              <a:lnSpc>
                <a:spcPts val="1939"/>
              </a:lnSpc>
              <a:spcBef>
                <a:spcPts val="141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EL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great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help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authors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accessing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manipulating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without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mastering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	</a:t>
            </a:r>
            <a:r>
              <a:rPr sz="1800" dirty="0">
                <a:latin typeface="Calisto MT"/>
                <a:cs typeface="Calisto MT"/>
              </a:rPr>
              <a:t>complexities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programming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language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such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JavaScript.</a:t>
            </a:r>
            <a:endParaRPr sz="1800">
              <a:latin typeface="Calisto MT"/>
              <a:cs typeface="Calisto MT"/>
            </a:endParaRPr>
          </a:p>
          <a:p>
            <a:pPr marL="194310" marR="802640" indent="-181610">
              <a:lnSpc>
                <a:spcPts val="1939"/>
              </a:lnSpc>
              <a:spcBef>
                <a:spcPts val="1410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implicit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standard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classes.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instance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implicit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use 	</a:t>
            </a:r>
            <a:r>
              <a:rPr sz="1800" spc="-10" dirty="0">
                <a:latin typeface="Calisto MT"/>
                <a:cs typeface="Calisto MT"/>
              </a:rPr>
              <a:t>available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variables.</a:t>
            </a:r>
            <a:endParaRPr sz="1800">
              <a:latin typeface="Calisto MT"/>
              <a:cs typeface="Calisto MT"/>
            </a:endParaRPr>
          </a:p>
          <a:p>
            <a:pPr marL="193675" marR="239395" indent="-181610">
              <a:lnSpc>
                <a:spcPct val="90000"/>
              </a:lnSpc>
              <a:spcBef>
                <a:spcPts val="1320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Operators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perform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different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arithmetic,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relational,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logical</a:t>
            </a:r>
            <a:r>
              <a:rPr sz="1800" spc="-10" dirty="0">
                <a:latin typeface="Calisto MT"/>
                <a:cs typeface="Calisto MT"/>
              </a:rPr>
              <a:t> operations.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Dot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operator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(</a:t>
            </a:r>
            <a:r>
              <a:rPr sz="1800" dirty="0">
                <a:latin typeface="Courier New"/>
                <a:cs typeface="Courier New"/>
              </a:rPr>
              <a:t>.</a:t>
            </a:r>
            <a:r>
              <a:rPr sz="1800" dirty="0">
                <a:latin typeface="Calisto MT"/>
                <a:cs typeface="Calisto MT"/>
              </a:rPr>
              <a:t>)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[]</a:t>
            </a:r>
            <a:r>
              <a:rPr sz="1800" spc="-625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is 	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value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variable.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Various </a:t>
            </a:r>
            <a:r>
              <a:rPr sz="1800" dirty="0">
                <a:latin typeface="Calisto MT"/>
                <a:cs typeface="Calisto MT"/>
              </a:rPr>
              <a:t>operators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Expression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Language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arithmetic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operators, 	</a:t>
            </a:r>
            <a:r>
              <a:rPr sz="1800" dirty="0">
                <a:latin typeface="Calisto MT"/>
                <a:cs typeface="Calisto MT"/>
              </a:rPr>
              <a:t>relational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operators,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logical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operators,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empty</a:t>
            </a:r>
            <a:r>
              <a:rPr sz="1800" spc="-6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operators,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dot </a:t>
            </a:r>
            <a:r>
              <a:rPr sz="1800" spc="-10" dirty="0">
                <a:latin typeface="Calisto MT"/>
                <a:cs typeface="Calisto MT"/>
              </a:rPr>
              <a:t>operators.</a:t>
            </a:r>
            <a:endParaRPr sz="1800">
              <a:latin typeface="Calisto MT"/>
              <a:cs typeface="Calisto MT"/>
            </a:endParaRPr>
          </a:p>
          <a:p>
            <a:pPr marL="194310" marR="325755" indent="-181610">
              <a:lnSpc>
                <a:spcPts val="1939"/>
              </a:lnSpc>
              <a:spcBef>
                <a:spcPts val="148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Expression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language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static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java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called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within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EL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expression.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75" dirty="0">
                <a:latin typeface="Calisto MT"/>
                <a:cs typeface="Calisto MT"/>
              </a:rPr>
              <a:t>To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function 	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EL,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function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must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implemented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static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function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java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class.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ts val="2020"/>
              </a:lnSpc>
              <a:spcBef>
                <a:spcPts val="116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TLD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XML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syntax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name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functions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defined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class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EL.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Setting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value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</a:t>
            </a:r>
            <a:endParaRPr sz="1800">
              <a:latin typeface="Calisto MT"/>
              <a:cs typeface="Calisto MT"/>
            </a:endParaRPr>
          </a:p>
          <a:p>
            <a:pPr marL="195580">
              <a:lnSpc>
                <a:spcPts val="2020"/>
              </a:lnSpc>
            </a:pPr>
            <a:r>
              <a:rPr sz="1800" spc="-10" dirty="0">
                <a:latin typeface="Courier New"/>
                <a:cs typeface="Courier New"/>
              </a:rPr>
              <a:t>&lt;el-</a:t>
            </a:r>
            <a:r>
              <a:rPr sz="1800" dirty="0">
                <a:latin typeface="Courier New"/>
                <a:cs typeface="Courier New"/>
              </a:rPr>
              <a:t>ignored&gt;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element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deployment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descriptor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10" dirty="0">
                <a:latin typeface="Calisto MT"/>
                <a:cs typeface="Calisto MT"/>
              </a:rPr>
              <a:t> explicitly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change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default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mode.</a:t>
            </a:r>
            <a:endParaRPr sz="1800">
              <a:latin typeface="Calisto MT"/>
              <a:cs typeface="Calisto MT"/>
            </a:endParaRPr>
          </a:p>
          <a:p>
            <a:pPr marL="194310" marR="248920" indent="-181610">
              <a:lnSpc>
                <a:spcPts val="1900"/>
              </a:lnSpc>
              <a:spcBef>
                <a:spcPts val="151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accessing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function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created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TLD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possible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importing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TLD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using 	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taglib</a:t>
            </a:r>
            <a:r>
              <a:rPr sz="1800" spc="-6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directive.</a:t>
            </a:r>
            <a:endParaRPr sz="1800">
              <a:latin typeface="Calisto MT"/>
              <a:cs typeface="Calisto MT"/>
            </a:endParaRPr>
          </a:p>
          <a:p>
            <a:pPr marL="194310" marR="823594" indent="-181610">
              <a:lnSpc>
                <a:spcPts val="1939"/>
              </a:lnSpc>
              <a:spcBef>
                <a:spcPts val="1460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Coercion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means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parameters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converted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appropriate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primitives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automatically. 	</a:t>
            </a:r>
            <a:r>
              <a:rPr sz="1800" dirty="0">
                <a:latin typeface="Calisto MT"/>
                <a:cs typeface="Calisto MT"/>
              </a:rPr>
              <a:t>Coercion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implicit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type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conversion.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514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Arial Black</vt:lpstr>
      <vt:lpstr>Arial Rounded MT Bold</vt:lpstr>
      <vt:lpstr>Calibri</vt:lpstr>
      <vt:lpstr>Calisto MT</vt:lpstr>
      <vt:lpstr>Corbel</vt:lpstr>
      <vt:lpstr>Courier New</vt:lpstr>
      <vt:lpstr>Office Theme</vt:lpstr>
      <vt:lpstr>Jakarta Server Pages and</vt:lpstr>
      <vt:lpstr>Objectives</vt:lpstr>
      <vt:lpstr>Expression Language</vt:lpstr>
      <vt:lpstr>EL Implicit Objects</vt:lpstr>
      <vt:lpstr>EL Operators</vt:lpstr>
      <vt:lpstr>Functions Using EL</vt:lpstr>
      <vt:lpstr>Coercion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9</cp:revision>
  <dcterms:created xsi:type="dcterms:W3CDTF">2025-10-19T10:33:49Z</dcterms:created>
  <dcterms:modified xsi:type="dcterms:W3CDTF">2025-10-20T01:26:01Z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