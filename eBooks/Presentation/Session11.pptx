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65" r:id="rId2"/>
    <p:sldId id="366" r:id="rId3"/>
    <p:sldId id="367" r:id="rId4"/>
    <p:sldId id="368" r:id="rId5"/>
    <p:sldId id="369" r:id="rId6"/>
    <p:sldId id="370" r:id="rId7"/>
    <p:sldId id="371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87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907" y="79546"/>
            <a:ext cx="5808980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180291" y="1592148"/>
            <a:ext cx="2744470" cy="3464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492240"/>
            <a:ext cx="12179820" cy="36576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907" y="33827"/>
            <a:ext cx="12010184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0712" y="1300308"/>
            <a:ext cx="6851650" cy="4247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474575" y="6635253"/>
            <a:ext cx="1028700" cy="161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19714" y="6613906"/>
            <a:ext cx="330833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572" y="0"/>
            <a:ext cx="12187555" cy="6858000"/>
            <a:chOff x="4572" y="0"/>
            <a:chExt cx="12187555" cy="6858000"/>
          </a:xfrm>
        </p:grpSpPr>
        <p:sp>
          <p:nvSpPr>
            <p:cNvPr id="4" name="object 4"/>
            <p:cNvSpPr/>
            <p:nvPr/>
          </p:nvSpPr>
          <p:spPr>
            <a:xfrm>
              <a:off x="126492" y="2930651"/>
              <a:ext cx="11963400" cy="3736975"/>
            </a:xfrm>
            <a:custGeom>
              <a:avLst/>
              <a:gdLst/>
              <a:ahLst/>
              <a:cxnLst/>
              <a:rect l="l" t="t" r="r" b="b"/>
              <a:pathLst>
                <a:path w="11963400" h="3736975">
                  <a:moveTo>
                    <a:pt x="11963400" y="0"/>
                  </a:moveTo>
                  <a:lnTo>
                    <a:pt x="0" y="0"/>
                  </a:lnTo>
                  <a:lnTo>
                    <a:pt x="0" y="3736848"/>
                  </a:lnTo>
                  <a:lnTo>
                    <a:pt x="11963400" y="3736848"/>
                  </a:lnTo>
                  <a:lnTo>
                    <a:pt x="11963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" y="0"/>
              <a:ext cx="12187427" cy="68579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66827" y="2222496"/>
            <a:ext cx="69913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Arial Rounded MT Bold"/>
                <a:cs typeface="Arial Rounded MT Bold"/>
              </a:rPr>
              <a:t>Jakarta</a:t>
            </a:r>
            <a:r>
              <a:rPr sz="4400" spc="-190" dirty="0">
                <a:latin typeface="Arial Rounded MT Bold"/>
                <a:cs typeface="Arial Rounded MT Bold"/>
              </a:rPr>
              <a:t> </a:t>
            </a:r>
            <a:r>
              <a:rPr sz="4400" dirty="0">
                <a:latin typeface="Arial Rounded MT Bold"/>
                <a:cs typeface="Arial Rounded MT Bold"/>
              </a:rPr>
              <a:t>Server</a:t>
            </a:r>
            <a:r>
              <a:rPr sz="4400" spc="-204" dirty="0">
                <a:latin typeface="Arial Rounded MT Bold"/>
                <a:cs typeface="Arial Rounded MT Bold"/>
              </a:rPr>
              <a:t> </a:t>
            </a:r>
            <a:r>
              <a:rPr sz="4400" spc="-30" dirty="0">
                <a:latin typeface="Arial Rounded MT Bold"/>
                <a:cs typeface="Arial Rounded MT Bold"/>
              </a:rPr>
              <a:t>Pages</a:t>
            </a:r>
            <a:r>
              <a:rPr sz="4400" spc="-195" dirty="0">
                <a:latin typeface="Arial Rounded MT Bold"/>
                <a:cs typeface="Arial Rounded MT Bold"/>
              </a:rPr>
              <a:t> </a:t>
            </a:r>
            <a:r>
              <a:rPr sz="4400" spc="-25" dirty="0">
                <a:latin typeface="Arial Rounded MT Bold"/>
                <a:cs typeface="Arial Rounded MT Bold"/>
              </a:rPr>
              <a:t>and</a:t>
            </a:r>
            <a:endParaRPr sz="4400">
              <a:latin typeface="Arial Rounded MT Bold"/>
              <a:cs typeface="Arial Rounded MT Bold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050"/>
              </a:lnSpc>
            </a:pPr>
            <a:r>
              <a:rPr spc="-50" dirty="0"/>
              <a:t>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6827" y="2893106"/>
            <a:ext cx="22567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FFFFFF"/>
                </a:solidFill>
                <a:latin typeface="Arial Rounded MT Bold"/>
                <a:cs typeface="Arial Rounded MT Bold"/>
              </a:rPr>
              <a:t>Servlets</a:t>
            </a:r>
            <a:endParaRPr sz="4400">
              <a:latin typeface="Arial Rounded MT Bold"/>
              <a:cs typeface="Arial Rounded MT Bol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4805" y="4517499"/>
            <a:ext cx="3726815" cy="1474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C564"/>
                </a:solidFill>
                <a:latin typeface="Algerian"/>
                <a:cs typeface="Algerian"/>
              </a:rPr>
              <a:t>SESSION:</a:t>
            </a:r>
            <a:r>
              <a:rPr sz="2400" spc="-75" dirty="0">
                <a:solidFill>
                  <a:srgbClr val="FFC564"/>
                </a:solidFill>
                <a:latin typeface="Algerian"/>
                <a:cs typeface="Algerian"/>
              </a:rPr>
              <a:t> </a:t>
            </a:r>
            <a:r>
              <a:rPr sz="2400" spc="-25" dirty="0">
                <a:solidFill>
                  <a:srgbClr val="FFC564"/>
                </a:solidFill>
                <a:latin typeface="Algerian"/>
                <a:cs typeface="Algerian"/>
              </a:rPr>
              <a:t>11</a:t>
            </a:r>
            <a:endParaRPr sz="2400">
              <a:latin typeface="Algerian"/>
              <a:cs typeface="Algerian"/>
            </a:endParaRPr>
          </a:p>
          <a:p>
            <a:pPr marL="12700" marR="5080">
              <a:lnSpc>
                <a:spcPct val="100000"/>
              </a:lnSpc>
              <a:spcBef>
                <a:spcPts val="2770"/>
              </a:spcBef>
            </a:pPr>
            <a:r>
              <a:rPr sz="2400" spc="-10" dirty="0">
                <a:solidFill>
                  <a:srgbClr val="FFC564"/>
                </a:solidFill>
                <a:latin typeface="Arial Black"/>
                <a:cs typeface="Arial Black"/>
              </a:rPr>
              <a:t>Model-</a:t>
            </a: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View-</a:t>
            </a:r>
            <a:r>
              <a:rPr sz="2400" spc="-10" dirty="0">
                <a:solidFill>
                  <a:srgbClr val="FFC564"/>
                </a:solidFill>
                <a:latin typeface="Arial Black"/>
                <a:cs typeface="Arial Black"/>
              </a:rPr>
              <a:t>Controller Architecture</a:t>
            </a:r>
            <a:endParaRPr sz="2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027" y="38586"/>
            <a:ext cx="15709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825" y="759967"/>
            <a:ext cx="7003415" cy="4698365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2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Describe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models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Describe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advantages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disadvantages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6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Model1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Describe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advantages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disadvantages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6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Model2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7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Model-</a:t>
            </a:r>
            <a:r>
              <a:rPr sz="1800" spc="-25" dirty="0">
                <a:latin typeface="Calisto MT"/>
                <a:cs typeface="Calisto MT"/>
              </a:rPr>
              <a:t>View-</a:t>
            </a:r>
            <a:r>
              <a:rPr sz="1800" dirty="0">
                <a:latin typeface="Calisto MT"/>
                <a:cs typeface="Calisto MT"/>
              </a:rPr>
              <a:t>Controller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(MVC)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architecture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relationship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between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components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6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MVC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Controller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its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use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7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View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its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use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Model</a:t>
            </a:r>
            <a:r>
              <a:rPr sz="1800" spc="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its</a:t>
            </a:r>
            <a:r>
              <a:rPr sz="1800" spc="-25" dirty="0">
                <a:latin typeface="Calisto MT"/>
                <a:cs typeface="Calisto MT"/>
              </a:rPr>
              <a:t> use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Identify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how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develop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45" dirty="0">
                <a:latin typeface="Calisto MT"/>
                <a:cs typeface="Calisto MT"/>
              </a:rPr>
              <a:t>Web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based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MVC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architecture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Describe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MVC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CDI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Identify</a:t>
            </a:r>
            <a:r>
              <a:rPr sz="1800" spc="-8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MVC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events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94304" y="1426463"/>
            <a:ext cx="5875019" cy="393191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62967" y="1828577"/>
            <a:ext cx="13379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listo MT"/>
                <a:cs typeface="Calisto MT"/>
              </a:rPr>
              <a:t>JSP</a:t>
            </a:r>
            <a:r>
              <a:rPr sz="2000" b="1" spc="-10" dirty="0">
                <a:latin typeface="Calisto MT"/>
                <a:cs typeface="Calisto MT"/>
              </a:rPr>
              <a:t> Models</a:t>
            </a:r>
            <a:endParaRPr sz="2000">
              <a:latin typeface="Calisto MT"/>
              <a:cs typeface="Calisto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44467" y="2590800"/>
            <a:ext cx="4776215" cy="263499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80534" y="3588639"/>
            <a:ext cx="4103370" cy="53784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 indent="146050">
              <a:lnSpc>
                <a:spcPts val="1870"/>
              </a:lnSpc>
              <a:spcBef>
                <a:spcPts val="4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Address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the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problem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of</a:t>
            </a:r>
            <a:r>
              <a:rPr sz="1800" spc="18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tightly-coupled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presentation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business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logic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in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servlets.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JSP</a:t>
            </a:r>
            <a:r>
              <a:rPr spc="-45" dirty="0"/>
              <a:t> </a:t>
            </a:r>
            <a:r>
              <a:rPr spc="-10" dirty="0"/>
              <a:t>Models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5838" y="2675763"/>
            <a:ext cx="5670550" cy="2250440"/>
            <a:chOff x="235838" y="2675763"/>
            <a:chExt cx="5670550" cy="22504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4897" y="2847434"/>
              <a:ext cx="5167892" cy="206898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40601" y="2680525"/>
              <a:ext cx="5661025" cy="2240915"/>
            </a:xfrm>
            <a:custGeom>
              <a:avLst/>
              <a:gdLst/>
              <a:ahLst/>
              <a:cxnLst/>
              <a:rect l="l" t="t" r="r" b="b"/>
              <a:pathLst>
                <a:path w="5661025" h="2240915">
                  <a:moveTo>
                    <a:pt x="0" y="0"/>
                  </a:moveTo>
                  <a:lnTo>
                    <a:pt x="5660517" y="0"/>
                  </a:lnTo>
                  <a:lnTo>
                    <a:pt x="5660517" y="2240661"/>
                  </a:lnTo>
                  <a:lnTo>
                    <a:pt x="0" y="224066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049213" y="1964715"/>
            <a:ext cx="2042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Model1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Architecture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286119" y="2675763"/>
            <a:ext cx="5670550" cy="2250440"/>
            <a:chOff x="6286119" y="2675763"/>
            <a:chExt cx="5670550" cy="225044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94537" y="2790940"/>
              <a:ext cx="5481461" cy="212548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290881" y="2680525"/>
              <a:ext cx="5661025" cy="2240915"/>
            </a:xfrm>
            <a:custGeom>
              <a:avLst/>
              <a:gdLst/>
              <a:ahLst/>
              <a:cxnLst/>
              <a:rect l="l" t="t" r="r" b="b"/>
              <a:pathLst>
                <a:path w="5661025" h="2240915">
                  <a:moveTo>
                    <a:pt x="0" y="0"/>
                  </a:moveTo>
                  <a:lnTo>
                    <a:pt x="5660517" y="0"/>
                  </a:lnTo>
                  <a:lnTo>
                    <a:pt x="5660517" y="2240661"/>
                  </a:lnTo>
                  <a:lnTo>
                    <a:pt x="0" y="224066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099862" y="1964715"/>
            <a:ext cx="2042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Model2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Architecture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Model-</a:t>
            </a:r>
            <a:r>
              <a:rPr spc="-40" dirty="0"/>
              <a:t>View-</a:t>
            </a:r>
            <a:r>
              <a:rPr dirty="0"/>
              <a:t>Controller</a:t>
            </a:r>
            <a:r>
              <a:rPr spc="-10" dirty="0"/>
              <a:t> (MVC)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65860" y="2353055"/>
            <a:ext cx="5233670" cy="2735580"/>
            <a:chOff x="1165860" y="2353055"/>
            <a:chExt cx="5233670" cy="27355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5860" y="2353055"/>
              <a:ext cx="5233415" cy="273558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2436" y="2389632"/>
              <a:ext cx="5106923" cy="260907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97673" y="2384869"/>
              <a:ext cx="5116830" cy="2618740"/>
            </a:xfrm>
            <a:custGeom>
              <a:avLst/>
              <a:gdLst/>
              <a:ahLst/>
              <a:cxnLst/>
              <a:rect l="l" t="t" r="r" b="b"/>
              <a:pathLst>
                <a:path w="5116830" h="2618740">
                  <a:moveTo>
                    <a:pt x="0" y="0"/>
                  </a:moveTo>
                  <a:lnTo>
                    <a:pt x="5116449" y="0"/>
                  </a:lnTo>
                  <a:lnTo>
                    <a:pt x="5116449" y="2618613"/>
                  </a:lnTo>
                  <a:lnTo>
                    <a:pt x="0" y="2618613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049138" y="1911987"/>
            <a:ext cx="3373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Components</a:t>
            </a:r>
            <a:r>
              <a:rPr sz="1800" spc="-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MVC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Architecture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14227" y="1883869"/>
            <a:ext cx="2064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MVC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Design</a:t>
            </a:r>
            <a:r>
              <a:rPr sz="1800" spc="-7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Pattern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218806" y="2323719"/>
            <a:ext cx="3780790" cy="2684780"/>
            <a:chOff x="7218806" y="2323719"/>
            <a:chExt cx="3780790" cy="268478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60304" y="2435202"/>
              <a:ext cx="3431298" cy="250525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223569" y="2328481"/>
              <a:ext cx="3771265" cy="2675255"/>
            </a:xfrm>
            <a:custGeom>
              <a:avLst/>
              <a:gdLst/>
              <a:ahLst/>
              <a:cxnLst/>
              <a:rect l="l" t="t" r="r" b="b"/>
              <a:pathLst>
                <a:path w="3771265" h="2675254">
                  <a:moveTo>
                    <a:pt x="0" y="0"/>
                  </a:moveTo>
                  <a:lnTo>
                    <a:pt x="3770756" y="0"/>
                  </a:lnTo>
                  <a:lnTo>
                    <a:pt x="3770756" y="2675001"/>
                  </a:lnTo>
                  <a:lnTo>
                    <a:pt x="0" y="267500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Spring</a:t>
            </a:r>
            <a:r>
              <a:rPr spc="-110" dirty="0"/>
              <a:t> </a:t>
            </a:r>
            <a:r>
              <a:rPr dirty="0"/>
              <a:t>MVC</a:t>
            </a:r>
            <a:r>
              <a:rPr spc="-125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9127" y="1603247"/>
            <a:ext cx="6324600" cy="42153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26063" y="1063185"/>
            <a:ext cx="2729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Spring</a:t>
            </a:r>
            <a:r>
              <a:rPr sz="1800" spc="-8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MVC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Flow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Diagram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Summary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1618" y="904990"/>
            <a:ext cx="10893425" cy="419227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25120" marR="5080" indent="-312420">
              <a:lnSpc>
                <a:spcPts val="1939"/>
              </a:lnSpc>
              <a:spcBef>
                <a:spcPts val="345"/>
              </a:spcBef>
              <a:buSzPct val="80555"/>
              <a:buFont typeface="Corbel"/>
              <a:buChar char="•"/>
              <a:tabLst>
                <a:tab pos="32512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specification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presents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two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approaches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developing</a:t>
            </a:r>
            <a:r>
              <a:rPr sz="1800" spc="-45" dirty="0">
                <a:latin typeface="Calisto MT"/>
                <a:cs typeface="Calisto MT"/>
              </a:rPr>
              <a:t> Web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applications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spc="-30" dirty="0">
                <a:latin typeface="Calisto MT"/>
                <a:cs typeface="Calisto MT"/>
              </a:rPr>
              <a:t>namely,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Model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JSP </a:t>
            </a:r>
            <a:r>
              <a:rPr sz="1800" dirty="0">
                <a:latin typeface="Calisto MT"/>
                <a:cs typeface="Calisto MT"/>
              </a:rPr>
              <a:t>Model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II.</a:t>
            </a:r>
            <a:endParaRPr sz="1800">
              <a:latin typeface="Calisto MT"/>
              <a:cs typeface="Calisto MT"/>
            </a:endParaRPr>
          </a:p>
          <a:p>
            <a:pPr marL="324485" indent="-311785">
              <a:lnSpc>
                <a:spcPct val="100000"/>
              </a:lnSpc>
              <a:spcBef>
                <a:spcPts val="1165"/>
              </a:spcBef>
              <a:buSzPct val="80555"/>
              <a:buFont typeface="Corbel"/>
              <a:buChar char="•"/>
              <a:tabLst>
                <a:tab pos="324485" algn="l"/>
              </a:tabLst>
            </a:pP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Model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II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also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known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</a:t>
            </a:r>
            <a:r>
              <a:rPr sz="1800" spc="-20" dirty="0">
                <a:latin typeface="Calisto MT"/>
                <a:cs typeface="Calisto MT"/>
              </a:rPr>
              <a:t> MVC.</a:t>
            </a:r>
            <a:endParaRPr sz="1800">
              <a:latin typeface="Calisto MT"/>
              <a:cs typeface="Calisto MT"/>
            </a:endParaRPr>
          </a:p>
          <a:p>
            <a:pPr marL="324485" indent="-311785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324485" algn="l"/>
              </a:tabLst>
            </a:pPr>
            <a:r>
              <a:rPr sz="1800" dirty="0">
                <a:latin typeface="Calisto MT"/>
                <a:cs typeface="Calisto MT"/>
              </a:rPr>
              <a:t>MVC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software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design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pattern,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which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can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design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medium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large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sized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applications.</a:t>
            </a:r>
            <a:endParaRPr sz="1800">
              <a:latin typeface="Calisto MT"/>
              <a:cs typeface="Calisto MT"/>
            </a:endParaRPr>
          </a:p>
          <a:p>
            <a:pPr marL="324485" indent="-311785">
              <a:lnSpc>
                <a:spcPct val="100000"/>
              </a:lnSpc>
              <a:spcBef>
                <a:spcPts val="1175"/>
              </a:spcBef>
              <a:buSzPct val="80555"/>
              <a:buFont typeface="Corbel"/>
              <a:buChar char="•"/>
              <a:tabLst>
                <a:tab pos="324485" algn="l"/>
              </a:tabLst>
            </a:pPr>
            <a:r>
              <a:rPr sz="1800" dirty="0">
                <a:latin typeface="Calisto MT"/>
                <a:cs typeface="Calisto MT"/>
              </a:rPr>
              <a:t>Three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components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MVC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are: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Model,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60" dirty="0">
                <a:latin typeface="Calisto MT"/>
                <a:cs typeface="Calisto MT"/>
              </a:rPr>
              <a:t>View,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Controller.</a:t>
            </a:r>
            <a:endParaRPr sz="1800">
              <a:latin typeface="Calisto MT"/>
              <a:cs typeface="Calisto MT"/>
            </a:endParaRPr>
          </a:p>
          <a:p>
            <a:pPr marL="324485" indent="-311785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324485" algn="l"/>
              </a:tabLst>
            </a:pP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MVC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Web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application,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acts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controller,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which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receives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request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from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client.</a:t>
            </a:r>
            <a:endParaRPr sz="1800">
              <a:latin typeface="Calisto MT"/>
              <a:cs typeface="Calisto MT"/>
            </a:endParaRPr>
          </a:p>
          <a:p>
            <a:pPr marL="324485" indent="-311785">
              <a:lnSpc>
                <a:spcPct val="100000"/>
              </a:lnSpc>
              <a:spcBef>
                <a:spcPts val="1185"/>
              </a:spcBef>
              <a:buSzPct val="80555"/>
              <a:buFont typeface="Corbel"/>
              <a:buChar char="•"/>
              <a:tabLst>
                <a:tab pos="324485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view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handles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presentation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content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on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Web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page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could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HTML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file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or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JSP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file.</a:t>
            </a:r>
            <a:endParaRPr sz="1800">
              <a:latin typeface="Calisto MT"/>
              <a:cs typeface="Calisto MT"/>
            </a:endParaRPr>
          </a:p>
          <a:p>
            <a:pPr marL="324485" indent="-311785">
              <a:lnSpc>
                <a:spcPct val="100000"/>
              </a:lnSpc>
              <a:spcBef>
                <a:spcPts val="1175"/>
              </a:spcBef>
              <a:buSzPct val="80555"/>
              <a:buFont typeface="Corbel"/>
              <a:buChar char="•"/>
              <a:tabLst>
                <a:tab pos="324485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Model component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contains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business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logics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functions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that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manipulate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business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data.</a:t>
            </a:r>
            <a:endParaRPr sz="1800">
              <a:latin typeface="Calisto MT"/>
              <a:cs typeface="Calisto MT"/>
            </a:endParaRPr>
          </a:p>
          <a:p>
            <a:pPr marL="325120" marR="48895" indent="-312420">
              <a:lnSpc>
                <a:spcPts val="1939"/>
              </a:lnSpc>
              <a:spcBef>
                <a:spcPts val="1435"/>
              </a:spcBef>
              <a:buSzPct val="80555"/>
              <a:buFont typeface="Corbel"/>
              <a:buChar char="•"/>
              <a:tabLst>
                <a:tab pos="32512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Web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container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transfers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control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event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listeners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Jakarta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listen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events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related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Servlets,</a:t>
            </a:r>
            <a:r>
              <a:rPr sz="1800" spc="-75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JSP,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so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on.</a:t>
            </a:r>
            <a:endParaRPr sz="1800">
              <a:latin typeface="Calisto MT"/>
              <a:cs typeface="Calisto MT"/>
            </a:endParaRPr>
          </a:p>
          <a:p>
            <a:pPr marL="324485" indent="-311785">
              <a:lnSpc>
                <a:spcPct val="100000"/>
              </a:lnSpc>
              <a:spcBef>
                <a:spcPts val="1165"/>
              </a:spcBef>
              <a:buSzPct val="80555"/>
              <a:buFont typeface="Corbel"/>
              <a:buChar char="•"/>
              <a:tabLst>
                <a:tab pos="324485" algn="l"/>
              </a:tabLst>
            </a:pPr>
            <a:r>
              <a:rPr sz="1800" dirty="0">
                <a:latin typeface="Calisto MT"/>
                <a:cs typeface="Calisto MT"/>
              </a:rPr>
              <a:t>ActionListener</a:t>
            </a:r>
            <a:r>
              <a:rPr sz="1800" spc="-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example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event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listener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associated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with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GUI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element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such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JButton.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298</Words>
  <Application>Microsoft Office PowerPoint</Application>
  <PresentationFormat>Widescreen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Algerian</vt:lpstr>
      <vt:lpstr>Arial Black</vt:lpstr>
      <vt:lpstr>Arial Rounded MT Bold</vt:lpstr>
      <vt:lpstr>Calibri</vt:lpstr>
      <vt:lpstr>Calisto MT</vt:lpstr>
      <vt:lpstr>Corbel</vt:lpstr>
      <vt:lpstr>Office Theme</vt:lpstr>
      <vt:lpstr>Jakarta Server Pages and</vt:lpstr>
      <vt:lpstr>Objectives</vt:lpstr>
      <vt:lpstr>Introduction</vt:lpstr>
      <vt:lpstr>JSP Models</vt:lpstr>
      <vt:lpstr>Model-View-Controller (MVC)</vt:lpstr>
      <vt:lpstr>Spring MVC Architecture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Aptech Limited</dc:creator>
  <cp:lastModifiedBy>Hoang Duc Quang</cp:lastModifiedBy>
  <cp:revision>8</cp:revision>
  <dcterms:created xsi:type="dcterms:W3CDTF">2025-10-19T10:33:49Z</dcterms:created>
  <dcterms:modified xsi:type="dcterms:W3CDTF">2025-10-20T01:25:28Z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2024-07-10T00:00:00Z</vt:filetime>
  </property>
  <property fmtid="{D5CDD505-2E9C-101B-9397-08002B2CF9AE}" pid="3" name="Creator">
    <vt:lpwstr>Acrobat PDFMaker 24 for PowerPoint</vt:lpwstr>
  </property>
  <property fmtid="{D5CDD505-2E9C-101B-9397-08002B2CF9AE}" pid="4" name="EBX_PUBLISHER">
    <vt:lpwstr>Aptech</vt:lpwstr>
  </property>
  <property fmtid="{D5CDD505-2E9C-101B-9397-08002B2CF9AE}" pid="5" name="LastSaved">
    <vt:filetime>2025-10-19T00:00:00Z</vt:filetime>
  </property>
  <property fmtid="{D5CDD505-2E9C-101B-9397-08002B2CF9AE}" pid="6" name="Producer">
    <vt:lpwstr>Adobe PDF Library 24.2.159</vt:lpwstr>
  </property>
</Properties>
</file>