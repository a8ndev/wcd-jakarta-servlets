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0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87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907" y="79546"/>
            <a:ext cx="5808980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180291" y="1592148"/>
            <a:ext cx="2744470" cy="3464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492240"/>
            <a:ext cx="12179820" cy="36576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907" y="33827"/>
            <a:ext cx="12010184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0712" y="1300308"/>
            <a:ext cx="6851650" cy="4247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474575" y="6635253"/>
            <a:ext cx="1028700" cy="161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19714" y="6613906"/>
            <a:ext cx="330833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572" y="0"/>
            <a:ext cx="12187555" cy="6858000"/>
            <a:chOff x="4572" y="0"/>
            <a:chExt cx="12187555" cy="6858000"/>
          </a:xfrm>
        </p:grpSpPr>
        <p:sp>
          <p:nvSpPr>
            <p:cNvPr id="4" name="object 4"/>
            <p:cNvSpPr/>
            <p:nvPr/>
          </p:nvSpPr>
          <p:spPr>
            <a:xfrm>
              <a:off x="126492" y="2930651"/>
              <a:ext cx="11963400" cy="3736975"/>
            </a:xfrm>
            <a:custGeom>
              <a:avLst/>
              <a:gdLst/>
              <a:ahLst/>
              <a:cxnLst/>
              <a:rect l="l" t="t" r="r" b="b"/>
              <a:pathLst>
                <a:path w="11963400" h="3736975">
                  <a:moveTo>
                    <a:pt x="11963400" y="0"/>
                  </a:moveTo>
                  <a:lnTo>
                    <a:pt x="0" y="0"/>
                  </a:lnTo>
                  <a:lnTo>
                    <a:pt x="0" y="3736848"/>
                  </a:lnTo>
                  <a:lnTo>
                    <a:pt x="11963400" y="3736848"/>
                  </a:lnTo>
                  <a:lnTo>
                    <a:pt x="11963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" y="0"/>
              <a:ext cx="12187427" cy="68579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6827" y="2222496"/>
            <a:ext cx="69913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Arial Rounded MT Bold"/>
                <a:cs typeface="Arial Rounded MT Bold"/>
              </a:rPr>
              <a:t>Jakarta</a:t>
            </a:r>
            <a:r>
              <a:rPr sz="4400" spc="-190" dirty="0">
                <a:latin typeface="Arial Rounded MT Bold"/>
                <a:cs typeface="Arial Rounded MT Bold"/>
              </a:rPr>
              <a:t> </a:t>
            </a:r>
            <a:r>
              <a:rPr sz="4400" dirty="0">
                <a:latin typeface="Arial Rounded MT Bold"/>
                <a:cs typeface="Arial Rounded MT Bold"/>
              </a:rPr>
              <a:t>Server</a:t>
            </a:r>
            <a:r>
              <a:rPr sz="4400" spc="-204" dirty="0">
                <a:latin typeface="Arial Rounded MT Bold"/>
                <a:cs typeface="Arial Rounded MT Bold"/>
              </a:rPr>
              <a:t> </a:t>
            </a:r>
            <a:r>
              <a:rPr sz="4400" spc="-30" dirty="0">
                <a:latin typeface="Arial Rounded MT Bold"/>
                <a:cs typeface="Arial Rounded MT Bold"/>
              </a:rPr>
              <a:t>Pages</a:t>
            </a:r>
            <a:r>
              <a:rPr sz="4400" spc="-195" dirty="0">
                <a:latin typeface="Arial Rounded MT Bold"/>
                <a:cs typeface="Arial Rounded MT Bold"/>
              </a:rPr>
              <a:t> </a:t>
            </a:r>
            <a:r>
              <a:rPr sz="4400" spc="-25" dirty="0">
                <a:latin typeface="Arial Rounded MT Bold"/>
                <a:cs typeface="Arial Rounded MT Bold"/>
              </a:rPr>
              <a:t>and</a:t>
            </a:r>
            <a:endParaRPr sz="4400">
              <a:latin typeface="Arial Rounded MT Bold"/>
              <a:cs typeface="Arial Rounded MT Bol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6827" y="2893106"/>
            <a:ext cx="22567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FFFFFF"/>
                </a:solidFill>
                <a:latin typeface="Arial Rounded MT Bold"/>
                <a:cs typeface="Arial Rounded MT Bold"/>
              </a:rPr>
              <a:t>Servlets</a:t>
            </a:r>
            <a:endParaRPr sz="4400">
              <a:latin typeface="Arial Rounded MT Bold"/>
              <a:cs typeface="Arial Rounded MT Bol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4805" y="4517499"/>
            <a:ext cx="4608830" cy="1474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C564"/>
                </a:solidFill>
                <a:latin typeface="Algerian"/>
                <a:cs typeface="Algerian"/>
              </a:rPr>
              <a:t>SESSION:</a:t>
            </a:r>
            <a:r>
              <a:rPr sz="2400" spc="-75" dirty="0">
                <a:solidFill>
                  <a:srgbClr val="FFC564"/>
                </a:solidFill>
                <a:latin typeface="Algerian"/>
                <a:cs typeface="Algerian"/>
              </a:rPr>
              <a:t> </a:t>
            </a:r>
            <a:r>
              <a:rPr sz="2400" spc="-50" dirty="0">
                <a:solidFill>
                  <a:srgbClr val="FFC564"/>
                </a:solidFill>
                <a:latin typeface="Algerian"/>
                <a:cs typeface="Algerian"/>
              </a:rPr>
              <a:t>3</a:t>
            </a:r>
            <a:endParaRPr sz="2400">
              <a:latin typeface="Algerian"/>
              <a:cs typeface="Algerian"/>
            </a:endParaRPr>
          </a:p>
          <a:p>
            <a:pPr marL="12700" marR="5080">
              <a:lnSpc>
                <a:spcPct val="100000"/>
              </a:lnSpc>
              <a:spcBef>
                <a:spcPts val="2770"/>
              </a:spcBef>
            </a:pP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Developing</a:t>
            </a:r>
            <a:r>
              <a:rPr sz="2400" spc="-80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and</a:t>
            </a:r>
            <a:r>
              <a:rPr sz="2400" spc="-80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Deploying</a:t>
            </a:r>
            <a:r>
              <a:rPr sz="2400" spc="-80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spc="-50" dirty="0">
                <a:solidFill>
                  <a:srgbClr val="FFC564"/>
                </a:solidFill>
                <a:latin typeface="Arial Black"/>
                <a:cs typeface="Arial Black"/>
              </a:rPr>
              <a:t>a </a:t>
            </a: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Web</a:t>
            </a:r>
            <a:r>
              <a:rPr sz="2400" spc="-95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spc="-10" dirty="0">
                <a:solidFill>
                  <a:srgbClr val="FFC564"/>
                </a:solidFill>
                <a:latin typeface="Arial Black"/>
                <a:cs typeface="Arial Black"/>
              </a:rPr>
              <a:t>Application</a:t>
            </a:r>
            <a:endParaRPr sz="2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027" y="38586"/>
            <a:ext cx="15709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9258" y="542797"/>
            <a:ext cx="10573385" cy="2575560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2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Apache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Tomcat </a:t>
            </a:r>
            <a:r>
              <a:rPr sz="1800" spc="-10" dirty="0">
                <a:latin typeface="Calisto MT"/>
                <a:cs typeface="Calisto MT"/>
              </a:rPr>
              <a:t>server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lifecycle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directory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structure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45" dirty="0">
                <a:latin typeface="Calisto MT"/>
                <a:cs typeface="Calisto MT"/>
              </a:rPr>
              <a:t>Web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application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process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65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Web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development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with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Eclipse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IDE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7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directory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structure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Eclipse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how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package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45" dirty="0">
                <a:latin typeface="Calisto MT"/>
                <a:cs typeface="Calisto MT"/>
              </a:rPr>
              <a:t>Web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application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process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build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deploy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simple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Web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using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Eclipse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Apache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Tomcat </a:t>
            </a:r>
            <a:r>
              <a:rPr sz="1800" spc="-10" dirty="0">
                <a:latin typeface="Calisto MT"/>
                <a:cs typeface="Calisto MT"/>
              </a:rPr>
              <a:t>server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Overview</a:t>
            </a:r>
            <a:r>
              <a:rPr spc="-95" dirty="0"/>
              <a:t> </a:t>
            </a:r>
            <a:r>
              <a:rPr dirty="0"/>
              <a:t>of</a:t>
            </a:r>
            <a:r>
              <a:rPr spc="190" dirty="0"/>
              <a:t> </a:t>
            </a:r>
            <a:r>
              <a:rPr dirty="0"/>
              <a:t>Apache</a:t>
            </a:r>
            <a:r>
              <a:rPr spc="-80" dirty="0"/>
              <a:t> </a:t>
            </a:r>
            <a:r>
              <a:rPr spc="-25" dirty="0"/>
              <a:t>Tomcat</a:t>
            </a:r>
            <a:r>
              <a:rPr spc="-75" dirty="0"/>
              <a:t> </a:t>
            </a:r>
            <a:r>
              <a:rPr spc="-10" dirty="0"/>
              <a:t>Server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133600" y="3174493"/>
            <a:ext cx="7411720" cy="2834640"/>
            <a:chOff x="2133600" y="3174493"/>
            <a:chExt cx="7411720" cy="2834640"/>
          </a:xfrm>
        </p:grpSpPr>
        <p:sp>
          <p:nvSpPr>
            <p:cNvPr id="4" name="object 4"/>
            <p:cNvSpPr/>
            <p:nvPr/>
          </p:nvSpPr>
          <p:spPr>
            <a:xfrm>
              <a:off x="2133600" y="3174493"/>
              <a:ext cx="7411720" cy="2834640"/>
            </a:xfrm>
            <a:custGeom>
              <a:avLst/>
              <a:gdLst/>
              <a:ahLst/>
              <a:cxnLst/>
              <a:rect l="l" t="t" r="r" b="b"/>
              <a:pathLst>
                <a:path w="7411720" h="2834640">
                  <a:moveTo>
                    <a:pt x="7127748" y="0"/>
                  </a:moveTo>
                  <a:lnTo>
                    <a:pt x="283464" y="0"/>
                  </a:lnTo>
                  <a:lnTo>
                    <a:pt x="237484" y="3710"/>
                  </a:lnTo>
                  <a:lnTo>
                    <a:pt x="193867" y="14451"/>
                  </a:lnTo>
                  <a:lnTo>
                    <a:pt x="153195" y="31639"/>
                  </a:lnTo>
                  <a:lnTo>
                    <a:pt x="116053" y="54692"/>
                  </a:lnTo>
                  <a:lnTo>
                    <a:pt x="83024" y="83024"/>
                  </a:lnTo>
                  <a:lnTo>
                    <a:pt x="54692" y="116053"/>
                  </a:lnTo>
                  <a:lnTo>
                    <a:pt x="31639" y="153195"/>
                  </a:lnTo>
                  <a:lnTo>
                    <a:pt x="14451" y="193867"/>
                  </a:lnTo>
                  <a:lnTo>
                    <a:pt x="3710" y="237484"/>
                  </a:lnTo>
                  <a:lnTo>
                    <a:pt x="0" y="283463"/>
                  </a:lnTo>
                  <a:lnTo>
                    <a:pt x="0" y="2551176"/>
                  </a:lnTo>
                  <a:lnTo>
                    <a:pt x="3710" y="2597155"/>
                  </a:lnTo>
                  <a:lnTo>
                    <a:pt x="14451" y="2640772"/>
                  </a:lnTo>
                  <a:lnTo>
                    <a:pt x="31639" y="2681444"/>
                  </a:lnTo>
                  <a:lnTo>
                    <a:pt x="54692" y="2718586"/>
                  </a:lnTo>
                  <a:lnTo>
                    <a:pt x="83024" y="2751615"/>
                  </a:lnTo>
                  <a:lnTo>
                    <a:pt x="116053" y="2779947"/>
                  </a:lnTo>
                  <a:lnTo>
                    <a:pt x="153195" y="2803000"/>
                  </a:lnTo>
                  <a:lnTo>
                    <a:pt x="193867" y="2820188"/>
                  </a:lnTo>
                  <a:lnTo>
                    <a:pt x="237484" y="2830929"/>
                  </a:lnTo>
                  <a:lnTo>
                    <a:pt x="283464" y="2834640"/>
                  </a:lnTo>
                  <a:lnTo>
                    <a:pt x="7127748" y="2834640"/>
                  </a:lnTo>
                  <a:lnTo>
                    <a:pt x="7173727" y="2830929"/>
                  </a:lnTo>
                  <a:lnTo>
                    <a:pt x="7217344" y="2820188"/>
                  </a:lnTo>
                  <a:lnTo>
                    <a:pt x="7258016" y="2803000"/>
                  </a:lnTo>
                  <a:lnTo>
                    <a:pt x="7295158" y="2779947"/>
                  </a:lnTo>
                  <a:lnTo>
                    <a:pt x="7328187" y="2751615"/>
                  </a:lnTo>
                  <a:lnTo>
                    <a:pt x="7356519" y="2718586"/>
                  </a:lnTo>
                  <a:lnTo>
                    <a:pt x="7379572" y="2681444"/>
                  </a:lnTo>
                  <a:lnTo>
                    <a:pt x="7396760" y="2640772"/>
                  </a:lnTo>
                  <a:lnTo>
                    <a:pt x="7407501" y="2597155"/>
                  </a:lnTo>
                  <a:lnTo>
                    <a:pt x="7411211" y="2551176"/>
                  </a:lnTo>
                  <a:lnTo>
                    <a:pt x="7411211" y="283463"/>
                  </a:lnTo>
                  <a:lnTo>
                    <a:pt x="7407501" y="237484"/>
                  </a:lnTo>
                  <a:lnTo>
                    <a:pt x="7396760" y="193867"/>
                  </a:lnTo>
                  <a:lnTo>
                    <a:pt x="7379572" y="153195"/>
                  </a:lnTo>
                  <a:lnTo>
                    <a:pt x="7356519" y="116053"/>
                  </a:lnTo>
                  <a:lnTo>
                    <a:pt x="7328187" y="83024"/>
                  </a:lnTo>
                  <a:lnTo>
                    <a:pt x="7295158" y="54692"/>
                  </a:lnTo>
                  <a:lnTo>
                    <a:pt x="7258016" y="31639"/>
                  </a:lnTo>
                  <a:lnTo>
                    <a:pt x="7217344" y="14451"/>
                  </a:lnTo>
                  <a:lnTo>
                    <a:pt x="7173727" y="3710"/>
                  </a:lnTo>
                  <a:lnTo>
                    <a:pt x="7127748" y="0"/>
                  </a:lnTo>
                  <a:close/>
                </a:path>
              </a:pathLst>
            </a:custGeom>
            <a:solidFill>
              <a:srgbClr val="FFDF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71216" y="4021836"/>
              <a:ext cx="5935979" cy="335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71216" y="4399788"/>
              <a:ext cx="5935979" cy="3352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71216" y="4777739"/>
              <a:ext cx="5935979" cy="33680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71216" y="5157216"/>
              <a:ext cx="5935979" cy="3352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71216" y="5535167"/>
              <a:ext cx="5935979" cy="33527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126515" y="3427585"/>
            <a:ext cx="3429000" cy="2399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sto MT"/>
                <a:cs typeface="Calisto MT"/>
              </a:rPr>
              <a:t>Benefits</a:t>
            </a:r>
            <a:r>
              <a:rPr sz="1800" b="1" spc="-45" dirty="0">
                <a:latin typeface="Calisto MT"/>
                <a:cs typeface="Calisto MT"/>
              </a:rPr>
              <a:t> </a:t>
            </a:r>
            <a:r>
              <a:rPr sz="1800" b="1" dirty="0">
                <a:latin typeface="Calisto MT"/>
                <a:cs typeface="Calisto MT"/>
              </a:rPr>
              <a:t>of</a:t>
            </a:r>
            <a:r>
              <a:rPr sz="1800" b="1" spc="60" dirty="0">
                <a:latin typeface="Calisto MT"/>
                <a:cs typeface="Calisto MT"/>
              </a:rPr>
              <a:t> </a:t>
            </a:r>
            <a:r>
              <a:rPr sz="1800" b="1" dirty="0">
                <a:latin typeface="Calisto MT"/>
                <a:cs typeface="Calisto MT"/>
              </a:rPr>
              <a:t>Apache</a:t>
            </a:r>
            <a:r>
              <a:rPr sz="1800" b="1" spc="-5" dirty="0">
                <a:latin typeface="Calisto MT"/>
                <a:cs typeface="Calisto MT"/>
              </a:rPr>
              <a:t> </a:t>
            </a:r>
            <a:r>
              <a:rPr sz="1800" b="1" spc="-20" dirty="0">
                <a:latin typeface="Calisto MT"/>
                <a:cs typeface="Calisto MT"/>
              </a:rPr>
              <a:t>Tomcat</a:t>
            </a:r>
            <a:r>
              <a:rPr sz="1800" b="1" spc="-65" dirty="0">
                <a:latin typeface="Calisto MT"/>
                <a:cs typeface="Calisto MT"/>
              </a:rPr>
              <a:t> </a:t>
            </a:r>
            <a:r>
              <a:rPr sz="1800" b="1" spc="-10" dirty="0">
                <a:latin typeface="Calisto MT"/>
                <a:cs typeface="Calisto MT"/>
              </a:rPr>
              <a:t>Server</a:t>
            </a:r>
            <a:endParaRPr sz="1800">
              <a:latin typeface="Calisto MT"/>
              <a:cs typeface="Calisto MT"/>
            </a:endParaRPr>
          </a:p>
          <a:p>
            <a:pPr marL="403225" marR="457834" indent="1270" algn="ctr">
              <a:lnSpc>
                <a:spcPct val="137900"/>
              </a:lnSpc>
              <a:spcBef>
                <a:spcPts val="1635"/>
              </a:spcBef>
            </a:pPr>
            <a:r>
              <a:rPr sz="1800" dirty="0">
                <a:latin typeface="Calisto MT"/>
                <a:cs typeface="Calisto MT"/>
              </a:rPr>
              <a:t>Platform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Independent Open-</a:t>
            </a:r>
            <a:r>
              <a:rPr sz="1800" dirty="0">
                <a:latin typeface="Calisto MT"/>
                <a:cs typeface="Calisto MT"/>
              </a:rPr>
              <a:t>source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Environment Lightweight</a:t>
            </a:r>
            <a:endParaRPr sz="1800">
              <a:latin typeface="Calisto MT"/>
              <a:cs typeface="Calisto MT"/>
            </a:endParaRPr>
          </a:p>
          <a:p>
            <a:pPr marL="824230" marR="821690" algn="ctr">
              <a:lnSpc>
                <a:spcPct val="137900"/>
              </a:lnSpc>
            </a:pPr>
            <a:r>
              <a:rPr sz="1800" spc="-45" dirty="0">
                <a:latin typeface="Calisto MT"/>
                <a:cs typeface="Calisto MT"/>
              </a:rPr>
              <a:t>Well-</a:t>
            </a:r>
            <a:r>
              <a:rPr sz="1800" spc="-10" dirty="0">
                <a:latin typeface="Calisto MT"/>
                <a:cs typeface="Calisto MT"/>
              </a:rPr>
              <a:t>Documented </a:t>
            </a:r>
            <a:r>
              <a:rPr sz="1800" dirty="0">
                <a:latin typeface="Calisto MT"/>
                <a:cs typeface="Calisto MT"/>
              </a:rPr>
              <a:t>Highly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Secure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08242" y="1556082"/>
            <a:ext cx="1534795" cy="775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2014"/>
              </a:lnSpc>
              <a:spcBef>
                <a:spcPts val="100"/>
              </a:spcBef>
            </a:pPr>
            <a:r>
              <a:rPr sz="1800" spc="-10" dirty="0">
                <a:latin typeface="Calisto MT"/>
                <a:cs typeface="Calisto MT"/>
              </a:rPr>
              <a:t>Responsibilities</a:t>
            </a:r>
            <a:endParaRPr sz="1800">
              <a:latin typeface="Calisto MT"/>
              <a:cs typeface="Calisto MT"/>
            </a:endParaRPr>
          </a:p>
          <a:p>
            <a:pPr marL="118745" marR="5080" indent="381000" algn="r">
              <a:lnSpc>
                <a:spcPts val="1870"/>
              </a:lnSpc>
              <a:spcBef>
                <a:spcPts val="160"/>
              </a:spcBef>
            </a:pP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9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Apache </a:t>
            </a:r>
            <a:r>
              <a:rPr sz="1800" spc="-20" dirty="0">
                <a:latin typeface="Calisto MT"/>
                <a:cs typeface="Calisto MT"/>
              </a:rPr>
              <a:t>Tomcat</a:t>
            </a:r>
            <a:r>
              <a:rPr sz="1800" spc="-7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Server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58005" y="1326641"/>
            <a:ext cx="396240" cy="1286510"/>
          </a:xfrm>
          <a:custGeom>
            <a:avLst/>
            <a:gdLst/>
            <a:ahLst/>
            <a:cxnLst/>
            <a:rect l="l" t="t" r="r" b="b"/>
            <a:pathLst>
              <a:path w="396239" h="1286510">
                <a:moveTo>
                  <a:pt x="396239" y="1286255"/>
                </a:moveTo>
                <a:lnTo>
                  <a:pt x="343570" y="1281302"/>
                </a:lnTo>
                <a:lnTo>
                  <a:pt x="296243" y="1267321"/>
                </a:lnTo>
                <a:lnTo>
                  <a:pt x="256146" y="1245636"/>
                </a:lnTo>
                <a:lnTo>
                  <a:pt x="225168" y="1217568"/>
                </a:lnTo>
                <a:lnTo>
                  <a:pt x="205196" y="1184439"/>
                </a:lnTo>
                <a:lnTo>
                  <a:pt x="198119" y="1147571"/>
                </a:lnTo>
                <a:lnTo>
                  <a:pt x="198119" y="781811"/>
                </a:lnTo>
                <a:lnTo>
                  <a:pt x="191043" y="744944"/>
                </a:lnTo>
                <a:lnTo>
                  <a:pt x="171071" y="711815"/>
                </a:lnTo>
                <a:lnTo>
                  <a:pt x="140093" y="683747"/>
                </a:lnTo>
                <a:lnTo>
                  <a:pt x="99996" y="662062"/>
                </a:lnTo>
                <a:lnTo>
                  <a:pt x="52669" y="648081"/>
                </a:lnTo>
                <a:lnTo>
                  <a:pt x="0" y="643127"/>
                </a:lnTo>
                <a:lnTo>
                  <a:pt x="52669" y="638174"/>
                </a:lnTo>
                <a:lnTo>
                  <a:pt x="99996" y="624193"/>
                </a:lnTo>
                <a:lnTo>
                  <a:pt x="140093" y="602508"/>
                </a:lnTo>
                <a:lnTo>
                  <a:pt x="171071" y="574440"/>
                </a:lnTo>
                <a:lnTo>
                  <a:pt x="191043" y="541311"/>
                </a:lnTo>
                <a:lnTo>
                  <a:pt x="198119" y="504443"/>
                </a:lnTo>
                <a:lnTo>
                  <a:pt x="198119" y="138683"/>
                </a:lnTo>
                <a:lnTo>
                  <a:pt x="205196" y="101816"/>
                </a:lnTo>
                <a:lnTo>
                  <a:pt x="225168" y="68687"/>
                </a:lnTo>
                <a:lnTo>
                  <a:pt x="256146" y="40619"/>
                </a:lnTo>
                <a:lnTo>
                  <a:pt x="296243" y="18934"/>
                </a:lnTo>
                <a:lnTo>
                  <a:pt x="343570" y="4953"/>
                </a:lnTo>
                <a:lnTo>
                  <a:pt x="396239" y="0"/>
                </a:lnTo>
              </a:path>
            </a:pathLst>
          </a:custGeom>
          <a:ln w="19049">
            <a:solidFill>
              <a:srgbClr val="D6D3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08932" y="1321308"/>
            <a:ext cx="5396483" cy="129539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468239" y="1377920"/>
            <a:ext cx="3404235" cy="1132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420" indent="-172720">
              <a:lnSpc>
                <a:spcPct val="100000"/>
              </a:lnSpc>
              <a:spcBef>
                <a:spcPts val="100"/>
              </a:spcBef>
              <a:buChar char="•"/>
              <a:tabLst>
                <a:tab pos="185420" algn="l"/>
              </a:tabLst>
            </a:pPr>
            <a:r>
              <a:rPr sz="1800" dirty="0">
                <a:latin typeface="Calisto MT"/>
                <a:cs typeface="Calisto MT"/>
              </a:rPr>
              <a:t>Process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Servlets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JSPs</a:t>
            </a:r>
            <a:endParaRPr sz="1800">
              <a:latin typeface="Calisto MT"/>
              <a:cs typeface="Calisto MT"/>
            </a:endParaRPr>
          </a:p>
          <a:p>
            <a:pPr marL="185420" indent="-172720">
              <a:lnSpc>
                <a:spcPct val="100000"/>
              </a:lnSpc>
              <a:spcBef>
                <a:spcPts val="20"/>
              </a:spcBef>
              <a:buChar char="•"/>
              <a:tabLst>
                <a:tab pos="185420" algn="l"/>
              </a:tabLst>
            </a:pPr>
            <a:r>
              <a:rPr sz="1800" dirty="0">
                <a:latin typeface="Calisto MT"/>
                <a:cs typeface="Calisto MT"/>
              </a:rPr>
              <a:t>Transform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JSPs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into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Servlets</a:t>
            </a:r>
            <a:endParaRPr sz="1800">
              <a:latin typeface="Calisto MT"/>
              <a:cs typeface="Calisto MT"/>
            </a:endParaRPr>
          </a:p>
          <a:p>
            <a:pPr marL="185420" indent="-172720">
              <a:lnSpc>
                <a:spcPct val="100000"/>
              </a:lnSpc>
              <a:spcBef>
                <a:spcPts val="25"/>
              </a:spcBef>
              <a:buChar char="•"/>
              <a:tabLst>
                <a:tab pos="185420" algn="l"/>
              </a:tabLst>
            </a:pPr>
            <a:r>
              <a:rPr sz="1800" dirty="0">
                <a:latin typeface="Calisto MT"/>
                <a:cs typeface="Calisto MT"/>
              </a:rPr>
              <a:t>Monitor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incoming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client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requests</a:t>
            </a:r>
            <a:endParaRPr sz="1800">
              <a:latin typeface="Calisto MT"/>
              <a:cs typeface="Calisto MT"/>
            </a:endParaRPr>
          </a:p>
          <a:p>
            <a:pPr marL="185420" indent="-172720">
              <a:lnSpc>
                <a:spcPct val="100000"/>
              </a:lnSpc>
              <a:spcBef>
                <a:spcPts val="25"/>
              </a:spcBef>
              <a:buChar char="•"/>
              <a:tabLst>
                <a:tab pos="185420" algn="l"/>
              </a:tabLst>
            </a:pPr>
            <a:r>
              <a:rPr sz="1800" dirty="0">
                <a:latin typeface="Calisto MT"/>
                <a:cs typeface="Calisto MT"/>
              </a:rPr>
              <a:t>Execute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unload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20" dirty="0">
                <a:latin typeface="Calisto MT"/>
                <a:cs typeface="Calisto MT"/>
              </a:rPr>
              <a:t> class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907" y="79546"/>
            <a:ext cx="39090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Installing</a:t>
            </a:r>
            <a:r>
              <a:rPr spc="-80" dirty="0"/>
              <a:t> </a:t>
            </a:r>
            <a:r>
              <a:rPr dirty="0"/>
              <a:t>Apache</a:t>
            </a:r>
            <a:r>
              <a:rPr spc="-90" dirty="0"/>
              <a:t> </a:t>
            </a:r>
            <a:r>
              <a:rPr spc="-10" dirty="0"/>
              <a:t>Tomcat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87423" y="1456944"/>
            <a:ext cx="2381885" cy="1186180"/>
            <a:chOff x="1487423" y="1456944"/>
            <a:chExt cx="2381885" cy="1186180"/>
          </a:xfrm>
        </p:grpSpPr>
        <p:sp>
          <p:nvSpPr>
            <p:cNvPr id="4" name="object 4"/>
            <p:cNvSpPr/>
            <p:nvPr/>
          </p:nvSpPr>
          <p:spPr>
            <a:xfrm>
              <a:off x="3454145" y="2050541"/>
              <a:ext cx="408940" cy="0"/>
            </a:xfrm>
            <a:custGeom>
              <a:avLst/>
              <a:gdLst/>
              <a:ahLst/>
              <a:cxnLst/>
              <a:rect l="l" t="t" r="r" b="b"/>
              <a:pathLst>
                <a:path w="408939">
                  <a:moveTo>
                    <a:pt x="0" y="0"/>
                  </a:moveTo>
                  <a:lnTo>
                    <a:pt x="408419" y="0"/>
                  </a:lnTo>
                </a:path>
              </a:pathLst>
            </a:custGeom>
            <a:ln w="12700">
              <a:solidFill>
                <a:srgbClr val="FD9E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86369" y="2006088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50"/>
                  </a:lnTo>
                  <a:lnTo>
                    <a:pt x="0" y="88900"/>
                  </a:lnTo>
                </a:path>
              </a:pathLst>
            </a:custGeom>
            <a:ln w="12700">
              <a:solidFill>
                <a:srgbClr val="FD9E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7423" y="1456944"/>
              <a:ext cx="1972055" cy="118567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672112" y="1682626"/>
            <a:ext cx="1603375" cy="69088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 indent="-635" algn="ctr">
              <a:lnSpc>
                <a:spcPct val="86600"/>
              </a:lnSpc>
              <a:spcBef>
                <a:spcPts val="350"/>
              </a:spcBef>
            </a:pPr>
            <a:r>
              <a:rPr sz="1600" spc="-20" dirty="0">
                <a:latin typeface="Calisto MT"/>
                <a:cs typeface="Calisto MT"/>
              </a:rPr>
              <a:t>Visit tomcat.apache.org </a:t>
            </a:r>
            <a:r>
              <a:rPr sz="1600" spc="-10" dirty="0">
                <a:latin typeface="Calisto MT"/>
                <a:cs typeface="Calisto MT"/>
              </a:rPr>
              <a:t>Website.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902964" y="1456944"/>
            <a:ext cx="2381885" cy="1186180"/>
            <a:chOff x="3902964" y="1456944"/>
            <a:chExt cx="2381885" cy="1186180"/>
          </a:xfrm>
        </p:grpSpPr>
        <p:sp>
          <p:nvSpPr>
            <p:cNvPr id="9" name="object 9"/>
            <p:cNvSpPr/>
            <p:nvPr/>
          </p:nvSpPr>
          <p:spPr>
            <a:xfrm>
              <a:off x="5869685" y="2050542"/>
              <a:ext cx="408940" cy="0"/>
            </a:xfrm>
            <a:custGeom>
              <a:avLst/>
              <a:gdLst/>
              <a:ahLst/>
              <a:cxnLst/>
              <a:rect l="l" t="t" r="r" b="b"/>
              <a:pathLst>
                <a:path w="408939">
                  <a:moveTo>
                    <a:pt x="0" y="0"/>
                  </a:moveTo>
                  <a:lnTo>
                    <a:pt x="408419" y="0"/>
                  </a:lnTo>
                </a:path>
              </a:pathLst>
            </a:custGeom>
            <a:ln w="12700">
              <a:solidFill>
                <a:srgbClr val="F5E3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201910" y="2006088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50"/>
                  </a:lnTo>
                  <a:lnTo>
                    <a:pt x="0" y="88900"/>
                  </a:lnTo>
                </a:path>
              </a:pathLst>
            </a:custGeom>
            <a:ln w="12700">
              <a:solidFill>
                <a:srgbClr val="F5E3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02964" y="1456944"/>
              <a:ext cx="1970531" cy="118567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038344" y="1551064"/>
            <a:ext cx="1700530" cy="904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2270">
              <a:lnSpc>
                <a:spcPct val="120000"/>
              </a:lnSpc>
              <a:spcBef>
                <a:spcPts val="100"/>
              </a:spcBef>
            </a:pPr>
            <a:r>
              <a:rPr sz="1600" spc="-10" dirty="0">
                <a:latin typeface="Calisto MT"/>
                <a:cs typeface="Calisto MT"/>
              </a:rPr>
              <a:t>Download 32/64-</a:t>
            </a:r>
            <a:r>
              <a:rPr sz="1600" dirty="0">
                <a:latin typeface="Calisto MT"/>
                <a:cs typeface="Calisto MT"/>
              </a:rPr>
              <a:t>bit</a:t>
            </a:r>
            <a:r>
              <a:rPr sz="1600" spc="30" dirty="0">
                <a:latin typeface="Calisto MT"/>
                <a:cs typeface="Calisto MT"/>
              </a:rPr>
              <a:t> </a:t>
            </a:r>
            <a:r>
              <a:rPr sz="1600" spc="-20" dirty="0">
                <a:latin typeface="Calisto MT"/>
                <a:cs typeface="Calisto MT"/>
              </a:rPr>
              <a:t>Windows</a:t>
            </a:r>
            <a:endParaRPr sz="1600">
              <a:latin typeface="Calisto MT"/>
              <a:cs typeface="Calisto MT"/>
            </a:endParaRPr>
          </a:p>
          <a:p>
            <a:pPr marL="141605">
              <a:lnSpc>
                <a:spcPct val="100000"/>
              </a:lnSpc>
              <a:spcBef>
                <a:spcPts val="395"/>
              </a:spcBef>
            </a:pPr>
            <a:r>
              <a:rPr sz="1600" dirty="0">
                <a:latin typeface="Calisto MT"/>
                <a:cs typeface="Calisto MT"/>
              </a:rPr>
              <a:t>Service</a:t>
            </a:r>
            <a:r>
              <a:rPr sz="1600" spc="10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Installer.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318503" y="1456944"/>
            <a:ext cx="2379980" cy="1186180"/>
            <a:chOff x="6318503" y="1456944"/>
            <a:chExt cx="2379980" cy="1186180"/>
          </a:xfrm>
        </p:grpSpPr>
        <p:sp>
          <p:nvSpPr>
            <p:cNvPr id="14" name="object 14"/>
            <p:cNvSpPr/>
            <p:nvPr/>
          </p:nvSpPr>
          <p:spPr>
            <a:xfrm>
              <a:off x="8283701" y="2050542"/>
              <a:ext cx="408940" cy="0"/>
            </a:xfrm>
            <a:custGeom>
              <a:avLst/>
              <a:gdLst/>
              <a:ahLst/>
              <a:cxnLst/>
              <a:rect l="l" t="t" r="r" b="b"/>
              <a:pathLst>
                <a:path w="408940">
                  <a:moveTo>
                    <a:pt x="0" y="0"/>
                  </a:moveTo>
                  <a:lnTo>
                    <a:pt x="408419" y="0"/>
                  </a:lnTo>
                </a:path>
              </a:pathLst>
            </a:custGeom>
            <a:ln w="12700">
              <a:solidFill>
                <a:srgbClr val="B9EC0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15926" y="2006088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50"/>
                  </a:lnTo>
                  <a:lnTo>
                    <a:pt x="0" y="88900"/>
                  </a:lnTo>
                </a:path>
              </a:pathLst>
            </a:custGeom>
            <a:ln w="12700">
              <a:solidFill>
                <a:srgbClr val="B9EC0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18503" y="1456944"/>
              <a:ext cx="1970531" cy="1185671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6584452" y="1682626"/>
            <a:ext cx="1437640" cy="69088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90500" marR="5080" indent="-178435">
              <a:lnSpc>
                <a:spcPct val="86600"/>
              </a:lnSpc>
              <a:spcBef>
                <a:spcPts val="350"/>
              </a:spcBef>
            </a:pPr>
            <a:r>
              <a:rPr sz="1600" spc="-10" dirty="0">
                <a:latin typeface="Calisto MT"/>
                <a:cs typeface="Calisto MT"/>
              </a:rPr>
              <a:t>Double-</a:t>
            </a:r>
            <a:r>
              <a:rPr sz="1600" dirty="0">
                <a:latin typeface="Calisto MT"/>
                <a:cs typeface="Calisto MT"/>
              </a:rPr>
              <a:t>click</a:t>
            </a:r>
            <a:r>
              <a:rPr sz="1600" spc="-15" dirty="0">
                <a:latin typeface="Calisto MT"/>
                <a:cs typeface="Calisto MT"/>
              </a:rPr>
              <a:t> </a:t>
            </a:r>
            <a:r>
              <a:rPr sz="1600" spc="-25" dirty="0">
                <a:latin typeface="Calisto MT"/>
                <a:cs typeface="Calisto MT"/>
              </a:rPr>
              <a:t>the </a:t>
            </a:r>
            <a:r>
              <a:rPr sz="1600" spc="-10" dirty="0">
                <a:latin typeface="Calisto MT"/>
                <a:cs typeface="Calisto MT"/>
              </a:rPr>
              <a:t>downloaded </a:t>
            </a:r>
            <a:r>
              <a:rPr sz="1600" dirty="0">
                <a:latin typeface="Calisto MT"/>
                <a:cs typeface="Calisto MT"/>
              </a:rPr>
              <a:t>installer</a:t>
            </a:r>
            <a:r>
              <a:rPr sz="1600" spc="-65" dirty="0">
                <a:latin typeface="Calisto MT"/>
                <a:cs typeface="Calisto MT"/>
              </a:rPr>
              <a:t> </a:t>
            </a:r>
            <a:r>
              <a:rPr sz="1600" spc="-20" dirty="0">
                <a:latin typeface="Calisto MT"/>
                <a:cs typeface="Calisto MT"/>
              </a:rPr>
              <a:t>file.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423414" y="1456944"/>
            <a:ext cx="8281670" cy="1595120"/>
            <a:chOff x="2423414" y="1456944"/>
            <a:chExt cx="8281670" cy="1595120"/>
          </a:xfrm>
        </p:grpSpPr>
        <p:sp>
          <p:nvSpPr>
            <p:cNvPr id="19" name="object 19"/>
            <p:cNvSpPr/>
            <p:nvPr/>
          </p:nvSpPr>
          <p:spPr>
            <a:xfrm>
              <a:off x="2474207" y="2637282"/>
              <a:ext cx="7245350" cy="408940"/>
            </a:xfrm>
            <a:custGeom>
              <a:avLst/>
              <a:gdLst/>
              <a:ahLst/>
              <a:cxnLst/>
              <a:rect l="l" t="t" r="r" b="b"/>
              <a:pathLst>
                <a:path w="7245350" h="408939">
                  <a:moveTo>
                    <a:pt x="7245172" y="0"/>
                  </a:moveTo>
                  <a:lnTo>
                    <a:pt x="7245172" y="227596"/>
                  </a:lnTo>
                  <a:lnTo>
                    <a:pt x="0" y="227596"/>
                  </a:lnTo>
                  <a:lnTo>
                    <a:pt x="0" y="408419"/>
                  </a:lnTo>
                </a:path>
              </a:pathLst>
            </a:custGeom>
            <a:ln w="12700">
              <a:solidFill>
                <a:srgbClr val="76E31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429764" y="2969503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88900" y="0"/>
                  </a:moveTo>
                  <a:lnTo>
                    <a:pt x="44450" y="7620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76E31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32519" y="1456944"/>
              <a:ext cx="1972055" cy="1185671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8967471" y="1790068"/>
            <a:ext cx="1499870" cy="48069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207645" marR="5080" indent="-195580">
              <a:lnSpc>
                <a:spcPts val="1670"/>
              </a:lnSpc>
              <a:spcBef>
                <a:spcPts val="359"/>
              </a:spcBef>
            </a:pPr>
            <a:r>
              <a:rPr sz="1600" dirty="0">
                <a:latin typeface="Calisto MT"/>
                <a:cs typeface="Calisto MT"/>
              </a:rPr>
              <a:t>Click</a:t>
            </a:r>
            <a:r>
              <a:rPr sz="1600" spc="-35" dirty="0">
                <a:latin typeface="Calisto MT"/>
                <a:cs typeface="Calisto MT"/>
              </a:rPr>
              <a:t> </a:t>
            </a:r>
            <a:r>
              <a:rPr sz="1600" b="1" dirty="0">
                <a:latin typeface="Calisto MT"/>
                <a:cs typeface="Calisto MT"/>
              </a:rPr>
              <a:t>Next</a:t>
            </a:r>
            <a:r>
              <a:rPr sz="1600" b="1" spc="-40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in</a:t>
            </a:r>
            <a:r>
              <a:rPr sz="1600" spc="-30" dirty="0">
                <a:latin typeface="Calisto MT"/>
                <a:cs typeface="Calisto MT"/>
              </a:rPr>
              <a:t> </a:t>
            </a:r>
            <a:r>
              <a:rPr sz="1600" spc="-25" dirty="0">
                <a:latin typeface="Calisto MT"/>
                <a:cs typeface="Calisto MT"/>
              </a:rPr>
              <a:t>the </a:t>
            </a:r>
            <a:r>
              <a:rPr sz="1600" dirty="0">
                <a:latin typeface="Calisto MT"/>
                <a:cs typeface="Calisto MT"/>
              </a:rPr>
              <a:t>setup</a:t>
            </a:r>
            <a:r>
              <a:rPr sz="1600" spc="-30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dialog.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487423" y="3087623"/>
            <a:ext cx="2381885" cy="1186180"/>
            <a:chOff x="1487423" y="3087623"/>
            <a:chExt cx="2381885" cy="1186180"/>
          </a:xfrm>
        </p:grpSpPr>
        <p:sp>
          <p:nvSpPr>
            <p:cNvPr id="24" name="object 24"/>
            <p:cNvSpPr/>
            <p:nvPr/>
          </p:nvSpPr>
          <p:spPr>
            <a:xfrm>
              <a:off x="3454145" y="3681222"/>
              <a:ext cx="408940" cy="0"/>
            </a:xfrm>
            <a:custGeom>
              <a:avLst/>
              <a:gdLst/>
              <a:ahLst/>
              <a:cxnLst/>
              <a:rect l="l" t="t" r="r" b="b"/>
              <a:pathLst>
                <a:path w="408939">
                  <a:moveTo>
                    <a:pt x="0" y="0"/>
                  </a:moveTo>
                  <a:lnTo>
                    <a:pt x="408419" y="0"/>
                  </a:lnTo>
                </a:path>
              </a:pathLst>
            </a:custGeom>
            <a:ln w="12700">
              <a:solidFill>
                <a:srgbClr val="3BDC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786369" y="3636766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50"/>
                  </a:lnTo>
                  <a:lnTo>
                    <a:pt x="0" y="88900"/>
                  </a:lnTo>
                </a:path>
              </a:pathLst>
            </a:custGeom>
            <a:ln w="12700">
              <a:solidFill>
                <a:srgbClr val="3BDC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7423" y="3087623"/>
              <a:ext cx="1972055" cy="1185671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646105" y="3327325"/>
            <a:ext cx="1654810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1945" marR="5080" indent="-309880">
              <a:lnSpc>
                <a:spcPct val="120000"/>
              </a:lnSpc>
              <a:spcBef>
                <a:spcPts val="100"/>
              </a:spcBef>
            </a:pPr>
            <a:r>
              <a:rPr sz="1600" dirty="0">
                <a:latin typeface="Calisto MT"/>
                <a:cs typeface="Calisto MT"/>
              </a:rPr>
              <a:t>Accept</a:t>
            </a:r>
            <a:r>
              <a:rPr sz="1600" spc="-4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the</a:t>
            </a:r>
            <a:r>
              <a:rPr sz="1600" spc="-15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License Agreement.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902964" y="3086100"/>
            <a:ext cx="2381885" cy="1187450"/>
            <a:chOff x="3902964" y="3086100"/>
            <a:chExt cx="2381885" cy="1187450"/>
          </a:xfrm>
        </p:grpSpPr>
        <p:sp>
          <p:nvSpPr>
            <p:cNvPr id="29" name="object 29"/>
            <p:cNvSpPr/>
            <p:nvPr/>
          </p:nvSpPr>
          <p:spPr>
            <a:xfrm>
              <a:off x="5869685" y="3681222"/>
              <a:ext cx="408940" cy="0"/>
            </a:xfrm>
            <a:custGeom>
              <a:avLst/>
              <a:gdLst/>
              <a:ahLst/>
              <a:cxnLst/>
              <a:rect l="l" t="t" r="r" b="b"/>
              <a:pathLst>
                <a:path w="408939">
                  <a:moveTo>
                    <a:pt x="0" y="0"/>
                  </a:moveTo>
                  <a:lnTo>
                    <a:pt x="408419" y="0"/>
                  </a:lnTo>
                </a:path>
              </a:pathLst>
            </a:custGeom>
            <a:ln w="12700">
              <a:solidFill>
                <a:srgbClr val="24D3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201910" y="3636766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50"/>
                  </a:lnTo>
                  <a:lnTo>
                    <a:pt x="0" y="88900"/>
                  </a:lnTo>
                </a:path>
              </a:pathLst>
            </a:custGeom>
            <a:ln w="12700">
              <a:solidFill>
                <a:srgbClr val="24D3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02964" y="3086100"/>
              <a:ext cx="1970531" cy="1187195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4074907" y="3318578"/>
            <a:ext cx="1627505" cy="622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860" marR="5080" indent="-137795">
              <a:lnSpc>
                <a:spcPct val="122500"/>
              </a:lnSpc>
              <a:spcBef>
                <a:spcPts val="100"/>
              </a:spcBef>
            </a:pPr>
            <a:r>
              <a:rPr sz="1600" dirty="0">
                <a:latin typeface="Calisto MT"/>
                <a:cs typeface="Calisto MT"/>
              </a:rPr>
              <a:t>Select</a:t>
            </a:r>
            <a:r>
              <a:rPr sz="1600" spc="-45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components </a:t>
            </a:r>
            <a:r>
              <a:rPr sz="1600" dirty="0">
                <a:latin typeface="Calisto MT"/>
                <a:cs typeface="Calisto MT"/>
              </a:rPr>
              <a:t>and</a:t>
            </a:r>
            <a:r>
              <a:rPr sz="1600" spc="-20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click</a:t>
            </a:r>
            <a:r>
              <a:rPr sz="1600" spc="-30" dirty="0">
                <a:latin typeface="Calisto MT"/>
                <a:cs typeface="Calisto MT"/>
              </a:rPr>
              <a:t> </a:t>
            </a:r>
            <a:r>
              <a:rPr sz="1600" b="1" spc="-20" dirty="0">
                <a:latin typeface="Calisto MT"/>
                <a:cs typeface="Calisto MT"/>
              </a:rPr>
              <a:t>Next.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318503" y="3086100"/>
            <a:ext cx="2379980" cy="1187450"/>
            <a:chOff x="6318503" y="3086100"/>
            <a:chExt cx="2379980" cy="1187450"/>
          </a:xfrm>
        </p:grpSpPr>
        <p:sp>
          <p:nvSpPr>
            <p:cNvPr id="34" name="object 34"/>
            <p:cNvSpPr/>
            <p:nvPr/>
          </p:nvSpPr>
          <p:spPr>
            <a:xfrm>
              <a:off x="8283701" y="3681222"/>
              <a:ext cx="408940" cy="0"/>
            </a:xfrm>
            <a:custGeom>
              <a:avLst/>
              <a:gdLst/>
              <a:ahLst/>
              <a:cxnLst/>
              <a:rect l="l" t="t" r="r" b="b"/>
              <a:pathLst>
                <a:path w="408940">
                  <a:moveTo>
                    <a:pt x="0" y="0"/>
                  </a:moveTo>
                  <a:lnTo>
                    <a:pt x="408419" y="0"/>
                  </a:lnTo>
                </a:path>
              </a:pathLst>
            </a:custGeom>
            <a:ln w="12700">
              <a:solidFill>
                <a:srgbClr val="2CCA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615926" y="3636766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50"/>
                  </a:lnTo>
                  <a:lnTo>
                    <a:pt x="0" y="88900"/>
                  </a:lnTo>
                </a:path>
              </a:pathLst>
            </a:custGeom>
            <a:ln w="12700">
              <a:solidFill>
                <a:srgbClr val="2CCA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18503" y="3086100"/>
              <a:ext cx="1970531" cy="1187195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6534161" y="3417835"/>
            <a:ext cx="1537335" cy="47942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46685" marR="5080" indent="-134620">
              <a:lnSpc>
                <a:spcPts val="1660"/>
              </a:lnSpc>
              <a:spcBef>
                <a:spcPts val="365"/>
              </a:spcBef>
            </a:pPr>
            <a:r>
              <a:rPr sz="1600" dirty="0">
                <a:latin typeface="Calisto MT"/>
                <a:cs typeface="Calisto MT"/>
              </a:rPr>
              <a:t>Enter</a:t>
            </a:r>
            <a:r>
              <a:rPr sz="1600" spc="-2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User</a:t>
            </a:r>
            <a:r>
              <a:rPr sz="1600" spc="-25" dirty="0">
                <a:latin typeface="Calisto MT"/>
                <a:cs typeface="Calisto MT"/>
              </a:rPr>
              <a:t> </a:t>
            </a:r>
            <a:r>
              <a:rPr sz="1600" spc="-20" dirty="0">
                <a:latin typeface="Calisto MT"/>
                <a:cs typeface="Calisto MT"/>
              </a:rPr>
              <a:t>Name </a:t>
            </a:r>
            <a:r>
              <a:rPr sz="1600" dirty="0">
                <a:latin typeface="Calisto MT"/>
                <a:cs typeface="Calisto MT"/>
              </a:rPr>
              <a:t>and</a:t>
            </a:r>
            <a:r>
              <a:rPr sz="1600" spc="-20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Password.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423414" y="3087623"/>
            <a:ext cx="8281670" cy="1595120"/>
            <a:chOff x="2423414" y="3087623"/>
            <a:chExt cx="8281670" cy="1595120"/>
          </a:xfrm>
        </p:grpSpPr>
        <p:sp>
          <p:nvSpPr>
            <p:cNvPr id="39" name="object 39"/>
            <p:cNvSpPr/>
            <p:nvPr/>
          </p:nvSpPr>
          <p:spPr>
            <a:xfrm>
              <a:off x="2474207" y="4267961"/>
              <a:ext cx="7245350" cy="408940"/>
            </a:xfrm>
            <a:custGeom>
              <a:avLst/>
              <a:gdLst/>
              <a:ahLst/>
              <a:cxnLst/>
              <a:rect l="l" t="t" r="r" b="b"/>
              <a:pathLst>
                <a:path w="7245350" h="408939">
                  <a:moveTo>
                    <a:pt x="7245172" y="0"/>
                  </a:moveTo>
                  <a:lnTo>
                    <a:pt x="7245172" y="227596"/>
                  </a:lnTo>
                  <a:lnTo>
                    <a:pt x="0" y="227596"/>
                  </a:lnTo>
                  <a:lnTo>
                    <a:pt x="0" y="408419"/>
                  </a:lnTo>
                </a:path>
              </a:pathLst>
            </a:custGeom>
            <a:ln w="12700">
              <a:solidFill>
                <a:srgbClr val="33C3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429764" y="4600183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88900" y="0"/>
                  </a:moveTo>
                  <a:lnTo>
                    <a:pt x="44450" y="7620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33C3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32519" y="3087623"/>
              <a:ext cx="1972055" cy="1185671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8982834" y="3417835"/>
            <a:ext cx="1473200" cy="47942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 indent="238760">
              <a:lnSpc>
                <a:spcPts val="1660"/>
              </a:lnSpc>
              <a:spcBef>
                <a:spcPts val="365"/>
              </a:spcBef>
            </a:pPr>
            <a:r>
              <a:rPr sz="1600" dirty="0">
                <a:latin typeface="Calisto MT"/>
                <a:cs typeface="Calisto MT"/>
              </a:rPr>
              <a:t>Select</a:t>
            </a:r>
            <a:r>
              <a:rPr sz="1600" spc="-45" dirty="0">
                <a:latin typeface="Calisto MT"/>
                <a:cs typeface="Calisto MT"/>
              </a:rPr>
              <a:t> </a:t>
            </a:r>
            <a:r>
              <a:rPr sz="1600" spc="-25" dirty="0">
                <a:latin typeface="Calisto MT"/>
                <a:cs typeface="Calisto MT"/>
              </a:rPr>
              <a:t>JDK </a:t>
            </a:r>
            <a:r>
              <a:rPr sz="1600" dirty="0">
                <a:latin typeface="Calisto MT"/>
                <a:cs typeface="Calisto MT"/>
              </a:rPr>
              <a:t>installation</a:t>
            </a:r>
            <a:r>
              <a:rPr sz="1600" spc="-90" dirty="0">
                <a:latin typeface="Calisto MT"/>
                <a:cs typeface="Calisto MT"/>
              </a:rPr>
              <a:t> </a:t>
            </a:r>
            <a:r>
              <a:rPr sz="1600" spc="-20" dirty="0">
                <a:latin typeface="Calisto MT"/>
                <a:cs typeface="Calisto MT"/>
              </a:rPr>
              <a:t>path.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487424" y="4716779"/>
            <a:ext cx="2381885" cy="1186180"/>
            <a:chOff x="1487424" y="4716779"/>
            <a:chExt cx="2381885" cy="1186180"/>
          </a:xfrm>
        </p:grpSpPr>
        <p:sp>
          <p:nvSpPr>
            <p:cNvPr id="44" name="object 44"/>
            <p:cNvSpPr/>
            <p:nvPr/>
          </p:nvSpPr>
          <p:spPr>
            <a:xfrm>
              <a:off x="3454146" y="5310377"/>
              <a:ext cx="408940" cy="0"/>
            </a:xfrm>
            <a:custGeom>
              <a:avLst/>
              <a:gdLst/>
              <a:ahLst/>
              <a:cxnLst/>
              <a:rect l="l" t="t" r="r" b="b"/>
              <a:pathLst>
                <a:path w="408939">
                  <a:moveTo>
                    <a:pt x="0" y="0"/>
                  </a:moveTo>
                  <a:lnTo>
                    <a:pt x="408419" y="0"/>
                  </a:lnTo>
                </a:path>
              </a:pathLst>
            </a:custGeom>
            <a:ln w="12700">
              <a:solidFill>
                <a:srgbClr val="39B4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786369" y="5265922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50"/>
                  </a:lnTo>
                  <a:lnTo>
                    <a:pt x="0" y="88900"/>
                  </a:lnTo>
                </a:path>
              </a:pathLst>
            </a:custGeom>
            <a:ln w="12700">
              <a:solidFill>
                <a:srgbClr val="39B4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87424" y="4716779"/>
              <a:ext cx="1972055" cy="1185671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1708575" y="4939301"/>
            <a:ext cx="1530350" cy="69596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algn="ctr">
              <a:lnSpc>
                <a:spcPct val="87500"/>
              </a:lnSpc>
              <a:spcBef>
                <a:spcPts val="335"/>
              </a:spcBef>
            </a:pPr>
            <a:r>
              <a:rPr sz="1600" spc="-10" dirty="0">
                <a:latin typeface="Calisto MT"/>
                <a:cs typeface="Calisto MT"/>
              </a:rPr>
              <a:t>Confirm </a:t>
            </a:r>
            <a:r>
              <a:rPr sz="1600" dirty="0">
                <a:latin typeface="Calisto MT"/>
                <a:cs typeface="Calisto MT"/>
              </a:rPr>
              <a:t>destination</a:t>
            </a:r>
            <a:r>
              <a:rPr sz="1600" spc="-75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folder </a:t>
            </a:r>
            <a:r>
              <a:rPr sz="1600" dirty="0">
                <a:latin typeface="Calisto MT"/>
                <a:cs typeface="Calisto MT"/>
              </a:rPr>
              <a:t>and</a:t>
            </a:r>
            <a:r>
              <a:rPr sz="1600" spc="-20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click</a:t>
            </a:r>
            <a:r>
              <a:rPr sz="1600" spc="-30" dirty="0">
                <a:latin typeface="Calisto MT"/>
                <a:cs typeface="Calisto MT"/>
              </a:rPr>
              <a:t> </a:t>
            </a:r>
            <a:r>
              <a:rPr sz="1600" b="1" spc="-10" dirty="0">
                <a:latin typeface="Calisto MT"/>
                <a:cs typeface="Calisto MT"/>
              </a:rPr>
              <a:t>install.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3902964" y="4716779"/>
            <a:ext cx="2381885" cy="1186180"/>
            <a:chOff x="3902964" y="4716779"/>
            <a:chExt cx="2381885" cy="1186180"/>
          </a:xfrm>
        </p:grpSpPr>
        <p:sp>
          <p:nvSpPr>
            <p:cNvPr id="49" name="object 49"/>
            <p:cNvSpPr/>
            <p:nvPr/>
          </p:nvSpPr>
          <p:spPr>
            <a:xfrm>
              <a:off x="5869685" y="5310377"/>
              <a:ext cx="408940" cy="0"/>
            </a:xfrm>
            <a:custGeom>
              <a:avLst/>
              <a:gdLst/>
              <a:ahLst/>
              <a:cxnLst/>
              <a:rect l="l" t="t" r="r" b="b"/>
              <a:pathLst>
                <a:path w="408939">
                  <a:moveTo>
                    <a:pt x="0" y="0"/>
                  </a:moveTo>
                  <a:lnTo>
                    <a:pt x="408419" y="0"/>
                  </a:lnTo>
                </a:path>
              </a:pathLst>
            </a:custGeom>
            <a:ln w="12700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201910" y="5265922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50"/>
                  </a:lnTo>
                  <a:lnTo>
                    <a:pt x="0" y="88900"/>
                  </a:lnTo>
                </a:path>
              </a:pathLst>
            </a:custGeom>
            <a:ln w="12700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02964" y="4716779"/>
              <a:ext cx="1970531" cy="1185671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4038419" y="5049411"/>
            <a:ext cx="1699260" cy="48069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700" marR="5080" indent="115570">
              <a:lnSpc>
                <a:spcPts val="1670"/>
              </a:lnSpc>
              <a:spcBef>
                <a:spcPts val="359"/>
              </a:spcBef>
            </a:pPr>
            <a:r>
              <a:rPr sz="1600" dirty="0">
                <a:latin typeface="Calisto MT"/>
                <a:cs typeface="Calisto MT"/>
              </a:rPr>
              <a:t>Click</a:t>
            </a:r>
            <a:r>
              <a:rPr sz="1600" spc="-40" dirty="0">
                <a:latin typeface="Calisto MT"/>
                <a:cs typeface="Calisto MT"/>
              </a:rPr>
              <a:t> </a:t>
            </a:r>
            <a:r>
              <a:rPr sz="1600" b="1" dirty="0">
                <a:latin typeface="Calisto MT"/>
                <a:cs typeface="Calisto MT"/>
              </a:rPr>
              <a:t>Finish</a:t>
            </a:r>
            <a:r>
              <a:rPr sz="1600" b="1" spc="-30" dirty="0">
                <a:latin typeface="Calisto MT"/>
                <a:cs typeface="Calisto MT"/>
              </a:rPr>
              <a:t> </a:t>
            </a:r>
            <a:r>
              <a:rPr sz="1600" spc="-25" dirty="0">
                <a:latin typeface="Calisto MT"/>
                <a:cs typeface="Calisto MT"/>
              </a:rPr>
              <a:t>and </a:t>
            </a:r>
            <a:r>
              <a:rPr sz="1600" dirty="0">
                <a:latin typeface="Calisto MT"/>
                <a:cs typeface="Calisto MT"/>
              </a:rPr>
              <a:t>restart</a:t>
            </a:r>
            <a:r>
              <a:rPr sz="1600" spc="-1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if</a:t>
            </a:r>
            <a:r>
              <a:rPr sz="1600" spc="145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prompted.</a:t>
            </a:r>
            <a:endParaRPr sz="1600">
              <a:latin typeface="Calisto MT"/>
              <a:cs typeface="Calisto MT"/>
            </a:endParaRPr>
          </a:p>
        </p:txBody>
      </p:sp>
      <p:pic>
        <p:nvPicPr>
          <p:cNvPr id="53" name="object 5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318503" y="4716779"/>
            <a:ext cx="1970531" cy="1185671"/>
          </a:xfrm>
          <a:prstGeom prst="rect">
            <a:avLst/>
          </a:prstGeom>
        </p:spPr>
      </p:pic>
      <p:sp>
        <p:nvSpPr>
          <p:cNvPr id="54" name="object 54"/>
          <p:cNvSpPr txBox="1"/>
          <p:nvPr/>
        </p:nvSpPr>
        <p:spPr>
          <a:xfrm>
            <a:off x="6482288" y="4836431"/>
            <a:ext cx="1641475" cy="90170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 indent="-635" algn="ctr">
              <a:lnSpc>
                <a:spcPct val="86500"/>
              </a:lnSpc>
              <a:spcBef>
                <a:spcPts val="355"/>
              </a:spcBef>
            </a:pPr>
            <a:r>
              <a:rPr sz="1600" dirty="0">
                <a:latin typeface="Calisto MT"/>
                <a:cs typeface="Calisto MT"/>
              </a:rPr>
              <a:t>Go </a:t>
            </a:r>
            <a:r>
              <a:rPr sz="1600" spc="-25" dirty="0">
                <a:latin typeface="Calisto MT"/>
                <a:cs typeface="Calisto MT"/>
              </a:rPr>
              <a:t>to </a:t>
            </a:r>
            <a:r>
              <a:rPr sz="1600" dirty="0">
                <a:latin typeface="Calisto MT"/>
                <a:cs typeface="Calisto MT"/>
              </a:rPr>
              <a:t>localhost:8080</a:t>
            </a:r>
            <a:r>
              <a:rPr sz="1600" spc="-60" dirty="0">
                <a:latin typeface="Calisto MT"/>
                <a:cs typeface="Calisto MT"/>
              </a:rPr>
              <a:t> </a:t>
            </a:r>
            <a:r>
              <a:rPr sz="1600" spc="-25" dirty="0">
                <a:latin typeface="Calisto MT"/>
                <a:cs typeface="Calisto MT"/>
              </a:rPr>
              <a:t>and </a:t>
            </a:r>
            <a:r>
              <a:rPr sz="1600" dirty="0">
                <a:latin typeface="Calisto MT"/>
                <a:cs typeface="Calisto MT"/>
              </a:rPr>
              <a:t>check</a:t>
            </a:r>
            <a:r>
              <a:rPr sz="1600" spc="-2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for</a:t>
            </a:r>
            <a:r>
              <a:rPr sz="1600" spc="-20" dirty="0">
                <a:latin typeface="Calisto MT"/>
                <a:cs typeface="Calisto MT"/>
              </a:rPr>
              <a:t> </a:t>
            </a:r>
            <a:r>
              <a:rPr sz="1600" spc="-25" dirty="0">
                <a:latin typeface="Calisto MT"/>
                <a:cs typeface="Calisto MT"/>
              </a:rPr>
              <a:t>the </a:t>
            </a:r>
            <a:r>
              <a:rPr sz="1600" dirty="0">
                <a:latin typeface="Calisto MT"/>
                <a:cs typeface="Calisto MT"/>
              </a:rPr>
              <a:t>success</a:t>
            </a:r>
            <a:r>
              <a:rPr sz="1600" spc="-30" dirty="0">
                <a:latin typeface="Calisto MT"/>
                <a:cs typeface="Calisto MT"/>
              </a:rPr>
              <a:t> </a:t>
            </a:r>
            <a:r>
              <a:rPr sz="1600" spc="-20" dirty="0">
                <a:latin typeface="Calisto MT"/>
                <a:cs typeface="Calisto MT"/>
              </a:rPr>
              <a:t>page.</a:t>
            </a:r>
            <a:endParaRPr sz="1600">
              <a:latin typeface="Calisto MT"/>
              <a:cs typeface="Calisto MT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Lifecycle</a:t>
            </a:r>
            <a:r>
              <a:rPr spc="-3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Directory</a:t>
            </a:r>
            <a:r>
              <a:rPr spc="-35" dirty="0"/>
              <a:t> </a:t>
            </a:r>
            <a:r>
              <a:rPr dirty="0"/>
              <a:t>Structure</a:t>
            </a:r>
            <a:r>
              <a:rPr spc="-20" dirty="0"/>
              <a:t> </a:t>
            </a:r>
            <a:r>
              <a:rPr dirty="0"/>
              <a:t>of</a:t>
            </a:r>
            <a:r>
              <a:rPr spc="215" dirty="0"/>
              <a:t> </a:t>
            </a:r>
            <a:r>
              <a:rPr spc="-60" dirty="0"/>
              <a:t>Web</a:t>
            </a:r>
            <a:r>
              <a:rPr spc="-65" dirty="0"/>
              <a:t> </a:t>
            </a:r>
            <a:r>
              <a:rPr spc="-10" dirty="0"/>
              <a:t>Applications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66800" y="1386839"/>
            <a:ext cx="4455160" cy="4892040"/>
            <a:chOff x="1066800" y="1386839"/>
            <a:chExt cx="4455160" cy="48920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800" y="5704331"/>
              <a:ext cx="4454651" cy="57454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6800" y="4841748"/>
              <a:ext cx="4454651" cy="87934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6800" y="3979163"/>
              <a:ext cx="4454651" cy="87934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6800" y="3115055"/>
              <a:ext cx="4454651" cy="87934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6800" y="2252472"/>
              <a:ext cx="4454651" cy="87934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66800" y="1386839"/>
              <a:ext cx="4454651" cy="879347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290551" y="903211"/>
            <a:ext cx="8366759" cy="5306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21360">
              <a:lnSpc>
                <a:spcPct val="100000"/>
              </a:lnSpc>
              <a:spcBef>
                <a:spcPts val="100"/>
              </a:spcBef>
              <a:tabLst>
                <a:tab pos="6470015" algn="l"/>
              </a:tabLst>
            </a:pPr>
            <a:r>
              <a:rPr sz="1800" spc="-40" dirty="0">
                <a:latin typeface="Calisto MT"/>
                <a:cs typeface="Calisto MT"/>
              </a:rPr>
              <a:t>Web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8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Lifecycle</a:t>
            </a:r>
            <a:r>
              <a:rPr sz="1800" dirty="0">
                <a:latin typeface="Calisto MT"/>
                <a:cs typeface="Calisto MT"/>
              </a:rPr>
              <a:t>	Directory </a:t>
            </a:r>
            <a:r>
              <a:rPr sz="1800" spc="-10" dirty="0">
                <a:latin typeface="Calisto MT"/>
                <a:cs typeface="Calisto MT"/>
              </a:rPr>
              <a:t>Structure</a:t>
            </a:r>
            <a:endParaRPr sz="18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1800">
              <a:latin typeface="Calisto MT"/>
              <a:cs typeface="Calisto MT"/>
            </a:endParaRPr>
          </a:p>
          <a:p>
            <a:pPr marR="4352290" algn="ctr">
              <a:lnSpc>
                <a:spcPct val="100000"/>
              </a:lnSpc>
            </a:pPr>
            <a:r>
              <a:rPr sz="1600" spc="-10" dirty="0">
                <a:latin typeface="Calisto MT"/>
                <a:cs typeface="Calisto MT"/>
              </a:rPr>
              <a:t>Develop</a:t>
            </a:r>
            <a:r>
              <a:rPr sz="1600" spc="-50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the</a:t>
            </a:r>
            <a:r>
              <a:rPr sz="1600" spc="-55" dirty="0">
                <a:latin typeface="Calisto MT"/>
                <a:cs typeface="Calisto MT"/>
              </a:rPr>
              <a:t> </a:t>
            </a:r>
            <a:r>
              <a:rPr sz="1600" spc="-35" dirty="0">
                <a:latin typeface="Calisto MT"/>
                <a:cs typeface="Calisto MT"/>
              </a:rPr>
              <a:t>Web</a:t>
            </a:r>
            <a:r>
              <a:rPr sz="1600" spc="-70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component</a:t>
            </a:r>
            <a:r>
              <a:rPr sz="1600" spc="-40" dirty="0">
                <a:latin typeface="Calisto MT"/>
                <a:cs typeface="Calisto MT"/>
              </a:rPr>
              <a:t> </a:t>
            </a:r>
            <a:r>
              <a:rPr sz="1600" spc="-20" dirty="0">
                <a:latin typeface="Calisto MT"/>
                <a:cs typeface="Calisto MT"/>
              </a:rPr>
              <a:t>code.</a:t>
            </a:r>
            <a:endParaRPr sz="1600">
              <a:latin typeface="Calisto MT"/>
              <a:cs typeface="Calisto MT"/>
            </a:endParaRPr>
          </a:p>
          <a:p>
            <a:pPr>
              <a:lnSpc>
                <a:spcPct val="100000"/>
              </a:lnSpc>
            </a:pPr>
            <a:endParaRPr sz="16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600">
              <a:latin typeface="Calisto MT"/>
              <a:cs typeface="Calisto MT"/>
            </a:endParaRPr>
          </a:p>
          <a:p>
            <a:pPr marL="225425" marR="4577715" algn="ctr">
              <a:lnSpc>
                <a:spcPts val="1660"/>
              </a:lnSpc>
            </a:pPr>
            <a:r>
              <a:rPr sz="1600" spc="-10" dirty="0">
                <a:latin typeface="Calisto MT"/>
                <a:cs typeface="Calisto MT"/>
              </a:rPr>
              <a:t>Develop</a:t>
            </a:r>
            <a:r>
              <a:rPr sz="1600" spc="-5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the</a:t>
            </a:r>
            <a:r>
              <a:rPr sz="1600" spc="-55" dirty="0">
                <a:latin typeface="Calisto MT"/>
                <a:cs typeface="Calisto MT"/>
              </a:rPr>
              <a:t> </a:t>
            </a:r>
            <a:r>
              <a:rPr sz="1600" spc="-35" dirty="0">
                <a:latin typeface="Calisto MT"/>
                <a:cs typeface="Calisto MT"/>
              </a:rPr>
              <a:t>Web</a:t>
            </a:r>
            <a:r>
              <a:rPr sz="1600" spc="-6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application</a:t>
            </a:r>
            <a:r>
              <a:rPr sz="1600" spc="-50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deployment descriptor.</a:t>
            </a:r>
            <a:endParaRPr sz="16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1630"/>
              </a:spcBef>
            </a:pPr>
            <a:endParaRPr sz="1600">
              <a:latin typeface="Calisto MT"/>
              <a:cs typeface="Calisto MT"/>
            </a:endParaRPr>
          </a:p>
          <a:p>
            <a:pPr marL="12700" marR="4363085" algn="ctr">
              <a:lnSpc>
                <a:spcPts val="1660"/>
              </a:lnSpc>
              <a:spcBef>
                <a:spcPts val="5"/>
              </a:spcBef>
            </a:pPr>
            <a:r>
              <a:rPr sz="1600" dirty="0">
                <a:latin typeface="Calisto MT"/>
                <a:cs typeface="Calisto MT"/>
              </a:rPr>
              <a:t>Compile</a:t>
            </a:r>
            <a:r>
              <a:rPr sz="1600" spc="-6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the</a:t>
            </a:r>
            <a:r>
              <a:rPr sz="1600" spc="-65" dirty="0">
                <a:latin typeface="Calisto MT"/>
                <a:cs typeface="Calisto MT"/>
              </a:rPr>
              <a:t> </a:t>
            </a:r>
            <a:r>
              <a:rPr sz="1600" spc="-30" dirty="0">
                <a:latin typeface="Calisto MT"/>
                <a:cs typeface="Calisto MT"/>
              </a:rPr>
              <a:t>Web</a:t>
            </a:r>
            <a:r>
              <a:rPr sz="1600" spc="-7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application</a:t>
            </a:r>
            <a:r>
              <a:rPr sz="1600" spc="-60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components</a:t>
            </a:r>
            <a:r>
              <a:rPr sz="1600" spc="-55" dirty="0">
                <a:latin typeface="Calisto MT"/>
                <a:cs typeface="Calisto MT"/>
              </a:rPr>
              <a:t> </a:t>
            </a:r>
            <a:r>
              <a:rPr sz="1600" spc="-25" dirty="0">
                <a:latin typeface="Calisto MT"/>
                <a:cs typeface="Calisto MT"/>
              </a:rPr>
              <a:t>and </a:t>
            </a:r>
            <a:r>
              <a:rPr sz="1600" dirty="0">
                <a:latin typeface="Calisto MT"/>
                <a:cs typeface="Calisto MT"/>
              </a:rPr>
              <a:t>helper</a:t>
            </a:r>
            <a:r>
              <a:rPr sz="1600" spc="-3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classes</a:t>
            </a:r>
            <a:r>
              <a:rPr sz="1600" spc="-3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referenced</a:t>
            </a:r>
            <a:r>
              <a:rPr sz="1600" spc="-20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by</a:t>
            </a:r>
            <a:r>
              <a:rPr sz="1600" spc="-4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the</a:t>
            </a:r>
            <a:r>
              <a:rPr sz="1600" spc="-40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components.</a:t>
            </a:r>
            <a:endParaRPr sz="16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1630"/>
              </a:spcBef>
            </a:pPr>
            <a:endParaRPr sz="1600">
              <a:latin typeface="Calisto MT"/>
              <a:cs typeface="Calisto MT"/>
            </a:endParaRPr>
          </a:p>
          <a:p>
            <a:pPr marL="218440" marR="4568190" algn="ctr">
              <a:lnSpc>
                <a:spcPts val="1660"/>
              </a:lnSpc>
            </a:pPr>
            <a:r>
              <a:rPr sz="1600" spc="-20" dirty="0">
                <a:latin typeface="Calisto MT"/>
                <a:cs typeface="Calisto MT"/>
              </a:rPr>
              <a:t>Optionally,</a:t>
            </a:r>
            <a:r>
              <a:rPr sz="1600" spc="-40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package</a:t>
            </a:r>
            <a:r>
              <a:rPr sz="1600" spc="-5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the</a:t>
            </a:r>
            <a:r>
              <a:rPr sz="1600" spc="-6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application</a:t>
            </a:r>
            <a:r>
              <a:rPr sz="1600" spc="-50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into</a:t>
            </a:r>
            <a:r>
              <a:rPr sz="1600" spc="-45" dirty="0">
                <a:latin typeface="Calisto MT"/>
                <a:cs typeface="Calisto MT"/>
              </a:rPr>
              <a:t> </a:t>
            </a:r>
            <a:r>
              <a:rPr sz="1600" spc="-50" dirty="0">
                <a:latin typeface="Calisto MT"/>
                <a:cs typeface="Calisto MT"/>
              </a:rPr>
              <a:t>a </a:t>
            </a:r>
            <a:r>
              <a:rPr sz="1600" spc="-10" dirty="0">
                <a:latin typeface="Calisto MT"/>
                <a:cs typeface="Calisto MT"/>
              </a:rPr>
              <a:t>deployable unit.</a:t>
            </a:r>
            <a:endParaRPr sz="1600">
              <a:latin typeface="Calisto MT"/>
              <a:cs typeface="Calisto MT"/>
            </a:endParaRPr>
          </a:p>
          <a:p>
            <a:pPr>
              <a:lnSpc>
                <a:spcPct val="100000"/>
              </a:lnSpc>
            </a:pPr>
            <a:endParaRPr sz="16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600">
              <a:latin typeface="Calisto MT"/>
              <a:cs typeface="Calisto MT"/>
            </a:endParaRPr>
          </a:p>
          <a:p>
            <a:pPr marR="4349750" algn="ctr">
              <a:lnSpc>
                <a:spcPct val="100000"/>
              </a:lnSpc>
            </a:pPr>
            <a:r>
              <a:rPr sz="1600" dirty="0">
                <a:latin typeface="Calisto MT"/>
                <a:cs typeface="Calisto MT"/>
              </a:rPr>
              <a:t>Deploy</a:t>
            </a:r>
            <a:r>
              <a:rPr sz="1600" spc="-50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the</a:t>
            </a:r>
            <a:r>
              <a:rPr sz="1600" spc="-3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application</a:t>
            </a:r>
            <a:r>
              <a:rPr sz="1600" spc="-3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into</a:t>
            </a:r>
            <a:r>
              <a:rPr sz="1600" spc="-30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a</a:t>
            </a:r>
            <a:r>
              <a:rPr sz="1600" spc="-50" dirty="0">
                <a:latin typeface="Calisto MT"/>
                <a:cs typeface="Calisto MT"/>
              </a:rPr>
              <a:t> </a:t>
            </a:r>
            <a:r>
              <a:rPr sz="1600" spc="-30" dirty="0">
                <a:latin typeface="Calisto MT"/>
                <a:cs typeface="Calisto MT"/>
              </a:rPr>
              <a:t>Web</a:t>
            </a:r>
            <a:r>
              <a:rPr sz="1600" spc="-45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container.</a:t>
            </a:r>
            <a:endParaRPr sz="1600">
              <a:latin typeface="Calisto MT"/>
              <a:cs typeface="Calisto MT"/>
            </a:endParaRPr>
          </a:p>
          <a:p>
            <a:pPr>
              <a:lnSpc>
                <a:spcPct val="100000"/>
              </a:lnSpc>
            </a:pPr>
            <a:endParaRPr sz="16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600">
              <a:latin typeface="Calisto MT"/>
              <a:cs typeface="Calisto MT"/>
            </a:endParaRPr>
          </a:p>
          <a:p>
            <a:pPr marL="233679" marR="4585335" algn="ctr">
              <a:lnSpc>
                <a:spcPts val="1660"/>
              </a:lnSpc>
            </a:pPr>
            <a:r>
              <a:rPr sz="1600" dirty="0">
                <a:latin typeface="Calisto MT"/>
                <a:cs typeface="Calisto MT"/>
              </a:rPr>
              <a:t>Access</a:t>
            </a:r>
            <a:r>
              <a:rPr sz="1600" spc="-4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a</a:t>
            </a:r>
            <a:r>
              <a:rPr sz="1600" spc="-4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URL,</a:t>
            </a:r>
            <a:r>
              <a:rPr sz="1600" spc="-3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which</a:t>
            </a:r>
            <a:r>
              <a:rPr sz="1600" spc="-2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references</a:t>
            </a:r>
            <a:r>
              <a:rPr sz="1600" spc="-3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the</a:t>
            </a:r>
            <a:r>
              <a:rPr sz="1600" spc="-30" dirty="0">
                <a:latin typeface="Calisto MT"/>
                <a:cs typeface="Calisto MT"/>
              </a:rPr>
              <a:t> </a:t>
            </a:r>
            <a:r>
              <a:rPr sz="1600" spc="-25" dirty="0">
                <a:latin typeface="Calisto MT"/>
                <a:cs typeface="Calisto MT"/>
              </a:rPr>
              <a:t>Web </a:t>
            </a:r>
            <a:r>
              <a:rPr sz="1600" spc="-10" dirty="0">
                <a:latin typeface="Calisto MT"/>
                <a:cs typeface="Calisto MT"/>
              </a:rPr>
              <a:t>application.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347078" y="1380363"/>
            <a:ext cx="5076190" cy="4906645"/>
            <a:chOff x="6347078" y="1380363"/>
            <a:chExt cx="5076190" cy="4906645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56603" y="1389888"/>
              <a:ext cx="5052982" cy="488746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351841" y="1385125"/>
              <a:ext cx="5066665" cy="4897120"/>
            </a:xfrm>
            <a:custGeom>
              <a:avLst/>
              <a:gdLst/>
              <a:ahLst/>
              <a:cxnLst/>
              <a:rect l="l" t="t" r="r" b="b"/>
              <a:pathLst>
                <a:path w="5066665" h="4897120">
                  <a:moveTo>
                    <a:pt x="0" y="0"/>
                  </a:moveTo>
                  <a:lnTo>
                    <a:pt x="5066157" y="0"/>
                  </a:lnTo>
                  <a:lnTo>
                    <a:pt x="5066157" y="4896993"/>
                  </a:lnTo>
                  <a:lnTo>
                    <a:pt x="0" y="4896993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2956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Web</a:t>
            </a:r>
            <a:r>
              <a:rPr spc="-114" dirty="0"/>
              <a:t> </a:t>
            </a:r>
            <a:r>
              <a:rPr dirty="0"/>
              <a:t>Application</a:t>
            </a:r>
            <a:r>
              <a:rPr spc="-60" dirty="0"/>
              <a:t> </a:t>
            </a:r>
            <a:r>
              <a:rPr spc="-10" dirty="0"/>
              <a:t>Development</a:t>
            </a:r>
            <a:r>
              <a:rPr spc="-95" dirty="0"/>
              <a:t> </a:t>
            </a:r>
            <a:r>
              <a:rPr dirty="0"/>
              <a:t>in</a:t>
            </a:r>
            <a:r>
              <a:rPr spc="-90" dirty="0"/>
              <a:t> </a:t>
            </a:r>
            <a:r>
              <a:rPr spc="-10" dirty="0"/>
              <a:t>Eclipse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40030" y="932276"/>
            <a:ext cx="5687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Process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creating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new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Dynamic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45" dirty="0">
                <a:latin typeface="Calisto MT"/>
                <a:cs typeface="Calisto MT"/>
              </a:rPr>
              <a:t>Web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Project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Eclipse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630923" y="1481327"/>
            <a:ext cx="2378075" cy="1184275"/>
            <a:chOff x="6630923" y="1481327"/>
            <a:chExt cx="2378075" cy="1184275"/>
          </a:xfrm>
        </p:grpSpPr>
        <p:sp>
          <p:nvSpPr>
            <p:cNvPr id="5" name="object 5"/>
            <p:cNvSpPr/>
            <p:nvPr/>
          </p:nvSpPr>
          <p:spPr>
            <a:xfrm>
              <a:off x="8594597" y="2073401"/>
              <a:ext cx="408305" cy="0"/>
            </a:xfrm>
            <a:custGeom>
              <a:avLst/>
              <a:gdLst/>
              <a:ahLst/>
              <a:cxnLst/>
              <a:rect l="l" t="t" r="r" b="b"/>
              <a:pathLst>
                <a:path w="408304">
                  <a:moveTo>
                    <a:pt x="0" y="0"/>
                  </a:moveTo>
                  <a:lnTo>
                    <a:pt x="407771" y="0"/>
                  </a:lnTo>
                </a:path>
              </a:pathLst>
            </a:custGeom>
            <a:ln w="12700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926173" y="2028948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50"/>
                  </a:lnTo>
                  <a:lnTo>
                    <a:pt x="0" y="88900"/>
                  </a:lnTo>
                </a:path>
              </a:pathLst>
            </a:custGeom>
            <a:ln w="12700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30923" y="1481327"/>
              <a:ext cx="1967483" cy="118414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958460" y="1897131"/>
            <a:ext cx="1313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Open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Eclipse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565390" y="1481327"/>
            <a:ext cx="3445510" cy="1593215"/>
            <a:chOff x="7565390" y="1481327"/>
            <a:chExt cx="3445510" cy="1593215"/>
          </a:xfrm>
        </p:grpSpPr>
        <p:sp>
          <p:nvSpPr>
            <p:cNvPr id="10" name="object 10"/>
            <p:cNvSpPr/>
            <p:nvPr/>
          </p:nvSpPr>
          <p:spPr>
            <a:xfrm>
              <a:off x="7616185" y="2660141"/>
              <a:ext cx="2411730" cy="408305"/>
            </a:xfrm>
            <a:custGeom>
              <a:avLst/>
              <a:gdLst/>
              <a:ahLst/>
              <a:cxnLst/>
              <a:rect l="l" t="t" r="r" b="b"/>
              <a:pathLst>
                <a:path w="2411729" h="408305">
                  <a:moveTo>
                    <a:pt x="2411590" y="0"/>
                  </a:moveTo>
                  <a:lnTo>
                    <a:pt x="2411590" y="227279"/>
                  </a:lnTo>
                  <a:lnTo>
                    <a:pt x="0" y="227279"/>
                  </a:lnTo>
                  <a:lnTo>
                    <a:pt x="0" y="407771"/>
                  </a:lnTo>
                </a:path>
              </a:pathLst>
            </a:custGeom>
            <a:ln w="12700">
              <a:solidFill>
                <a:srgbClr val="3EC3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71740" y="2991714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88900" y="0"/>
                  </a:moveTo>
                  <a:lnTo>
                    <a:pt x="44450" y="7620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3EC3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41892" y="1481327"/>
              <a:ext cx="1969007" cy="1184147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9249650" y="1535181"/>
            <a:ext cx="1553845" cy="1029969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065" marR="5080" algn="ctr">
              <a:lnSpc>
                <a:spcPct val="88700"/>
              </a:lnSpc>
              <a:spcBef>
                <a:spcPts val="345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Select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sto MT"/>
                <a:cs typeface="Calisto MT"/>
              </a:rPr>
              <a:t>File</a:t>
            </a:r>
            <a:r>
              <a:rPr sz="1800" b="1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Wingdings"/>
                <a:cs typeface="Wingdings"/>
              </a:rPr>
              <a:t>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sto MT"/>
                <a:cs typeface="Calisto MT"/>
              </a:rPr>
              <a:t>New</a:t>
            </a:r>
            <a:r>
              <a:rPr sz="1800" b="1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sto MT"/>
                <a:cs typeface="Calisto MT"/>
              </a:rPr>
              <a:t>Project</a:t>
            </a:r>
            <a:r>
              <a:rPr sz="1800" b="1" spc="-5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Wingdings"/>
                <a:cs typeface="Wingdings"/>
              </a:rPr>
              <a:t>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sto MT"/>
                <a:cs typeface="Calisto MT"/>
              </a:rPr>
              <a:t>Dynamic</a:t>
            </a:r>
            <a:r>
              <a:rPr sz="1800" b="1" spc="-7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Calisto MT"/>
                <a:cs typeface="Calisto MT"/>
              </a:rPr>
              <a:t>Web </a:t>
            </a:r>
            <a:r>
              <a:rPr sz="1800" b="1" spc="-10" dirty="0">
                <a:solidFill>
                  <a:srgbClr val="FFFFFF"/>
                </a:solidFill>
                <a:latin typeface="Calisto MT"/>
                <a:cs typeface="Calisto MT"/>
              </a:rPr>
              <a:t>Project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630923" y="3107435"/>
            <a:ext cx="2378075" cy="1184275"/>
            <a:chOff x="6630923" y="3107435"/>
            <a:chExt cx="2378075" cy="1184275"/>
          </a:xfrm>
        </p:grpSpPr>
        <p:sp>
          <p:nvSpPr>
            <p:cNvPr id="15" name="object 15"/>
            <p:cNvSpPr/>
            <p:nvPr/>
          </p:nvSpPr>
          <p:spPr>
            <a:xfrm>
              <a:off x="8594597" y="3701033"/>
              <a:ext cx="408305" cy="0"/>
            </a:xfrm>
            <a:custGeom>
              <a:avLst/>
              <a:gdLst/>
              <a:ahLst/>
              <a:cxnLst/>
              <a:rect l="l" t="t" r="r" b="b"/>
              <a:pathLst>
                <a:path w="408304">
                  <a:moveTo>
                    <a:pt x="0" y="0"/>
                  </a:moveTo>
                  <a:lnTo>
                    <a:pt x="407771" y="0"/>
                  </a:lnTo>
                </a:path>
              </a:pathLst>
            </a:custGeom>
            <a:ln w="12700">
              <a:solidFill>
                <a:srgbClr val="61CE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926173" y="3656580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49"/>
                  </a:lnTo>
                  <a:lnTo>
                    <a:pt x="0" y="88899"/>
                  </a:lnTo>
                </a:path>
              </a:pathLst>
            </a:custGeom>
            <a:ln w="12700">
              <a:solidFill>
                <a:srgbClr val="61CE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30923" y="3107435"/>
              <a:ext cx="1967483" cy="1184147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074316" y="3527540"/>
            <a:ext cx="1082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Click</a:t>
            </a:r>
            <a:r>
              <a:rPr sz="18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sto MT"/>
                <a:cs typeface="Calisto MT"/>
              </a:rPr>
              <a:t>Next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565390" y="3107435"/>
            <a:ext cx="3445510" cy="1594485"/>
            <a:chOff x="7565390" y="3107435"/>
            <a:chExt cx="3445510" cy="1594485"/>
          </a:xfrm>
        </p:grpSpPr>
        <p:sp>
          <p:nvSpPr>
            <p:cNvPr id="20" name="object 20"/>
            <p:cNvSpPr/>
            <p:nvPr/>
          </p:nvSpPr>
          <p:spPr>
            <a:xfrm>
              <a:off x="7616185" y="4287773"/>
              <a:ext cx="2411730" cy="408305"/>
            </a:xfrm>
            <a:custGeom>
              <a:avLst/>
              <a:gdLst/>
              <a:ahLst/>
              <a:cxnLst/>
              <a:rect l="l" t="t" r="r" b="b"/>
              <a:pathLst>
                <a:path w="2411729" h="408304">
                  <a:moveTo>
                    <a:pt x="2411590" y="0"/>
                  </a:moveTo>
                  <a:lnTo>
                    <a:pt x="2411590" y="227279"/>
                  </a:lnTo>
                  <a:lnTo>
                    <a:pt x="0" y="227279"/>
                  </a:lnTo>
                  <a:lnTo>
                    <a:pt x="0" y="407771"/>
                  </a:lnTo>
                </a:path>
              </a:pathLst>
            </a:custGeom>
            <a:ln w="12700">
              <a:solidFill>
                <a:srgbClr val="D6D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571740" y="4619346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88900" y="0"/>
                  </a:moveTo>
                  <a:lnTo>
                    <a:pt x="44450" y="76199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D6D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41892" y="3107435"/>
              <a:ext cx="1969007" cy="1184147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9191814" y="3168225"/>
            <a:ext cx="1669414" cy="101346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 marR="5080" indent="-635" algn="ctr">
              <a:lnSpc>
                <a:spcPts val="1870"/>
              </a:lnSpc>
              <a:spcBef>
                <a:spcPts val="405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In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the</a:t>
            </a:r>
            <a:r>
              <a:rPr sz="1800" spc="-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Dynamic </a:t>
            </a:r>
            <a:r>
              <a:rPr sz="1800" spc="-40" dirty="0">
                <a:solidFill>
                  <a:srgbClr val="FFFFFF"/>
                </a:solidFill>
                <a:latin typeface="Calisto MT"/>
                <a:cs typeface="Calisto MT"/>
              </a:rPr>
              <a:t>Web</a:t>
            </a:r>
            <a:r>
              <a:rPr sz="1800" spc="-6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Project </a:t>
            </a:r>
            <a:r>
              <a:rPr sz="1800" spc="-30" dirty="0">
                <a:solidFill>
                  <a:srgbClr val="FFFFFF"/>
                </a:solidFill>
                <a:latin typeface="Calisto MT"/>
                <a:cs typeface="Calisto MT"/>
              </a:rPr>
              <a:t>window,</a:t>
            </a:r>
            <a:r>
              <a:rPr sz="18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type</a:t>
            </a:r>
            <a:r>
              <a:rPr sz="18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project</a:t>
            </a:r>
            <a:r>
              <a:rPr sz="1800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name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30923" y="4735067"/>
            <a:ext cx="1967483" cy="1184147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7001133" y="5154871"/>
            <a:ext cx="1228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Click</a:t>
            </a:r>
            <a:r>
              <a:rPr sz="18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sto MT"/>
                <a:cs typeface="Calisto MT"/>
              </a:rPr>
              <a:t>Finish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60377" y="932172"/>
            <a:ext cx="2985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Configuring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Tomcat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Eclipse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27" name="object 2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1647" y="5794247"/>
            <a:ext cx="4454651" cy="574547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531229" y="5819826"/>
            <a:ext cx="3854450" cy="47942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510665" marR="5080" indent="-1498600">
              <a:lnSpc>
                <a:spcPts val="1660"/>
              </a:lnSpc>
              <a:spcBef>
                <a:spcPts val="365"/>
              </a:spcBef>
            </a:pP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Modify</a:t>
            </a:r>
            <a:r>
              <a:rPr sz="1600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sto MT"/>
                <a:cs typeface="Calisto MT"/>
              </a:rPr>
              <a:t>Tomcat</a:t>
            </a:r>
            <a:r>
              <a:rPr sz="16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admin</a:t>
            </a:r>
            <a:r>
              <a:rPr sz="1600" spc="-4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and</a:t>
            </a:r>
            <a:r>
              <a:rPr sz="1600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HTTP/1.1</a:t>
            </a:r>
            <a:r>
              <a:rPr sz="1600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sto MT"/>
                <a:cs typeface="Calisto MT"/>
              </a:rPr>
              <a:t>ports,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then</a:t>
            </a:r>
            <a:r>
              <a:rPr sz="1600" spc="-4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sto MT"/>
                <a:cs typeface="Calisto MT"/>
              </a:rPr>
              <a:t>save.</a:t>
            </a:r>
            <a:endParaRPr sz="1600">
              <a:latin typeface="Calisto MT"/>
              <a:cs typeface="Calisto MT"/>
            </a:endParaRPr>
          </a:p>
        </p:txBody>
      </p:sp>
      <p:pic>
        <p:nvPicPr>
          <p:cNvPr id="29" name="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1647" y="4931664"/>
            <a:ext cx="4454651" cy="879347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1028021" y="5063761"/>
            <a:ext cx="28625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alisto MT"/>
                <a:cs typeface="Calisto MT"/>
              </a:rPr>
              <a:t>Double-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click</a:t>
            </a:r>
            <a:r>
              <a:rPr sz="1600" spc="-6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sto MT"/>
                <a:cs typeface="Calisto MT"/>
              </a:rPr>
              <a:t>Tomcat</a:t>
            </a:r>
            <a:r>
              <a:rPr sz="1600" b="1" spc="-4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sto MT"/>
                <a:cs typeface="Calisto MT"/>
              </a:rPr>
              <a:t>server</a:t>
            </a:r>
            <a:r>
              <a:rPr sz="1600" b="1" spc="-5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sto MT"/>
                <a:cs typeface="Calisto MT"/>
              </a:rPr>
              <a:t>link.</a:t>
            </a:r>
            <a:endParaRPr sz="1600">
              <a:latin typeface="Calisto MT"/>
              <a:cs typeface="Calisto MT"/>
            </a:endParaRPr>
          </a:p>
        </p:txBody>
      </p:sp>
      <p:pic>
        <p:nvPicPr>
          <p:cNvPr id="31" name="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31647" y="4067555"/>
            <a:ext cx="4454651" cy="879347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436741" y="4200439"/>
            <a:ext cx="40449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Choose</a:t>
            </a:r>
            <a:r>
              <a:rPr sz="1600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sto MT"/>
                <a:cs typeface="Calisto MT"/>
              </a:rPr>
              <a:t>Tomcat</a:t>
            </a:r>
            <a:r>
              <a:rPr sz="1600" b="1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sto MT"/>
                <a:cs typeface="Calisto MT"/>
              </a:rPr>
              <a:t>v10.1</a:t>
            </a:r>
            <a:r>
              <a:rPr sz="1600" b="1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sto MT"/>
                <a:cs typeface="Calisto MT"/>
              </a:rPr>
              <a:t>Server</a:t>
            </a:r>
            <a:r>
              <a:rPr sz="1600" b="1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and</a:t>
            </a:r>
            <a:r>
              <a:rPr sz="1600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click</a:t>
            </a:r>
            <a:r>
              <a:rPr sz="1600" spc="-5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sto MT"/>
                <a:cs typeface="Calisto MT"/>
              </a:rPr>
              <a:t>Finish</a:t>
            </a:r>
            <a:r>
              <a:rPr sz="1600" spc="-10" dirty="0">
                <a:solidFill>
                  <a:srgbClr val="FFFFFF"/>
                </a:solidFill>
                <a:latin typeface="Calisto MT"/>
                <a:cs typeface="Calisto MT"/>
              </a:rPr>
              <a:t>.</a:t>
            </a:r>
            <a:endParaRPr sz="1600">
              <a:latin typeface="Calisto MT"/>
              <a:cs typeface="Calisto MT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31647" y="3204972"/>
            <a:ext cx="4454651" cy="879347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555613" y="3337118"/>
            <a:ext cx="3807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alisto MT"/>
                <a:cs typeface="Calisto MT"/>
              </a:rPr>
              <a:t>Double-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click</a:t>
            </a:r>
            <a:r>
              <a:rPr sz="16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sto MT"/>
                <a:cs typeface="Calisto MT"/>
              </a:rPr>
              <a:t>Apache</a:t>
            </a:r>
            <a:r>
              <a:rPr sz="1600" b="1" spc="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to</a:t>
            </a:r>
            <a:r>
              <a:rPr sz="1600" spc="-4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define</a:t>
            </a:r>
            <a:r>
              <a:rPr sz="16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a</a:t>
            </a:r>
            <a:r>
              <a:rPr sz="1600" spc="-4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new</a:t>
            </a:r>
            <a:r>
              <a:rPr sz="16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sto MT"/>
                <a:cs typeface="Calisto MT"/>
              </a:rPr>
              <a:t>server.</a:t>
            </a:r>
            <a:endParaRPr sz="1600">
              <a:latin typeface="Calisto MT"/>
              <a:cs typeface="Calisto MT"/>
            </a:endParaRPr>
          </a:p>
        </p:txBody>
      </p:sp>
      <p:pic>
        <p:nvPicPr>
          <p:cNvPr id="35" name="object 3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31647" y="2340864"/>
            <a:ext cx="4454651" cy="879347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1346537" y="2473796"/>
            <a:ext cx="22250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Click</a:t>
            </a:r>
            <a:r>
              <a:rPr sz="16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the</a:t>
            </a:r>
            <a:r>
              <a:rPr sz="16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link</a:t>
            </a:r>
            <a:r>
              <a:rPr sz="16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for</a:t>
            </a:r>
            <a:r>
              <a:rPr sz="16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sto MT"/>
                <a:cs typeface="Calisto MT"/>
              </a:rPr>
              <a:t>Servers</a:t>
            </a:r>
            <a:r>
              <a:rPr sz="1600" spc="-10" dirty="0">
                <a:solidFill>
                  <a:srgbClr val="FFFFFF"/>
                </a:solidFill>
                <a:latin typeface="Calisto MT"/>
                <a:cs typeface="Calisto MT"/>
              </a:rPr>
              <a:t>.</a:t>
            </a:r>
            <a:endParaRPr sz="1600">
              <a:latin typeface="Calisto MT"/>
              <a:cs typeface="Calisto MT"/>
            </a:endParaRPr>
          </a:p>
        </p:txBody>
      </p:sp>
      <p:pic>
        <p:nvPicPr>
          <p:cNvPr id="37" name="object 3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31647" y="1478280"/>
            <a:ext cx="4454651" cy="879347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340696" y="1502270"/>
            <a:ext cx="4230370" cy="48514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435735" marR="5080" indent="-1423670">
              <a:lnSpc>
                <a:spcPts val="1700"/>
              </a:lnSpc>
              <a:spcBef>
                <a:spcPts val="335"/>
              </a:spcBef>
            </a:pP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Open</a:t>
            </a:r>
            <a:r>
              <a:rPr sz="1600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sto MT"/>
                <a:cs typeface="Calisto MT"/>
              </a:rPr>
              <a:t>Eclipse,</a:t>
            </a:r>
            <a:r>
              <a:rPr sz="1600" spc="-4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and</a:t>
            </a:r>
            <a:r>
              <a:rPr sz="16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sto MT"/>
                <a:cs typeface="Calisto MT"/>
              </a:rPr>
              <a:t>navigate</a:t>
            </a:r>
            <a:r>
              <a:rPr sz="16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dirty="0">
                <a:solidFill>
                  <a:srgbClr val="FFFFFF"/>
                </a:solidFill>
                <a:latin typeface="Calisto MT"/>
                <a:cs typeface="Calisto MT"/>
              </a:rPr>
              <a:t>to</a:t>
            </a:r>
            <a:r>
              <a:rPr sz="1600" spc="-5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sto MT"/>
                <a:cs typeface="Calisto MT"/>
              </a:rPr>
              <a:t>Windows</a:t>
            </a:r>
            <a:r>
              <a:rPr sz="1600" spc="-10" dirty="0">
                <a:solidFill>
                  <a:srgbClr val="FFFFFF"/>
                </a:solidFill>
                <a:latin typeface="Wingdings"/>
                <a:cs typeface="Wingdings"/>
              </a:rPr>
              <a:t></a:t>
            </a:r>
            <a:r>
              <a:rPr sz="16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Calisto MT"/>
                <a:cs typeface="Calisto MT"/>
              </a:rPr>
              <a:t>Show </a:t>
            </a:r>
            <a:r>
              <a:rPr sz="1600" b="1" spc="-10" dirty="0">
                <a:solidFill>
                  <a:srgbClr val="FFFFFF"/>
                </a:solidFill>
                <a:latin typeface="Calisto MT"/>
                <a:cs typeface="Calisto MT"/>
              </a:rPr>
              <a:t>View</a:t>
            </a:r>
            <a:r>
              <a:rPr sz="1600" spc="-10" dirty="0">
                <a:solidFill>
                  <a:srgbClr val="FFFFFF"/>
                </a:solidFill>
                <a:latin typeface="Wingdings"/>
                <a:cs typeface="Wingdings"/>
              </a:rPr>
              <a:t></a:t>
            </a:r>
            <a:r>
              <a:rPr sz="1600" b="1" spc="-10" dirty="0">
                <a:solidFill>
                  <a:srgbClr val="FFFFFF"/>
                </a:solidFill>
                <a:latin typeface="Calisto MT"/>
                <a:cs typeface="Calisto MT"/>
              </a:rPr>
              <a:t>Servers</a:t>
            </a:r>
            <a:r>
              <a:rPr sz="1600" spc="-10" dirty="0">
                <a:solidFill>
                  <a:srgbClr val="FFFFFF"/>
                </a:solidFill>
                <a:latin typeface="Calisto MT"/>
                <a:cs typeface="Calisto MT"/>
              </a:rPr>
              <a:t>.</a:t>
            </a:r>
            <a:endParaRPr sz="1600">
              <a:latin typeface="Calisto MT"/>
              <a:cs typeface="Calisto MT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Directory</a:t>
            </a:r>
            <a:r>
              <a:rPr spc="-10" dirty="0"/>
              <a:t> </a:t>
            </a:r>
            <a:r>
              <a:rPr dirty="0"/>
              <a:t>Structure</a:t>
            </a:r>
            <a:r>
              <a:rPr spc="-25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spc="-10" dirty="0"/>
              <a:t>Eclipse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239642" y="1031366"/>
            <a:ext cx="5609590" cy="5236210"/>
            <a:chOff x="3239642" y="1031366"/>
            <a:chExt cx="5609590" cy="52362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9180" y="1040904"/>
              <a:ext cx="5590018" cy="521663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244405" y="1036129"/>
              <a:ext cx="5600065" cy="5226685"/>
            </a:xfrm>
            <a:custGeom>
              <a:avLst/>
              <a:gdLst/>
              <a:ahLst/>
              <a:cxnLst/>
              <a:rect l="l" t="t" r="r" b="b"/>
              <a:pathLst>
                <a:path w="5600065" h="5226685">
                  <a:moveTo>
                    <a:pt x="0" y="0"/>
                  </a:moveTo>
                  <a:lnTo>
                    <a:pt x="5599557" y="0"/>
                  </a:lnTo>
                  <a:lnTo>
                    <a:pt x="5599557" y="5226177"/>
                  </a:lnTo>
                  <a:lnTo>
                    <a:pt x="0" y="522617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2956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Packaging</a:t>
            </a:r>
            <a:r>
              <a:rPr spc="-85" dirty="0"/>
              <a:t> </a:t>
            </a:r>
            <a:r>
              <a:rPr dirty="0"/>
              <a:t>a</a:t>
            </a:r>
            <a:r>
              <a:rPr spc="-110" dirty="0"/>
              <a:t> </a:t>
            </a:r>
            <a:r>
              <a:rPr spc="-50" dirty="0"/>
              <a:t>Web</a:t>
            </a:r>
            <a:r>
              <a:rPr spc="-105" dirty="0"/>
              <a:t> </a:t>
            </a:r>
            <a:r>
              <a:rPr spc="-10" dirty="0"/>
              <a:t>Application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170512" y="1507236"/>
            <a:ext cx="3401060" cy="1578610"/>
            <a:chOff x="2170512" y="1507236"/>
            <a:chExt cx="3401060" cy="1578610"/>
          </a:xfrm>
        </p:grpSpPr>
        <p:sp>
          <p:nvSpPr>
            <p:cNvPr id="4" name="object 4"/>
            <p:cNvSpPr/>
            <p:nvPr/>
          </p:nvSpPr>
          <p:spPr>
            <a:xfrm>
              <a:off x="2175509" y="2097786"/>
              <a:ext cx="3390900" cy="982980"/>
            </a:xfrm>
            <a:custGeom>
              <a:avLst/>
              <a:gdLst/>
              <a:ahLst/>
              <a:cxnLst/>
              <a:rect l="l" t="t" r="r" b="b"/>
              <a:pathLst>
                <a:path w="3390900" h="982980">
                  <a:moveTo>
                    <a:pt x="0" y="0"/>
                  </a:moveTo>
                  <a:lnTo>
                    <a:pt x="3390900" y="0"/>
                  </a:lnTo>
                  <a:lnTo>
                    <a:pt x="3390900" y="982980"/>
                  </a:lnTo>
                  <a:lnTo>
                    <a:pt x="0" y="982980"/>
                  </a:lnTo>
                  <a:lnTo>
                    <a:pt x="0" y="0"/>
                  </a:lnTo>
                  <a:close/>
                </a:path>
              </a:pathLst>
            </a:custGeom>
            <a:ln w="9994">
              <a:solidFill>
                <a:srgbClr val="FD9E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43911" y="1507236"/>
              <a:ext cx="3012947" cy="12313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23744" y="1752600"/>
              <a:ext cx="2706623" cy="77723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83535" y="1520957"/>
              <a:ext cx="2933700" cy="115214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683150" y="1802703"/>
            <a:ext cx="2334260" cy="53784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504825" marR="5080" indent="-492759">
              <a:lnSpc>
                <a:spcPts val="1870"/>
              </a:lnSpc>
              <a:spcBef>
                <a:spcPts val="405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Using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console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panel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on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the</a:t>
            </a:r>
            <a:r>
              <a:rPr sz="1800" spc="-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Server.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170512" y="3276600"/>
            <a:ext cx="3477260" cy="1578610"/>
            <a:chOff x="2170512" y="3276600"/>
            <a:chExt cx="3477260" cy="1578610"/>
          </a:xfrm>
        </p:grpSpPr>
        <p:sp>
          <p:nvSpPr>
            <p:cNvPr id="10" name="object 10"/>
            <p:cNvSpPr/>
            <p:nvPr/>
          </p:nvSpPr>
          <p:spPr>
            <a:xfrm>
              <a:off x="2175509" y="3867150"/>
              <a:ext cx="3467100" cy="982980"/>
            </a:xfrm>
            <a:custGeom>
              <a:avLst/>
              <a:gdLst/>
              <a:ahLst/>
              <a:cxnLst/>
              <a:rect l="l" t="t" r="r" b="b"/>
              <a:pathLst>
                <a:path w="3467100" h="982979">
                  <a:moveTo>
                    <a:pt x="0" y="0"/>
                  </a:moveTo>
                  <a:lnTo>
                    <a:pt x="3467100" y="0"/>
                  </a:lnTo>
                  <a:lnTo>
                    <a:pt x="3467100" y="982980"/>
                  </a:lnTo>
                  <a:lnTo>
                    <a:pt x="0" y="982980"/>
                  </a:lnTo>
                  <a:lnTo>
                    <a:pt x="0" y="0"/>
                  </a:lnTo>
                  <a:close/>
                </a:path>
              </a:pathLst>
            </a:custGeom>
            <a:ln w="9994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43911" y="3276600"/>
              <a:ext cx="3012947" cy="123139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03931" y="3401568"/>
              <a:ext cx="2749295" cy="101650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83535" y="3290321"/>
              <a:ext cx="2933700" cy="115214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663338" y="3452999"/>
            <a:ext cx="2373630" cy="53784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76200" marR="5080" indent="-64135">
              <a:lnSpc>
                <a:spcPts val="1870"/>
              </a:lnSpc>
              <a:spcBef>
                <a:spcPts val="405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By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placing</a:t>
            </a:r>
            <a:r>
              <a:rPr sz="18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Calisto MT"/>
                <a:cs typeface="Calisto MT"/>
              </a:rPr>
              <a:t>WAR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file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manually</a:t>
            </a:r>
            <a:r>
              <a:rPr sz="1800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in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 specified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98262" y="3928487"/>
            <a:ext cx="1306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Server</a:t>
            </a:r>
            <a:r>
              <a:rPr sz="1800" spc="-4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folder.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90543" y="1076245"/>
            <a:ext cx="3839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Deployment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methods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55" dirty="0">
                <a:latin typeface="Calisto MT"/>
                <a:cs typeface="Calisto MT"/>
              </a:rPr>
              <a:t>WAR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file: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954773" y="1005080"/>
            <a:ext cx="3156585" cy="594360"/>
          </a:xfrm>
          <a:custGeom>
            <a:avLst/>
            <a:gdLst/>
            <a:ahLst/>
            <a:cxnLst/>
            <a:rect l="l" t="t" r="r" b="b"/>
            <a:pathLst>
              <a:path w="3156584" h="594360">
                <a:moveTo>
                  <a:pt x="3096768" y="0"/>
                </a:moveTo>
                <a:lnTo>
                  <a:pt x="59436" y="0"/>
                </a:lnTo>
                <a:lnTo>
                  <a:pt x="36299" y="4670"/>
                </a:lnTo>
                <a:lnTo>
                  <a:pt x="17406" y="17406"/>
                </a:lnTo>
                <a:lnTo>
                  <a:pt x="4670" y="36299"/>
                </a:lnTo>
                <a:lnTo>
                  <a:pt x="0" y="59436"/>
                </a:lnTo>
                <a:lnTo>
                  <a:pt x="0" y="534924"/>
                </a:lnTo>
                <a:lnTo>
                  <a:pt x="4670" y="558055"/>
                </a:lnTo>
                <a:lnTo>
                  <a:pt x="17406" y="576948"/>
                </a:lnTo>
                <a:lnTo>
                  <a:pt x="36299" y="589687"/>
                </a:lnTo>
                <a:lnTo>
                  <a:pt x="59436" y="594360"/>
                </a:lnTo>
                <a:lnTo>
                  <a:pt x="3096768" y="594360"/>
                </a:lnTo>
                <a:lnTo>
                  <a:pt x="3119904" y="589689"/>
                </a:lnTo>
                <a:lnTo>
                  <a:pt x="3138797" y="576953"/>
                </a:lnTo>
                <a:lnTo>
                  <a:pt x="3151533" y="558060"/>
                </a:lnTo>
                <a:lnTo>
                  <a:pt x="3156204" y="534924"/>
                </a:lnTo>
                <a:lnTo>
                  <a:pt x="3156204" y="59436"/>
                </a:lnTo>
                <a:lnTo>
                  <a:pt x="3151533" y="36299"/>
                </a:lnTo>
                <a:lnTo>
                  <a:pt x="3138797" y="17406"/>
                </a:lnTo>
                <a:lnTo>
                  <a:pt x="3119904" y="4670"/>
                </a:lnTo>
                <a:lnTo>
                  <a:pt x="3096768" y="0"/>
                </a:lnTo>
                <a:close/>
              </a:path>
            </a:pathLst>
          </a:custGeom>
          <a:solidFill>
            <a:srgbClr val="A6B7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284967" y="1120292"/>
            <a:ext cx="2494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Elements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of</a:t>
            </a:r>
            <a:r>
              <a:rPr sz="1800" spc="19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&lt;web-</a:t>
            </a: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app&gt;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260717" y="1589913"/>
            <a:ext cx="2800350" cy="709930"/>
            <a:chOff x="7260717" y="1589913"/>
            <a:chExt cx="2800350" cy="709930"/>
          </a:xfrm>
        </p:grpSpPr>
        <p:sp>
          <p:nvSpPr>
            <p:cNvPr id="20" name="object 20"/>
            <p:cNvSpPr/>
            <p:nvPr/>
          </p:nvSpPr>
          <p:spPr>
            <a:xfrm>
              <a:off x="7270242" y="1599438"/>
              <a:ext cx="313690" cy="425450"/>
            </a:xfrm>
            <a:custGeom>
              <a:avLst/>
              <a:gdLst/>
              <a:ahLst/>
              <a:cxnLst/>
              <a:rect l="l" t="t" r="r" b="b"/>
              <a:pathLst>
                <a:path w="313690" h="425450">
                  <a:moveTo>
                    <a:pt x="0" y="0"/>
                  </a:moveTo>
                  <a:lnTo>
                    <a:pt x="0" y="425043"/>
                  </a:lnTo>
                  <a:lnTo>
                    <a:pt x="313486" y="425043"/>
                  </a:lnTo>
                </a:path>
              </a:pathLst>
            </a:custGeom>
            <a:ln w="19050">
              <a:solidFill>
                <a:srgbClr val="8391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582662" y="1759458"/>
              <a:ext cx="2468880" cy="530860"/>
            </a:xfrm>
            <a:custGeom>
              <a:avLst/>
              <a:gdLst/>
              <a:ahLst/>
              <a:cxnLst/>
              <a:rect l="l" t="t" r="r" b="b"/>
              <a:pathLst>
                <a:path w="2468879" h="530860">
                  <a:moveTo>
                    <a:pt x="0" y="53035"/>
                  </a:moveTo>
                  <a:lnTo>
                    <a:pt x="4168" y="32393"/>
                  </a:lnTo>
                  <a:lnTo>
                    <a:pt x="15535" y="15535"/>
                  </a:lnTo>
                  <a:lnTo>
                    <a:pt x="32393" y="4168"/>
                  </a:lnTo>
                  <a:lnTo>
                    <a:pt x="53035" y="0"/>
                  </a:lnTo>
                  <a:lnTo>
                    <a:pt x="2415844" y="0"/>
                  </a:lnTo>
                  <a:lnTo>
                    <a:pt x="2436486" y="4168"/>
                  </a:lnTo>
                  <a:lnTo>
                    <a:pt x="2453344" y="15535"/>
                  </a:lnTo>
                  <a:lnTo>
                    <a:pt x="2464711" y="32393"/>
                  </a:lnTo>
                  <a:lnTo>
                    <a:pt x="2468880" y="53035"/>
                  </a:lnTo>
                  <a:lnTo>
                    <a:pt x="2468880" y="477316"/>
                  </a:lnTo>
                  <a:lnTo>
                    <a:pt x="2464711" y="497958"/>
                  </a:lnTo>
                  <a:lnTo>
                    <a:pt x="2453344" y="514816"/>
                  </a:lnTo>
                  <a:lnTo>
                    <a:pt x="2436486" y="526183"/>
                  </a:lnTo>
                  <a:lnTo>
                    <a:pt x="2415844" y="530351"/>
                  </a:lnTo>
                  <a:lnTo>
                    <a:pt x="53035" y="530351"/>
                  </a:lnTo>
                  <a:lnTo>
                    <a:pt x="32393" y="526183"/>
                  </a:lnTo>
                  <a:lnTo>
                    <a:pt x="15535" y="514816"/>
                  </a:lnTo>
                  <a:lnTo>
                    <a:pt x="4168" y="497958"/>
                  </a:lnTo>
                  <a:lnTo>
                    <a:pt x="0" y="477316"/>
                  </a:lnTo>
                  <a:lnTo>
                    <a:pt x="0" y="53035"/>
                  </a:lnTo>
                  <a:close/>
                </a:path>
              </a:pathLst>
            </a:custGeom>
            <a:ln w="19050">
              <a:solidFill>
                <a:srgbClr val="A6B7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912299" y="1833703"/>
            <a:ext cx="1808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context-param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260717" y="1589913"/>
            <a:ext cx="2803525" cy="2056764"/>
            <a:chOff x="7260717" y="1589913"/>
            <a:chExt cx="2803525" cy="2056764"/>
          </a:xfrm>
        </p:grpSpPr>
        <p:sp>
          <p:nvSpPr>
            <p:cNvPr id="24" name="object 24"/>
            <p:cNvSpPr/>
            <p:nvPr/>
          </p:nvSpPr>
          <p:spPr>
            <a:xfrm>
              <a:off x="7270242" y="1599438"/>
              <a:ext cx="316230" cy="1092835"/>
            </a:xfrm>
            <a:custGeom>
              <a:avLst/>
              <a:gdLst/>
              <a:ahLst/>
              <a:cxnLst/>
              <a:rect l="l" t="t" r="r" b="b"/>
              <a:pathLst>
                <a:path w="316229" h="1092835">
                  <a:moveTo>
                    <a:pt x="0" y="0"/>
                  </a:moveTo>
                  <a:lnTo>
                    <a:pt x="0" y="1092835"/>
                  </a:lnTo>
                  <a:lnTo>
                    <a:pt x="315722" y="1092835"/>
                  </a:lnTo>
                </a:path>
              </a:pathLst>
            </a:custGeom>
            <a:ln w="19050">
              <a:solidFill>
                <a:srgbClr val="8391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585710" y="2426970"/>
              <a:ext cx="2468880" cy="530860"/>
            </a:xfrm>
            <a:custGeom>
              <a:avLst/>
              <a:gdLst/>
              <a:ahLst/>
              <a:cxnLst/>
              <a:rect l="l" t="t" r="r" b="b"/>
              <a:pathLst>
                <a:path w="2468879" h="530860">
                  <a:moveTo>
                    <a:pt x="0" y="53035"/>
                  </a:moveTo>
                  <a:lnTo>
                    <a:pt x="4168" y="32393"/>
                  </a:lnTo>
                  <a:lnTo>
                    <a:pt x="15535" y="15535"/>
                  </a:lnTo>
                  <a:lnTo>
                    <a:pt x="32393" y="4168"/>
                  </a:lnTo>
                  <a:lnTo>
                    <a:pt x="53035" y="0"/>
                  </a:lnTo>
                  <a:lnTo>
                    <a:pt x="2415844" y="0"/>
                  </a:lnTo>
                  <a:lnTo>
                    <a:pt x="2436486" y="4168"/>
                  </a:lnTo>
                  <a:lnTo>
                    <a:pt x="2453344" y="15535"/>
                  </a:lnTo>
                  <a:lnTo>
                    <a:pt x="2464711" y="32393"/>
                  </a:lnTo>
                  <a:lnTo>
                    <a:pt x="2468880" y="53035"/>
                  </a:lnTo>
                  <a:lnTo>
                    <a:pt x="2468880" y="477316"/>
                  </a:lnTo>
                  <a:lnTo>
                    <a:pt x="2464711" y="497958"/>
                  </a:lnTo>
                  <a:lnTo>
                    <a:pt x="2453344" y="514816"/>
                  </a:lnTo>
                  <a:lnTo>
                    <a:pt x="2436486" y="526183"/>
                  </a:lnTo>
                  <a:lnTo>
                    <a:pt x="2415844" y="530351"/>
                  </a:lnTo>
                  <a:lnTo>
                    <a:pt x="53035" y="530351"/>
                  </a:lnTo>
                  <a:lnTo>
                    <a:pt x="32393" y="526183"/>
                  </a:lnTo>
                  <a:lnTo>
                    <a:pt x="15535" y="514816"/>
                  </a:lnTo>
                  <a:lnTo>
                    <a:pt x="4168" y="497958"/>
                  </a:lnTo>
                  <a:lnTo>
                    <a:pt x="0" y="477316"/>
                  </a:lnTo>
                  <a:lnTo>
                    <a:pt x="0" y="53035"/>
                  </a:lnTo>
                  <a:close/>
                </a:path>
              </a:pathLst>
            </a:custGeom>
            <a:ln w="19050">
              <a:solidFill>
                <a:srgbClr val="A6B7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270242" y="1599438"/>
              <a:ext cx="316230" cy="1772285"/>
            </a:xfrm>
            <a:custGeom>
              <a:avLst/>
              <a:gdLst/>
              <a:ahLst/>
              <a:cxnLst/>
              <a:rect l="l" t="t" r="r" b="b"/>
              <a:pathLst>
                <a:path w="316229" h="1772285">
                  <a:moveTo>
                    <a:pt x="0" y="0"/>
                  </a:moveTo>
                  <a:lnTo>
                    <a:pt x="0" y="1771802"/>
                  </a:lnTo>
                  <a:lnTo>
                    <a:pt x="315722" y="1771802"/>
                  </a:lnTo>
                </a:path>
              </a:pathLst>
            </a:custGeom>
            <a:ln w="19050">
              <a:solidFill>
                <a:srgbClr val="8391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85710" y="3106675"/>
              <a:ext cx="2468880" cy="530860"/>
            </a:xfrm>
            <a:custGeom>
              <a:avLst/>
              <a:gdLst/>
              <a:ahLst/>
              <a:cxnLst/>
              <a:rect l="l" t="t" r="r" b="b"/>
              <a:pathLst>
                <a:path w="2468879" h="530860">
                  <a:moveTo>
                    <a:pt x="0" y="53035"/>
                  </a:moveTo>
                  <a:lnTo>
                    <a:pt x="4168" y="32393"/>
                  </a:lnTo>
                  <a:lnTo>
                    <a:pt x="15535" y="15535"/>
                  </a:lnTo>
                  <a:lnTo>
                    <a:pt x="32393" y="4168"/>
                  </a:lnTo>
                  <a:lnTo>
                    <a:pt x="53035" y="0"/>
                  </a:lnTo>
                  <a:lnTo>
                    <a:pt x="2415844" y="0"/>
                  </a:lnTo>
                  <a:lnTo>
                    <a:pt x="2436486" y="4168"/>
                  </a:lnTo>
                  <a:lnTo>
                    <a:pt x="2453344" y="15535"/>
                  </a:lnTo>
                  <a:lnTo>
                    <a:pt x="2464711" y="32393"/>
                  </a:lnTo>
                  <a:lnTo>
                    <a:pt x="2468880" y="53035"/>
                  </a:lnTo>
                  <a:lnTo>
                    <a:pt x="2468880" y="477316"/>
                  </a:lnTo>
                  <a:lnTo>
                    <a:pt x="2464711" y="497958"/>
                  </a:lnTo>
                  <a:lnTo>
                    <a:pt x="2453344" y="514816"/>
                  </a:lnTo>
                  <a:lnTo>
                    <a:pt x="2436486" y="526183"/>
                  </a:lnTo>
                  <a:lnTo>
                    <a:pt x="2415844" y="530351"/>
                  </a:lnTo>
                  <a:lnTo>
                    <a:pt x="53035" y="530351"/>
                  </a:lnTo>
                  <a:lnTo>
                    <a:pt x="32393" y="526183"/>
                  </a:lnTo>
                  <a:lnTo>
                    <a:pt x="15535" y="514816"/>
                  </a:lnTo>
                  <a:lnTo>
                    <a:pt x="4168" y="497958"/>
                  </a:lnTo>
                  <a:lnTo>
                    <a:pt x="0" y="477316"/>
                  </a:lnTo>
                  <a:lnTo>
                    <a:pt x="0" y="53035"/>
                  </a:lnTo>
                  <a:close/>
                </a:path>
              </a:pathLst>
            </a:custGeom>
            <a:ln w="19050">
              <a:solidFill>
                <a:srgbClr val="A6B7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615884" y="2501501"/>
            <a:ext cx="2426335" cy="979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257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session-config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800">
              <a:latin typeface="Courier New"/>
              <a:cs typeface="Courier New"/>
            </a:endParaRPr>
          </a:p>
          <a:p>
            <a:pPr marL="17399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Servlet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element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260717" y="1589913"/>
            <a:ext cx="2803525" cy="2734945"/>
            <a:chOff x="7260717" y="1589913"/>
            <a:chExt cx="2803525" cy="2734945"/>
          </a:xfrm>
        </p:grpSpPr>
        <p:sp>
          <p:nvSpPr>
            <p:cNvPr id="30" name="object 30"/>
            <p:cNvSpPr/>
            <p:nvPr/>
          </p:nvSpPr>
          <p:spPr>
            <a:xfrm>
              <a:off x="7270242" y="1599438"/>
              <a:ext cx="316230" cy="2451100"/>
            </a:xfrm>
            <a:custGeom>
              <a:avLst/>
              <a:gdLst/>
              <a:ahLst/>
              <a:cxnLst/>
              <a:rect l="l" t="t" r="r" b="b"/>
              <a:pathLst>
                <a:path w="316229" h="2451100">
                  <a:moveTo>
                    <a:pt x="0" y="0"/>
                  </a:moveTo>
                  <a:lnTo>
                    <a:pt x="0" y="2450757"/>
                  </a:lnTo>
                  <a:lnTo>
                    <a:pt x="315722" y="2450757"/>
                  </a:lnTo>
                </a:path>
              </a:pathLst>
            </a:custGeom>
            <a:ln w="19050">
              <a:solidFill>
                <a:srgbClr val="8391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585710" y="3784855"/>
              <a:ext cx="2468880" cy="530860"/>
            </a:xfrm>
            <a:custGeom>
              <a:avLst/>
              <a:gdLst/>
              <a:ahLst/>
              <a:cxnLst/>
              <a:rect l="l" t="t" r="r" b="b"/>
              <a:pathLst>
                <a:path w="2468879" h="530860">
                  <a:moveTo>
                    <a:pt x="0" y="53035"/>
                  </a:moveTo>
                  <a:lnTo>
                    <a:pt x="4168" y="32393"/>
                  </a:lnTo>
                  <a:lnTo>
                    <a:pt x="15535" y="15535"/>
                  </a:lnTo>
                  <a:lnTo>
                    <a:pt x="32393" y="4168"/>
                  </a:lnTo>
                  <a:lnTo>
                    <a:pt x="53035" y="0"/>
                  </a:lnTo>
                  <a:lnTo>
                    <a:pt x="2415844" y="0"/>
                  </a:lnTo>
                  <a:lnTo>
                    <a:pt x="2436486" y="4168"/>
                  </a:lnTo>
                  <a:lnTo>
                    <a:pt x="2453344" y="15535"/>
                  </a:lnTo>
                  <a:lnTo>
                    <a:pt x="2464711" y="32393"/>
                  </a:lnTo>
                  <a:lnTo>
                    <a:pt x="2468880" y="53035"/>
                  </a:lnTo>
                  <a:lnTo>
                    <a:pt x="2468880" y="477316"/>
                  </a:lnTo>
                  <a:lnTo>
                    <a:pt x="2464711" y="497958"/>
                  </a:lnTo>
                  <a:lnTo>
                    <a:pt x="2453344" y="514816"/>
                  </a:lnTo>
                  <a:lnTo>
                    <a:pt x="2436486" y="526183"/>
                  </a:lnTo>
                  <a:lnTo>
                    <a:pt x="2415844" y="530351"/>
                  </a:lnTo>
                  <a:lnTo>
                    <a:pt x="53035" y="530351"/>
                  </a:lnTo>
                  <a:lnTo>
                    <a:pt x="32393" y="526183"/>
                  </a:lnTo>
                  <a:lnTo>
                    <a:pt x="15535" y="514816"/>
                  </a:lnTo>
                  <a:lnTo>
                    <a:pt x="4168" y="497958"/>
                  </a:lnTo>
                  <a:lnTo>
                    <a:pt x="0" y="477316"/>
                  </a:lnTo>
                  <a:lnTo>
                    <a:pt x="0" y="53035"/>
                  </a:lnTo>
                  <a:close/>
                </a:path>
              </a:pathLst>
            </a:custGeom>
            <a:ln w="19050">
              <a:solidFill>
                <a:srgbClr val="A6B7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616204" y="3859424"/>
            <a:ext cx="24091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welcome-file-</a:t>
            </a:r>
            <a:r>
              <a:rPr sz="1800" spc="-20" dirty="0">
                <a:latin typeface="Courier New"/>
                <a:cs typeface="Courier New"/>
              </a:rPr>
              <a:t>list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260717" y="1589913"/>
            <a:ext cx="2817495" cy="4044315"/>
            <a:chOff x="7260717" y="1589913"/>
            <a:chExt cx="2817495" cy="4044315"/>
          </a:xfrm>
        </p:grpSpPr>
        <p:sp>
          <p:nvSpPr>
            <p:cNvPr id="34" name="object 34"/>
            <p:cNvSpPr/>
            <p:nvPr/>
          </p:nvSpPr>
          <p:spPr>
            <a:xfrm>
              <a:off x="7270242" y="1599438"/>
              <a:ext cx="316230" cy="3129915"/>
            </a:xfrm>
            <a:custGeom>
              <a:avLst/>
              <a:gdLst/>
              <a:ahLst/>
              <a:cxnLst/>
              <a:rect l="l" t="t" r="r" b="b"/>
              <a:pathLst>
                <a:path w="316229" h="3129915">
                  <a:moveTo>
                    <a:pt x="0" y="0"/>
                  </a:moveTo>
                  <a:lnTo>
                    <a:pt x="0" y="3129724"/>
                  </a:lnTo>
                  <a:lnTo>
                    <a:pt x="315722" y="3129724"/>
                  </a:lnTo>
                </a:path>
              </a:pathLst>
            </a:custGeom>
            <a:ln w="19050">
              <a:solidFill>
                <a:srgbClr val="8391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585710" y="4464559"/>
              <a:ext cx="2468880" cy="530860"/>
            </a:xfrm>
            <a:custGeom>
              <a:avLst/>
              <a:gdLst/>
              <a:ahLst/>
              <a:cxnLst/>
              <a:rect l="l" t="t" r="r" b="b"/>
              <a:pathLst>
                <a:path w="2468879" h="530860">
                  <a:moveTo>
                    <a:pt x="0" y="53035"/>
                  </a:moveTo>
                  <a:lnTo>
                    <a:pt x="4168" y="32393"/>
                  </a:lnTo>
                  <a:lnTo>
                    <a:pt x="15535" y="15535"/>
                  </a:lnTo>
                  <a:lnTo>
                    <a:pt x="32393" y="4168"/>
                  </a:lnTo>
                  <a:lnTo>
                    <a:pt x="53035" y="0"/>
                  </a:lnTo>
                  <a:lnTo>
                    <a:pt x="2415844" y="0"/>
                  </a:lnTo>
                  <a:lnTo>
                    <a:pt x="2436486" y="4168"/>
                  </a:lnTo>
                  <a:lnTo>
                    <a:pt x="2453344" y="15535"/>
                  </a:lnTo>
                  <a:lnTo>
                    <a:pt x="2464711" y="32393"/>
                  </a:lnTo>
                  <a:lnTo>
                    <a:pt x="2468880" y="53035"/>
                  </a:lnTo>
                  <a:lnTo>
                    <a:pt x="2468880" y="477316"/>
                  </a:lnTo>
                  <a:lnTo>
                    <a:pt x="2464711" y="497958"/>
                  </a:lnTo>
                  <a:lnTo>
                    <a:pt x="2453344" y="514816"/>
                  </a:lnTo>
                  <a:lnTo>
                    <a:pt x="2436486" y="526183"/>
                  </a:lnTo>
                  <a:lnTo>
                    <a:pt x="2415844" y="530351"/>
                  </a:lnTo>
                  <a:lnTo>
                    <a:pt x="53035" y="530351"/>
                  </a:lnTo>
                  <a:lnTo>
                    <a:pt x="32393" y="526183"/>
                  </a:lnTo>
                  <a:lnTo>
                    <a:pt x="15535" y="514816"/>
                  </a:lnTo>
                  <a:lnTo>
                    <a:pt x="4168" y="497958"/>
                  </a:lnTo>
                  <a:lnTo>
                    <a:pt x="0" y="477316"/>
                  </a:lnTo>
                  <a:lnTo>
                    <a:pt x="0" y="53035"/>
                  </a:lnTo>
                  <a:close/>
                </a:path>
              </a:pathLst>
            </a:custGeom>
            <a:ln w="19050">
              <a:solidFill>
                <a:srgbClr val="A6B7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270242" y="1599438"/>
              <a:ext cx="330200" cy="3759200"/>
            </a:xfrm>
            <a:custGeom>
              <a:avLst/>
              <a:gdLst/>
              <a:ahLst/>
              <a:cxnLst/>
              <a:rect l="l" t="t" r="r" b="b"/>
              <a:pathLst>
                <a:path w="330200" h="3759200">
                  <a:moveTo>
                    <a:pt x="0" y="0"/>
                  </a:moveTo>
                  <a:lnTo>
                    <a:pt x="0" y="3758907"/>
                  </a:lnTo>
                  <a:lnTo>
                    <a:pt x="329679" y="3758907"/>
                  </a:lnTo>
                </a:path>
              </a:pathLst>
            </a:custGeom>
            <a:ln w="19050">
              <a:solidFill>
                <a:srgbClr val="8391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599426" y="5093971"/>
              <a:ext cx="2468880" cy="530860"/>
            </a:xfrm>
            <a:custGeom>
              <a:avLst/>
              <a:gdLst/>
              <a:ahLst/>
              <a:cxnLst/>
              <a:rect l="l" t="t" r="r" b="b"/>
              <a:pathLst>
                <a:path w="2468879" h="530860">
                  <a:moveTo>
                    <a:pt x="0" y="53035"/>
                  </a:moveTo>
                  <a:lnTo>
                    <a:pt x="4168" y="32393"/>
                  </a:lnTo>
                  <a:lnTo>
                    <a:pt x="15535" y="15535"/>
                  </a:lnTo>
                  <a:lnTo>
                    <a:pt x="32393" y="4168"/>
                  </a:lnTo>
                  <a:lnTo>
                    <a:pt x="53035" y="0"/>
                  </a:lnTo>
                  <a:lnTo>
                    <a:pt x="2415844" y="0"/>
                  </a:lnTo>
                  <a:lnTo>
                    <a:pt x="2436486" y="4168"/>
                  </a:lnTo>
                  <a:lnTo>
                    <a:pt x="2453344" y="15535"/>
                  </a:lnTo>
                  <a:lnTo>
                    <a:pt x="2464711" y="32393"/>
                  </a:lnTo>
                  <a:lnTo>
                    <a:pt x="2468880" y="53035"/>
                  </a:lnTo>
                  <a:lnTo>
                    <a:pt x="2468880" y="477316"/>
                  </a:lnTo>
                  <a:lnTo>
                    <a:pt x="2464711" y="497958"/>
                  </a:lnTo>
                  <a:lnTo>
                    <a:pt x="2453344" y="514816"/>
                  </a:lnTo>
                  <a:lnTo>
                    <a:pt x="2436486" y="526183"/>
                  </a:lnTo>
                  <a:lnTo>
                    <a:pt x="2415844" y="530352"/>
                  </a:lnTo>
                  <a:lnTo>
                    <a:pt x="53035" y="530352"/>
                  </a:lnTo>
                  <a:lnTo>
                    <a:pt x="32393" y="526183"/>
                  </a:lnTo>
                  <a:lnTo>
                    <a:pt x="15535" y="514816"/>
                  </a:lnTo>
                  <a:lnTo>
                    <a:pt x="4168" y="497958"/>
                  </a:lnTo>
                  <a:lnTo>
                    <a:pt x="0" y="477316"/>
                  </a:lnTo>
                  <a:lnTo>
                    <a:pt x="0" y="53035"/>
                  </a:lnTo>
                  <a:close/>
                </a:path>
              </a:pathLst>
            </a:custGeom>
            <a:ln w="19050">
              <a:solidFill>
                <a:srgbClr val="A6B7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614969" y="4538386"/>
            <a:ext cx="2410460" cy="929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taglib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800">
              <a:latin typeface="Courier New"/>
              <a:cs typeface="Courier New"/>
            </a:endParaRPr>
          </a:p>
          <a:p>
            <a:pPr marL="24765" algn="ctr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error-</a:t>
            </a:r>
            <a:r>
              <a:rPr sz="1800" spc="-20" dirty="0">
                <a:latin typeface="Courier New"/>
                <a:cs typeface="Courier New"/>
              </a:rPr>
              <a:t>page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95"/>
              </a:spcBef>
            </a:pPr>
            <a:r>
              <a:rPr dirty="0"/>
              <a:t>Build</a:t>
            </a:r>
            <a:r>
              <a:rPr spc="-60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dirty="0"/>
              <a:t>Deploy</a:t>
            </a:r>
            <a:r>
              <a:rPr spc="-55" dirty="0"/>
              <a:t> </a:t>
            </a:r>
            <a:r>
              <a:rPr dirty="0"/>
              <a:t>a</a:t>
            </a:r>
            <a:r>
              <a:rPr spc="-75" dirty="0"/>
              <a:t> </a:t>
            </a:r>
            <a:r>
              <a:rPr spc="-50" dirty="0"/>
              <a:t>Web</a:t>
            </a:r>
            <a:r>
              <a:rPr spc="-65" dirty="0"/>
              <a:t> </a:t>
            </a:r>
            <a:r>
              <a:rPr dirty="0"/>
              <a:t>Application</a:t>
            </a:r>
            <a:r>
              <a:rPr spc="-35" dirty="0"/>
              <a:t> </a:t>
            </a:r>
            <a:r>
              <a:rPr dirty="0"/>
              <a:t>Using</a:t>
            </a:r>
            <a:r>
              <a:rPr spc="-65" dirty="0"/>
              <a:t> </a:t>
            </a:r>
            <a:r>
              <a:rPr dirty="0"/>
              <a:t>Eclipse</a:t>
            </a:r>
            <a:r>
              <a:rPr spc="-65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spc="-10" dirty="0"/>
              <a:t>Tomcat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5503" y="2799588"/>
            <a:ext cx="2566415" cy="154381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00242" y="3277129"/>
            <a:ext cx="2296160" cy="53784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784860" marR="5080" indent="-772795">
              <a:lnSpc>
                <a:spcPts val="1870"/>
              </a:lnSpc>
              <a:spcBef>
                <a:spcPts val="405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Create</a:t>
            </a:r>
            <a:r>
              <a:rPr sz="1800" spc="-7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Calisto MT"/>
                <a:cs typeface="Calisto MT"/>
              </a:rPr>
              <a:t>Web</a:t>
            </a:r>
            <a:r>
              <a:rPr sz="1800" spc="-5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application project.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83379" y="3253740"/>
            <a:ext cx="542925" cy="635635"/>
          </a:xfrm>
          <a:custGeom>
            <a:avLst/>
            <a:gdLst/>
            <a:ahLst/>
            <a:cxnLst/>
            <a:rect l="l" t="t" r="r" b="b"/>
            <a:pathLst>
              <a:path w="542925" h="635635">
                <a:moveTo>
                  <a:pt x="271272" y="0"/>
                </a:moveTo>
                <a:lnTo>
                  <a:pt x="271272" y="127101"/>
                </a:lnTo>
                <a:lnTo>
                  <a:pt x="0" y="127101"/>
                </a:lnTo>
                <a:lnTo>
                  <a:pt x="0" y="508406"/>
                </a:lnTo>
                <a:lnTo>
                  <a:pt x="271272" y="508406"/>
                </a:lnTo>
                <a:lnTo>
                  <a:pt x="271272" y="635507"/>
                </a:lnTo>
                <a:lnTo>
                  <a:pt x="542544" y="317753"/>
                </a:lnTo>
                <a:lnTo>
                  <a:pt x="271272" y="0"/>
                </a:lnTo>
                <a:close/>
              </a:path>
            </a:pathLst>
          </a:custGeom>
          <a:solidFill>
            <a:srgbClr val="DF522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48428" y="2799588"/>
            <a:ext cx="2566415" cy="154381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482509" y="3395874"/>
            <a:ext cx="1497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Add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.jsp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file(s).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66304" y="3253740"/>
            <a:ext cx="544195" cy="635635"/>
          </a:xfrm>
          <a:custGeom>
            <a:avLst/>
            <a:gdLst/>
            <a:ahLst/>
            <a:cxnLst/>
            <a:rect l="l" t="t" r="r" b="b"/>
            <a:pathLst>
              <a:path w="544195" h="635635">
                <a:moveTo>
                  <a:pt x="272034" y="0"/>
                </a:moveTo>
                <a:lnTo>
                  <a:pt x="272034" y="127101"/>
                </a:lnTo>
                <a:lnTo>
                  <a:pt x="0" y="127101"/>
                </a:lnTo>
                <a:lnTo>
                  <a:pt x="0" y="508406"/>
                </a:lnTo>
                <a:lnTo>
                  <a:pt x="272034" y="508406"/>
                </a:lnTo>
                <a:lnTo>
                  <a:pt x="272034" y="635507"/>
                </a:lnTo>
                <a:lnTo>
                  <a:pt x="544068" y="317753"/>
                </a:lnTo>
                <a:lnTo>
                  <a:pt x="272034" y="0"/>
                </a:lnTo>
                <a:close/>
              </a:path>
            </a:pathLst>
          </a:custGeom>
          <a:solidFill>
            <a:srgbClr val="FD9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31352" y="2799588"/>
            <a:ext cx="2566415" cy="154381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745448" y="3395874"/>
            <a:ext cx="21367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Run</a:t>
            </a:r>
            <a:r>
              <a:rPr sz="1800" spc="-7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Calisto MT"/>
                <a:cs typeface="Calisto MT"/>
              </a:rPr>
              <a:t>Web</a:t>
            </a:r>
            <a:r>
              <a:rPr sz="1800" spc="-6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application.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11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Summary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10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4018" y="828790"/>
            <a:ext cx="11134090" cy="475488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93675" marR="6350" indent="-181610">
              <a:lnSpc>
                <a:spcPts val="1939"/>
              </a:lnSpc>
              <a:spcBef>
                <a:spcPts val="345"/>
              </a:spcBef>
              <a:buSzPct val="80555"/>
              <a:buFont typeface="Corbel"/>
              <a:buChar char="•"/>
              <a:tabLst>
                <a:tab pos="196215" algn="l"/>
              </a:tabLst>
            </a:pPr>
            <a:r>
              <a:rPr sz="1800" dirty="0">
                <a:latin typeface="Calisto MT"/>
                <a:cs typeface="Calisto MT"/>
              </a:rPr>
              <a:t>Apache</a:t>
            </a:r>
            <a:r>
              <a:rPr sz="1800" spc="49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Tomcat</a:t>
            </a:r>
            <a:r>
              <a:rPr sz="1800" spc="49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49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15" dirty="0">
                <a:latin typeface="Calisto MT"/>
                <a:cs typeface="Calisto MT"/>
              </a:rPr>
              <a:t>  </a:t>
            </a:r>
            <a:r>
              <a:rPr sz="1800" dirty="0">
                <a:latin typeface="Calisto MT"/>
                <a:cs typeface="Calisto MT"/>
              </a:rPr>
              <a:t>free</a:t>
            </a:r>
            <a:r>
              <a:rPr sz="1800" spc="20" dirty="0">
                <a:latin typeface="Calisto MT"/>
                <a:cs typeface="Calisto MT"/>
              </a:rPr>
              <a:t> 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15" dirty="0">
                <a:latin typeface="Calisto MT"/>
                <a:cs typeface="Calisto MT"/>
              </a:rPr>
              <a:t>  </a:t>
            </a:r>
            <a:r>
              <a:rPr sz="1800" spc="-10" dirty="0">
                <a:latin typeface="Calisto MT"/>
                <a:cs typeface="Calisto MT"/>
              </a:rPr>
              <a:t>open-</a:t>
            </a:r>
            <a:r>
              <a:rPr sz="1800" dirty="0">
                <a:latin typeface="Calisto MT"/>
                <a:cs typeface="Calisto MT"/>
              </a:rPr>
              <a:t>source</a:t>
            </a:r>
            <a:r>
              <a:rPr sz="1800" spc="20" dirty="0">
                <a:latin typeface="Calisto MT"/>
                <a:cs typeface="Calisto MT"/>
              </a:rPr>
              <a:t>  </a:t>
            </a:r>
            <a:r>
              <a:rPr sz="1800" dirty="0">
                <a:latin typeface="Calisto MT"/>
                <a:cs typeface="Calisto MT"/>
              </a:rPr>
              <a:t>Web</a:t>
            </a:r>
            <a:r>
              <a:rPr sz="1800" spc="49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server</a:t>
            </a:r>
            <a:r>
              <a:rPr sz="1800" spc="49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484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49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container</a:t>
            </a:r>
            <a:r>
              <a:rPr sz="1800" spc="49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495" dirty="0">
                <a:latin typeface="Calisto MT"/>
                <a:cs typeface="Calisto MT"/>
              </a:rPr>
              <a:t> </a:t>
            </a:r>
            <a:r>
              <a:rPr sz="1800" spc="-50" dirty="0">
                <a:latin typeface="Calisto MT"/>
                <a:cs typeface="Calisto MT"/>
              </a:rPr>
              <a:t>Java-</a:t>
            </a:r>
            <a:r>
              <a:rPr sz="1800" dirty="0">
                <a:latin typeface="Calisto MT"/>
                <a:cs typeface="Calisto MT"/>
              </a:rPr>
              <a:t>based</a:t>
            </a:r>
            <a:r>
              <a:rPr sz="1800" spc="484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programming 	</a:t>
            </a:r>
            <a:r>
              <a:rPr sz="1800" dirty="0">
                <a:latin typeface="Calisto MT"/>
                <a:cs typeface="Calisto MT"/>
              </a:rPr>
              <a:t>applications</a:t>
            </a:r>
            <a:r>
              <a:rPr sz="1800" spc="-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such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Java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servlets,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spc="-35" dirty="0">
                <a:latin typeface="Calisto MT"/>
                <a:cs typeface="Calisto MT"/>
              </a:rPr>
              <a:t>Java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Server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Pages,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Java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Expression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Language,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Java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WebSocket,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others.</a:t>
            </a:r>
            <a:endParaRPr sz="1800">
              <a:latin typeface="Calisto MT"/>
              <a:cs typeface="Calisto MT"/>
            </a:endParaRPr>
          </a:p>
          <a:p>
            <a:pPr marL="193675" marR="5715" indent="-181610">
              <a:lnSpc>
                <a:spcPts val="1939"/>
              </a:lnSpc>
              <a:spcBef>
                <a:spcPts val="1415"/>
              </a:spcBef>
              <a:buSzPct val="80555"/>
              <a:buFont typeface="Corbel"/>
              <a:buChar char="•"/>
              <a:tabLst>
                <a:tab pos="196215" algn="l"/>
              </a:tabLst>
            </a:pPr>
            <a:r>
              <a:rPr sz="1800" dirty="0">
                <a:latin typeface="Calisto MT"/>
                <a:cs typeface="Calisto MT"/>
              </a:rPr>
              <a:t>Apache</a:t>
            </a:r>
            <a:r>
              <a:rPr sz="1800" spc="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Tomcat</a:t>
            </a:r>
            <a:r>
              <a:rPr sz="1800" spc="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responsible</a:t>
            </a:r>
            <a:r>
              <a:rPr sz="1800" spc="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monitoring</a:t>
            </a:r>
            <a:r>
              <a:rPr sz="1800" spc="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all</a:t>
            </a:r>
            <a:r>
              <a:rPr sz="1800" spc="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incoming</a:t>
            </a:r>
            <a:r>
              <a:rPr sz="1800" spc="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requests</a:t>
            </a:r>
            <a:r>
              <a:rPr sz="1800" spc="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made</a:t>
            </a:r>
            <a:r>
              <a:rPr sz="1800" spc="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by</a:t>
            </a:r>
            <a:r>
              <a:rPr sz="1800" spc="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clients</a:t>
            </a:r>
            <a:r>
              <a:rPr sz="1800" spc="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loading</a:t>
            </a:r>
            <a:r>
              <a:rPr sz="1800" spc="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5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appropriate 	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classes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order to fulfill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those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requests.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6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lifecycle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Web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process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building,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deploying,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running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it.</a:t>
            </a:r>
            <a:endParaRPr sz="1800">
              <a:latin typeface="Calisto MT"/>
              <a:cs typeface="Calisto MT"/>
            </a:endParaRPr>
          </a:p>
          <a:p>
            <a:pPr marL="193675" marR="6985" indent="-181610">
              <a:lnSpc>
                <a:spcPts val="1939"/>
              </a:lnSpc>
              <a:spcBef>
                <a:spcPts val="1425"/>
              </a:spcBef>
              <a:buSzPct val="80555"/>
              <a:buFont typeface="Corbel"/>
              <a:buChar char="•"/>
              <a:tabLst>
                <a:tab pos="196215" algn="l"/>
              </a:tabLst>
            </a:pPr>
            <a:r>
              <a:rPr sz="1800" dirty="0">
                <a:latin typeface="Calisto MT"/>
                <a:cs typeface="Calisto MT"/>
              </a:rPr>
              <a:t>All</a:t>
            </a:r>
            <a:r>
              <a:rPr sz="1800" spc="4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resources</a:t>
            </a:r>
            <a:r>
              <a:rPr sz="1800" spc="434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such</a:t>
            </a:r>
            <a:r>
              <a:rPr sz="1800" spc="434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</a:t>
            </a:r>
            <a:r>
              <a:rPr sz="1800" spc="4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classes,</a:t>
            </a:r>
            <a:r>
              <a:rPr sz="1800" spc="4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servlets,</a:t>
            </a:r>
            <a:r>
              <a:rPr sz="1800" spc="4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static</a:t>
            </a:r>
            <a:r>
              <a:rPr sz="1800" spc="4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files,</a:t>
            </a:r>
            <a:r>
              <a:rPr sz="1800" spc="4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4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so</a:t>
            </a:r>
            <a:r>
              <a:rPr sz="1800" spc="4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on</a:t>
            </a:r>
            <a:r>
              <a:rPr sz="1800" spc="434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are</a:t>
            </a:r>
            <a:r>
              <a:rPr sz="1800" spc="434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stored</a:t>
            </a:r>
            <a:r>
              <a:rPr sz="1800" spc="4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</a:t>
            </a:r>
            <a:r>
              <a:rPr sz="1800" spc="434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4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directory</a:t>
            </a:r>
            <a:r>
              <a:rPr sz="1800" spc="434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structure</a:t>
            </a:r>
            <a:r>
              <a:rPr sz="1800" spc="434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4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better 	organization.</a:t>
            </a:r>
            <a:endParaRPr sz="1800">
              <a:latin typeface="Calisto MT"/>
              <a:cs typeface="Calisto MT"/>
            </a:endParaRPr>
          </a:p>
          <a:p>
            <a:pPr marL="194310" marR="5715" indent="-181610">
              <a:lnSpc>
                <a:spcPts val="2000"/>
              </a:lnSpc>
              <a:spcBef>
                <a:spcPts val="1305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459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4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directory</a:t>
            </a:r>
            <a:r>
              <a:rPr sz="1800" spc="4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structure,</a:t>
            </a:r>
            <a:r>
              <a:rPr sz="1800" spc="459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47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WEB-</a:t>
            </a:r>
            <a:r>
              <a:rPr sz="1800" dirty="0">
                <a:latin typeface="Calisto MT"/>
                <a:cs typeface="Calisto MT"/>
              </a:rPr>
              <a:t>INF</a:t>
            </a:r>
            <a:r>
              <a:rPr sz="1800" spc="48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contains</a:t>
            </a:r>
            <a:r>
              <a:rPr sz="1800" spc="459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web.xml</a:t>
            </a:r>
            <a:r>
              <a:rPr sz="1800" spc="25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459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Weblogic.xml</a:t>
            </a:r>
            <a:r>
              <a:rPr sz="1800" dirty="0">
                <a:latin typeface="Calisto MT"/>
                <a:cs typeface="Calisto MT"/>
              </a:rPr>
              <a:t>.</a:t>
            </a:r>
            <a:r>
              <a:rPr sz="1800" spc="459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These</a:t>
            </a:r>
            <a:r>
              <a:rPr sz="1800" spc="459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are</a:t>
            </a:r>
            <a:r>
              <a:rPr sz="1800" spc="47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deployment 	descriptors.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5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spc="-35" dirty="0">
                <a:latin typeface="Calisto MT"/>
                <a:cs typeface="Calisto MT"/>
              </a:rPr>
              <a:t>Web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apps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stored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35" dirty="0">
                <a:latin typeface="Calisto MT"/>
                <a:cs typeface="Calisto MT"/>
              </a:rPr>
              <a:t>Web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Archive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(WAR)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distinguishing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them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from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other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types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45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Java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programs.</a:t>
            </a:r>
            <a:endParaRPr sz="1800">
              <a:latin typeface="Calisto MT"/>
              <a:cs typeface="Calisto MT"/>
            </a:endParaRPr>
          </a:p>
          <a:p>
            <a:pPr marL="193675" marR="5080" indent="-181610">
              <a:lnSpc>
                <a:spcPts val="1939"/>
              </a:lnSpc>
              <a:spcBef>
                <a:spcPts val="1425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55" dirty="0">
                <a:latin typeface="Calisto MT"/>
                <a:cs typeface="Calisto MT"/>
              </a:rPr>
              <a:t>WAR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file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contains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all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contents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spc="-30" dirty="0">
                <a:latin typeface="Calisto MT"/>
                <a:cs typeface="Calisto MT"/>
              </a:rPr>
              <a:t>Web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application,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it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speeds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up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process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delivering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huge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files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across 	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network.</a:t>
            </a:r>
            <a:endParaRPr sz="1800">
              <a:latin typeface="Calisto MT"/>
              <a:cs typeface="Calisto MT"/>
            </a:endParaRPr>
          </a:p>
          <a:p>
            <a:pPr marL="193675" marR="6350" indent="-181610">
              <a:lnSpc>
                <a:spcPts val="1939"/>
              </a:lnSpc>
              <a:spcBef>
                <a:spcPts val="1415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20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Eclipse</a:t>
            </a:r>
            <a:r>
              <a:rPr sz="1800" spc="204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Web</a:t>
            </a:r>
            <a:r>
              <a:rPr sz="1800" spc="19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204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project</a:t>
            </a:r>
            <a:r>
              <a:rPr sz="1800" spc="19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directory</a:t>
            </a:r>
            <a:r>
              <a:rPr sz="1800" spc="19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204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structured</a:t>
            </a:r>
            <a:r>
              <a:rPr sz="1800" spc="19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204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204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standardized</a:t>
            </a:r>
            <a:r>
              <a:rPr sz="1800" spc="20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way</a:t>
            </a:r>
            <a:r>
              <a:rPr sz="1800" spc="19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204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ensure</a:t>
            </a:r>
            <a:r>
              <a:rPr sz="1800" spc="204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organization</a:t>
            </a:r>
            <a:r>
              <a:rPr sz="1800" spc="19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and 	</a:t>
            </a:r>
            <a:r>
              <a:rPr sz="1800" dirty="0">
                <a:latin typeface="Calisto MT"/>
                <a:cs typeface="Calisto MT"/>
              </a:rPr>
              <a:t>ease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8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management.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654</Words>
  <Application>Microsoft Office PowerPoint</Application>
  <PresentationFormat>Widescreen</PresentationFormat>
  <Paragraphs>111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Algerian</vt:lpstr>
      <vt:lpstr>Arial Black</vt:lpstr>
      <vt:lpstr>Arial Rounded MT Bold</vt:lpstr>
      <vt:lpstr>Calibri</vt:lpstr>
      <vt:lpstr>Calisto MT</vt:lpstr>
      <vt:lpstr>Corbel</vt:lpstr>
      <vt:lpstr>Courier New</vt:lpstr>
      <vt:lpstr>Times New Roman</vt:lpstr>
      <vt:lpstr>Wingdings</vt:lpstr>
      <vt:lpstr>Office Theme</vt:lpstr>
      <vt:lpstr>Jakarta Server Pages and</vt:lpstr>
      <vt:lpstr>Objectives</vt:lpstr>
      <vt:lpstr>Overview of Apache Tomcat Server</vt:lpstr>
      <vt:lpstr>Installing Apache Tomcat</vt:lpstr>
      <vt:lpstr>Lifecycle and Directory Structure of Web Applications</vt:lpstr>
      <vt:lpstr>Web Application Development in Eclipse</vt:lpstr>
      <vt:lpstr>Directory Structure in Eclipse</vt:lpstr>
      <vt:lpstr>Packaging a Web Application</vt:lpstr>
      <vt:lpstr>Build and Deploy a Web Application Using Eclipse and Tomcat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Aptech Limited</dc:creator>
  <cp:lastModifiedBy>Hoang Duc Quang</cp:lastModifiedBy>
  <cp:revision>3</cp:revision>
  <dcterms:created xsi:type="dcterms:W3CDTF">2025-10-19T10:33:49Z</dcterms:created>
  <dcterms:modified xsi:type="dcterms:W3CDTF">2025-10-20T00:46:30Z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2024-07-10T00:00:00Z</vt:filetime>
  </property>
  <property fmtid="{D5CDD505-2E9C-101B-9397-08002B2CF9AE}" pid="3" name="Creator">
    <vt:lpwstr>Acrobat PDFMaker 24 for PowerPoint</vt:lpwstr>
  </property>
  <property fmtid="{D5CDD505-2E9C-101B-9397-08002B2CF9AE}" pid="4" name="EBX_PUBLISHER">
    <vt:lpwstr>Aptech</vt:lpwstr>
  </property>
  <property fmtid="{D5CDD505-2E9C-101B-9397-08002B2CF9AE}" pid="5" name="LastSaved">
    <vt:filetime>2025-10-19T00:00:00Z</vt:filetime>
  </property>
  <property fmtid="{D5CDD505-2E9C-101B-9397-08002B2CF9AE}" pid="6" name="Producer">
    <vt:lpwstr>Adobe PDF Library 24.2.159</vt:lpwstr>
  </property>
</Properties>
</file>