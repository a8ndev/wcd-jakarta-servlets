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80" r:id="rId2"/>
    <p:sldId id="381" r:id="rId3"/>
    <p:sldId id="382" r:id="rId4"/>
    <p:sldId id="383" r:id="rId5"/>
    <p:sldId id="384" r:id="rId6"/>
    <p:sldId id="385" r:id="rId7"/>
    <p:sldId id="386" r:id="rId8"/>
    <p:sldId id="387" r:id="rId9"/>
    <p:sldId id="388" r:id="rId10"/>
    <p:sldId id="389" r:id="rId11"/>
    <p:sldId id="390" r:id="rId12"/>
    <p:sldId id="391" r:id="rId13"/>
    <p:sldId id="392" r:id="rId1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1" d="100"/>
          <a:sy n="101" d="100"/>
        </p:scale>
        <p:origin x="876" y="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0907" y="79546"/>
            <a:ext cx="5808980" cy="452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180291" y="1592148"/>
            <a:ext cx="2744470" cy="3464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alisto MT"/>
                <a:cs typeface="Calisto MT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6492240"/>
            <a:ext cx="12179820" cy="36576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571" y="0"/>
            <a:ext cx="12187428" cy="6812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907" y="33827"/>
            <a:ext cx="12010184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0712" y="1300308"/>
            <a:ext cx="6851650" cy="42475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474575" y="6635253"/>
            <a:ext cx="1028700" cy="161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719714" y="6613906"/>
            <a:ext cx="330833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8F8F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4572" y="0"/>
            <a:ext cx="12187555" cy="6858000"/>
            <a:chOff x="4572" y="0"/>
            <a:chExt cx="12187555" cy="6858000"/>
          </a:xfrm>
        </p:grpSpPr>
        <p:sp>
          <p:nvSpPr>
            <p:cNvPr id="4" name="object 4"/>
            <p:cNvSpPr/>
            <p:nvPr/>
          </p:nvSpPr>
          <p:spPr>
            <a:xfrm>
              <a:off x="126492" y="2930651"/>
              <a:ext cx="11963400" cy="3736975"/>
            </a:xfrm>
            <a:custGeom>
              <a:avLst/>
              <a:gdLst/>
              <a:ahLst/>
              <a:cxnLst/>
              <a:rect l="l" t="t" r="r" b="b"/>
              <a:pathLst>
                <a:path w="11963400" h="3736975">
                  <a:moveTo>
                    <a:pt x="11963400" y="0"/>
                  </a:moveTo>
                  <a:lnTo>
                    <a:pt x="0" y="0"/>
                  </a:lnTo>
                  <a:lnTo>
                    <a:pt x="0" y="3736848"/>
                  </a:lnTo>
                  <a:lnTo>
                    <a:pt x="11963400" y="3736848"/>
                  </a:lnTo>
                  <a:lnTo>
                    <a:pt x="11963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" y="0"/>
              <a:ext cx="12187427" cy="685799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66827" y="2222496"/>
            <a:ext cx="583184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latin typeface="Arial Rounded MT Bold"/>
                <a:cs typeface="Arial Rounded MT Bold"/>
              </a:rPr>
              <a:t>Jakarta</a:t>
            </a:r>
            <a:r>
              <a:rPr sz="4400" spc="-170" dirty="0">
                <a:latin typeface="Arial Rounded MT Bold"/>
                <a:cs typeface="Arial Rounded MT Bold"/>
              </a:rPr>
              <a:t> </a:t>
            </a:r>
            <a:r>
              <a:rPr sz="4400" dirty="0">
                <a:latin typeface="Arial Rounded MT Bold"/>
                <a:cs typeface="Arial Rounded MT Bold"/>
              </a:rPr>
              <a:t>Server</a:t>
            </a:r>
            <a:r>
              <a:rPr sz="4400" spc="-185" dirty="0">
                <a:latin typeface="Arial Rounded MT Bold"/>
                <a:cs typeface="Arial Rounded MT Bold"/>
              </a:rPr>
              <a:t> </a:t>
            </a:r>
            <a:r>
              <a:rPr sz="4400" spc="-40" dirty="0">
                <a:latin typeface="Arial Rounded MT Bold"/>
                <a:cs typeface="Arial Rounded MT Bold"/>
              </a:rPr>
              <a:t>Pages</a:t>
            </a:r>
            <a:endParaRPr sz="4400">
              <a:latin typeface="Arial Rounded MT Bold"/>
              <a:cs typeface="Arial Rounded MT Bold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200">
              <a:lnSpc>
                <a:spcPts val="1050"/>
              </a:lnSpc>
            </a:pPr>
            <a:r>
              <a:rPr spc="-50" dirty="0"/>
              <a:t>1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66827" y="2893106"/>
            <a:ext cx="3415029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FFFFFF"/>
                </a:solidFill>
                <a:latin typeface="Arial Rounded MT Bold"/>
                <a:cs typeface="Arial Rounded MT Bold"/>
              </a:rPr>
              <a:t>and</a:t>
            </a:r>
            <a:r>
              <a:rPr sz="4400" spc="-15" dirty="0">
                <a:solidFill>
                  <a:srgbClr val="FFFFFF"/>
                </a:solidFill>
                <a:latin typeface="Arial Rounded MT Bold"/>
                <a:cs typeface="Arial Rounded MT Bold"/>
              </a:rPr>
              <a:t> </a:t>
            </a:r>
            <a:r>
              <a:rPr sz="4400" spc="-10" dirty="0">
                <a:solidFill>
                  <a:srgbClr val="FFFFFF"/>
                </a:solidFill>
                <a:latin typeface="Arial Rounded MT Bold"/>
                <a:cs typeface="Arial Rounded MT Bold"/>
              </a:rPr>
              <a:t>Servlets</a:t>
            </a:r>
            <a:endParaRPr sz="4400">
              <a:latin typeface="Arial Rounded MT Bold"/>
              <a:cs typeface="Arial Rounded MT Bol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4805" y="4517499"/>
            <a:ext cx="4259580" cy="1474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C564"/>
                </a:solidFill>
                <a:latin typeface="Algerian"/>
                <a:cs typeface="Algerian"/>
              </a:rPr>
              <a:t>SESSION:</a:t>
            </a:r>
            <a:r>
              <a:rPr sz="2400" spc="-75" dirty="0">
                <a:solidFill>
                  <a:srgbClr val="FFC564"/>
                </a:solidFill>
                <a:latin typeface="Algerian"/>
                <a:cs typeface="Algerian"/>
              </a:rPr>
              <a:t> </a:t>
            </a:r>
            <a:r>
              <a:rPr sz="2400" spc="-25" dirty="0">
                <a:solidFill>
                  <a:srgbClr val="FFC564"/>
                </a:solidFill>
                <a:latin typeface="Algerian"/>
                <a:cs typeface="Algerian"/>
              </a:rPr>
              <a:t>13</a:t>
            </a:r>
            <a:endParaRPr sz="2400">
              <a:latin typeface="Algerian"/>
              <a:cs typeface="Algerian"/>
            </a:endParaRPr>
          </a:p>
          <a:p>
            <a:pPr marL="12700" marR="5080">
              <a:lnSpc>
                <a:spcPct val="100000"/>
              </a:lnSpc>
              <a:spcBef>
                <a:spcPts val="2770"/>
              </a:spcBef>
            </a:pPr>
            <a:r>
              <a:rPr sz="2400" dirty="0">
                <a:solidFill>
                  <a:srgbClr val="FFC564"/>
                </a:solidFill>
                <a:latin typeface="Arial Black"/>
                <a:cs typeface="Arial Black"/>
              </a:rPr>
              <a:t>Standard</a:t>
            </a:r>
            <a:r>
              <a:rPr sz="2400" spc="25" dirty="0">
                <a:solidFill>
                  <a:srgbClr val="FFC564"/>
                </a:solidFill>
                <a:latin typeface="Arial Black"/>
                <a:cs typeface="Arial Black"/>
              </a:rPr>
              <a:t> </a:t>
            </a:r>
            <a:r>
              <a:rPr sz="2400" dirty="0">
                <a:solidFill>
                  <a:srgbClr val="FFC564"/>
                </a:solidFill>
                <a:latin typeface="Arial Black"/>
                <a:cs typeface="Arial Black"/>
              </a:rPr>
              <a:t>Tag</a:t>
            </a:r>
            <a:r>
              <a:rPr sz="2400" spc="30" dirty="0">
                <a:solidFill>
                  <a:srgbClr val="FFC564"/>
                </a:solidFill>
                <a:latin typeface="Arial Black"/>
                <a:cs typeface="Arial Black"/>
              </a:rPr>
              <a:t> </a:t>
            </a:r>
            <a:r>
              <a:rPr sz="2400" dirty="0">
                <a:solidFill>
                  <a:srgbClr val="FFC564"/>
                </a:solidFill>
                <a:latin typeface="Arial Black"/>
                <a:cs typeface="Arial Black"/>
              </a:rPr>
              <a:t>Library</a:t>
            </a:r>
            <a:r>
              <a:rPr sz="2400" spc="15" dirty="0">
                <a:solidFill>
                  <a:srgbClr val="FFC564"/>
                </a:solidFill>
                <a:latin typeface="Arial Black"/>
                <a:cs typeface="Arial Black"/>
              </a:rPr>
              <a:t> </a:t>
            </a:r>
            <a:r>
              <a:rPr sz="2400" spc="-25" dirty="0">
                <a:solidFill>
                  <a:srgbClr val="FFC564"/>
                </a:solidFill>
                <a:latin typeface="Arial Black"/>
                <a:cs typeface="Arial Black"/>
              </a:rPr>
              <a:t>and </a:t>
            </a:r>
            <a:r>
              <a:rPr sz="2400" spc="-10" dirty="0">
                <a:solidFill>
                  <a:srgbClr val="FFC564"/>
                </a:solidFill>
                <a:latin typeface="Arial Black"/>
                <a:cs typeface="Arial Black"/>
              </a:rPr>
              <a:t>Internationalization</a:t>
            </a:r>
            <a:endParaRPr sz="24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2027" y="38586"/>
            <a:ext cx="15709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Objectives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spc="-25" dirty="0"/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6825" y="759967"/>
            <a:ext cx="8086090" cy="4698365"/>
          </a:xfrm>
          <a:prstGeom prst="rect">
            <a:avLst/>
          </a:prstGeom>
        </p:spPr>
        <p:txBody>
          <a:bodyPr vert="horz" wrap="square" lIns="0" tIns="163195" rIns="0" bIns="0" rtlCol="0">
            <a:spAutoFit/>
          </a:bodyPr>
          <a:lstStyle/>
          <a:p>
            <a:pPr marL="194310" indent="-181610">
              <a:lnSpc>
                <a:spcPct val="100000"/>
              </a:lnSpc>
              <a:spcBef>
                <a:spcPts val="1285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List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10" dirty="0">
                <a:latin typeface="Calisto MT"/>
                <a:cs typeface="Calisto MT"/>
              </a:rPr>
              <a:t> advantages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7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using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spc="-20" dirty="0">
                <a:latin typeface="Calisto MT"/>
                <a:cs typeface="Calisto MT"/>
              </a:rPr>
              <a:t>JSTL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90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Describe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different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tag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libraries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available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spc="-20" dirty="0">
                <a:latin typeface="Calisto MT"/>
                <a:cs typeface="Calisto MT"/>
              </a:rPr>
              <a:t>JSTL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90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Explain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how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configure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JSTL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library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Eclipse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75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Explain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general-</a:t>
            </a:r>
            <a:r>
              <a:rPr sz="1800" dirty="0">
                <a:latin typeface="Calisto MT"/>
                <a:cs typeface="Calisto MT"/>
              </a:rPr>
              <a:t>purpose</a:t>
            </a:r>
            <a:r>
              <a:rPr sz="1800" spc="-20" dirty="0">
                <a:latin typeface="Calisto MT"/>
                <a:cs typeface="Calisto MT"/>
              </a:rPr>
              <a:t> tags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85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Explain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decision-</a:t>
            </a:r>
            <a:r>
              <a:rPr sz="1800" dirty="0">
                <a:latin typeface="Calisto MT"/>
                <a:cs typeface="Calisto MT"/>
              </a:rPr>
              <a:t>making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spc="-20" dirty="0">
                <a:latin typeface="Calisto MT"/>
                <a:cs typeface="Calisto MT"/>
              </a:rPr>
              <a:t>tags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90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Explain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iteration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tags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core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tag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library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75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List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different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tags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available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SQL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tag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library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90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Recall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brief</a:t>
            </a:r>
            <a:r>
              <a:rPr sz="1800" spc="16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concept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7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internationalization</a:t>
            </a:r>
            <a:r>
              <a:rPr sz="1800" spc="-6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localization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85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Explain</a:t>
            </a:r>
            <a:r>
              <a:rPr sz="1800" spc="-6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resource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bundling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mechanism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resource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bundle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for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various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locales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80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Explain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various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formatting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techniques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servlets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for</a:t>
            </a:r>
            <a:r>
              <a:rPr sz="1800" spc="-10" dirty="0">
                <a:latin typeface="Calisto MT"/>
                <a:cs typeface="Calisto MT"/>
              </a:rPr>
              <a:t> internationalization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85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Explain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Reactive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JAX-</a:t>
            </a:r>
            <a:r>
              <a:rPr sz="1800" dirty="0">
                <a:latin typeface="Calisto MT"/>
                <a:cs typeface="Calisto MT"/>
              </a:rPr>
              <a:t>RS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Client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API</a:t>
            </a:r>
            <a:endParaRPr sz="1800">
              <a:latin typeface="Calisto MT"/>
              <a:cs typeface="Calisto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Introduction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75588" y="2033016"/>
            <a:ext cx="1984375" cy="3726179"/>
            <a:chOff x="1275588" y="2033016"/>
            <a:chExt cx="1984375" cy="372617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77112" y="2033016"/>
              <a:ext cx="1909571" cy="37261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75588" y="3162300"/>
              <a:ext cx="1984247" cy="1514856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462761" y="3223451"/>
            <a:ext cx="1537970" cy="123190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 marR="5080" indent="-2540" algn="ctr">
              <a:lnSpc>
                <a:spcPct val="86700"/>
              </a:lnSpc>
              <a:spcBef>
                <a:spcPts val="445"/>
              </a:spcBef>
            </a:pPr>
            <a:r>
              <a:rPr sz="2200" dirty="0">
                <a:solidFill>
                  <a:srgbClr val="FFFFFF"/>
                </a:solidFill>
                <a:latin typeface="Calisto MT"/>
                <a:cs typeface="Calisto MT"/>
              </a:rPr>
              <a:t>Helps</a:t>
            </a:r>
            <a:r>
              <a:rPr sz="2200" spc="-5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Calisto MT"/>
                <a:cs typeface="Calisto MT"/>
              </a:rPr>
              <a:t>in </a:t>
            </a:r>
            <a:r>
              <a:rPr sz="2200" spc="-20" dirty="0">
                <a:solidFill>
                  <a:srgbClr val="FFFFFF"/>
                </a:solidFill>
                <a:latin typeface="Calisto MT"/>
                <a:cs typeface="Calisto MT"/>
              </a:rPr>
              <a:t>development </a:t>
            </a:r>
            <a:r>
              <a:rPr sz="2200" dirty="0">
                <a:solidFill>
                  <a:srgbClr val="FFFFFF"/>
                </a:solidFill>
                <a:latin typeface="Calisto MT"/>
                <a:cs typeface="Calisto MT"/>
              </a:rPr>
              <a:t>of</a:t>
            </a:r>
            <a:r>
              <a:rPr sz="2200" spc="22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2200" dirty="0">
                <a:solidFill>
                  <a:srgbClr val="FFFFFF"/>
                </a:solidFill>
                <a:latin typeface="Calisto MT"/>
                <a:cs typeface="Calisto MT"/>
              </a:rPr>
              <a:t>the</a:t>
            </a:r>
            <a:r>
              <a:rPr sz="2200" spc="-1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Calisto MT"/>
                <a:cs typeface="Calisto MT"/>
              </a:rPr>
              <a:t>JSP </a:t>
            </a:r>
            <a:r>
              <a:rPr sz="2200" spc="-10" dirty="0">
                <a:solidFill>
                  <a:srgbClr val="FFFFFF"/>
                </a:solidFill>
                <a:latin typeface="Calisto MT"/>
                <a:cs typeface="Calisto MT"/>
              </a:rPr>
              <a:t>application.</a:t>
            </a:r>
            <a:endParaRPr sz="2200">
              <a:latin typeface="Calisto MT"/>
              <a:cs typeface="Calisto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243072" y="2033016"/>
            <a:ext cx="1984375" cy="3726179"/>
            <a:chOff x="3243072" y="2033016"/>
            <a:chExt cx="1984375" cy="3726179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44595" y="2033016"/>
              <a:ext cx="1909571" cy="37261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43072" y="3308603"/>
              <a:ext cx="1984247" cy="1222247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3430901" y="3368581"/>
            <a:ext cx="1537970" cy="941069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065" marR="5080" algn="ctr">
              <a:lnSpc>
                <a:spcPct val="86600"/>
              </a:lnSpc>
              <a:spcBef>
                <a:spcPts val="450"/>
              </a:spcBef>
            </a:pPr>
            <a:r>
              <a:rPr sz="2200" spc="-10" dirty="0">
                <a:solidFill>
                  <a:srgbClr val="FFFFFF"/>
                </a:solidFill>
                <a:latin typeface="Calisto MT"/>
                <a:cs typeface="Calisto MT"/>
              </a:rPr>
              <a:t>Saves </a:t>
            </a:r>
            <a:r>
              <a:rPr sz="2200" spc="-20" dirty="0">
                <a:solidFill>
                  <a:srgbClr val="FFFFFF"/>
                </a:solidFill>
                <a:latin typeface="Calisto MT"/>
                <a:cs typeface="Calisto MT"/>
              </a:rPr>
              <a:t>development </a:t>
            </a:r>
            <a:r>
              <a:rPr sz="2200" spc="-10" dirty="0">
                <a:solidFill>
                  <a:srgbClr val="FFFFFF"/>
                </a:solidFill>
                <a:latin typeface="Calisto MT"/>
                <a:cs typeface="Calisto MT"/>
              </a:rPr>
              <a:t>time.</a:t>
            </a:r>
            <a:endParaRPr sz="2200">
              <a:latin typeface="Calisto MT"/>
              <a:cs typeface="Calisto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212080" y="2033016"/>
            <a:ext cx="1911350" cy="3726179"/>
            <a:chOff x="5212080" y="2033016"/>
            <a:chExt cx="1911350" cy="3726179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12080" y="2033016"/>
              <a:ext cx="1911095" cy="372617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00472" y="2872740"/>
              <a:ext cx="1763267" cy="2093975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5487594" y="2933193"/>
            <a:ext cx="1360170" cy="181292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250190" marR="241935" indent="635" algn="ctr">
              <a:lnSpc>
                <a:spcPts val="2290"/>
              </a:lnSpc>
              <a:spcBef>
                <a:spcPts val="459"/>
              </a:spcBef>
            </a:pPr>
            <a:r>
              <a:rPr sz="2200" spc="-10" dirty="0">
                <a:solidFill>
                  <a:srgbClr val="FFFFFF"/>
                </a:solidFill>
                <a:latin typeface="Calisto MT"/>
                <a:cs typeface="Calisto MT"/>
              </a:rPr>
              <a:t>Helps </a:t>
            </a:r>
            <a:r>
              <a:rPr sz="2200" spc="-20" dirty="0">
                <a:solidFill>
                  <a:srgbClr val="FFFFFF"/>
                </a:solidFill>
                <a:latin typeface="Calisto MT"/>
                <a:cs typeface="Calisto MT"/>
              </a:rPr>
              <a:t>HTML</a:t>
            </a:r>
            <a:endParaRPr sz="2200">
              <a:latin typeface="Calisto MT"/>
              <a:cs typeface="Calisto MT"/>
            </a:endParaRPr>
          </a:p>
          <a:p>
            <a:pPr algn="ctr">
              <a:lnSpc>
                <a:spcPts val="2090"/>
              </a:lnSpc>
            </a:pPr>
            <a:r>
              <a:rPr sz="2200" spc="-10" dirty="0">
                <a:solidFill>
                  <a:srgbClr val="FFFFFF"/>
                </a:solidFill>
                <a:latin typeface="Calisto MT"/>
                <a:cs typeface="Calisto MT"/>
              </a:rPr>
              <a:t>generation</a:t>
            </a:r>
            <a:endParaRPr sz="2200">
              <a:latin typeface="Calisto MT"/>
              <a:cs typeface="Calisto MT"/>
            </a:endParaRPr>
          </a:p>
          <a:p>
            <a:pPr marL="12700" marR="5080" indent="-1270" algn="ctr">
              <a:lnSpc>
                <a:spcPct val="86600"/>
              </a:lnSpc>
              <a:spcBef>
                <a:spcPts val="185"/>
              </a:spcBef>
            </a:pPr>
            <a:r>
              <a:rPr sz="2200" dirty="0">
                <a:solidFill>
                  <a:srgbClr val="FFFFFF"/>
                </a:solidFill>
                <a:latin typeface="Calisto MT"/>
                <a:cs typeface="Calisto MT"/>
              </a:rPr>
              <a:t>tools</a:t>
            </a:r>
            <a:r>
              <a:rPr sz="2200" spc="-1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2200" spc="-35" dirty="0">
                <a:solidFill>
                  <a:srgbClr val="FFFFFF"/>
                </a:solidFill>
                <a:latin typeface="Calisto MT"/>
                <a:cs typeface="Calisto MT"/>
              </a:rPr>
              <a:t>to </a:t>
            </a:r>
            <a:r>
              <a:rPr sz="2200" dirty="0">
                <a:solidFill>
                  <a:srgbClr val="FFFFFF"/>
                </a:solidFill>
                <a:latin typeface="Calisto MT"/>
                <a:cs typeface="Calisto MT"/>
              </a:rPr>
              <a:t>parse</a:t>
            </a:r>
            <a:r>
              <a:rPr sz="2200" spc="-3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Calisto MT"/>
                <a:cs typeface="Calisto MT"/>
              </a:rPr>
              <a:t>the </a:t>
            </a:r>
            <a:r>
              <a:rPr sz="2200" dirty="0">
                <a:solidFill>
                  <a:srgbClr val="FFFFFF"/>
                </a:solidFill>
                <a:latin typeface="Calisto MT"/>
                <a:cs typeface="Calisto MT"/>
              </a:rPr>
              <a:t>JSTL </a:t>
            </a:r>
            <a:r>
              <a:rPr sz="2200" spc="-35" dirty="0">
                <a:solidFill>
                  <a:srgbClr val="FFFFFF"/>
                </a:solidFill>
                <a:latin typeface="Calisto MT"/>
                <a:cs typeface="Calisto MT"/>
              </a:rPr>
              <a:t>code.</a:t>
            </a:r>
            <a:endParaRPr sz="2200">
              <a:latin typeface="Calisto MT"/>
              <a:cs typeface="Calisto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181088" y="2033016"/>
            <a:ext cx="1943100" cy="3726179"/>
            <a:chOff x="7181088" y="2033016"/>
            <a:chExt cx="1943100" cy="3726179"/>
          </a:xfrm>
        </p:grpSpPr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81088" y="2033016"/>
              <a:ext cx="1909571" cy="372617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217664" y="2872740"/>
              <a:ext cx="1906523" cy="2093975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7405159" y="2933193"/>
            <a:ext cx="1459865" cy="1812925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 marR="5080" algn="ctr">
              <a:lnSpc>
                <a:spcPct val="86600"/>
              </a:lnSpc>
              <a:spcBef>
                <a:spcPts val="450"/>
              </a:spcBef>
            </a:pPr>
            <a:r>
              <a:rPr sz="2200" spc="-10" dirty="0">
                <a:solidFill>
                  <a:srgbClr val="FFFFFF"/>
                </a:solidFill>
                <a:latin typeface="Calisto MT"/>
                <a:cs typeface="Calisto MT"/>
              </a:rPr>
              <a:t>Supports </a:t>
            </a:r>
            <a:r>
              <a:rPr sz="2200" spc="-20" dirty="0">
                <a:solidFill>
                  <a:srgbClr val="FFFFFF"/>
                </a:solidFill>
                <a:latin typeface="Calisto MT"/>
                <a:cs typeface="Calisto MT"/>
              </a:rPr>
              <a:t>both </a:t>
            </a:r>
            <a:r>
              <a:rPr sz="2200" spc="-10" dirty="0">
                <a:solidFill>
                  <a:srgbClr val="FFFFFF"/>
                </a:solidFill>
                <a:latin typeface="Calisto MT"/>
                <a:cs typeface="Calisto MT"/>
              </a:rPr>
              <a:t>formatting </a:t>
            </a:r>
            <a:r>
              <a:rPr sz="2200" spc="-25" dirty="0">
                <a:solidFill>
                  <a:srgbClr val="FFFFFF"/>
                </a:solidFill>
                <a:latin typeface="Calisto MT"/>
                <a:cs typeface="Calisto MT"/>
              </a:rPr>
              <a:t>and </a:t>
            </a:r>
            <a:r>
              <a:rPr sz="2200" spc="-10" dirty="0">
                <a:solidFill>
                  <a:srgbClr val="FFFFFF"/>
                </a:solidFill>
                <a:latin typeface="Calisto MT"/>
                <a:cs typeface="Calisto MT"/>
              </a:rPr>
              <a:t>multilingual support.</a:t>
            </a:r>
            <a:endParaRPr sz="2200">
              <a:latin typeface="Calisto MT"/>
              <a:cs typeface="Calisto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9148572" y="2033016"/>
            <a:ext cx="1963420" cy="3726179"/>
            <a:chOff x="9148572" y="2033016"/>
            <a:chExt cx="1963420" cy="3726179"/>
          </a:xfrm>
        </p:grpSpPr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148572" y="2033016"/>
              <a:ext cx="1911095" cy="372617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165336" y="3162300"/>
              <a:ext cx="1946147" cy="1514856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9353718" y="3223451"/>
            <a:ext cx="1500505" cy="123190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 marR="5080" indent="-635" algn="ctr">
              <a:lnSpc>
                <a:spcPct val="86700"/>
              </a:lnSpc>
              <a:spcBef>
                <a:spcPts val="445"/>
              </a:spcBef>
            </a:pPr>
            <a:r>
              <a:rPr sz="2200" dirty="0">
                <a:solidFill>
                  <a:srgbClr val="FFFFFF"/>
                </a:solidFill>
                <a:latin typeface="Calisto MT"/>
                <a:cs typeface="Calisto MT"/>
              </a:rPr>
              <a:t>Enables</a:t>
            </a:r>
            <a:r>
              <a:rPr sz="2200" spc="-5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Calisto MT"/>
                <a:cs typeface="Calisto MT"/>
              </a:rPr>
              <a:t>the </a:t>
            </a:r>
            <a:r>
              <a:rPr sz="2200" spc="-10" dirty="0">
                <a:solidFill>
                  <a:srgbClr val="FFFFFF"/>
                </a:solidFill>
                <a:latin typeface="Calisto MT"/>
                <a:cs typeface="Calisto MT"/>
              </a:rPr>
              <a:t>programmer </a:t>
            </a:r>
            <a:r>
              <a:rPr sz="2200" dirty="0">
                <a:solidFill>
                  <a:srgbClr val="FFFFFF"/>
                </a:solidFill>
                <a:latin typeface="Calisto MT"/>
                <a:cs typeface="Calisto MT"/>
              </a:rPr>
              <a:t>to</a:t>
            </a:r>
            <a:r>
              <a:rPr sz="2200" spc="-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Calisto MT"/>
                <a:cs typeface="Calisto MT"/>
              </a:rPr>
              <a:t>develop </a:t>
            </a:r>
            <a:r>
              <a:rPr sz="2200" dirty="0">
                <a:solidFill>
                  <a:srgbClr val="FFFFFF"/>
                </a:solidFill>
                <a:latin typeface="Calisto MT"/>
                <a:cs typeface="Calisto MT"/>
              </a:rPr>
              <a:t>custom</a:t>
            </a:r>
            <a:r>
              <a:rPr sz="2200" spc="-7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Calisto MT"/>
                <a:cs typeface="Calisto MT"/>
              </a:rPr>
              <a:t>tags.</a:t>
            </a:r>
            <a:endParaRPr sz="2200">
              <a:latin typeface="Calisto MT"/>
              <a:cs typeface="Calisto MT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spc="-25" dirty="0"/>
              <a:t>3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5122937" y="1104894"/>
            <a:ext cx="200913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sto MT"/>
                <a:cs typeface="Calisto MT"/>
              </a:rPr>
              <a:t>Advantages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70" dirty="0">
                <a:latin typeface="Calisto MT"/>
                <a:cs typeface="Calisto MT"/>
              </a:rPr>
              <a:t> </a:t>
            </a:r>
            <a:r>
              <a:rPr sz="1800" spc="-20" dirty="0">
                <a:latin typeface="Calisto MT"/>
                <a:cs typeface="Calisto MT"/>
              </a:rPr>
              <a:t>JSTL</a:t>
            </a:r>
            <a:endParaRPr sz="1800">
              <a:latin typeface="Calisto MT"/>
              <a:cs typeface="Calisto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>
                <a:latin typeface="Courier New"/>
                <a:cs typeface="Courier New"/>
              </a:rPr>
              <a:t>jakarta.servlet.jsp.tagext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232660" y="1900428"/>
            <a:ext cx="7767955" cy="4075429"/>
            <a:chOff x="2232660" y="1900428"/>
            <a:chExt cx="7767955" cy="407542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32660" y="1900428"/>
              <a:ext cx="7767827" cy="407517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33244" y="2001011"/>
              <a:ext cx="7565135" cy="58064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33244" y="2793491"/>
              <a:ext cx="7565135" cy="58064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33244" y="3560064"/>
              <a:ext cx="7565135" cy="70865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33244" y="4437888"/>
              <a:ext cx="7565135" cy="58064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33244" y="5224271"/>
              <a:ext cx="7565135" cy="649223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3872808" y="1173173"/>
            <a:ext cx="4448810" cy="4516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sto MT"/>
                <a:cs typeface="Calisto MT"/>
              </a:rPr>
              <a:t>Map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construction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sequence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8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taglib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205"/>
              </a:spcBef>
            </a:pPr>
            <a:endParaRPr sz="1800">
              <a:latin typeface="Courier New"/>
              <a:cs typeface="Courier New"/>
            </a:endParaRPr>
          </a:p>
          <a:p>
            <a:pPr marR="87630" algn="ctr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Courier New"/>
                <a:cs typeface="Courier New"/>
              </a:rPr>
              <a:t>taglib</a:t>
            </a:r>
            <a:r>
              <a:rPr sz="1800" spc="-645" dirty="0">
                <a:latin typeface="Courier New"/>
                <a:cs typeface="Courier New"/>
              </a:rPr>
              <a:t> </a:t>
            </a:r>
            <a:r>
              <a:rPr sz="1800" dirty="0">
                <a:latin typeface="Calisto MT"/>
                <a:cs typeface="Calisto MT"/>
              </a:rPr>
              <a:t>Map</a:t>
            </a:r>
            <a:r>
              <a:rPr sz="1800" spc="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web.xml</a:t>
            </a:r>
            <a:endParaRPr sz="1800">
              <a:latin typeface="Courier New"/>
              <a:cs typeface="Courier New"/>
            </a:endParaRPr>
          </a:p>
          <a:p>
            <a:pPr marL="469265" marR="426084" indent="-57150" algn="ctr">
              <a:lnSpc>
                <a:spcPts val="6430"/>
              </a:lnSpc>
              <a:spcBef>
                <a:spcPts val="844"/>
              </a:spcBef>
            </a:pPr>
            <a:r>
              <a:rPr sz="1800" dirty="0">
                <a:latin typeface="Calisto MT"/>
                <a:cs typeface="Calisto MT"/>
              </a:rPr>
              <a:t>Implicit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Map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Entries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from</a:t>
            </a:r>
            <a:r>
              <a:rPr sz="1800" spc="-20" dirty="0">
                <a:latin typeface="Calisto MT"/>
                <a:cs typeface="Calisto MT"/>
              </a:rPr>
              <a:t> TLDs </a:t>
            </a:r>
            <a:r>
              <a:rPr sz="1800" dirty="0">
                <a:latin typeface="Calisto MT"/>
                <a:cs typeface="Calisto MT"/>
              </a:rPr>
              <a:t>TLDs</a:t>
            </a:r>
            <a:r>
              <a:rPr sz="1800" spc="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JAR</a:t>
            </a:r>
            <a:r>
              <a:rPr sz="1800" spc="-635" dirty="0">
                <a:latin typeface="Courier New"/>
                <a:cs typeface="Courier New"/>
              </a:rPr>
              <a:t> </a:t>
            </a:r>
            <a:r>
              <a:rPr sz="1800" dirty="0">
                <a:latin typeface="Calisto MT"/>
                <a:cs typeface="Calisto MT"/>
              </a:rPr>
              <a:t>files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</a:t>
            </a:r>
            <a:r>
              <a:rPr sz="1800" spc="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WEB-INF/lib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280"/>
              </a:spcBef>
            </a:pPr>
            <a:endParaRPr sz="1800">
              <a:latin typeface="Courier New"/>
              <a:cs typeface="Courier New"/>
            </a:endParaRPr>
          </a:p>
          <a:p>
            <a:pPr marL="35560" algn="ctr">
              <a:lnSpc>
                <a:spcPct val="100000"/>
              </a:lnSpc>
            </a:pPr>
            <a:r>
              <a:rPr sz="1800" dirty="0">
                <a:latin typeface="Calisto MT"/>
                <a:cs typeface="Calisto MT"/>
              </a:rPr>
              <a:t>TLDs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under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WEB-</a:t>
            </a:r>
            <a:r>
              <a:rPr sz="1800" spc="-25" dirty="0">
                <a:latin typeface="Courier New"/>
                <a:cs typeface="Courier New"/>
              </a:rPr>
              <a:t>INF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30"/>
              </a:spcBef>
            </a:pPr>
            <a:endParaRPr sz="1800">
              <a:latin typeface="Courier New"/>
              <a:cs typeface="Courier New"/>
            </a:endParaRPr>
          </a:p>
          <a:p>
            <a:pPr marL="506095">
              <a:lnSpc>
                <a:spcPct val="100000"/>
              </a:lnSpc>
            </a:pPr>
            <a:r>
              <a:rPr sz="1800" dirty="0">
                <a:latin typeface="Calisto MT"/>
                <a:cs typeface="Calisto MT"/>
              </a:rPr>
              <a:t>Implicit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Map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Entries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from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Container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spc="-25" dirty="0"/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Core</a:t>
            </a:r>
            <a:r>
              <a:rPr spc="-105" dirty="0"/>
              <a:t> </a:t>
            </a:r>
            <a:r>
              <a:rPr dirty="0"/>
              <a:t>Tag</a:t>
            </a:r>
            <a:r>
              <a:rPr spc="-110" dirty="0"/>
              <a:t> </a:t>
            </a:r>
            <a:r>
              <a:rPr spc="-10" dirty="0"/>
              <a:t>Library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135123" y="1060703"/>
            <a:ext cx="2324100" cy="875030"/>
            <a:chOff x="2135123" y="1060703"/>
            <a:chExt cx="2324100" cy="87503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35123" y="1060703"/>
              <a:ext cx="2324099" cy="8503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00656" y="1080515"/>
              <a:ext cx="2255519" cy="85496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74747" y="1074419"/>
              <a:ext cx="2244852" cy="771144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2373763" y="1134987"/>
            <a:ext cx="1847214" cy="59499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670560" marR="5080" indent="-658495">
              <a:lnSpc>
                <a:spcPts val="2080"/>
              </a:lnSpc>
              <a:spcBef>
                <a:spcPts val="440"/>
              </a:spcBef>
            </a:pPr>
            <a:r>
              <a:rPr sz="2000" spc="-10" dirty="0">
                <a:solidFill>
                  <a:srgbClr val="FFFFFF"/>
                </a:solidFill>
                <a:latin typeface="Calisto MT"/>
                <a:cs typeface="Calisto MT"/>
              </a:rPr>
              <a:t>General-Purpose </a:t>
            </a:r>
            <a:r>
              <a:rPr sz="2000" spc="-20" dirty="0">
                <a:solidFill>
                  <a:srgbClr val="FFFFFF"/>
                </a:solidFill>
                <a:latin typeface="Calisto MT"/>
                <a:cs typeface="Calisto MT"/>
              </a:rPr>
              <a:t>Tags</a:t>
            </a:r>
            <a:endParaRPr sz="2000">
              <a:latin typeface="Calisto MT"/>
              <a:cs typeface="Calisto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394457" y="1841245"/>
            <a:ext cx="2075180" cy="1025525"/>
            <a:chOff x="2394457" y="1841245"/>
            <a:chExt cx="2075180" cy="1025525"/>
          </a:xfrm>
        </p:grpSpPr>
        <p:sp>
          <p:nvSpPr>
            <p:cNvPr id="9" name="object 9"/>
            <p:cNvSpPr/>
            <p:nvPr/>
          </p:nvSpPr>
          <p:spPr>
            <a:xfrm>
              <a:off x="2399537" y="1846325"/>
              <a:ext cx="224790" cy="603885"/>
            </a:xfrm>
            <a:custGeom>
              <a:avLst/>
              <a:gdLst/>
              <a:ahLst/>
              <a:cxnLst/>
              <a:rect l="l" t="t" r="r" b="b"/>
              <a:pathLst>
                <a:path w="224789" h="603885">
                  <a:moveTo>
                    <a:pt x="0" y="0"/>
                  </a:moveTo>
                  <a:lnTo>
                    <a:pt x="0" y="603300"/>
                  </a:lnTo>
                  <a:lnTo>
                    <a:pt x="224434" y="603300"/>
                  </a:lnTo>
                </a:path>
              </a:pathLst>
            </a:custGeom>
            <a:ln w="9994">
              <a:solidFill>
                <a:srgbClr val="A7B8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625089" y="2039873"/>
              <a:ext cx="1839595" cy="821690"/>
            </a:xfrm>
            <a:custGeom>
              <a:avLst/>
              <a:gdLst/>
              <a:ahLst/>
              <a:cxnLst/>
              <a:rect l="l" t="t" r="r" b="b"/>
              <a:pathLst>
                <a:path w="1839595" h="821689">
                  <a:moveTo>
                    <a:pt x="0" y="82143"/>
                  </a:moveTo>
                  <a:lnTo>
                    <a:pt x="6455" y="50170"/>
                  </a:lnTo>
                  <a:lnTo>
                    <a:pt x="24060" y="24060"/>
                  </a:lnTo>
                  <a:lnTo>
                    <a:pt x="50170" y="6455"/>
                  </a:lnTo>
                  <a:lnTo>
                    <a:pt x="82143" y="0"/>
                  </a:lnTo>
                  <a:lnTo>
                    <a:pt x="1757324" y="0"/>
                  </a:lnTo>
                  <a:lnTo>
                    <a:pt x="1789297" y="6455"/>
                  </a:lnTo>
                  <a:lnTo>
                    <a:pt x="1815407" y="24060"/>
                  </a:lnTo>
                  <a:lnTo>
                    <a:pt x="1833012" y="50170"/>
                  </a:lnTo>
                  <a:lnTo>
                    <a:pt x="1839468" y="82143"/>
                  </a:lnTo>
                  <a:lnTo>
                    <a:pt x="1839468" y="739292"/>
                  </a:lnTo>
                  <a:lnTo>
                    <a:pt x="1833012" y="771265"/>
                  </a:lnTo>
                  <a:lnTo>
                    <a:pt x="1815407" y="797375"/>
                  </a:lnTo>
                  <a:lnTo>
                    <a:pt x="1789297" y="814980"/>
                  </a:lnTo>
                  <a:lnTo>
                    <a:pt x="1757324" y="821436"/>
                  </a:lnTo>
                  <a:lnTo>
                    <a:pt x="82143" y="821436"/>
                  </a:lnTo>
                  <a:lnTo>
                    <a:pt x="50170" y="814980"/>
                  </a:lnTo>
                  <a:lnTo>
                    <a:pt x="24060" y="797375"/>
                  </a:lnTo>
                  <a:lnTo>
                    <a:pt x="6455" y="771265"/>
                  </a:lnTo>
                  <a:lnTo>
                    <a:pt x="0" y="739292"/>
                  </a:lnTo>
                  <a:lnTo>
                    <a:pt x="0" y="82143"/>
                  </a:lnTo>
                  <a:close/>
                </a:path>
              </a:pathLst>
            </a:custGeom>
            <a:ln w="9994">
              <a:solidFill>
                <a:srgbClr val="95A62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997815" y="2239660"/>
            <a:ext cx="10928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Courier New"/>
                <a:cs typeface="Courier New"/>
              </a:rPr>
              <a:t>&lt;c:set&gt;</a:t>
            </a:r>
            <a:endParaRPr sz="2000">
              <a:latin typeface="Courier New"/>
              <a:cs typeface="Courier New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394457" y="1841245"/>
            <a:ext cx="2319020" cy="1997710"/>
            <a:chOff x="2394457" y="1841245"/>
            <a:chExt cx="2319020" cy="1997710"/>
          </a:xfrm>
        </p:grpSpPr>
        <p:sp>
          <p:nvSpPr>
            <p:cNvPr id="13" name="object 13"/>
            <p:cNvSpPr/>
            <p:nvPr/>
          </p:nvSpPr>
          <p:spPr>
            <a:xfrm>
              <a:off x="2399537" y="1846325"/>
              <a:ext cx="224790" cy="1596390"/>
            </a:xfrm>
            <a:custGeom>
              <a:avLst/>
              <a:gdLst/>
              <a:ahLst/>
              <a:cxnLst/>
              <a:rect l="l" t="t" r="r" b="b"/>
              <a:pathLst>
                <a:path w="224789" h="1596389">
                  <a:moveTo>
                    <a:pt x="0" y="0"/>
                  </a:moveTo>
                  <a:lnTo>
                    <a:pt x="0" y="1596288"/>
                  </a:lnTo>
                  <a:lnTo>
                    <a:pt x="224434" y="1596288"/>
                  </a:lnTo>
                </a:path>
              </a:pathLst>
            </a:custGeom>
            <a:ln w="9994">
              <a:solidFill>
                <a:srgbClr val="A7B8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625089" y="3053333"/>
              <a:ext cx="2083435" cy="780415"/>
            </a:xfrm>
            <a:custGeom>
              <a:avLst/>
              <a:gdLst/>
              <a:ahLst/>
              <a:cxnLst/>
              <a:rect l="l" t="t" r="r" b="b"/>
              <a:pathLst>
                <a:path w="2083435" h="780414">
                  <a:moveTo>
                    <a:pt x="0" y="78028"/>
                  </a:moveTo>
                  <a:lnTo>
                    <a:pt x="6132" y="47657"/>
                  </a:lnTo>
                  <a:lnTo>
                    <a:pt x="22855" y="22855"/>
                  </a:lnTo>
                  <a:lnTo>
                    <a:pt x="47657" y="6132"/>
                  </a:lnTo>
                  <a:lnTo>
                    <a:pt x="78028" y="0"/>
                  </a:lnTo>
                  <a:lnTo>
                    <a:pt x="2005279" y="0"/>
                  </a:lnTo>
                  <a:lnTo>
                    <a:pt x="2035650" y="6132"/>
                  </a:lnTo>
                  <a:lnTo>
                    <a:pt x="2060452" y="22855"/>
                  </a:lnTo>
                  <a:lnTo>
                    <a:pt x="2077175" y="47657"/>
                  </a:lnTo>
                  <a:lnTo>
                    <a:pt x="2083308" y="78028"/>
                  </a:lnTo>
                  <a:lnTo>
                    <a:pt x="2083308" y="702259"/>
                  </a:lnTo>
                  <a:lnTo>
                    <a:pt x="2077175" y="732630"/>
                  </a:lnTo>
                  <a:lnTo>
                    <a:pt x="2060452" y="757432"/>
                  </a:lnTo>
                  <a:lnTo>
                    <a:pt x="2035650" y="774155"/>
                  </a:lnTo>
                  <a:lnTo>
                    <a:pt x="2005279" y="780288"/>
                  </a:lnTo>
                  <a:lnTo>
                    <a:pt x="78028" y="780288"/>
                  </a:lnTo>
                  <a:lnTo>
                    <a:pt x="47657" y="774155"/>
                  </a:lnTo>
                  <a:lnTo>
                    <a:pt x="22855" y="757432"/>
                  </a:lnTo>
                  <a:lnTo>
                    <a:pt x="6132" y="732630"/>
                  </a:lnTo>
                  <a:lnTo>
                    <a:pt x="0" y="702259"/>
                  </a:lnTo>
                  <a:lnTo>
                    <a:pt x="0" y="78028"/>
                  </a:lnTo>
                  <a:close/>
                </a:path>
              </a:pathLst>
            </a:custGeom>
            <a:ln w="9994">
              <a:solidFill>
                <a:srgbClr val="A2B4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891422" y="3232654"/>
            <a:ext cx="15500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Courier New"/>
                <a:cs typeface="Courier New"/>
              </a:rPr>
              <a:t>&lt;c:remove&gt;</a:t>
            </a:r>
            <a:endParaRPr sz="2000">
              <a:latin typeface="Courier New"/>
              <a:cs typeface="Courier New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394540" y="1841328"/>
            <a:ext cx="2119630" cy="3948429"/>
            <a:chOff x="2394540" y="1841328"/>
            <a:chExt cx="2119630" cy="3948429"/>
          </a:xfrm>
        </p:grpSpPr>
        <p:sp>
          <p:nvSpPr>
            <p:cNvPr id="17" name="object 17"/>
            <p:cNvSpPr/>
            <p:nvPr/>
          </p:nvSpPr>
          <p:spPr>
            <a:xfrm>
              <a:off x="2399537" y="1846325"/>
              <a:ext cx="224790" cy="2569845"/>
            </a:xfrm>
            <a:custGeom>
              <a:avLst/>
              <a:gdLst/>
              <a:ahLst/>
              <a:cxnLst/>
              <a:rect l="l" t="t" r="r" b="b"/>
              <a:pathLst>
                <a:path w="224789" h="2569845">
                  <a:moveTo>
                    <a:pt x="0" y="0"/>
                  </a:moveTo>
                  <a:lnTo>
                    <a:pt x="0" y="2569730"/>
                  </a:lnTo>
                  <a:lnTo>
                    <a:pt x="224434" y="2569730"/>
                  </a:lnTo>
                </a:path>
              </a:pathLst>
            </a:custGeom>
            <a:ln w="9994">
              <a:solidFill>
                <a:srgbClr val="A7B8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625089" y="4025645"/>
              <a:ext cx="1884045" cy="782320"/>
            </a:xfrm>
            <a:custGeom>
              <a:avLst/>
              <a:gdLst/>
              <a:ahLst/>
              <a:cxnLst/>
              <a:rect l="l" t="t" r="r" b="b"/>
              <a:pathLst>
                <a:path w="1884045" h="782320">
                  <a:moveTo>
                    <a:pt x="0" y="78181"/>
                  </a:moveTo>
                  <a:lnTo>
                    <a:pt x="6143" y="47748"/>
                  </a:lnTo>
                  <a:lnTo>
                    <a:pt x="22898" y="22898"/>
                  </a:lnTo>
                  <a:lnTo>
                    <a:pt x="47748" y="6143"/>
                  </a:lnTo>
                  <a:lnTo>
                    <a:pt x="78181" y="0"/>
                  </a:lnTo>
                  <a:lnTo>
                    <a:pt x="1805482" y="0"/>
                  </a:lnTo>
                  <a:lnTo>
                    <a:pt x="1835915" y="6143"/>
                  </a:lnTo>
                  <a:lnTo>
                    <a:pt x="1860765" y="22898"/>
                  </a:lnTo>
                  <a:lnTo>
                    <a:pt x="1877520" y="47748"/>
                  </a:lnTo>
                  <a:lnTo>
                    <a:pt x="1883664" y="78181"/>
                  </a:lnTo>
                  <a:lnTo>
                    <a:pt x="1883664" y="703630"/>
                  </a:lnTo>
                  <a:lnTo>
                    <a:pt x="1877520" y="734063"/>
                  </a:lnTo>
                  <a:lnTo>
                    <a:pt x="1860765" y="758913"/>
                  </a:lnTo>
                  <a:lnTo>
                    <a:pt x="1835915" y="775668"/>
                  </a:lnTo>
                  <a:lnTo>
                    <a:pt x="1805482" y="781811"/>
                  </a:lnTo>
                  <a:lnTo>
                    <a:pt x="78181" y="781811"/>
                  </a:lnTo>
                  <a:lnTo>
                    <a:pt x="47748" y="775668"/>
                  </a:lnTo>
                  <a:lnTo>
                    <a:pt x="22898" y="758913"/>
                  </a:lnTo>
                  <a:lnTo>
                    <a:pt x="6143" y="734063"/>
                  </a:lnTo>
                  <a:lnTo>
                    <a:pt x="0" y="703630"/>
                  </a:lnTo>
                  <a:lnTo>
                    <a:pt x="0" y="78181"/>
                  </a:lnTo>
                  <a:close/>
                </a:path>
              </a:pathLst>
            </a:custGeom>
            <a:ln w="9994">
              <a:solidFill>
                <a:srgbClr val="AEC2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399537" y="1846325"/>
              <a:ext cx="224790" cy="3545840"/>
            </a:xfrm>
            <a:custGeom>
              <a:avLst/>
              <a:gdLst/>
              <a:ahLst/>
              <a:cxnLst/>
              <a:rect l="l" t="t" r="r" b="b"/>
              <a:pathLst>
                <a:path w="224789" h="3545840">
                  <a:moveTo>
                    <a:pt x="0" y="0"/>
                  </a:moveTo>
                  <a:lnTo>
                    <a:pt x="0" y="3545433"/>
                  </a:lnTo>
                  <a:lnTo>
                    <a:pt x="224434" y="3545433"/>
                  </a:lnTo>
                </a:path>
              </a:pathLst>
            </a:custGeom>
            <a:ln w="9994">
              <a:solidFill>
                <a:srgbClr val="A7B8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625089" y="5001004"/>
              <a:ext cx="1877695" cy="783590"/>
            </a:xfrm>
            <a:custGeom>
              <a:avLst/>
              <a:gdLst/>
              <a:ahLst/>
              <a:cxnLst/>
              <a:rect l="l" t="t" r="r" b="b"/>
              <a:pathLst>
                <a:path w="1877695" h="783589">
                  <a:moveTo>
                    <a:pt x="0" y="78333"/>
                  </a:moveTo>
                  <a:lnTo>
                    <a:pt x="6154" y="47845"/>
                  </a:lnTo>
                  <a:lnTo>
                    <a:pt x="22940" y="22945"/>
                  </a:lnTo>
                  <a:lnTo>
                    <a:pt x="47839" y="6156"/>
                  </a:lnTo>
                  <a:lnTo>
                    <a:pt x="78333" y="0"/>
                  </a:lnTo>
                  <a:lnTo>
                    <a:pt x="1799234" y="0"/>
                  </a:lnTo>
                  <a:lnTo>
                    <a:pt x="1829728" y="6156"/>
                  </a:lnTo>
                  <a:lnTo>
                    <a:pt x="1854627" y="22945"/>
                  </a:lnTo>
                  <a:lnTo>
                    <a:pt x="1871413" y="47845"/>
                  </a:lnTo>
                  <a:lnTo>
                    <a:pt x="1877568" y="78333"/>
                  </a:lnTo>
                  <a:lnTo>
                    <a:pt x="1877568" y="705002"/>
                  </a:lnTo>
                  <a:lnTo>
                    <a:pt x="1871413" y="735496"/>
                  </a:lnTo>
                  <a:lnTo>
                    <a:pt x="1854627" y="760395"/>
                  </a:lnTo>
                  <a:lnTo>
                    <a:pt x="1829728" y="777181"/>
                  </a:lnTo>
                  <a:lnTo>
                    <a:pt x="1799234" y="783336"/>
                  </a:lnTo>
                  <a:lnTo>
                    <a:pt x="78333" y="783336"/>
                  </a:lnTo>
                  <a:lnTo>
                    <a:pt x="47839" y="777181"/>
                  </a:lnTo>
                  <a:lnTo>
                    <a:pt x="22940" y="760395"/>
                  </a:lnTo>
                  <a:lnTo>
                    <a:pt x="6154" y="735496"/>
                  </a:lnTo>
                  <a:lnTo>
                    <a:pt x="0" y="705002"/>
                  </a:lnTo>
                  <a:lnTo>
                    <a:pt x="0" y="78333"/>
                  </a:lnTo>
                  <a:close/>
                </a:path>
              </a:pathLst>
            </a:custGeom>
            <a:ln w="9994">
              <a:solidFill>
                <a:srgbClr val="B5C6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864135" y="4206092"/>
            <a:ext cx="1397635" cy="1306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15" algn="ctr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Courier New"/>
                <a:cs typeface="Courier New"/>
              </a:rPr>
              <a:t>&lt;c:out&gt;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755"/>
              </a:spcBef>
            </a:pPr>
            <a:endParaRPr sz="2000">
              <a:latin typeface="Courier New"/>
              <a:cs typeface="Courier New"/>
            </a:endParaRPr>
          </a:p>
          <a:p>
            <a:pPr algn="ctr">
              <a:lnSpc>
                <a:spcPct val="100000"/>
              </a:lnSpc>
            </a:pPr>
            <a:r>
              <a:rPr sz="2000" spc="-10" dirty="0">
                <a:latin typeface="Courier New"/>
                <a:cs typeface="Courier New"/>
              </a:rPr>
              <a:t>&lt;c:catch&gt;</a:t>
            </a:r>
            <a:endParaRPr sz="2000">
              <a:latin typeface="Courier New"/>
              <a:cs typeface="Courier New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760976" y="1060703"/>
            <a:ext cx="2301240" cy="875030"/>
            <a:chOff x="4760976" y="1060703"/>
            <a:chExt cx="2301240" cy="875030"/>
          </a:xfrm>
        </p:grpSpPr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65547" y="1060703"/>
              <a:ext cx="2232659" cy="850391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60976" y="1080515"/>
              <a:ext cx="2301239" cy="854963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805171" y="1074419"/>
              <a:ext cx="2153412" cy="771144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4933870" y="1134987"/>
            <a:ext cx="1895475" cy="59499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694690" marR="5080" indent="-682625">
              <a:lnSpc>
                <a:spcPts val="2080"/>
              </a:lnSpc>
              <a:spcBef>
                <a:spcPts val="440"/>
              </a:spcBef>
            </a:pPr>
            <a:r>
              <a:rPr sz="2000" spc="-10" dirty="0">
                <a:solidFill>
                  <a:srgbClr val="FFFFFF"/>
                </a:solidFill>
                <a:latin typeface="Calisto MT"/>
                <a:cs typeface="Calisto MT"/>
              </a:rPr>
              <a:t>Decision-Making </a:t>
            </a:r>
            <a:r>
              <a:rPr sz="2000" spc="-20" dirty="0">
                <a:solidFill>
                  <a:srgbClr val="FFFFFF"/>
                </a:solidFill>
                <a:latin typeface="Calisto MT"/>
                <a:cs typeface="Calisto MT"/>
              </a:rPr>
              <a:t>Tags</a:t>
            </a:r>
            <a:endParaRPr sz="2000">
              <a:latin typeface="Calisto MT"/>
              <a:cs typeface="Calisto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5015738" y="1841245"/>
            <a:ext cx="2099945" cy="975360"/>
            <a:chOff x="5015738" y="1841245"/>
            <a:chExt cx="2099945" cy="975360"/>
          </a:xfrm>
        </p:grpSpPr>
        <p:sp>
          <p:nvSpPr>
            <p:cNvPr id="28" name="object 28"/>
            <p:cNvSpPr/>
            <p:nvPr/>
          </p:nvSpPr>
          <p:spPr>
            <a:xfrm>
              <a:off x="5020818" y="1846325"/>
              <a:ext cx="215900" cy="579120"/>
            </a:xfrm>
            <a:custGeom>
              <a:avLst/>
              <a:gdLst/>
              <a:ahLst/>
              <a:cxnLst/>
              <a:rect l="l" t="t" r="r" b="b"/>
              <a:pathLst>
                <a:path w="215900" h="579119">
                  <a:moveTo>
                    <a:pt x="0" y="0"/>
                  </a:moveTo>
                  <a:lnTo>
                    <a:pt x="0" y="578751"/>
                  </a:lnTo>
                  <a:lnTo>
                    <a:pt x="215341" y="578751"/>
                  </a:lnTo>
                </a:path>
              </a:pathLst>
            </a:custGeom>
            <a:ln w="9994">
              <a:solidFill>
                <a:srgbClr val="A7B8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237226" y="2039873"/>
              <a:ext cx="1873250" cy="771525"/>
            </a:xfrm>
            <a:custGeom>
              <a:avLst/>
              <a:gdLst/>
              <a:ahLst/>
              <a:cxnLst/>
              <a:rect l="l" t="t" r="r" b="b"/>
              <a:pathLst>
                <a:path w="1873250" h="771525">
                  <a:moveTo>
                    <a:pt x="0" y="77114"/>
                  </a:moveTo>
                  <a:lnTo>
                    <a:pt x="6060" y="47100"/>
                  </a:lnTo>
                  <a:lnTo>
                    <a:pt x="22588" y="22588"/>
                  </a:lnTo>
                  <a:lnTo>
                    <a:pt x="47100" y="6060"/>
                  </a:lnTo>
                  <a:lnTo>
                    <a:pt x="77114" y="0"/>
                  </a:lnTo>
                  <a:lnTo>
                    <a:pt x="1795881" y="0"/>
                  </a:lnTo>
                  <a:lnTo>
                    <a:pt x="1825895" y="6060"/>
                  </a:lnTo>
                  <a:lnTo>
                    <a:pt x="1850407" y="22588"/>
                  </a:lnTo>
                  <a:lnTo>
                    <a:pt x="1866935" y="47100"/>
                  </a:lnTo>
                  <a:lnTo>
                    <a:pt x="1872995" y="77114"/>
                  </a:lnTo>
                  <a:lnTo>
                    <a:pt x="1872995" y="694029"/>
                  </a:lnTo>
                  <a:lnTo>
                    <a:pt x="1866935" y="724048"/>
                  </a:lnTo>
                  <a:lnTo>
                    <a:pt x="1850407" y="748560"/>
                  </a:lnTo>
                  <a:lnTo>
                    <a:pt x="1825895" y="765084"/>
                  </a:lnTo>
                  <a:lnTo>
                    <a:pt x="1795881" y="771144"/>
                  </a:lnTo>
                  <a:lnTo>
                    <a:pt x="77114" y="771144"/>
                  </a:lnTo>
                  <a:lnTo>
                    <a:pt x="47100" y="765084"/>
                  </a:lnTo>
                  <a:lnTo>
                    <a:pt x="22588" y="748560"/>
                  </a:lnTo>
                  <a:lnTo>
                    <a:pt x="6060" y="724048"/>
                  </a:lnTo>
                  <a:lnTo>
                    <a:pt x="0" y="694029"/>
                  </a:lnTo>
                  <a:lnTo>
                    <a:pt x="0" y="77114"/>
                  </a:lnTo>
                  <a:close/>
                </a:path>
              </a:pathLst>
            </a:custGeom>
            <a:ln w="9994">
              <a:solidFill>
                <a:srgbClr val="B8C7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5702885" y="2215116"/>
            <a:ext cx="9404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Courier New"/>
                <a:cs typeface="Courier New"/>
              </a:rPr>
              <a:t>&lt;c:if&gt;</a:t>
            </a:r>
            <a:endParaRPr sz="2000">
              <a:latin typeface="Courier New"/>
              <a:cs typeface="Courier New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5015820" y="1841328"/>
            <a:ext cx="2061845" cy="1939925"/>
            <a:chOff x="5015820" y="1841328"/>
            <a:chExt cx="2061845" cy="1939925"/>
          </a:xfrm>
        </p:grpSpPr>
        <p:sp>
          <p:nvSpPr>
            <p:cNvPr id="32" name="object 32"/>
            <p:cNvSpPr/>
            <p:nvPr/>
          </p:nvSpPr>
          <p:spPr>
            <a:xfrm>
              <a:off x="5020818" y="1846325"/>
              <a:ext cx="215900" cy="1543685"/>
            </a:xfrm>
            <a:custGeom>
              <a:avLst/>
              <a:gdLst/>
              <a:ahLst/>
              <a:cxnLst/>
              <a:rect l="l" t="t" r="r" b="b"/>
              <a:pathLst>
                <a:path w="215900" h="1543685">
                  <a:moveTo>
                    <a:pt x="0" y="0"/>
                  </a:moveTo>
                  <a:lnTo>
                    <a:pt x="0" y="1543342"/>
                  </a:lnTo>
                  <a:lnTo>
                    <a:pt x="215341" y="1543342"/>
                  </a:lnTo>
                </a:path>
              </a:pathLst>
            </a:custGeom>
            <a:ln w="9994">
              <a:solidFill>
                <a:srgbClr val="A7B8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237226" y="3004565"/>
              <a:ext cx="1835150" cy="771525"/>
            </a:xfrm>
            <a:custGeom>
              <a:avLst/>
              <a:gdLst/>
              <a:ahLst/>
              <a:cxnLst/>
              <a:rect l="l" t="t" r="r" b="b"/>
              <a:pathLst>
                <a:path w="1835150" h="771525">
                  <a:moveTo>
                    <a:pt x="0" y="77114"/>
                  </a:moveTo>
                  <a:lnTo>
                    <a:pt x="6060" y="47100"/>
                  </a:lnTo>
                  <a:lnTo>
                    <a:pt x="22588" y="22588"/>
                  </a:lnTo>
                  <a:lnTo>
                    <a:pt x="47100" y="6060"/>
                  </a:lnTo>
                  <a:lnTo>
                    <a:pt x="77114" y="0"/>
                  </a:lnTo>
                  <a:lnTo>
                    <a:pt x="1757781" y="0"/>
                  </a:lnTo>
                  <a:lnTo>
                    <a:pt x="1787795" y="6060"/>
                  </a:lnTo>
                  <a:lnTo>
                    <a:pt x="1812307" y="22588"/>
                  </a:lnTo>
                  <a:lnTo>
                    <a:pt x="1828835" y="47100"/>
                  </a:lnTo>
                  <a:lnTo>
                    <a:pt x="1834895" y="77114"/>
                  </a:lnTo>
                  <a:lnTo>
                    <a:pt x="1834895" y="694029"/>
                  </a:lnTo>
                  <a:lnTo>
                    <a:pt x="1828835" y="724043"/>
                  </a:lnTo>
                  <a:lnTo>
                    <a:pt x="1812307" y="748555"/>
                  </a:lnTo>
                  <a:lnTo>
                    <a:pt x="1787795" y="765083"/>
                  </a:lnTo>
                  <a:lnTo>
                    <a:pt x="1757781" y="771144"/>
                  </a:lnTo>
                  <a:lnTo>
                    <a:pt x="77114" y="771144"/>
                  </a:lnTo>
                  <a:lnTo>
                    <a:pt x="47100" y="765083"/>
                  </a:lnTo>
                  <a:lnTo>
                    <a:pt x="22588" y="748555"/>
                  </a:lnTo>
                  <a:lnTo>
                    <a:pt x="6060" y="724043"/>
                  </a:lnTo>
                  <a:lnTo>
                    <a:pt x="0" y="694029"/>
                  </a:lnTo>
                  <a:lnTo>
                    <a:pt x="0" y="77114"/>
                  </a:lnTo>
                  <a:close/>
                </a:path>
              </a:pathLst>
            </a:custGeom>
            <a:ln w="9994">
              <a:solidFill>
                <a:srgbClr val="BBC97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5378275" y="3179709"/>
            <a:ext cx="15500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Courier New"/>
                <a:cs typeface="Courier New"/>
              </a:rPr>
              <a:t>&lt;c:choose&gt;</a:t>
            </a:r>
            <a:endParaRPr sz="2000">
              <a:latin typeface="Courier New"/>
              <a:cs typeface="Courier New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7304531" y="1060703"/>
            <a:ext cx="1623060" cy="875030"/>
            <a:chOff x="7304531" y="1060703"/>
            <a:chExt cx="1623060" cy="875030"/>
          </a:xfrm>
        </p:grpSpPr>
        <p:pic>
          <p:nvPicPr>
            <p:cNvPr id="36" name="object 3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304531" y="1060703"/>
              <a:ext cx="1623059" cy="850391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466075" y="1080516"/>
              <a:ext cx="1362455" cy="854963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344155" y="1074419"/>
              <a:ext cx="1543811" cy="771144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7639212" y="1134987"/>
            <a:ext cx="952500" cy="59499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224154" marR="5080" indent="-212090">
              <a:lnSpc>
                <a:spcPts val="2080"/>
              </a:lnSpc>
              <a:spcBef>
                <a:spcPts val="440"/>
              </a:spcBef>
            </a:pPr>
            <a:r>
              <a:rPr sz="2000" spc="-10" dirty="0">
                <a:latin typeface="Calisto MT"/>
                <a:cs typeface="Calisto MT"/>
              </a:rPr>
              <a:t>Iteration </a:t>
            </a:r>
            <a:r>
              <a:rPr sz="2000" spc="-20" dirty="0">
                <a:latin typeface="Calisto MT"/>
                <a:cs typeface="Calisto MT"/>
              </a:rPr>
              <a:t>Tags</a:t>
            </a:r>
            <a:endParaRPr sz="2000">
              <a:latin typeface="Calisto MT"/>
              <a:cs typeface="Calisto MT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7493761" y="1841245"/>
            <a:ext cx="2461260" cy="975360"/>
            <a:chOff x="7493761" y="1841245"/>
            <a:chExt cx="2461260" cy="975360"/>
          </a:xfrm>
        </p:grpSpPr>
        <p:sp>
          <p:nvSpPr>
            <p:cNvPr id="41" name="object 41"/>
            <p:cNvSpPr/>
            <p:nvPr/>
          </p:nvSpPr>
          <p:spPr>
            <a:xfrm>
              <a:off x="7498841" y="1846325"/>
              <a:ext cx="154940" cy="579120"/>
            </a:xfrm>
            <a:custGeom>
              <a:avLst/>
              <a:gdLst/>
              <a:ahLst/>
              <a:cxnLst/>
              <a:rect l="l" t="t" r="r" b="b"/>
              <a:pathLst>
                <a:path w="154940" h="579119">
                  <a:moveTo>
                    <a:pt x="0" y="0"/>
                  </a:moveTo>
                  <a:lnTo>
                    <a:pt x="0" y="578751"/>
                  </a:lnTo>
                  <a:lnTo>
                    <a:pt x="154330" y="578751"/>
                  </a:lnTo>
                </a:path>
              </a:pathLst>
            </a:custGeom>
            <a:ln w="9994">
              <a:solidFill>
                <a:srgbClr val="A7B8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654289" y="2039873"/>
              <a:ext cx="2295525" cy="771525"/>
            </a:xfrm>
            <a:custGeom>
              <a:avLst/>
              <a:gdLst/>
              <a:ahLst/>
              <a:cxnLst/>
              <a:rect l="l" t="t" r="r" b="b"/>
              <a:pathLst>
                <a:path w="2295525" h="771525">
                  <a:moveTo>
                    <a:pt x="0" y="77114"/>
                  </a:moveTo>
                  <a:lnTo>
                    <a:pt x="6060" y="47095"/>
                  </a:lnTo>
                  <a:lnTo>
                    <a:pt x="22588" y="22583"/>
                  </a:lnTo>
                  <a:lnTo>
                    <a:pt x="47100" y="6059"/>
                  </a:lnTo>
                  <a:lnTo>
                    <a:pt x="77114" y="0"/>
                  </a:lnTo>
                  <a:lnTo>
                    <a:pt x="2218029" y="0"/>
                  </a:lnTo>
                  <a:lnTo>
                    <a:pt x="2248043" y="6059"/>
                  </a:lnTo>
                  <a:lnTo>
                    <a:pt x="2272555" y="22583"/>
                  </a:lnTo>
                  <a:lnTo>
                    <a:pt x="2289083" y="47095"/>
                  </a:lnTo>
                  <a:lnTo>
                    <a:pt x="2295144" y="77114"/>
                  </a:lnTo>
                  <a:lnTo>
                    <a:pt x="2295144" y="694029"/>
                  </a:lnTo>
                  <a:lnTo>
                    <a:pt x="2289083" y="724043"/>
                  </a:lnTo>
                  <a:lnTo>
                    <a:pt x="2272555" y="748555"/>
                  </a:lnTo>
                  <a:lnTo>
                    <a:pt x="2248043" y="765083"/>
                  </a:lnTo>
                  <a:lnTo>
                    <a:pt x="2218029" y="771144"/>
                  </a:lnTo>
                  <a:lnTo>
                    <a:pt x="77114" y="771144"/>
                  </a:lnTo>
                  <a:lnTo>
                    <a:pt x="47100" y="765083"/>
                  </a:lnTo>
                  <a:lnTo>
                    <a:pt x="22588" y="748555"/>
                  </a:lnTo>
                  <a:lnTo>
                    <a:pt x="6060" y="724043"/>
                  </a:lnTo>
                  <a:lnTo>
                    <a:pt x="0" y="694029"/>
                  </a:lnTo>
                  <a:lnTo>
                    <a:pt x="0" y="77114"/>
                  </a:lnTo>
                  <a:close/>
                </a:path>
              </a:pathLst>
            </a:custGeom>
            <a:ln w="9994">
              <a:solidFill>
                <a:srgbClr val="C1CC8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7949380" y="2215116"/>
            <a:ext cx="17024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Courier New"/>
                <a:cs typeface="Courier New"/>
              </a:rPr>
              <a:t>&lt;c:forEach&gt;</a:t>
            </a:r>
            <a:endParaRPr sz="2000">
              <a:latin typeface="Courier New"/>
              <a:cs typeface="Courier New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7493844" y="1841328"/>
            <a:ext cx="2529205" cy="1939925"/>
            <a:chOff x="7493844" y="1841328"/>
            <a:chExt cx="2529205" cy="1939925"/>
          </a:xfrm>
        </p:grpSpPr>
        <p:sp>
          <p:nvSpPr>
            <p:cNvPr id="45" name="object 45"/>
            <p:cNvSpPr/>
            <p:nvPr/>
          </p:nvSpPr>
          <p:spPr>
            <a:xfrm>
              <a:off x="7498842" y="1846325"/>
              <a:ext cx="154940" cy="1543685"/>
            </a:xfrm>
            <a:custGeom>
              <a:avLst/>
              <a:gdLst/>
              <a:ahLst/>
              <a:cxnLst/>
              <a:rect l="l" t="t" r="r" b="b"/>
              <a:pathLst>
                <a:path w="154940" h="1543685">
                  <a:moveTo>
                    <a:pt x="0" y="0"/>
                  </a:moveTo>
                  <a:lnTo>
                    <a:pt x="0" y="1543342"/>
                  </a:lnTo>
                  <a:lnTo>
                    <a:pt x="154330" y="1543342"/>
                  </a:lnTo>
                </a:path>
              </a:pathLst>
            </a:custGeom>
            <a:ln w="9994">
              <a:solidFill>
                <a:srgbClr val="A7B8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654290" y="3004564"/>
              <a:ext cx="2364105" cy="771525"/>
            </a:xfrm>
            <a:custGeom>
              <a:avLst/>
              <a:gdLst/>
              <a:ahLst/>
              <a:cxnLst/>
              <a:rect l="l" t="t" r="r" b="b"/>
              <a:pathLst>
                <a:path w="2364104" h="771525">
                  <a:moveTo>
                    <a:pt x="0" y="77114"/>
                  </a:moveTo>
                  <a:lnTo>
                    <a:pt x="6060" y="47100"/>
                  </a:lnTo>
                  <a:lnTo>
                    <a:pt x="22588" y="22588"/>
                  </a:lnTo>
                  <a:lnTo>
                    <a:pt x="47100" y="6060"/>
                  </a:lnTo>
                  <a:lnTo>
                    <a:pt x="77114" y="0"/>
                  </a:lnTo>
                  <a:lnTo>
                    <a:pt x="2286609" y="0"/>
                  </a:lnTo>
                  <a:lnTo>
                    <a:pt x="2316628" y="6060"/>
                  </a:lnTo>
                  <a:lnTo>
                    <a:pt x="2341140" y="22588"/>
                  </a:lnTo>
                  <a:lnTo>
                    <a:pt x="2357664" y="47100"/>
                  </a:lnTo>
                  <a:lnTo>
                    <a:pt x="2363724" y="77114"/>
                  </a:lnTo>
                  <a:lnTo>
                    <a:pt x="2363724" y="694029"/>
                  </a:lnTo>
                  <a:lnTo>
                    <a:pt x="2357664" y="724048"/>
                  </a:lnTo>
                  <a:lnTo>
                    <a:pt x="2341140" y="748560"/>
                  </a:lnTo>
                  <a:lnTo>
                    <a:pt x="2316628" y="765084"/>
                  </a:lnTo>
                  <a:lnTo>
                    <a:pt x="2286609" y="771144"/>
                  </a:lnTo>
                  <a:lnTo>
                    <a:pt x="77114" y="771144"/>
                  </a:lnTo>
                  <a:lnTo>
                    <a:pt x="47100" y="765084"/>
                  </a:lnTo>
                  <a:lnTo>
                    <a:pt x="22588" y="748560"/>
                  </a:lnTo>
                  <a:lnTo>
                    <a:pt x="6060" y="724048"/>
                  </a:lnTo>
                  <a:lnTo>
                    <a:pt x="0" y="694029"/>
                  </a:lnTo>
                  <a:lnTo>
                    <a:pt x="0" y="77114"/>
                  </a:lnTo>
                  <a:close/>
                </a:path>
              </a:pathLst>
            </a:custGeom>
            <a:ln w="9994">
              <a:solidFill>
                <a:srgbClr val="C5D0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7832064" y="3179709"/>
            <a:ext cx="200787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Courier New"/>
                <a:cs typeface="Courier New"/>
              </a:rPr>
              <a:t>&lt;c:forTokens&gt;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8" name="object 4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49" name="object 4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spc="-25" dirty="0"/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SQL</a:t>
            </a:r>
            <a:r>
              <a:rPr spc="-105" dirty="0"/>
              <a:t> </a:t>
            </a:r>
            <a:r>
              <a:rPr dirty="0"/>
              <a:t>Tag</a:t>
            </a:r>
            <a:r>
              <a:rPr spc="-80" dirty="0"/>
              <a:t> </a:t>
            </a:r>
            <a:r>
              <a:rPr spc="-10" dirty="0"/>
              <a:t>Library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88055" y="1798825"/>
            <a:ext cx="1610995" cy="53784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2700" marR="5080" indent="855980">
              <a:lnSpc>
                <a:spcPts val="1870"/>
              </a:lnSpc>
              <a:spcBef>
                <a:spcPts val="405"/>
              </a:spcBef>
            </a:pPr>
            <a:r>
              <a:rPr sz="1800" spc="-10" dirty="0">
                <a:latin typeface="Calisto MT"/>
                <a:cs typeface="Calisto MT"/>
              </a:rPr>
              <a:t>Passing </a:t>
            </a:r>
            <a:r>
              <a:rPr sz="1800" dirty="0">
                <a:latin typeface="Calisto MT"/>
                <a:cs typeface="Calisto MT"/>
              </a:rPr>
              <a:t>database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queries</a:t>
            </a:r>
            <a:endParaRPr sz="1800">
              <a:latin typeface="Calisto MT"/>
              <a:cs typeface="Calisto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00728" y="1437132"/>
            <a:ext cx="385571" cy="131216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88407" y="1432559"/>
            <a:ext cx="5132831" cy="137159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974436" y="1798825"/>
            <a:ext cx="4727575" cy="5378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014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Provides</a:t>
            </a:r>
            <a:r>
              <a:rPr sz="1800" spc="-2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users</a:t>
            </a:r>
            <a:r>
              <a:rPr sz="1800" spc="-1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with</a:t>
            </a:r>
            <a:r>
              <a:rPr sz="1800" spc="-2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access</a:t>
            </a:r>
            <a:r>
              <a:rPr sz="1800" spc="-3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to</a:t>
            </a:r>
            <a:r>
              <a:rPr sz="1800" spc="-1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the</a:t>
            </a:r>
            <a:r>
              <a:rPr sz="1800" spc="-2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SQL</a:t>
            </a:r>
            <a:r>
              <a:rPr sz="1800" spc="-2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tag</a:t>
            </a:r>
            <a:r>
              <a:rPr sz="1800" spc="-1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sto MT"/>
                <a:cs typeface="Calisto MT"/>
              </a:rPr>
              <a:t>library</a:t>
            </a:r>
            <a:endParaRPr sz="1800">
              <a:latin typeface="Calisto MT"/>
              <a:cs typeface="Calisto MT"/>
            </a:endParaRPr>
          </a:p>
          <a:p>
            <a:pPr marL="171450" algn="ctr">
              <a:lnSpc>
                <a:spcPts val="2014"/>
              </a:lnSpc>
            </a:pPr>
            <a:r>
              <a:rPr sz="1800" spc="-10" dirty="0">
                <a:solidFill>
                  <a:srgbClr val="FFFFFF"/>
                </a:solidFill>
                <a:latin typeface="Calisto MT"/>
                <a:cs typeface="Calisto MT"/>
              </a:rPr>
              <a:t>database.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97453" y="3319929"/>
            <a:ext cx="1602740" cy="5378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ts val="2014"/>
              </a:lnSpc>
              <a:spcBef>
                <a:spcPts val="100"/>
              </a:spcBef>
            </a:pPr>
            <a:r>
              <a:rPr sz="1800" dirty="0">
                <a:latin typeface="Calisto MT"/>
                <a:cs typeface="Calisto MT"/>
              </a:rPr>
              <a:t>Accessing</a:t>
            </a:r>
            <a:r>
              <a:rPr sz="1800" spc="-65" dirty="0">
                <a:latin typeface="Calisto MT"/>
                <a:cs typeface="Calisto MT"/>
              </a:rPr>
              <a:t> </a:t>
            </a:r>
            <a:r>
              <a:rPr sz="1800" spc="-20" dirty="0">
                <a:latin typeface="Calisto MT"/>
                <a:cs typeface="Calisto MT"/>
              </a:rPr>
              <a:t>query</a:t>
            </a:r>
            <a:endParaRPr sz="1800">
              <a:latin typeface="Calisto MT"/>
              <a:cs typeface="Calisto MT"/>
            </a:endParaRPr>
          </a:p>
          <a:p>
            <a:pPr marR="5715" algn="r">
              <a:lnSpc>
                <a:spcPts val="2014"/>
              </a:lnSpc>
            </a:pPr>
            <a:r>
              <a:rPr sz="1800" spc="-10" dirty="0">
                <a:latin typeface="Calisto MT"/>
                <a:cs typeface="Calisto MT"/>
              </a:rPr>
              <a:t>results</a:t>
            </a:r>
            <a:endParaRPr sz="1800">
              <a:latin typeface="Calisto MT"/>
              <a:cs typeface="Calisto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00728" y="2958084"/>
            <a:ext cx="385571" cy="131368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86884" y="2953511"/>
            <a:ext cx="5100827" cy="137159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5350831" y="3438569"/>
            <a:ext cx="397382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Allows</a:t>
            </a:r>
            <a:r>
              <a:rPr sz="1800" spc="-3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users</a:t>
            </a:r>
            <a:r>
              <a:rPr sz="1800" spc="-3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to</a:t>
            </a:r>
            <a:r>
              <a:rPr sz="1800" spc="-1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access</a:t>
            </a:r>
            <a:r>
              <a:rPr sz="1800" spc="-3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results</a:t>
            </a:r>
            <a:r>
              <a:rPr sz="1800" spc="-3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for</a:t>
            </a:r>
            <a:r>
              <a:rPr sz="1800" spc="-1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sto MT"/>
                <a:cs typeface="Calisto MT"/>
              </a:rPr>
              <a:t>queries.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22743" y="4840801"/>
            <a:ext cx="1376045" cy="53784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 marR="5080" indent="447675">
              <a:lnSpc>
                <a:spcPts val="1870"/>
              </a:lnSpc>
              <a:spcBef>
                <a:spcPts val="400"/>
              </a:spcBef>
            </a:pPr>
            <a:r>
              <a:rPr sz="1800" spc="-10" dirty="0">
                <a:latin typeface="Calisto MT"/>
                <a:cs typeface="Calisto MT"/>
              </a:rPr>
              <a:t>Database Modifications</a:t>
            </a:r>
            <a:endParaRPr sz="1800">
              <a:latin typeface="Calisto MT"/>
              <a:cs typeface="Calisto MT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00728" y="4479035"/>
            <a:ext cx="385571" cy="131368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786884" y="4474464"/>
            <a:ext cx="5100827" cy="1371599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5919315" y="4959569"/>
            <a:ext cx="28365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Helps</a:t>
            </a:r>
            <a:r>
              <a:rPr sz="1800" spc="-3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in</a:t>
            </a:r>
            <a:r>
              <a:rPr sz="1800" spc="-1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modifying</a:t>
            </a:r>
            <a:r>
              <a:rPr sz="1800" spc="-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sto MT"/>
                <a:cs typeface="Calisto MT"/>
              </a:rPr>
              <a:t>database.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spc="-25" dirty="0"/>
              <a:t>6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4526455" y="852313"/>
            <a:ext cx="3261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sto MT"/>
                <a:cs typeface="Calisto MT"/>
              </a:rPr>
              <a:t>Functionalities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8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JSTL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SQL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Tag</a:t>
            </a:r>
            <a:endParaRPr sz="1800">
              <a:latin typeface="Calisto MT"/>
              <a:cs typeface="Calisto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Internationalization</a:t>
            </a:r>
            <a:r>
              <a:rPr spc="-35" dirty="0"/>
              <a:t> </a:t>
            </a:r>
            <a:r>
              <a:rPr dirty="0"/>
              <a:t>and</a:t>
            </a:r>
            <a:r>
              <a:rPr spc="-85" dirty="0"/>
              <a:t> </a:t>
            </a:r>
            <a:r>
              <a:rPr spc="-10" dirty="0"/>
              <a:t>Localization</a:t>
            </a:r>
          </a:p>
        </p:txBody>
      </p:sp>
      <p:sp>
        <p:nvSpPr>
          <p:cNvPr id="3" name="object 3"/>
          <p:cNvSpPr/>
          <p:nvPr/>
        </p:nvSpPr>
        <p:spPr>
          <a:xfrm>
            <a:off x="2044445" y="1785366"/>
            <a:ext cx="8191500" cy="1664335"/>
          </a:xfrm>
          <a:custGeom>
            <a:avLst/>
            <a:gdLst/>
            <a:ahLst/>
            <a:cxnLst/>
            <a:rect l="l" t="t" r="r" b="b"/>
            <a:pathLst>
              <a:path w="8191500" h="1664335">
                <a:moveTo>
                  <a:pt x="0" y="0"/>
                </a:moveTo>
                <a:lnTo>
                  <a:pt x="8191500" y="0"/>
                </a:lnTo>
                <a:lnTo>
                  <a:pt x="8191500" y="1664208"/>
                </a:lnTo>
                <a:lnTo>
                  <a:pt x="0" y="1664208"/>
                </a:lnTo>
                <a:lnTo>
                  <a:pt x="0" y="0"/>
                </a:lnTo>
                <a:close/>
              </a:path>
            </a:pathLst>
          </a:custGeom>
          <a:ln w="9994">
            <a:solidFill>
              <a:srgbClr val="FD9E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666710" y="2390151"/>
            <a:ext cx="6819900" cy="902969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240665" marR="5080" indent="-228600">
              <a:lnSpc>
                <a:spcPts val="2080"/>
              </a:lnSpc>
              <a:spcBef>
                <a:spcPts val="440"/>
              </a:spcBef>
              <a:buChar char="•"/>
              <a:tabLst>
                <a:tab pos="240665" algn="l"/>
              </a:tabLst>
            </a:pPr>
            <a:r>
              <a:rPr sz="2000" dirty="0">
                <a:latin typeface="Calisto MT"/>
                <a:cs typeface="Calisto MT"/>
              </a:rPr>
              <a:t>Refers</a:t>
            </a:r>
            <a:r>
              <a:rPr sz="2000" spc="-10" dirty="0">
                <a:latin typeface="Calisto MT"/>
                <a:cs typeface="Calisto MT"/>
              </a:rPr>
              <a:t> </a:t>
            </a:r>
            <a:r>
              <a:rPr sz="2000" dirty="0">
                <a:latin typeface="Calisto MT"/>
                <a:cs typeface="Calisto MT"/>
              </a:rPr>
              <a:t>to</a:t>
            </a:r>
            <a:r>
              <a:rPr sz="2000" spc="-30" dirty="0">
                <a:latin typeface="Calisto MT"/>
                <a:cs typeface="Calisto MT"/>
              </a:rPr>
              <a:t> </a:t>
            </a:r>
            <a:r>
              <a:rPr sz="2000" dirty="0">
                <a:latin typeface="Calisto MT"/>
                <a:cs typeface="Calisto MT"/>
              </a:rPr>
              <a:t>designing</a:t>
            </a:r>
            <a:r>
              <a:rPr sz="2000" spc="-45" dirty="0">
                <a:latin typeface="Calisto MT"/>
                <a:cs typeface="Calisto MT"/>
              </a:rPr>
              <a:t> </a:t>
            </a:r>
            <a:r>
              <a:rPr sz="2000" dirty="0">
                <a:latin typeface="Calisto MT"/>
                <a:cs typeface="Calisto MT"/>
              </a:rPr>
              <a:t>and</a:t>
            </a:r>
            <a:r>
              <a:rPr sz="2000" spc="-25" dirty="0">
                <a:latin typeface="Calisto MT"/>
                <a:cs typeface="Calisto MT"/>
              </a:rPr>
              <a:t> </a:t>
            </a:r>
            <a:r>
              <a:rPr sz="2000" spc="-10" dirty="0">
                <a:latin typeface="Calisto MT"/>
                <a:cs typeface="Calisto MT"/>
              </a:rPr>
              <a:t>developing</a:t>
            </a:r>
            <a:r>
              <a:rPr sz="2000" spc="-50" dirty="0">
                <a:latin typeface="Calisto MT"/>
                <a:cs typeface="Calisto MT"/>
              </a:rPr>
              <a:t> </a:t>
            </a:r>
            <a:r>
              <a:rPr sz="2000" dirty="0">
                <a:latin typeface="Calisto MT"/>
                <a:cs typeface="Calisto MT"/>
              </a:rPr>
              <a:t>an</a:t>
            </a:r>
            <a:r>
              <a:rPr sz="2000" spc="-35" dirty="0">
                <a:latin typeface="Calisto MT"/>
                <a:cs typeface="Calisto MT"/>
              </a:rPr>
              <a:t> </a:t>
            </a:r>
            <a:r>
              <a:rPr sz="2000" dirty="0">
                <a:latin typeface="Calisto MT"/>
                <a:cs typeface="Calisto MT"/>
              </a:rPr>
              <a:t>application</a:t>
            </a:r>
            <a:r>
              <a:rPr sz="2000" spc="-55" dirty="0">
                <a:latin typeface="Calisto MT"/>
                <a:cs typeface="Calisto MT"/>
              </a:rPr>
              <a:t> </a:t>
            </a:r>
            <a:r>
              <a:rPr sz="2000" dirty="0">
                <a:latin typeface="Calisto MT"/>
                <a:cs typeface="Calisto MT"/>
              </a:rPr>
              <a:t>that</a:t>
            </a:r>
            <a:r>
              <a:rPr sz="2000" spc="-40" dirty="0">
                <a:latin typeface="Calisto MT"/>
                <a:cs typeface="Calisto MT"/>
              </a:rPr>
              <a:t> </a:t>
            </a:r>
            <a:r>
              <a:rPr sz="2000" dirty="0">
                <a:latin typeface="Calisto MT"/>
                <a:cs typeface="Calisto MT"/>
              </a:rPr>
              <a:t>can</a:t>
            </a:r>
            <a:r>
              <a:rPr sz="2000" spc="-35" dirty="0">
                <a:latin typeface="Calisto MT"/>
                <a:cs typeface="Calisto MT"/>
              </a:rPr>
              <a:t> </a:t>
            </a:r>
            <a:r>
              <a:rPr sz="2000" spc="-25" dirty="0">
                <a:latin typeface="Calisto MT"/>
                <a:cs typeface="Calisto MT"/>
              </a:rPr>
              <a:t>be </a:t>
            </a:r>
            <a:r>
              <a:rPr sz="2000" dirty="0">
                <a:latin typeface="Calisto MT"/>
                <a:cs typeface="Calisto MT"/>
              </a:rPr>
              <a:t>deployed</a:t>
            </a:r>
            <a:r>
              <a:rPr sz="2000" spc="-114" dirty="0">
                <a:latin typeface="Calisto MT"/>
                <a:cs typeface="Calisto MT"/>
              </a:rPr>
              <a:t> </a:t>
            </a:r>
            <a:r>
              <a:rPr sz="2000" spc="-10" dirty="0">
                <a:latin typeface="Calisto MT"/>
                <a:cs typeface="Calisto MT"/>
              </a:rPr>
              <a:t>internationally.</a:t>
            </a:r>
            <a:endParaRPr sz="2000">
              <a:latin typeface="Calisto MT"/>
              <a:cs typeface="Calisto MT"/>
            </a:endParaRPr>
          </a:p>
          <a:p>
            <a:pPr marL="240665" indent="-227965">
              <a:lnSpc>
                <a:spcPct val="100000"/>
              </a:lnSpc>
              <a:spcBef>
                <a:spcPts val="5"/>
              </a:spcBef>
              <a:buChar char="•"/>
              <a:tabLst>
                <a:tab pos="240665" algn="l"/>
              </a:tabLst>
            </a:pPr>
            <a:r>
              <a:rPr sz="2000" dirty="0">
                <a:latin typeface="Calisto MT"/>
                <a:cs typeface="Calisto MT"/>
              </a:rPr>
              <a:t>Also</a:t>
            </a:r>
            <a:r>
              <a:rPr sz="2000" spc="-25" dirty="0">
                <a:latin typeface="Calisto MT"/>
                <a:cs typeface="Calisto MT"/>
              </a:rPr>
              <a:t> </a:t>
            </a:r>
            <a:r>
              <a:rPr sz="2000" dirty="0">
                <a:latin typeface="Calisto MT"/>
                <a:cs typeface="Calisto MT"/>
              </a:rPr>
              <a:t>referred</a:t>
            </a:r>
            <a:r>
              <a:rPr sz="2000" spc="-15" dirty="0">
                <a:latin typeface="Calisto MT"/>
                <a:cs typeface="Calisto MT"/>
              </a:rPr>
              <a:t> </a:t>
            </a:r>
            <a:r>
              <a:rPr sz="2000" dirty="0">
                <a:latin typeface="Calisto MT"/>
                <a:cs typeface="Calisto MT"/>
              </a:rPr>
              <a:t>to</a:t>
            </a:r>
            <a:r>
              <a:rPr sz="2000" spc="-20" dirty="0">
                <a:latin typeface="Calisto MT"/>
                <a:cs typeface="Calisto MT"/>
              </a:rPr>
              <a:t> </a:t>
            </a:r>
            <a:r>
              <a:rPr sz="2000" dirty="0">
                <a:latin typeface="Calisto MT"/>
                <a:cs typeface="Calisto MT"/>
              </a:rPr>
              <a:t>as</a:t>
            </a:r>
            <a:r>
              <a:rPr sz="2000" spc="-20" dirty="0">
                <a:latin typeface="Calisto MT"/>
                <a:cs typeface="Calisto MT"/>
              </a:rPr>
              <a:t> I18N.</a:t>
            </a:r>
            <a:endParaRPr sz="2000">
              <a:latin typeface="Calisto MT"/>
              <a:cs typeface="Calisto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414016" y="1344167"/>
            <a:ext cx="5812790" cy="1024255"/>
            <a:chOff x="2414016" y="1344167"/>
            <a:chExt cx="5812790" cy="102425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14016" y="1344167"/>
              <a:ext cx="5812535" cy="102412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29840" y="1581911"/>
              <a:ext cx="2525267" cy="59131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53640" y="1357887"/>
              <a:ext cx="5733288" cy="944879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2703381" y="1637209"/>
            <a:ext cx="217932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FFFFFF"/>
                </a:solidFill>
                <a:latin typeface="Calisto MT"/>
                <a:cs typeface="Calisto MT"/>
              </a:rPr>
              <a:t>Internationalization</a:t>
            </a:r>
            <a:endParaRPr sz="2000">
              <a:latin typeface="Calisto MT"/>
              <a:cs typeface="Calisto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044445" y="4139946"/>
            <a:ext cx="8191500" cy="1361440"/>
          </a:xfrm>
          <a:custGeom>
            <a:avLst/>
            <a:gdLst/>
            <a:ahLst/>
            <a:cxnLst/>
            <a:rect l="l" t="t" r="r" b="b"/>
            <a:pathLst>
              <a:path w="8191500" h="1361439">
                <a:moveTo>
                  <a:pt x="0" y="0"/>
                </a:moveTo>
                <a:lnTo>
                  <a:pt x="8191500" y="0"/>
                </a:lnTo>
                <a:lnTo>
                  <a:pt x="8191500" y="1360931"/>
                </a:lnTo>
                <a:lnTo>
                  <a:pt x="0" y="1360931"/>
                </a:lnTo>
                <a:lnTo>
                  <a:pt x="0" y="0"/>
                </a:lnTo>
                <a:close/>
              </a:path>
            </a:pathLst>
          </a:custGeom>
          <a:ln w="9994">
            <a:solidFill>
              <a:srgbClr val="4189B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666710" y="4743947"/>
            <a:ext cx="6873875" cy="59499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240665" marR="5080" indent="-228600">
              <a:lnSpc>
                <a:spcPts val="2080"/>
              </a:lnSpc>
              <a:spcBef>
                <a:spcPts val="440"/>
              </a:spcBef>
              <a:buChar char="•"/>
              <a:tabLst>
                <a:tab pos="240665" algn="l"/>
              </a:tabLst>
            </a:pPr>
            <a:r>
              <a:rPr sz="2000" dirty="0">
                <a:latin typeface="Calisto MT"/>
                <a:cs typeface="Calisto MT"/>
              </a:rPr>
              <a:t>Refers</a:t>
            </a:r>
            <a:r>
              <a:rPr sz="2000" spc="-5" dirty="0">
                <a:latin typeface="Calisto MT"/>
                <a:cs typeface="Calisto MT"/>
              </a:rPr>
              <a:t> </a:t>
            </a:r>
            <a:r>
              <a:rPr sz="2000" dirty="0">
                <a:latin typeface="Calisto MT"/>
                <a:cs typeface="Calisto MT"/>
              </a:rPr>
              <a:t>to</a:t>
            </a:r>
            <a:r>
              <a:rPr sz="2000" spc="-25" dirty="0">
                <a:latin typeface="Calisto MT"/>
                <a:cs typeface="Calisto MT"/>
              </a:rPr>
              <a:t> </a:t>
            </a:r>
            <a:r>
              <a:rPr sz="2000" dirty="0">
                <a:latin typeface="Calisto MT"/>
                <a:cs typeface="Calisto MT"/>
              </a:rPr>
              <a:t>adapting</a:t>
            </a:r>
            <a:r>
              <a:rPr sz="2000" spc="-45" dirty="0">
                <a:latin typeface="Calisto MT"/>
                <a:cs typeface="Calisto MT"/>
              </a:rPr>
              <a:t> </a:t>
            </a:r>
            <a:r>
              <a:rPr sz="2000" dirty="0">
                <a:latin typeface="Calisto MT"/>
                <a:cs typeface="Calisto MT"/>
              </a:rPr>
              <a:t>of</a:t>
            </a:r>
            <a:r>
              <a:rPr sz="2000" spc="180" dirty="0">
                <a:latin typeface="Calisto MT"/>
                <a:cs typeface="Calisto MT"/>
              </a:rPr>
              <a:t> </a:t>
            </a:r>
            <a:r>
              <a:rPr sz="2000" dirty="0">
                <a:latin typeface="Calisto MT"/>
                <a:cs typeface="Calisto MT"/>
              </a:rPr>
              <a:t>the</a:t>
            </a:r>
            <a:r>
              <a:rPr sz="2000" spc="-20" dirty="0">
                <a:latin typeface="Calisto MT"/>
                <a:cs typeface="Calisto MT"/>
              </a:rPr>
              <a:t> </a:t>
            </a:r>
            <a:r>
              <a:rPr sz="2000" dirty="0">
                <a:latin typeface="Calisto MT"/>
                <a:cs typeface="Calisto MT"/>
              </a:rPr>
              <a:t>application</a:t>
            </a:r>
            <a:r>
              <a:rPr sz="2000" spc="-50" dirty="0">
                <a:latin typeface="Calisto MT"/>
                <a:cs typeface="Calisto MT"/>
              </a:rPr>
              <a:t> </a:t>
            </a:r>
            <a:r>
              <a:rPr sz="2000" dirty="0">
                <a:latin typeface="Calisto MT"/>
                <a:cs typeface="Calisto MT"/>
              </a:rPr>
              <a:t>for</a:t>
            </a:r>
            <a:r>
              <a:rPr sz="2000" spc="-25" dirty="0">
                <a:latin typeface="Calisto MT"/>
                <a:cs typeface="Calisto MT"/>
              </a:rPr>
              <a:t> </a:t>
            </a:r>
            <a:r>
              <a:rPr sz="2000" dirty="0">
                <a:latin typeface="Calisto MT"/>
                <a:cs typeface="Calisto MT"/>
              </a:rPr>
              <a:t>a</a:t>
            </a:r>
            <a:r>
              <a:rPr sz="2000" spc="-15" dirty="0">
                <a:latin typeface="Calisto MT"/>
                <a:cs typeface="Calisto MT"/>
              </a:rPr>
              <a:t> </a:t>
            </a:r>
            <a:r>
              <a:rPr sz="2000" dirty="0">
                <a:latin typeface="Calisto MT"/>
                <a:cs typeface="Calisto MT"/>
              </a:rPr>
              <a:t>particular</a:t>
            </a:r>
            <a:r>
              <a:rPr sz="2000" spc="-40" dirty="0">
                <a:latin typeface="Calisto MT"/>
                <a:cs typeface="Calisto MT"/>
              </a:rPr>
              <a:t> </a:t>
            </a:r>
            <a:r>
              <a:rPr sz="2000" dirty="0">
                <a:latin typeface="Calisto MT"/>
                <a:cs typeface="Calisto MT"/>
              </a:rPr>
              <a:t>region</a:t>
            </a:r>
            <a:r>
              <a:rPr sz="2000" spc="-25" dirty="0">
                <a:latin typeface="Calisto MT"/>
                <a:cs typeface="Calisto MT"/>
              </a:rPr>
              <a:t> or </a:t>
            </a:r>
            <a:r>
              <a:rPr sz="2000" spc="-10" dirty="0">
                <a:latin typeface="Calisto MT"/>
                <a:cs typeface="Calisto MT"/>
              </a:rPr>
              <a:t>locality.</a:t>
            </a:r>
            <a:endParaRPr sz="2000">
              <a:latin typeface="Calisto MT"/>
              <a:cs typeface="Calisto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414016" y="3653028"/>
            <a:ext cx="5812790" cy="1024255"/>
            <a:chOff x="2414016" y="3653028"/>
            <a:chExt cx="5812790" cy="1024255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14016" y="3653028"/>
              <a:ext cx="5812535" cy="102412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29839" y="3890772"/>
              <a:ext cx="1731263" cy="59131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53640" y="3666747"/>
              <a:ext cx="5733288" cy="944880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2703381" y="3945530"/>
            <a:ext cx="13855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FFFFFF"/>
                </a:solidFill>
                <a:latin typeface="Calisto MT"/>
                <a:cs typeface="Calisto MT"/>
              </a:rPr>
              <a:t>Localization</a:t>
            </a:r>
            <a:endParaRPr sz="2000">
              <a:latin typeface="Calisto MT"/>
              <a:cs typeface="Calisto MT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spc="-25" dirty="0"/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Unicode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85359" y="1053083"/>
            <a:ext cx="3176003" cy="279501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649435" y="731959"/>
            <a:ext cx="14471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sto MT"/>
                <a:cs typeface="Calisto MT"/>
              </a:rPr>
              <a:t>Unicode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spc="-20" dirty="0">
                <a:latin typeface="Calisto MT"/>
                <a:cs typeface="Calisto MT"/>
              </a:rPr>
              <a:t>Table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158745" y="4481321"/>
            <a:ext cx="8429625" cy="1864360"/>
          </a:xfrm>
          <a:custGeom>
            <a:avLst/>
            <a:gdLst/>
            <a:ahLst/>
            <a:cxnLst/>
            <a:rect l="l" t="t" r="r" b="b"/>
            <a:pathLst>
              <a:path w="8429625" h="1864360">
                <a:moveTo>
                  <a:pt x="0" y="0"/>
                </a:moveTo>
                <a:lnTo>
                  <a:pt x="8429244" y="0"/>
                </a:lnTo>
                <a:lnTo>
                  <a:pt x="8429244" y="1863852"/>
                </a:lnTo>
                <a:lnTo>
                  <a:pt x="0" y="1863852"/>
                </a:lnTo>
                <a:lnTo>
                  <a:pt x="0" y="0"/>
                </a:lnTo>
                <a:close/>
              </a:path>
            </a:pathLst>
          </a:custGeom>
          <a:ln w="9994">
            <a:solidFill>
              <a:srgbClr val="4189B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799864" y="5089702"/>
            <a:ext cx="6703695" cy="1132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5420" indent="-172720">
              <a:lnSpc>
                <a:spcPct val="100000"/>
              </a:lnSpc>
              <a:spcBef>
                <a:spcPts val="100"/>
              </a:spcBef>
              <a:buChar char="•"/>
              <a:tabLst>
                <a:tab pos="185420" algn="l"/>
              </a:tabLst>
            </a:pPr>
            <a:r>
              <a:rPr sz="1800" dirty="0">
                <a:latin typeface="Calisto MT"/>
                <a:cs typeface="Calisto MT"/>
              </a:rPr>
              <a:t>Includes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punctuation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marks/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symbols/classical</a:t>
            </a:r>
            <a:r>
              <a:rPr sz="1800" spc="-6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historical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texts.</a:t>
            </a:r>
            <a:endParaRPr sz="1800">
              <a:latin typeface="Calisto MT"/>
              <a:cs typeface="Calisto MT"/>
            </a:endParaRPr>
          </a:p>
          <a:p>
            <a:pPr marL="185420" indent="-172720">
              <a:lnSpc>
                <a:spcPct val="100000"/>
              </a:lnSpc>
              <a:spcBef>
                <a:spcPts val="20"/>
              </a:spcBef>
              <a:buChar char="•"/>
              <a:tabLst>
                <a:tab pos="185420" algn="l"/>
              </a:tabLst>
            </a:pPr>
            <a:r>
              <a:rPr sz="1800" spc="-10" dirty="0">
                <a:latin typeface="Calisto MT"/>
                <a:cs typeface="Calisto MT"/>
              </a:rPr>
              <a:t>16-</a:t>
            </a:r>
            <a:r>
              <a:rPr sz="1800" dirty="0">
                <a:latin typeface="Calisto MT"/>
                <a:cs typeface="Calisto MT"/>
              </a:rPr>
              <a:t>bit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character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encoding.</a:t>
            </a:r>
            <a:endParaRPr sz="1800">
              <a:latin typeface="Calisto MT"/>
              <a:cs typeface="Calisto MT"/>
            </a:endParaRPr>
          </a:p>
          <a:p>
            <a:pPr marL="185420" indent="-172720">
              <a:lnSpc>
                <a:spcPct val="100000"/>
              </a:lnSpc>
              <a:spcBef>
                <a:spcPts val="25"/>
              </a:spcBef>
              <a:buChar char="•"/>
              <a:tabLst>
                <a:tab pos="185420" algn="l"/>
              </a:tabLst>
            </a:pPr>
            <a:r>
              <a:rPr sz="1800" dirty="0">
                <a:latin typeface="Calisto MT"/>
                <a:cs typeface="Calisto MT"/>
              </a:rPr>
              <a:t>Simple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20" dirty="0">
                <a:latin typeface="Calisto MT"/>
                <a:cs typeface="Calisto MT"/>
              </a:rPr>
              <a:t> fast.</a:t>
            </a:r>
            <a:endParaRPr sz="1800">
              <a:latin typeface="Calisto MT"/>
              <a:cs typeface="Calisto MT"/>
            </a:endParaRPr>
          </a:p>
          <a:p>
            <a:pPr marL="185420" indent="-172720">
              <a:lnSpc>
                <a:spcPct val="100000"/>
              </a:lnSpc>
              <a:spcBef>
                <a:spcPts val="25"/>
              </a:spcBef>
              <a:buChar char="•"/>
              <a:tabLst>
                <a:tab pos="185420" algn="l"/>
              </a:tabLst>
            </a:pPr>
            <a:r>
              <a:rPr sz="1800" dirty="0">
                <a:latin typeface="Calisto MT"/>
                <a:cs typeface="Calisto MT"/>
              </a:rPr>
              <a:t>Allows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spc="-20" dirty="0">
                <a:latin typeface="Calisto MT"/>
                <a:cs typeface="Calisto MT"/>
              </a:rPr>
              <a:t>java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handle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international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characters.</a:t>
            </a:r>
            <a:endParaRPr sz="1800">
              <a:latin typeface="Calisto MT"/>
              <a:cs typeface="Calisto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278379" y="3968495"/>
            <a:ext cx="7961630" cy="1024255"/>
            <a:chOff x="2278379" y="3968495"/>
            <a:chExt cx="7961630" cy="102425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78379" y="3968495"/>
              <a:ext cx="7961375" cy="102412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15539" y="4229100"/>
              <a:ext cx="7191755" cy="54101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18003" y="3982211"/>
              <a:ext cx="7882128" cy="944880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2574305" y="4279524"/>
            <a:ext cx="6816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Coding</a:t>
            </a:r>
            <a:r>
              <a:rPr sz="1800" spc="-2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system</a:t>
            </a:r>
            <a:r>
              <a:rPr sz="1800" spc="-1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that</a:t>
            </a:r>
            <a:r>
              <a:rPr sz="1800" spc="-2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has</a:t>
            </a:r>
            <a:r>
              <a:rPr sz="1800" spc="-3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codes</a:t>
            </a:r>
            <a:r>
              <a:rPr sz="1800" spc="-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for</a:t>
            </a:r>
            <a:r>
              <a:rPr sz="1800" spc="-1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all</a:t>
            </a:r>
            <a:r>
              <a:rPr sz="1800" spc="-3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the</a:t>
            </a:r>
            <a:r>
              <a:rPr sz="1800" spc="-1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major</a:t>
            </a:r>
            <a:r>
              <a:rPr sz="1800" spc="-3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languages</a:t>
            </a:r>
            <a:r>
              <a:rPr sz="1800" spc="-5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of</a:t>
            </a:r>
            <a:r>
              <a:rPr sz="1800" spc="17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the</a:t>
            </a:r>
            <a:r>
              <a:rPr sz="1800" spc="-1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sto MT"/>
                <a:cs typeface="Calisto MT"/>
              </a:rPr>
              <a:t>world.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spc="-25" dirty="0"/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Locale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647444" y="1286255"/>
            <a:ext cx="8976360" cy="4337685"/>
            <a:chOff x="1647444" y="1286255"/>
            <a:chExt cx="8976360" cy="43376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47444" y="1287779"/>
              <a:ext cx="2208275" cy="433273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68851" y="1286255"/>
              <a:ext cx="6854951" cy="433730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07892" y="1709928"/>
              <a:ext cx="6321551" cy="55168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813810" y="1305305"/>
              <a:ext cx="6765290" cy="4249420"/>
            </a:xfrm>
            <a:custGeom>
              <a:avLst/>
              <a:gdLst/>
              <a:ahLst/>
              <a:cxnLst/>
              <a:rect l="l" t="t" r="r" b="b"/>
              <a:pathLst>
                <a:path w="6765290" h="4249420">
                  <a:moveTo>
                    <a:pt x="6765036" y="0"/>
                  </a:moveTo>
                  <a:lnTo>
                    <a:pt x="0" y="0"/>
                  </a:lnTo>
                  <a:lnTo>
                    <a:pt x="0" y="4248912"/>
                  </a:lnTo>
                  <a:lnTo>
                    <a:pt x="6765036" y="4248912"/>
                  </a:lnTo>
                  <a:lnTo>
                    <a:pt x="6765036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91155" y="2561844"/>
              <a:ext cx="1464563" cy="284683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68851" y="2560319"/>
              <a:ext cx="6854951" cy="285140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707892" y="2985516"/>
              <a:ext cx="6504431" cy="55168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813810" y="2579369"/>
              <a:ext cx="6765290" cy="2763520"/>
            </a:xfrm>
            <a:custGeom>
              <a:avLst/>
              <a:gdLst/>
              <a:ahLst/>
              <a:cxnLst/>
              <a:rect l="l" t="t" r="r" b="b"/>
              <a:pathLst>
                <a:path w="6765290" h="2763520">
                  <a:moveTo>
                    <a:pt x="6765036" y="0"/>
                  </a:moveTo>
                  <a:lnTo>
                    <a:pt x="0" y="0"/>
                  </a:lnTo>
                  <a:lnTo>
                    <a:pt x="0" y="2763012"/>
                  </a:lnTo>
                  <a:lnTo>
                    <a:pt x="6765036" y="2763012"/>
                  </a:lnTo>
                  <a:lnTo>
                    <a:pt x="6765036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34867" y="3837432"/>
              <a:ext cx="720851" cy="135788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768851" y="3835907"/>
              <a:ext cx="6854951" cy="136245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707892" y="4261104"/>
              <a:ext cx="5318759" cy="550163"/>
            </a:xfrm>
            <a:prstGeom prst="rect">
              <a:avLst/>
            </a:prstGeom>
          </p:spPr>
        </p:pic>
      </p:grpSp>
      <p:sp>
        <p:nvSpPr>
          <p:cNvPr id="15" name="object 15"/>
          <p:cNvSpPr/>
          <p:nvPr/>
        </p:nvSpPr>
        <p:spPr>
          <a:xfrm>
            <a:off x="3813809" y="3854958"/>
            <a:ext cx="6765290" cy="1274445"/>
          </a:xfrm>
          <a:custGeom>
            <a:avLst/>
            <a:gdLst/>
            <a:ahLst/>
            <a:cxnLst/>
            <a:rect l="l" t="t" r="r" b="b"/>
            <a:pathLst>
              <a:path w="6765290" h="1274445">
                <a:moveTo>
                  <a:pt x="6765036" y="0"/>
                </a:moveTo>
                <a:lnTo>
                  <a:pt x="0" y="0"/>
                </a:lnTo>
                <a:lnTo>
                  <a:pt x="0" y="1274064"/>
                </a:lnTo>
                <a:lnTo>
                  <a:pt x="6765036" y="1274064"/>
                </a:lnTo>
                <a:lnTo>
                  <a:pt x="6765036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3808812" y="1300308"/>
          <a:ext cx="6851650" cy="42475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652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738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8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alisto MT"/>
                          <a:cs typeface="Calisto MT"/>
                        </a:rPr>
                        <a:t>Country:</a:t>
                      </a:r>
                      <a:r>
                        <a:rPr sz="1800" b="1" spc="-5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Represents</a:t>
                      </a:r>
                      <a:r>
                        <a:rPr sz="1800" spc="-40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the</a:t>
                      </a:r>
                      <a:r>
                        <a:rPr sz="1800" spc="-15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country</a:t>
                      </a:r>
                      <a:r>
                        <a:rPr sz="1800" spc="5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code</a:t>
                      </a:r>
                      <a:r>
                        <a:rPr sz="1800" spc="-15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and</a:t>
                      </a:r>
                      <a:r>
                        <a:rPr sz="1800" spc="-25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is</a:t>
                      </a:r>
                      <a:r>
                        <a:rPr sz="1800" spc="-10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case</a:t>
                      </a:r>
                      <a:r>
                        <a:rPr sz="1800" spc="-15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spc="-10" dirty="0">
                          <a:latin typeface="Calisto MT"/>
                          <a:cs typeface="Calisto MT"/>
                        </a:rPr>
                        <a:t>insensitive.</a:t>
                      </a:r>
                      <a:endParaRPr sz="1800">
                        <a:latin typeface="Calisto MT"/>
                        <a:cs typeface="Calisto MT"/>
                      </a:endParaRPr>
                    </a:p>
                  </a:txBody>
                  <a:tcPr marL="0" marR="0" marT="213360" marB="0">
                    <a:lnL w="12700">
                      <a:solidFill>
                        <a:srgbClr val="4189B3"/>
                      </a:solidFill>
                      <a:prstDash val="solid"/>
                    </a:lnL>
                    <a:lnR w="12700">
                      <a:solidFill>
                        <a:srgbClr val="4189B3"/>
                      </a:solidFill>
                      <a:prstDash val="solid"/>
                    </a:lnR>
                    <a:lnT w="12700">
                      <a:solidFill>
                        <a:srgbClr val="4189B3"/>
                      </a:solidFill>
                      <a:prstDash val="solid"/>
                    </a:lnT>
                    <a:lnB w="12700">
                      <a:solidFill>
                        <a:srgbClr val="41C757"/>
                      </a:solidFill>
                      <a:prstDash val="solid"/>
                    </a:lnB>
                    <a:solidFill>
                      <a:srgbClr val="FFFFFF">
                        <a:alpha val="9019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75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alisto MT"/>
                          <a:cs typeface="Calisto MT"/>
                        </a:rPr>
                        <a:t>Language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:</a:t>
                      </a:r>
                      <a:r>
                        <a:rPr sz="1800" spc="-45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Represents</a:t>
                      </a:r>
                      <a:r>
                        <a:rPr sz="1800" spc="-50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the</a:t>
                      </a:r>
                      <a:r>
                        <a:rPr sz="1800" spc="-30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local</a:t>
                      </a:r>
                      <a:r>
                        <a:rPr sz="1800" spc="-40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language</a:t>
                      </a:r>
                      <a:r>
                        <a:rPr sz="1800" spc="-50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and</a:t>
                      </a:r>
                      <a:r>
                        <a:rPr sz="1800" spc="-45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is</a:t>
                      </a:r>
                      <a:r>
                        <a:rPr sz="1800" spc="-15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case</a:t>
                      </a:r>
                      <a:r>
                        <a:rPr sz="1800" spc="-40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spc="-10" dirty="0">
                          <a:latin typeface="Calisto MT"/>
                          <a:cs typeface="Calisto MT"/>
                        </a:rPr>
                        <a:t>insensitive.</a:t>
                      </a:r>
                      <a:endParaRPr sz="1800">
                        <a:latin typeface="Calisto MT"/>
                        <a:cs typeface="Calisto MT"/>
                      </a:endParaRPr>
                    </a:p>
                  </a:txBody>
                  <a:tcPr marL="0" marR="0" marT="213995" marB="0">
                    <a:lnL w="12700">
                      <a:solidFill>
                        <a:srgbClr val="41C757"/>
                      </a:solidFill>
                      <a:prstDash val="solid"/>
                    </a:lnL>
                    <a:lnR w="12700">
                      <a:solidFill>
                        <a:srgbClr val="41C757"/>
                      </a:solidFill>
                      <a:prstDash val="solid"/>
                    </a:lnR>
                    <a:lnT w="12700">
                      <a:solidFill>
                        <a:srgbClr val="41C757"/>
                      </a:solidFill>
                      <a:prstDash val="solid"/>
                    </a:lnT>
                    <a:lnB w="12700">
                      <a:solidFill>
                        <a:srgbClr val="D6D34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738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8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alisto MT"/>
                          <a:cs typeface="Calisto MT"/>
                        </a:rPr>
                        <a:t>Script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:</a:t>
                      </a:r>
                      <a:r>
                        <a:rPr sz="1800" spc="10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Represents</a:t>
                      </a:r>
                      <a:r>
                        <a:rPr sz="1800" spc="-50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the</a:t>
                      </a:r>
                      <a:r>
                        <a:rPr sz="1800" spc="-25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script</a:t>
                      </a:r>
                      <a:r>
                        <a:rPr sz="1800" spc="-35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and</a:t>
                      </a:r>
                      <a:r>
                        <a:rPr sz="1800" spc="-35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is</a:t>
                      </a:r>
                      <a:r>
                        <a:rPr sz="1800" spc="-25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dirty="0">
                          <a:latin typeface="Calisto MT"/>
                          <a:cs typeface="Calisto MT"/>
                        </a:rPr>
                        <a:t>case</a:t>
                      </a:r>
                      <a:r>
                        <a:rPr sz="1800" spc="-30" dirty="0">
                          <a:latin typeface="Calisto MT"/>
                          <a:cs typeface="Calisto MT"/>
                        </a:rPr>
                        <a:t> </a:t>
                      </a:r>
                      <a:r>
                        <a:rPr sz="1800" spc="-10" dirty="0">
                          <a:latin typeface="Calisto MT"/>
                          <a:cs typeface="Calisto MT"/>
                        </a:rPr>
                        <a:t>insensitive.</a:t>
                      </a:r>
                      <a:endParaRPr sz="1800">
                        <a:latin typeface="Calisto MT"/>
                        <a:cs typeface="Calisto MT"/>
                      </a:endParaRPr>
                    </a:p>
                  </a:txBody>
                  <a:tcPr marL="0" marR="0" marT="213360" marB="0">
                    <a:lnL w="12700">
                      <a:solidFill>
                        <a:srgbClr val="D6D346"/>
                      </a:solidFill>
                      <a:prstDash val="solid"/>
                    </a:lnL>
                    <a:lnR w="12700">
                      <a:solidFill>
                        <a:srgbClr val="D6D346"/>
                      </a:solidFill>
                      <a:prstDash val="solid"/>
                    </a:lnR>
                    <a:lnT w="12700">
                      <a:solidFill>
                        <a:srgbClr val="D6D346"/>
                      </a:solidFill>
                      <a:prstDash val="solid"/>
                    </a:lnT>
                    <a:lnB w="12700">
                      <a:solidFill>
                        <a:srgbClr val="D6D34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1C757"/>
                      </a:solidFill>
                      <a:prstDash val="solid"/>
                    </a:lnL>
                    <a:lnR w="12700">
                      <a:solidFill>
                        <a:srgbClr val="41C757"/>
                      </a:solidFill>
                      <a:prstDash val="solid"/>
                    </a:lnR>
                    <a:lnT w="12700">
                      <a:solidFill>
                        <a:srgbClr val="D6D346"/>
                      </a:solidFill>
                      <a:prstDash val="solid"/>
                    </a:lnT>
                    <a:lnB w="12700">
                      <a:solidFill>
                        <a:srgbClr val="41C75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145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189B3"/>
                      </a:solidFill>
                      <a:prstDash val="solid"/>
                    </a:lnL>
                    <a:lnR w="12700">
                      <a:solidFill>
                        <a:srgbClr val="4189B3"/>
                      </a:solidFill>
                      <a:prstDash val="solid"/>
                    </a:lnR>
                    <a:lnT w="12700">
                      <a:solidFill>
                        <a:srgbClr val="41C757"/>
                      </a:solidFill>
                      <a:prstDash val="solid"/>
                    </a:lnT>
                    <a:lnB w="12700">
                      <a:solidFill>
                        <a:srgbClr val="4189B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spc="-25" dirty="0"/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Resource</a:t>
            </a:r>
            <a:r>
              <a:rPr spc="-170" dirty="0"/>
              <a:t> </a:t>
            </a:r>
            <a:r>
              <a:rPr spc="-10" dirty="0"/>
              <a:t>Bundles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70032" y="1713928"/>
            <a:ext cx="1945639" cy="533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ts val="2000"/>
              </a:lnSpc>
              <a:spcBef>
                <a:spcPts val="100"/>
              </a:spcBef>
            </a:pPr>
            <a:r>
              <a:rPr sz="1800" spc="-10" dirty="0">
                <a:latin typeface="Courier New"/>
                <a:cs typeface="Courier New"/>
              </a:rPr>
              <a:t>ResourceBundle</a:t>
            </a:r>
            <a:endParaRPr sz="1800">
              <a:latin typeface="Courier New"/>
              <a:cs typeface="Courier New"/>
            </a:endParaRPr>
          </a:p>
          <a:p>
            <a:pPr marR="5080" algn="r">
              <a:lnSpc>
                <a:spcPts val="2000"/>
              </a:lnSpc>
            </a:pPr>
            <a:r>
              <a:rPr sz="1800" spc="-10" dirty="0">
                <a:latin typeface="Courier New"/>
                <a:cs typeface="Courier New"/>
              </a:rPr>
              <a:t>Methods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932426" y="1277874"/>
            <a:ext cx="466725" cy="1487805"/>
          </a:xfrm>
          <a:custGeom>
            <a:avLst/>
            <a:gdLst/>
            <a:ahLst/>
            <a:cxnLst/>
            <a:rect l="l" t="t" r="r" b="b"/>
            <a:pathLst>
              <a:path w="466725" h="1487805">
                <a:moveTo>
                  <a:pt x="466344" y="1487424"/>
                </a:moveTo>
                <a:lnTo>
                  <a:pt x="412879" y="1483113"/>
                </a:lnTo>
                <a:lnTo>
                  <a:pt x="363800" y="1470834"/>
                </a:lnTo>
                <a:lnTo>
                  <a:pt x="320506" y="1451566"/>
                </a:lnTo>
                <a:lnTo>
                  <a:pt x="284397" y="1426289"/>
                </a:lnTo>
                <a:lnTo>
                  <a:pt x="256871" y="1395984"/>
                </a:lnTo>
                <a:lnTo>
                  <a:pt x="239330" y="1361628"/>
                </a:lnTo>
                <a:lnTo>
                  <a:pt x="233172" y="1324203"/>
                </a:lnTo>
                <a:lnTo>
                  <a:pt x="233172" y="906932"/>
                </a:lnTo>
                <a:lnTo>
                  <a:pt x="227013" y="869507"/>
                </a:lnTo>
                <a:lnTo>
                  <a:pt x="209472" y="835152"/>
                </a:lnTo>
                <a:lnTo>
                  <a:pt x="181946" y="804846"/>
                </a:lnTo>
                <a:lnTo>
                  <a:pt x="145837" y="779569"/>
                </a:lnTo>
                <a:lnTo>
                  <a:pt x="102543" y="760301"/>
                </a:lnTo>
                <a:lnTo>
                  <a:pt x="53464" y="748022"/>
                </a:lnTo>
                <a:lnTo>
                  <a:pt x="0" y="743712"/>
                </a:lnTo>
                <a:lnTo>
                  <a:pt x="53464" y="739401"/>
                </a:lnTo>
                <a:lnTo>
                  <a:pt x="102543" y="727122"/>
                </a:lnTo>
                <a:lnTo>
                  <a:pt x="145837" y="707854"/>
                </a:lnTo>
                <a:lnTo>
                  <a:pt x="181946" y="682577"/>
                </a:lnTo>
                <a:lnTo>
                  <a:pt x="209472" y="652272"/>
                </a:lnTo>
                <a:lnTo>
                  <a:pt x="227013" y="617916"/>
                </a:lnTo>
                <a:lnTo>
                  <a:pt x="233172" y="580491"/>
                </a:lnTo>
                <a:lnTo>
                  <a:pt x="233172" y="163220"/>
                </a:lnTo>
                <a:lnTo>
                  <a:pt x="239330" y="125795"/>
                </a:lnTo>
                <a:lnTo>
                  <a:pt x="256871" y="91440"/>
                </a:lnTo>
                <a:lnTo>
                  <a:pt x="284397" y="61134"/>
                </a:lnTo>
                <a:lnTo>
                  <a:pt x="320506" y="35857"/>
                </a:lnTo>
                <a:lnTo>
                  <a:pt x="363800" y="16589"/>
                </a:lnTo>
                <a:lnTo>
                  <a:pt x="412879" y="4310"/>
                </a:lnTo>
                <a:lnTo>
                  <a:pt x="466344" y="0"/>
                </a:lnTo>
              </a:path>
            </a:pathLst>
          </a:custGeom>
          <a:ln w="19050">
            <a:solidFill>
              <a:srgbClr val="4189B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86984" y="1283208"/>
            <a:ext cx="4427219" cy="149656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646179" y="1297483"/>
            <a:ext cx="1706880" cy="1388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indent="-172085">
              <a:lnSpc>
                <a:spcPts val="2155"/>
              </a:lnSpc>
              <a:spcBef>
                <a:spcPts val="100"/>
              </a:spcBef>
              <a:buFont typeface="Arial"/>
              <a:buChar char="•"/>
              <a:tabLst>
                <a:tab pos="184785" algn="l"/>
              </a:tabLst>
            </a:pP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getBundle()</a:t>
            </a:r>
            <a:endParaRPr sz="1800">
              <a:latin typeface="Courier New"/>
              <a:cs typeface="Courier New"/>
            </a:endParaRPr>
          </a:p>
          <a:p>
            <a:pPr marL="184785" indent="-172085">
              <a:lnSpc>
                <a:spcPts val="2140"/>
              </a:lnSpc>
              <a:buFont typeface="Arial"/>
              <a:buChar char="•"/>
              <a:tabLst>
                <a:tab pos="184785" algn="l"/>
              </a:tabLst>
            </a:pP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getKeys()</a:t>
            </a:r>
            <a:endParaRPr sz="1800">
              <a:latin typeface="Courier New"/>
              <a:cs typeface="Courier New"/>
            </a:endParaRPr>
          </a:p>
          <a:p>
            <a:pPr marL="184785" indent="-172085">
              <a:lnSpc>
                <a:spcPts val="2135"/>
              </a:lnSpc>
              <a:buFont typeface="Arial"/>
              <a:buChar char="•"/>
              <a:tabLst>
                <a:tab pos="184785" algn="l"/>
              </a:tabLst>
            </a:pP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getLocale()</a:t>
            </a:r>
            <a:endParaRPr sz="1800">
              <a:latin typeface="Courier New"/>
              <a:cs typeface="Courier New"/>
            </a:endParaRPr>
          </a:p>
          <a:p>
            <a:pPr marL="184785" indent="-172085">
              <a:lnSpc>
                <a:spcPts val="2140"/>
              </a:lnSpc>
              <a:buFont typeface="Arial"/>
              <a:buChar char="•"/>
              <a:tabLst>
                <a:tab pos="184785" algn="l"/>
              </a:tabLst>
            </a:pP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getObject()</a:t>
            </a:r>
            <a:endParaRPr sz="1800">
              <a:latin typeface="Courier New"/>
              <a:cs typeface="Courier New"/>
            </a:endParaRPr>
          </a:p>
          <a:p>
            <a:pPr marL="184785" indent="-172085">
              <a:lnSpc>
                <a:spcPts val="2155"/>
              </a:lnSpc>
              <a:buFont typeface="Arial"/>
              <a:buChar char="•"/>
              <a:tabLst>
                <a:tab pos="184785" algn="l"/>
              </a:tabLst>
            </a:pP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getString()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84384" y="3030958"/>
            <a:ext cx="4220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01D1E"/>
                </a:solidFill>
                <a:latin typeface="Calisto MT"/>
                <a:cs typeface="Calisto MT"/>
              </a:rPr>
              <a:t>Output</a:t>
            </a:r>
            <a:r>
              <a:rPr sz="1800" spc="-60" dirty="0">
                <a:solidFill>
                  <a:srgbClr val="201D1E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201D1E"/>
                </a:solidFill>
                <a:latin typeface="Calisto MT"/>
                <a:cs typeface="Calisto MT"/>
              </a:rPr>
              <a:t>Demonstrating</a:t>
            </a:r>
            <a:r>
              <a:rPr sz="1800" spc="-60" dirty="0">
                <a:solidFill>
                  <a:srgbClr val="201D1E"/>
                </a:solidFill>
                <a:latin typeface="Calisto MT"/>
                <a:cs typeface="Calisto MT"/>
              </a:rPr>
              <a:t> </a:t>
            </a:r>
            <a:r>
              <a:rPr sz="1800" spc="-10" dirty="0">
                <a:solidFill>
                  <a:srgbClr val="201D1E"/>
                </a:solidFill>
                <a:latin typeface="Calisto MT"/>
                <a:cs typeface="Calisto MT"/>
              </a:rPr>
              <a:t>Internationalization</a:t>
            </a:r>
            <a:endParaRPr sz="1800">
              <a:latin typeface="Calisto MT"/>
              <a:cs typeface="Calisto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126995" y="3416300"/>
            <a:ext cx="8134984" cy="2892425"/>
            <a:chOff x="2126995" y="3416300"/>
            <a:chExt cx="8134984" cy="289242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39695" y="3429000"/>
              <a:ext cx="8099945" cy="2145091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133345" y="3422650"/>
              <a:ext cx="8122284" cy="2879725"/>
            </a:xfrm>
            <a:custGeom>
              <a:avLst/>
              <a:gdLst/>
              <a:ahLst/>
              <a:cxnLst/>
              <a:rect l="l" t="t" r="r" b="b"/>
              <a:pathLst>
                <a:path w="8122284" h="2879725">
                  <a:moveTo>
                    <a:pt x="0" y="0"/>
                  </a:moveTo>
                  <a:lnTo>
                    <a:pt x="8121904" y="0"/>
                  </a:lnTo>
                  <a:lnTo>
                    <a:pt x="8121904" y="2879344"/>
                  </a:lnTo>
                  <a:lnTo>
                    <a:pt x="0" y="2879344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spc="-25" dirty="0"/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Formatting</a:t>
            </a:r>
            <a:r>
              <a:rPr spc="-45" dirty="0"/>
              <a:t> </a:t>
            </a:r>
            <a:r>
              <a:rPr dirty="0"/>
              <a:t>in</a:t>
            </a:r>
            <a:r>
              <a:rPr spc="-65" dirty="0"/>
              <a:t> </a:t>
            </a:r>
            <a:r>
              <a:rPr spc="-10" dirty="0"/>
              <a:t>Servlets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719428" y="1391824"/>
            <a:ext cx="15398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alisto MT"/>
                <a:cs typeface="Calisto MT"/>
              </a:rPr>
              <a:t>Formatting </a:t>
            </a:r>
            <a:r>
              <a:rPr sz="1600" spc="-20" dirty="0">
                <a:latin typeface="Calisto MT"/>
                <a:cs typeface="Calisto MT"/>
              </a:rPr>
              <a:t>Dates</a:t>
            </a:r>
            <a:endParaRPr sz="1600">
              <a:latin typeface="Calisto MT"/>
              <a:cs typeface="Calisto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359402" y="896874"/>
            <a:ext cx="436245" cy="1304925"/>
          </a:xfrm>
          <a:custGeom>
            <a:avLst/>
            <a:gdLst/>
            <a:ahLst/>
            <a:cxnLst/>
            <a:rect l="l" t="t" r="r" b="b"/>
            <a:pathLst>
              <a:path w="436245" h="1304925">
                <a:moveTo>
                  <a:pt x="435863" y="1304543"/>
                </a:moveTo>
                <a:lnTo>
                  <a:pt x="377929" y="1299094"/>
                </a:lnTo>
                <a:lnTo>
                  <a:pt x="325870" y="1283715"/>
                </a:lnTo>
                <a:lnTo>
                  <a:pt x="281763" y="1259862"/>
                </a:lnTo>
                <a:lnTo>
                  <a:pt x="247686" y="1228987"/>
                </a:lnTo>
                <a:lnTo>
                  <a:pt x="225716" y="1192545"/>
                </a:lnTo>
                <a:lnTo>
                  <a:pt x="217931" y="1151991"/>
                </a:lnTo>
                <a:lnTo>
                  <a:pt x="217931" y="804824"/>
                </a:lnTo>
                <a:lnTo>
                  <a:pt x="210147" y="764270"/>
                </a:lnTo>
                <a:lnTo>
                  <a:pt x="188177" y="727828"/>
                </a:lnTo>
                <a:lnTo>
                  <a:pt x="154100" y="696953"/>
                </a:lnTo>
                <a:lnTo>
                  <a:pt x="109993" y="673099"/>
                </a:lnTo>
                <a:lnTo>
                  <a:pt x="57934" y="657721"/>
                </a:lnTo>
                <a:lnTo>
                  <a:pt x="0" y="652271"/>
                </a:lnTo>
                <a:lnTo>
                  <a:pt x="57934" y="646822"/>
                </a:lnTo>
                <a:lnTo>
                  <a:pt x="109993" y="631443"/>
                </a:lnTo>
                <a:lnTo>
                  <a:pt x="154100" y="607590"/>
                </a:lnTo>
                <a:lnTo>
                  <a:pt x="188177" y="576715"/>
                </a:lnTo>
                <a:lnTo>
                  <a:pt x="210147" y="540273"/>
                </a:lnTo>
                <a:lnTo>
                  <a:pt x="217931" y="499719"/>
                </a:lnTo>
                <a:lnTo>
                  <a:pt x="217931" y="152552"/>
                </a:lnTo>
                <a:lnTo>
                  <a:pt x="225716" y="111998"/>
                </a:lnTo>
                <a:lnTo>
                  <a:pt x="247686" y="75556"/>
                </a:lnTo>
                <a:lnTo>
                  <a:pt x="281763" y="44681"/>
                </a:lnTo>
                <a:lnTo>
                  <a:pt x="325870" y="20827"/>
                </a:lnTo>
                <a:lnTo>
                  <a:pt x="377929" y="5449"/>
                </a:lnTo>
                <a:lnTo>
                  <a:pt x="435863" y="0"/>
                </a:lnTo>
              </a:path>
            </a:pathLst>
          </a:custGeom>
          <a:ln w="19050">
            <a:solidFill>
              <a:srgbClr val="FD9E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65192" y="891540"/>
            <a:ext cx="2694431" cy="131216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016604" y="895223"/>
            <a:ext cx="2146935" cy="12350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5420" indent="-172720">
              <a:lnSpc>
                <a:spcPts val="1910"/>
              </a:lnSpc>
              <a:spcBef>
                <a:spcPts val="95"/>
              </a:spcBef>
              <a:buFont typeface="Arial"/>
              <a:buChar char="•"/>
              <a:tabLst>
                <a:tab pos="185420" algn="l"/>
              </a:tabLst>
            </a:pPr>
            <a:r>
              <a:rPr sz="1600" spc="-10" dirty="0">
                <a:latin typeface="Courier New"/>
                <a:cs typeface="Courier New"/>
              </a:rPr>
              <a:t>DateFormat</a:t>
            </a:r>
            <a:endParaRPr sz="1600">
              <a:latin typeface="Courier New"/>
              <a:cs typeface="Courier New"/>
            </a:endParaRPr>
          </a:p>
          <a:p>
            <a:pPr marL="185420" indent="-172720">
              <a:lnSpc>
                <a:spcPts val="1900"/>
              </a:lnSpc>
              <a:buFont typeface="Arial"/>
              <a:buChar char="•"/>
              <a:tabLst>
                <a:tab pos="185420" algn="l"/>
              </a:tabLst>
            </a:pPr>
            <a:r>
              <a:rPr sz="1600" spc="-10" dirty="0">
                <a:latin typeface="Courier New"/>
                <a:cs typeface="Courier New"/>
              </a:rPr>
              <a:t>DateFormat.Field</a:t>
            </a:r>
            <a:endParaRPr sz="1600">
              <a:latin typeface="Courier New"/>
              <a:cs typeface="Courier New"/>
            </a:endParaRPr>
          </a:p>
          <a:p>
            <a:pPr marL="185420" indent="-172720">
              <a:lnSpc>
                <a:spcPts val="1905"/>
              </a:lnSpc>
              <a:buFont typeface="Arial"/>
              <a:buChar char="•"/>
              <a:tabLst>
                <a:tab pos="185420" algn="l"/>
              </a:tabLst>
            </a:pPr>
            <a:r>
              <a:rPr sz="1600" spc="-10" dirty="0">
                <a:latin typeface="Courier New"/>
                <a:cs typeface="Courier New"/>
              </a:rPr>
              <a:t>DateFormatSymbol</a:t>
            </a:r>
            <a:endParaRPr sz="1600">
              <a:latin typeface="Courier New"/>
              <a:cs typeface="Courier New"/>
            </a:endParaRPr>
          </a:p>
          <a:p>
            <a:pPr marL="185420" indent="-172720">
              <a:lnSpc>
                <a:spcPts val="1900"/>
              </a:lnSpc>
              <a:buFont typeface="Arial"/>
              <a:buChar char="•"/>
              <a:tabLst>
                <a:tab pos="185420" algn="l"/>
              </a:tabLst>
            </a:pPr>
            <a:r>
              <a:rPr sz="1600" spc="-10" dirty="0">
                <a:latin typeface="Courier New"/>
                <a:cs typeface="Courier New"/>
              </a:rPr>
              <a:t>DateFormatter</a:t>
            </a:r>
            <a:endParaRPr sz="1600">
              <a:latin typeface="Courier New"/>
              <a:cs typeface="Courier New"/>
            </a:endParaRPr>
          </a:p>
          <a:p>
            <a:pPr marL="185420" indent="-172720">
              <a:lnSpc>
                <a:spcPts val="1910"/>
              </a:lnSpc>
              <a:buFont typeface="Arial"/>
              <a:buChar char="•"/>
              <a:tabLst>
                <a:tab pos="185420" algn="l"/>
              </a:tabLst>
            </a:pPr>
            <a:r>
              <a:rPr sz="1600" spc="-10" dirty="0">
                <a:latin typeface="Courier New"/>
                <a:cs typeface="Courier New"/>
              </a:rPr>
              <a:t>SimpleDateFormat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11606" y="2589322"/>
            <a:ext cx="18465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alisto MT"/>
                <a:cs typeface="Calisto MT"/>
              </a:rPr>
              <a:t>Formatting Currency</a:t>
            </a:r>
            <a:endParaRPr sz="1600">
              <a:latin typeface="Calisto MT"/>
              <a:cs typeface="Calisto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359402" y="2334005"/>
            <a:ext cx="436245" cy="824865"/>
          </a:xfrm>
          <a:custGeom>
            <a:avLst/>
            <a:gdLst/>
            <a:ahLst/>
            <a:cxnLst/>
            <a:rect l="l" t="t" r="r" b="b"/>
            <a:pathLst>
              <a:path w="436245" h="824864">
                <a:moveTo>
                  <a:pt x="435863" y="824484"/>
                </a:moveTo>
                <a:lnTo>
                  <a:pt x="377929" y="819034"/>
                </a:lnTo>
                <a:lnTo>
                  <a:pt x="325870" y="803656"/>
                </a:lnTo>
                <a:lnTo>
                  <a:pt x="281763" y="779802"/>
                </a:lnTo>
                <a:lnTo>
                  <a:pt x="247686" y="748927"/>
                </a:lnTo>
                <a:lnTo>
                  <a:pt x="225716" y="712485"/>
                </a:lnTo>
                <a:lnTo>
                  <a:pt x="217931" y="671931"/>
                </a:lnTo>
                <a:lnTo>
                  <a:pt x="217931" y="564794"/>
                </a:lnTo>
                <a:lnTo>
                  <a:pt x="210147" y="524240"/>
                </a:lnTo>
                <a:lnTo>
                  <a:pt x="188177" y="487798"/>
                </a:lnTo>
                <a:lnTo>
                  <a:pt x="154100" y="456923"/>
                </a:lnTo>
                <a:lnTo>
                  <a:pt x="109993" y="433070"/>
                </a:lnTo>
                <a:lnTo>
                  <a:pt x="57934" y="417691"/>
                </a:lnTo>
                <a:lnTo>
                  <a:pt x="0" y="412242"/>
                </a:lnTo>
                <a:lnTo>
                  <a:pt x="57934" y="406792"/>
                </a:lnTo>
                <a:lnTo>
                  <a:pt x="109993" y="391414"/>
                </a:lnTo>
                <a:lnTo>
                  <a:pt x="154100" y="367560"/>
                </a:lnTo>
                <a:lnTo>
                  <a:pt x="188177" y="336685"/>
                </a:lnTo>
                <a:lnTo>
                  <a:pt x="210147" y="300243"/>
                </a:lnTo>
                <a:lnTo>
                  <a:pt x="217931" y="259689"/>
                </a:lnTo>
                <a:lnTo>
                  <a:pt x="217931" y="152552"/>
                </a:lnTo>
                <a:lnTo>
                  <a:pt x="225716" y="111998"/>
                </a:lnTo>
                <a:lnTo>
                  <a:pt x="247686" y="75556"/>
                </a:lnTo>
                <a:lnTo>
                  <a:pt x="281763" y="44681"/>
                </a:lnTo>
                <a:lnTo>
                  <a:pt x="325870" y="20828"/>
                </a:lnTo>
                <a:lnTo>
                  <a:pt x="377929" y="5449"/>
                </a:lnTo>
                <a:lnTo>
                  <a:pt x="435863" y="0"/>
                </a:lnTo>
              </a:path>
            </a:pathLst>
          </a:custGeom>
          <a:ln w="19050">
            <a:solidFill>
              <a:srgbClr val="FD9E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65191" y="2359152"/>
            <a:ext cx="3485387" cy="83057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422350" y="3787209"/>
            <a:ext cx="18364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alisto MT"/>
                <a:cs typeface="Calisto MT"/>
              </a:rPr>
              <a:t>Formatting Numbers</a:t>
            </a:r>
            <a:endParaRPr sz="1600">
              <a:latin typeface="Calisto MT"/>
              <a:cs typeface="Calisto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359402" y="3292602"/>
            <a:ext cx="436245" cy="1304925"/>
          </a:xfrm>
          <a:custGeom>
            <a:avLst/>
            <a:gdLst/>
            <a:ahLst/>
            <a:cxnLst/>
            <a:rect l="l" t="t" r="r" b="b"/>
            <a:pathLst>
              <a:path w="436245" h="1304925">
                <a:moveTo>
                  <a:pt x="435863" y="1304544"/>
                </a:moveTo>
                <a:lnTo>
                  <a:pt x="377929" y="1299094"/>
                </a:lnTo>
                <a:lnTo>
                  <a:pt x="325870" y="1283716"/>
                </a:lnTo>
                <a:lnTo>
                  <a:pt x="281763" y="1259862"/>
                </a:lnTo>
                <a:lnTo>
                  <a:pt x="247686" y="1228987"/>
                </a:lnTo>
                <a:lnTo>
                  <a:pt x="225716" y="1192545"/>
                </a:lnTo>
                <a:lnTo>
                  <a:pt x="217931" y="1151991"/>
                </a:lnTo>
                <a:lnTo>
                  <a:pt x="217931" y="804824"/>
                </a:lnTo>
                <a:lnTo>
                  <a:pt x="210147" y="764270"/>
                </a:lnTo>
                <a:lnTo>
                  <a:pt x="188177" y="727828"/>
                </a:lnTo>
                <a:lnTo>
                  <a:pt x="154100" y="696953"/>
                </a:lnTo>
                <a:lnTo>
                  <a:pt x="109993" y="673100"/>
                </a:lnTo>
                <a:lnTo>
                  <a:pt x="57934" y="657721"/>
                </a:lnTo>
                <a:lnTo>
                  <a:pt x="0" y="652272"/>
                </a:lnTo>
                <a:lnTo>
                  <a:pt x="57934" y="646822"/>
                </a:lnTo>
                <a:lnTo>
                  <a:pt x="109993" y="631444"/>
                </a:lnTo>
                <a:lnTo>
                  <a:pt x="154100" y="607590"/>
                </a:lnTo>
                <a:lnTo>
                  <a:pt x="188177" y="576715"/>
                </a:lnTo>
                <a:lnTo>
                  <a:pt x="210147" y="540273"/>
                </a:lnTo>
                <a:lnTo>
                  <a:pt x="217931" y="499719"/>
                </a:lnTo>
                <a:lnTo>
                  <a:pt x="217931" y="152552"/>
                </a:lnTo>
                <a:lnTo>
                  <a:pt x="225716" y="111998"/>
                </a:lnTo>
                <a:lnTo>
                  <a:pt x="247686" y="75556"/>
                </a:lnTo>
                <a:lnTo>
                  <a:pt x="281763" y="44681"/>
                </a:lnTo>
                <a:lnTo>
                  <a:pt x="325870" y="20828"/>
                </a:lnTo>
                <a:lnTo>
                  <a:pt x="377929" y="5449"/>
                </a:lnTo>
                <a:lnTo>
                  <a:pt x="435863" y="0"/>
                </a:lnTo>
              </a:path>
            </a:pathLst>
          </a:custGeom>
          <a:ln w="19050">
            <a:solidFill>
              <a:srgbClr val="FD9E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65192" y="3287267"/>
            <a:ext cx="3842003" cy="1312163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5016604" y="2363095"/>
            <a:ext cx="3365500" cy="21628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5420" indent="-172720">
              <a:lnSpc>
                <a:spcPts val="1910"/>
              </a:lnSpc>
              <a:spcBef>
                <a:spcPts val="95"/>
              </a:spcBef>
              <a:buFont typeface="Arial"/>
              <a:buChar char="•"/>
              <a:tabLst>
                <a:tab pos="185420" algn="l"/>
              </a:tabLst>
            </a:pPr>
            <a:r>
              <a:rPr sz="1600" spc="-10" dirty="0">
                <a:latin typeface="Courier New"/>
                <a:cs typeface="Courier New"/>
              </a:rPr>
              <a:t>getCurrencyCode()</a:t>
            </a:r>
            <a:endParaRPr sz="1600">
              <a:latin typeface="Courier New"/>
              <a:cs typeface="Courier New"/>
            </a:endParaRPr>
          </a:p>
          <a:p>
            <a:pPr marL="185420" indent="-172720">
              <a:lnSpc>
                <a:spcPts val="1900"/>
              </a:lnSpc>
              <a:buFont typeface="Arial"/>
              <a:buChar char="•"/>
              <a:tabLst>
                <a:tab pos="185420" algn="l"/>
              </a:tabLst>
            </a:pPr>
            <a:r>
              <a:rPr sz="1600" spc="-10" dirty="0">
                <a:latin typeface="Courier New"/>
                <a:cs typeface="Courier New"/>
              </a:rPr>
              <a:t>getSymbol()</a:t>
            </a:r>
            <a:endParaRPr sz="1600">
              <a:latin typeface="Courier New"/>
              <a:cs typeface="Courier New"/>
            </a:endParaRPr>
          </a:p>
          <a:p>
            <a:pPr marL="185420" indent="-172720">
              <a:lnSpc>
                <a:spcPts val="1914"/>
              </a:lnSpc>
              <a:buFont typeface="Arial"/>
              <a:buChar char="•"/>
              <a:tabLst>
                <a:tab pos="185420" algn="l"/>
              </a:tabLst>
            </a:pPr>
            <a:r>
              <a:rPr sz="1600" dirty="0">
                <a:latin typeface="Courier New"/>
                <a:cs typeface="Courier New"/>
              </a:rPr>
              <a:t>getInstance(Locale</a:t>
            </a:r>
            <a:r>
              <a:rPr sz="1600" spc="-175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locale)</a:t>
            </a:r>
            <a:endParaRPr sz="1600">
              <a:latin typeface="Courier New"/>
              <a:cs typeface="Courier New"/>
            </a:endParaRPr>
          </a:p>
          <a:p>
            <a:pPr marL="185420" indent="-172720">
              <a:lnSpc>
                <a:spcPts val="1910"/>
              </a:lnSpc>
              <a:spcBef>
                <a:spcPts val="1580"/>
              </a:spcBef>
              <a:buFont typeface="Arial"/>
              <a:buChar char="•"/>
              <a:tabLst>
                <a:tab pos="185420" algn="l"/>
              </a:tabLst>
            </a:pPr>
            <a:r>
              <a:rPr sz="1600" dirty="0">
                <a:latin typeface="Courier New"/>
                <a:cs typeface="Courier New"/>
              </a:rPr>
              <a:t>format(double</a:t>
            </a:r>
            <a:r>
              <a:rPr sz="1600" spc="-130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number)</a:t>
            </a:r>
            <a:endParaRPr sz="1600">
              <a:latin typeface="Courier New"/>
              <a:cs typeface="Courier New"/>
            </a:endParaRPr>
          </a:p>
          <a:p>
            <a:pPr marL="185420" indent="-172720">
              <a:lnSpc>
                <a:spcPts val="1900"/>
              </a:lnSpc>
              <a:buFont typeface="Arial"/>
              <a:buChar char="•"/>
              <a:tabLst>
                <a:tab pos="185420" algn="l"/>
              </a:tabLst>
            </a:pPr>
            <a:r>
              <a:rPr sz="1600" spc="-10" dirty="0">
                <a:latin typeface="Courier New"/>
                <a:cs typeface="Courier New"/>
              </a:rPr>
              <a:t>getCurrency()</a:t>
            </a:r>
            <a:endParaRPr sz="1600">
              <a:latin typeface="Courier New"/>
              <a:cs typeface="Courier New"/>
            </a:endParaRPr>
          </a:p>
          <a:p>
            <a:pPr marL="185420" indent="-172720">
              <a:lnSpc>
                <a:spcPts val="1905"/>
              </a:lnSpc>
              <a:buFont typeface="Arial"/>
              <a:buChar char="•"/>
              <a:tabLst>
                <a:tab pos="185420" algn="l"/>
              </a:tabLst>
            </a:pPr>
            <a:r>
              <a:rPr sz="1600" spc="-10" dirty="0">
                <a:latin typeface="Courier New"/>
                <a:cs typeface="Courier New"/>
              </a:rPr>
              <a:t>getInstance()</a:t>
            </a:r>
            <a:endParaRPr sz="1600">
              <a:latin typeface="Courier New"/>
              <a:cs typeface="Courier New"/>
            </a:endParaRPr>
          </a:p>
          <a:p>
            <a:pPr marL="185420" indent="-172720">
              <a:lnSpc>
                <a:spcPts val="1900"/>
              </a:lnSpc>
              <a:buFont typeface="Arial"/>
              <a:buChar char="•"/>
              <a:tabLst>
                <a:tab pos="185420" algn="l"/>
              </a:tabLst>
            </a:pPr>
            <a:r>
              <a:rPr sz="1600" spc="-10" dirty="0">
                <a:latin typeface="Courier New"/>
                <a:cs typeface="Courier New"/>
              </a:rPr>
              <a:t>parse()</a:t>
            </a:r>
            <a:endParaRPr sz="1600">
              <a:latin typeface="Courier New"/>
              <a:cs typeface="Courier New"/>
            </a:endParaRPr>
          </a:p>
          <a:p>
            <a:pPr marL="185420" indent="-172720">
              <a:lnSpc>
                <a:spcPts val="1910"/>
              </a:lnSpc>
              <a:buFont typeface="Arial"/>
              <a:buChar char="•"/>
              <a:tabLst>
                <a:tab pos="185420" algn="l"/>
              </a:tabLst>
            </a:pPr>
            <a:r>
              <a:rPr sz="1600" spc="-10" dirty="0">
                <a:latin typeface="Courier New"/>
                <a:cs typeface="Courier New"/>
              </a:rPr>
              <a:t>setCurrency()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332353" y="4934168"/>
            <a:ext cx="20485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alisto MT"/>
                <a:cs typeface="Calisto MT"/>
              </a:rPr>
              <a:t>Formatting Percentages</a:t>
            </a:r>
            <a:endParaRPr sz="1600">
              <a:latin typeface="Calisto MT"/>
              <a:cs typeface="Calisto MT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382261" y="4725161"/>
            <a:ext cx="434340" cy="733425"/>
          </a:xfrm>
          <a:custGeom>
            <a:avLst/>
            <a:gdLst/>
            <a:ahLst/>
            <a:cxnLst/>
            <a:rect l="l" t="t" r="r" b="b"/>
            <a:pathLst>
              <a:path w="434339" h="733425">
                <a:moveTo>
                  <a:pt x="434339" y="733044"/>
                </a:moveTo>
                <a:lnTo>
                  <a:pt x="376607" y="727613"/>
                </a:lnTo>
                <a:lnTo>
                  <a:pt x="324730" y="712289"/>
                </a:lnTo>
                <a:lnTo>
                  <a:pt x="280777" y="688519"/>
                </a:lnTo>
                <a:lnTo>
                  <a:pt x="246820" y="657752"/>
                </a:lnTo>
                <a:lnTo>
                  <a:pt x="224927" y="621438"/>
                </a:lnTo>
                <a:lnTo>
                  <a:pt x="217169" y="581025"/>
                </a:lnTo>
                <a:lnTo>
                  <a:pt x="217169" y="518541"/>
                </a:lnTo>
                <a:lnTo>
                  <a:pt x="209412" y="478127"/>
                </a:lnTo>
                <a:lnTo>
                  <a:pt x="187519" y="441813"/>
                </a:lnTo>
                <a:lnTo>
                  <a:pt x="153562" y="411046"/>
                </a:lnTo>
                <a:lnTo>
                  <a:pt x="109609" y="387276"/>
                </a:lnTo>
                <a:lnTo>
                  <a:pt x="57732" y="371952"/>
                </a:lnTo>
                <a:lnTo>
                  <a:pt x="0" y="366522"/>
                </a:lnTo>
                <a:lnTo>
                  <a:pt x="57732" y="361091"/>
                </a:lnTo>
                <a:lnTo>
                  <a:pt x="109609" y="345767"/>
                </a:lnTo>
                <a:lnTo>
                  <a:pt x="153562" y="321997"/>
                </a:lnTo>
                <a:lnTo>
                  <a:pt x="187519" y="291230"/>
                </a:lnTo>
                <a:lnTo>
                  <a:pt x="209412" y="254916"/>
                </a:lnTo>
                <a:lnTo>
                  <a:pt x="217169" y="214503"/>
                </a:lnTo>
                <a:lnTo>
                  <a:pt x="217169" y="152019"/>
                </a:lnTo>
                <a:lnTo>
                  <a:pt x="224927" y="111605"/>
                </a:lnTo>
                <a:lnTo>
                  <a:pt x="246820" y="75291"/>
                </a:lnTo>
                <a:lnTo>
                  <a:pt x="280777" y="44524"/>
                </a:lnTo>
                <a:lnTo>
                  <a:pt x="324730" y="20754"/>
                </a:lnTo>
                <a:lnTo>
                  <a:pt x="376607" y="5430"/>
                </a:lnTo>
                <a:lnTo>
                  <a:pt x="434339" y="0"/>
                </a:lnTo>
              </a:path>
            </a:pathLst>
          </a:custGeom>
          <a:ln w="19050">
            <a:solidFill>
              <a:srgbClr val="FD9E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65191" y="4719828"/>
            <a:ext cx="4704587" cy="740663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5016586" y="4800377"/>
            <a:ext cx="4464050" cy="5099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785" indent="-172085">
              <a:lnSpc>
                <a:spcPts val="1910"/>
              </a:lnSpc>
              <a:spcBef>
                <a:spcPts val="95"/>
              </a:spcBef>
              <a:buChar char="•"/>
              <a:tabLst>
                <a:tab pos="184785" algn="l"/>
              </a:tabLst>
            </a:pPr>
            <a:r>
              <a:rPr sz="1600" spc="-10" dirty="0">
                <a:latin typeface="Courier New"/>
                <a:cs typeface="Courier New"/>
              </a:rPr>
              <a:t>getPercentInstance()</a:t>
            </a:r>
            <a:endParaRPr sz="1600">
              <a:latin typeface="Courier New"/>
              <a:cs typeface="Courier New"/>
            </a:endParaRPr>
          </a:p>
          <a:p>
            <a:pPr marL="184785" indent="-172085">
              <a:lnSpc>
                <a:spcPts val="1910"/>
              </a:lnSpc>
              <a:buChar char="•"/>
              <a:tabLst>
                <a:tab pos="184785" algn="l"/>
              </a:tabLst>
            </a:pPr>
            <a:r>
              <a:rPr sz="1600" dirty="0">
                <a:latin typeface="Courier New"/>
                <a:cs typeface="Courier New"/>
              </a:rPr>
              <a:t>getPercentInstance(Locale</a:t>
            </a:r>
            <a:r>
              <a:rPr sz="1600" spc="-225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inLocale)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404089" y="5805122"/>
            <a:ext cx="18554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alisto MT"/>
                <a:cs typeface="Calisto MT"/>
              </a:rPr>
              <a:t>Formatting Messages</a:t>
            </a:r>
            <a:endParaRPr sz="1600">
              <a:latin typeface="Calisto MT"/>
              <a:cs typeface="Calisto MT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359402" y="5595365"/>
            <a:ext cx="436245" cy="733425"/>
          </a:xfrm>
          <a:custGeom>
            <a:avLst/>
            <a:gdLst/>
            <a:ahLst/>
            <a:cxnLst/>
            <a:rect l="l" t="t" r="r" b="b"/>
            <a:pathLst>
              <a:path w="436245" h="733425">
                <a:moveTo>
                  <a:pt x="435863" y="733044"/>
                </a:moveTo>
                <a:lnTo>
                  <a:pt x="377929" y="727594"/>
                </a:lnTo>
                <a:lnTo>
                  <a:pt x="325870" y="712216"/>
                </a:lnTo>
                <a:lnTo>
                  <a:pt x="281763" y="688362"/>
                </a:lnTo>
                <a:lnTo>
                  <a:pt x="247686" y="657487"/>
                </a:lnTo>
                <a:lnTo>
                  <a:pt x="225716" y="621045"/>
                </a:lnTo>
                <a:lnTo>
                  <a:pt x="217931" y="580491"/>
                </a:lnTo>
                <a:lnTo>
                  <a:pt x="217931" y="519074"/>
                </a:lnTo>
                <a:lnTo>
                  <a:pt x="210147" y="478520"/>
                </a:lnTo>
                <a:lnTo>
                  <a:pt x="188177" y="442078"/>
                </a:lnTo>
                <a:lnTo>
                  <a:pt x="154100" y="411203"/>
                </a:lnTo>
                <a:lnTo>
                  <a:pt x="109993" y="387350"/>
                </a:lnTo>
                <a:lnTo>
                  <a:pt x="57934" y="371971"/>
                </a:lnTo>
                <a:lnTo>
                  <a:pt x="0" y="366522"/>
                </a:lnTo>
                <a:lnTo>
                  <a:pt x="57934" y="361072"/>
                </a:lnTo>
                <a:lnTo>
                  <a:pt x="109993" y="345694"/>
                </a:lnTo>
                <a:lnTo>
                  <a:pt x="154100" y="321840"/>
                </a:lnTo>
                <a:lnTo>
                  <a:pt x="188177" y="290965"/>
                </a:lnTo>
                <a:lnTo>
                  <a:pt x="210147" y="254523"/>
                </a:lnTo>
                <a:lnTo>
                  <a:pt x="217931" y="213969"/>
                </a:lnTo>
                <a:lnTo>
                  <a:pt x="217931" y="152552"/>
                </a:lnTo>
                <a:lnTo>
                  <a:pt x="225716" y="111998"/>
                </a:lnTo>
                <a:lnTo>
                  <a:pt x="247686" y="75556"/>
                </a:lnTo>
                <a:lnTo>
                  <a:pt x="281763" y="44681"/>
                </a:lnTo>
                <a:lnTo>
                  <a:pt x="325870" y="20828"/>
                </a:lnTo>
                <a:lnTo>
                  <a:pt x="377929" y="5449"/>
                </a:lnTo>
                <a:lnTo>
                  <a:pt x="435863" y="0"/>
                </a:lnTo>
              </a:path>
            </a:pathLst>
          </a:custGeom>
          <a:ln w="19050">
            <a:solidFill>
              <a:srgbClr val="FD9E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965191" y="5591555"/>
            <a:ext cx="5091683" cy="740663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5016604" y="5671130"/>
            <a:ext cx="2512695" cy="5099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785" indent="-172085">
              <a:lnSpc>
                <a:spcPts val="1910"/>
              </a:lnSpc>
              <a:spcBef>
                <a:spcPts val="95"/>
              </a:spcBef>
              <a:buChar char="•"/>
              <a:tabLst>
                <a:tab pos="184785" algn="l"/>
              </a:tabLst>
            </a:pPr>
            <a:r>
              <a:rPr sz="1600" spc="-10" dirty="0">
                <a:latin typeface="Courier New"/>
                <a:cs typeface="Courier New"/>
              </a:rPr>
              <a:t>MessageFormat</a:t>
            </a:r>
            <a:endParaRPr sz="1600">
              <a:latin typeface="Courier New"/>
              <a:cs typeface="Courier New"/>
            </a:endParaRPr>
          </a:p>
          <a:p>
            <a:pPr marL="184785" indent="-172085">
              <a:lnSpc>
                <a:spcPts val="1910"/>
              </a:lnSpc>
              <a:buChar char="•"/>
              <a:tabLst>
                <a:tab pos="184785" algn="l"/>
              </a:tabLst>
            </a:pPr>
            <a:r>
              <a:rPr sz="1600" spc="-10" dirty="0">
                <a:latin typeface="Courier New"/>
                <a:cs typeface="Courier New"/>
              </a:rPr>
              <a:t>MessageFormat.Field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spc="-25" dirty="0"/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Summary</a:t>
            </a:r>
            <a:r>
              <a:rPr spc="20" dirty="0"/>
              <a:t> </a:t>
            </a:r>
            <a:r>
              <a:rPr spc="-10" dirty="0"/>
              <a:t>[1-</a:t>
            </a:r>
            <a:r>
              <a:rPr spc="-25" dirty="0"/>
              <a:t>2]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spc="-25" dirty="0"/>
              <a:t>12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1618" y="904990"/>
            <a:ext cx="11100435" cy="468630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94310" marR="457200" indent="-181610">
              <a:lnSpc>
                <a:spcPts val="1939"/>
              </a:lnSpc>
              <a:spcBef>
                <a:spcPts val="345"/>
              </a:spcBef>
              <a:buSzPct val="80555"/>
              <a:buFont typeface="Corbel"/>
              <a:buChar char="•"/>
              <a:tabLst>
                <a:tab pos="195580" algn="l"/>
              </a:tabLst>
            </a:pP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JSTL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tag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library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helps</a:t>
            </a:r>
            <a:r>
              <a:rPr sz="1800" spc="-40" dirty="0">
                <a:latin typeface="Calisto MT"/>
                <a:cs typeface="Calisto MT"/>
              </a:rPr>
              <a:t> Web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designers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integrate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spc="-40" dirty="0">
                <a:latin typeface="Calisto MT"/>
                <a:cs typeface="Calisto MT"/>
              </a:rPr>
              <a:t>Java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technology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code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into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spc="-60" dirty="0">
                <a:latin typeface="Calisto MT"/>
                <a:cs typeface="Calisto MT"/>
              </a:rPr>
              <a:t>JSP,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by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writing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simple 	code.</a:t>
            </a:r>
            <a:endParaRPr sz="1800">
              <a:latin typeface="Calisto MT"/>
              <a:cs typeface="Calisto MT"/>
            </a:endParaRPr>
          </a:p>
          <a:p>
            <a:pPr marL="194310" marR="179070" indent="-181610">
              <a:lnSpc>
                <a:spcPts val="1939"/>
              </a:lnSpc>
              <a:spcBef>
                <a:spcPts val="1415"/>
              </a:spcBef>
              <a:buSzPct val="80555"/>
              <a:buFont typeface="Corbel"/>
              <a:buChar char="•"/>
              <a:tabLst>
                <a:tab pos="195580" algn="l"/>
              </a:tabLst>
            </a:pP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tag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extension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API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JSP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adds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tag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functionalities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language.</a:t>
            </a:r>
            <a:r>
              <a:rPr sz="1800" spc="-6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It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includes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information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on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tag 	</a:t>
            </a:r>
            <a:r>
              <a:rPr sz="1800" dirty="0">
                <a:latin typeface="Calisto MT"/>
                <a:cs typeface="Calisto MT"/>
              </a:rPr>
              <a:t>library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its </a:t>
            </a:r>
            <a:r>
              <a:rPr sz="1800" spc="-10" dirty="0">
                <a:latin typeface="Calisto MT"/>
                <a:cs typeface="Calisto MT"/>
              </a:rPr>
              <a:t>tags.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05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spc="-10" dirty="0">
                <a:latin typeface="Courier New"/>
                <a:cs typeface="Courier New"/>
              </a:rPr>
              <a:t>taglib</a:t>
            </a:r>
            <a:r>
              <a:rPr sz="1800" spc="-65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directive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on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JSP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page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informs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Servlet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that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page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uses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tag</a:t>
            </a:r>
            <a:r>
              <a:rPr sz="1800" spc="-10" dirty="0">
                <a:latin typeface="Calisto MT"/>
                <a:cs typeface="Calisto MT"/>
              </a:rPr>
              <a:t> library.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235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Tag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extension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API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JSP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adds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tag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functionalities</a:t>
            </a:r>
            <a:r>
              <a:rPr sz="1800" spc="-7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language.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85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Tag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interface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defines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lifecycle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methods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be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invoked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at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start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end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spc="-20" dirty="0">
                <a:latin typeface="Calisto MT"/>
                <a:cs typeface="Calisto MT"/>
              </a:rPr>
              <a:t>tag.</a:t>
            </a:r>
            <a:endParaRPr sz="1800">
              <a:latin typeface="Calisto MT"/>
              <a:cs typeface="Calisto MT"/>
            </a:endParaRPr>
          </a:p>
          <a:p>
            <a:pPr marL="193675" marR="173990" indent="-181610">
              <a:lnSpc>
                <a:spcPts val="2000"/>
              </a:lnSpc>
              <a:spcBef>
                <a:spcPts val="1330"/>
              </a:spcBef>
              <a:buSzPct val="80555"/>
              <a:buFont typeface="Corbel"/>
              <a:buChar char="•"/>
              <a:tabLst>
                <a:tab pos="194945" algn="l"/>
              </a:tabLst>
            </a:pP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URI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taglib</a:t>
            </a:r>
            <a:r>
              <a:rPr sz="1800" spc="-65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directive </a:t>
            </a:r>
            <a:r>
              <a:rPr sz="1800" dirty="0">
                <a:latin typeface="Calisto MT"/>
                <a:cs typeface="Calisto MT"/>
              </a:rPr>
              <a:t>points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context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relative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path;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this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path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hosts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components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that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starts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with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spc="-50" dirty="0">
                <a:latin typeface="Calisto MT"/>
                <a:cs typeface="Calisto MT"/>
              </a:rPr>
              <a:t>/ 	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is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called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TLD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resource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path.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40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JSTL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provides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decision-</a:t>
            </a:r>
            <a:r>
              <a:rPr sz="1800" dirty="0">
                <a:latin typeface="Calisto MT"/>
                <a:cs typeface="Calisto MT"/>
              </a:rPr>
              <a:t>making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tags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support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conditions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JSP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page.</a:t>
            </a:r>
            <a:endParaRPr sz="1800">
              <a:latin typeface="Calisto MT"/>
              <a:cs typeface="Calisto MT"/>
            </a:endParaRPr>
          </a:p>
          <a:p>
            <a:pPr marL="193675" marR="5080" indent="-181610">
              <a:lnSpc>
                <a:spcPts val="2000"/>
              </a:lnSpc>
              <a:spcBef>
                <a:spcPts val="1325"/>
              </a:spcBef>
              <a:buSzPct val="80555"/>
              <a:buFont typeface="Corbel"/>
              <a:buChar char="•"/>
              <a:tabLst>
                <a:tab pos="194945" algn="l"/>
              </a:tabLst>
            </a:pP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BodyTag</a:t>
            </a:r>
            <a:r>
              <a:rPr sz="1800" spc="-650" dirty="0">
                <a:latin typeface="Courier New"/>
                <a:cs typeface="Courier New"/>
              </a:rPr>
              <a:t> </a:t>
            </a:r>
            <a:r>
              <a:rPr sz="1800" dirty="0">
                <a:latin typeface="Calisto MT"/>
                <a:cs typeface="Calisto MT"/>
              </a:rPr>
              <a:t>interface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extends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IterationTag</a:t>
            </a:r>
            <a:r>
              <a:rPr sz="1800" spc="-640" dirty="0">
                <a:latin typeface="Courier New"/>
                <a:cs typeface="Courier New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adds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new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functionality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that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lets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tag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handler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evaluate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its 	</a:t>
            </a:r>
            <a:r>
              <a:rPr sz="1800" dirty="0">
                <a:latin typeface="Calisto MT"/>
                <a:cs typeface="Calisto MT"/>
              </a:rPr>
              <a:t>body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content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temporary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buffer.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55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JSTL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is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based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on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XML,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which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is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very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similar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HTML.</a:t>
            </a:r>
            <a:endParaRPr sz="1800">
              <a:latin typeface="Calisto MT"/>
              <a:cs typeface="Calisto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Summary</a:t>
            </a:r>
            <a:r>
              <a:rPr spc="20" dirty="0"/>
              <a:t> </a:t>
            </a:r>
            <a:r>
              <a:rPr spc="-10" dirty="0"/>
              <a:t>[2-</a:t>
            </a:r>
            <a:r>
              <a:rPr spc="-25" dirty="0"/>
              <a:t>2]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spc="-25" dirty="0"/>
              <a:t>13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1618" y="904990"/>
            <a:ext cx="10984230" cy="3411854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94310" marR="320040" indent="-181610">
              <a:lnSpc>
                <a:spcPts val="1939"/>
              </a:lnSpc>
              <a:spcBef>
                <a:spcPts val="345"/>
              </a:spcBef>
              <a:buSzPct val="80555"/>
              <a:buFont typeface="Corbel"/>
              <a:buChar char="•"/>
              <a:tabLst>
                <a:tab pos="195580" algn="l"/>
              </a:tabLst>
            </a:pP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use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8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tag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libraries,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such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as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JSTL,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helps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people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spc="-20" dirty="0">
                <a:latin typeface="Calisto MT"/>
                <a:cs typeface="Calisto MT"/>
              </a:rPr>
              <a:t>involved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application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development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focus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on</a:t>
            </a:r>
            <a:r>
              <a:rPr sz="1800" spc="-10" dirty="0">
                <a:latin typeface="Calisto MT"/>
                <a:cs typeface="Calisto MT"/>
              </a:rPr>
              <a:t> their 	</a:t>
            </a:r>
            <a:r>
              <a:rPr sz="1800" dirty="0">
                <a:latin typeface="Calisto MT"/>
                <a:cs typeface="Calisto MT"/>
              </a:rPr>
              <a:t>area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7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expertise.</a:t>
            </a:r>
            <a:endParaRPr sz="1800">
              <a:latin typeface="Calisto MT"/>
              <a:cs typeface="Calisto MT"/>
            </a:endParaRPr>
          </a:p>
          <a:p>
            <a:pPr marL="194310" marR="5080" indent="-181610">
              <a:lnSpc>
                <a:spcPts val="1939"/>
              </a:lnSpc>
              <a:spcBef>
                <a:spcPts val="1415"/>
              </a:spcBef>
              <a:buSzPct val="80555"/>
              <a:buFont typeface="Corbel"/>
              <a:buChar char="•"/>
              <a:tabLst>
                <a:tab pos="195580" algn="l"/>
              </a:tabLst>
            </a:pPr>
            <a:r>
              <a:rPr sz="1800" dirty="0">
                <a:latin typeface="Calisto MT"/>
                <a:cs typeface="Calisto MT"/>
              </a:rPr>
              <a:t>Internationalization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can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be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defined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as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method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6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designing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application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that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can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be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adapted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region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or 	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language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without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much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change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technology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60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Localization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is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process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making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product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or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service,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language,</a:t>
            </a:r>
            <a:r>
              <a:rPr sz="1800" spc="-6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culture,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local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‘look-and-</a:t>
            </a:r>
            <a:r>
              <a:rPr sz="1800" dirty="0">
                <a:latin typeface="Calisto MT"/>
                <a:cs typeface="Calisto MT"/>
              </a:rPr>
              <a:t>feel’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specific.</a:t>
            </a:r>
            <a:endParaRPr sz="1800">
              <a:latin typeface="Calisto MT"/>
              <a:cs typeface="Calisto MT"/>
            </a:endParaRPr>
          </a:p>
          <a:p>
            <a:pPr marL="194310" marR="525780" indent="-181610">
              <a:lnSpc>
                <a:spcPts val="1939"/>
              </a:lnSpc>
              <a:spcBef>
                <a:spcPts val="1425"/>
              </a:spcBef>
              <a:buSzPct val="80555"/>
              <a:buFont typeface="Corbel"/>
              <a:buChar char="•"/>
              <a:tabLst>
                <a:tab pos="195580" algn="l"/>
              </a:tabLst>
            </a:pPr>
            <a:r>
              <a:rPr sz="1800" dirty="0">
                <a:latin typeface="Calisto MT"/>
                <a:cs typeface="Calisto MT"/>
              </a:rPr>
              <a:t>Internationalization</a:t>
            </a:r>
            <a:r>
              <a:rPr sz="1800" spc="-6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6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server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side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code reduces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task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6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writing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multiple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versions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class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for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different 	locales.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65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Resource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bundles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are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used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achieve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locale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specific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output.</a:t>
            </a:r>
            <a:endParaRPr sz="1800">
              <a:latin typeface="Calisto MT"/>
              <a:cs typeface="Calisto MT"/>
            </a:endParaRPr>
          </a:p>
          <a:p>
            <a:pPr marL="194310" marR="188595" indent="-181610">
              <a:lnSpc>
                <a:spcPts val="1939"/>
              </a:lnSpc>
              <a:spcBef>
                <a:spcPts val="1435"/>
              </a:spcBef>
              <a:buSzPct val="80555"/>
              <a:buFont typeface="Corbel"/>
              <a:buChar char="•"/>
              <a:tabLst>
                <a:tab pos="195580" algn="l"/>
              </a:tabLst>
            </a:pPr>
            <a:r>
              <a:rPr sz="1800" dirty="0">
                <a:latin typeface="Calisto MT"/>
                <a:cs typeface="Calisto MT"/>
              </a:rPr>
              <a:t>Internationalization</a:t>
            </a:r>
            <a:r>
              <a:rPr sz="1800" spc="-6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requires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formatting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6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dates,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numbers,</a:t>
            </a:r>
            <a:r>
              <a:rPr sz="1800" spc="-6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currencies,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messages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with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help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6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resource 	bundle.</a:t>
            </a:r>
            <a:endParaRPr sz="1800">
              <a:latin typeface="Calisto MT"/>
              <a:cs typeface="Calisto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810</Words>
  <Application>Microsoft Office PowerPoint</Application>
  <PresentationFormat>Widescreen</PresentationFormat>
  <Paragraphs>154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Algerian</vt:lpstr>
      <vt:lpstr>Arial</vt:lpstr>
      <vt:lpstr>Arial Black</vt:lpstr>
      <vt:lpstr>Arial Rounded MT Bold</vt:lpstr>
      <vt:lpstr>Calibri</vt:lpstr>
      <vt:lpstr>Calisto MT</vt:lpstr>
      <vt:lpstr>Corbel</vt:lpstr>
      <vt:lpstr>Courier New</vt:lpstr>
      <vt:lpstr>Times New Roman</vt:lpstr>
      <vt:lpstr>Office Theme</vt:lpstr>
      <vt:lpstr>Jakarta Server Pages</vt:lpstr>
      <vt:lpstr>Objectives</vt:lpstr>
      <vt:lpstr>Introduction</vt:lpstr>
      <vt:lpstr>jakarta.servlet.jsp.tagext</vt:lpstr>
      <vt:lpstr>Core Tag Library</vt:lpstr>
      <vt:lpstr>SQL Tag Library</vt:lpstr>
      <vt:lpstr>Internationalization and Localization</vt:lpstr>
      <vt:lpstr>Unicode</vt:lpstr>
      <vt:lpstr>Locale</vt:lpstr>
      <vt:lpstr>Resource Bundles</vt:lpstr>
      <vt:lpstr>Formatting in Servlets</vt:lpstr>
      <vt:lpstr>Summary [1-2]</vt:lpstr>
      <vt:lpstr>Summary [2-2]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Aptech Limited</dc:creator>
  <cp:lastModifiedBy>Hoang Duc Quang</cp:lastModifiedBy>
  <cp:revision>10</cp:revision>
  <dcterms:created xsi:type="dcterms:W3CDTF">2025-10-19T10:33:49Z</dcterms:created>
  <dcterms:modified xsi:type="dcterms:W3CDTF">2025-10-20T01:26:27Z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2024-07-10T00:00:00Z</vt:filetime>
  </property>
  <property fmtid="{D5CDD505-2E9C-101B-9397-08002B2CF9AE}" pid="3" name="Creator">
    <vt:lpwstr>Acrobat PDFMaker 24 for PowerPoint</vt:lpwstr>
  </property>
  <property fmtid="{D5CDD505-2E9C-101B-9397-08002B2CF9AE}" pid="4" name="EBX_PUBLISHER">
    <vt:lpwstr>Aptech</vt:lpwstr>
  </property>
  <property fmtid="{D5CDD505-2E9C-101B-9397-08002B2CF9AE}" pid="5" name="LastSaved">
    <vt:filetime>2025-10-19T00:00:00Z</vt:filetime>
  </property>
  <property fmtid="{D5CDD505-2E9C-101B-9397-08002B2CF9AE}" pid="6" name="Producer">
    <vt:lpwstr>Adobe PDF Library 24.2.159</vt:lpwstr>
  </property>
</Properties>
</file>