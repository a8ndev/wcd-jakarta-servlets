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jp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41.jp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2812415" cy="110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4</a:t>
            </a:r>
            <a:endParaRPr sz="2400">
              <a:latin typeface="Algerian"/>
              <a:cs typeface="Algerian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Jakarta</a:t>
            </a:r>
            <a:r>
              <a:rPr sz="2400" spc="5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Servlets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58" y="542797"/>
            <a:ext cx="8285480" cy="554736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API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architecture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 </a:t>
            </a:r>
            <a:r>
              <a:rPr sz="1800" spc="-10" dirty="0">
                <a:latin typeface="Calisto MT"/>
                <a:cs typeface="Calisto MT"/>
              </a:rPr>
              <a:t>lifecycle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mapping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specifications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2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20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ServletRequest</a:t>
            </a:r>
            <a:r>
              <a:rPr sz="1800" spc="-63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HttpServletRequest</a:t>
            </a:r>
            <a:r>
              <a:rPr sz="1800" spc="-6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20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ServletResponse</a:t>
            </a:r>
            <a:r>
              <a:rPr sz="1800" spc="-64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 </a:t>
            </a:r>
            <a:r>
              <a:rPr sz="1800" spc="-10" dirty="0">
                <a:latin typeface="Courier New"/>
                <a:cs typeface="Courier New"/>
              </a:rPr>
              <a:t>HttpServletResponse</a:t>
            </a:r>
            <a:r>
              <a:rPr sz="1800" spc="-6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5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headers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read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text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binary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request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3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ServletConfig</a:t>
            </a:r>
            <a:r>
              <a:rPr sz="1800" spc="-63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ServletContext</a:t>
            </a:r>
            <a:r>
              <a:rPr sz="1800" spc="-6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4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context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Attribute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redirection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requests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10" dirty="0">
                <a:latin typeface="Calisto MT"/>
                <a:cs typeface="Calisto MT"/>
              </a:rPr>
              <a:t> RequestDispatcher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error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uploading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technology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0572" y="1368552"/>
            <a:ext cx="1577339" cy="1609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2385" y="1910821"/>
            <a:ext cx="991869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287655">
              <a:lnSpc>
                <a:spcPts val="1660"/>
              </a:lnSpc>
              <a:spcBef>
                <a:spcPts val="365"/>
              </a:spcBef>
            </a:pPr>
            <a:r>
              <a:rPr sz="1600" spc="-25" dirty="0">
                <a:latin typeface="Calisto MT"/>
                <a:cs typeface="Calisto MT"/>
              </a:rPr>
              <a:t>Web </a:t>
            </a:r>
            <a:r>
              <a:rPr sz="1600" spc="-10" dirty="0">
                <a:latin typeface="Calisto MT"/>
                <a:cs typeface="Calisto MT"/>
              </a:rPr>
              <a:t>component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9164" y="1331975"/>
            <a:ext cx="1577339" cy="168097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46083" y="1910821"/>
            <a:ext cx="1243965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17804" marR="5080" indent="-205740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latin typeface="Calisto MT"/>
                <a:cs typeface="Calisto MT"/>
              </a:rPr>
              <a:t>Managed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by</a:t>
            </a:r>
            <a:r>
              <a:rPr sz="1600" spc="-50" dirty="0">
                <a:latin typeface="Calisto MT"/>
                <a:cs typeface="Calisto MT"/>
              </a:rPr>
              <a:t> a </a:t>
            </a:r>
            <a:r>
              <a:rPr sz="1600" spc="-10" dirty="0">
                <a:latin typeface="Calisto MT"/>
                <a:cs typeface="Calisto MT"/>
              </a:rPr>
              <a:t>container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67755" y="1331975"/>
            <a:ext cx="1577339" cy="16809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09990" y="1805284"/>
            <a:ext cx="891540" cy="6908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ctr">
              <a:lnSpc>
                <a:spcPct val="86600"/>
              </a:lnSpc>
              <a:spcBef>
                <a:spcPts val="350"/>
              </a:spcBef>
            </a:pPr>
            <a:r>
              <a:rPr sz="1600" spc="-10" dirty="0">
                <a:latin typeface="Calisto MT"/>
                <a:cs typeface="Calisto MT"/>
              </a:rPr>
              <a:t>Generates dynamic content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56347" y="1331975"/>
            <a:ext cx="1577339" cy="168097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601105" y="1910821"/>
            <a:ext cx="1085850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123189">
              <a:lnSpc>
                <a:spcPts val="1660"/>
              </a:lnSpc>
              <a:spcBef>
                <a:spcPts val="365"/>
              </a:spcBef>
            </a:pPr>
            <a:r>
              <a:rPr sz="1600" spc="-10" dirty="0">
                <a:latin typeface="Calisto MT"/>
                <a:cs typeface="Calisto MT"/>
              </a:rPr>
              <a:t>Platform- independent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44940" y="1331975"/>
            <a:ext cx="1578863" cy="168097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297376" y="1910821"/>
            <a:ext cx="1071880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258445">
              <a:lnSpc>
                <a:spcPts val="1660"/>
              </a:lnSpc>
              <a:spcBef>
                <a:spcPts val="365"/>
              </a:spcBef>
            </a:pPr>
            <a:r>
              <a:rPr sz="1600" spc="-10" dirty="0">
                <a:latin typeface="Calisto MT"/>
                <a:cs typeface="Calisto MT"/>
              </a:rPr>
              <a:t>Loads </a:t>
            </a:r>
            <a:r>
              <a:rPr sz="1600" spc="-20" dirty="0">
                <a:latin typeface="Calisto MT"/>
                <a:cs typeface="Calisto MT"/>
              </a:rPr>
              <a:t>dynamically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0895" y="906720"/>
            <a:ext cx="7677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sto MT"/>
                <a:cs typeface="Calisto MT"/>
              </a:rPr>
              <a:t>Servlet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73281" y="3759246"/>
            <a:ext cx="19126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sto MT"/>
                <a:cs typeface="Calisto MT"/>
              </a:rPr>
              <a:t>Servlet</a:t>
            </a:r>
            <a:r>
              <a:rPr sz="2000" spc="10" dirty="0">
                <a:latin typeface="Calisto MT"/>
                <a:cs typeface="Calisto MT"/>
              </a:rPr>
              <a:t> </a:t>
            </a:r>
            <a:r>
              <a:rPr sz="2000" spc="-10" dirty="0">
                <a:latin typeface="Calisto MT"/>
                <a:cs typeface="Calisto MT"/>
              </a:rPr>
              <a:t>Container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62911" y="4334255"/>
            <a:ext cx="1477010" cy="1908175"/>
            <a:chOff x="1962911" y="4334255"/>
            <a:chExt cx="1477010" cy="190817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62911" y="4334255"/>
              <a:ext cx="1476755" cy="19080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37588" y="4849368"/>
              <a:ext cx="1383791" cy="9128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181241" y="4894713"/>
            <a:ext cx="1040765" cy="6908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56515" marR="5080" indent="-44450" algn="just">
              <a:lnSpc>
                <a:spcPct val="86600"/>
              </a:lnSpc>
              <a:spcBef>
                <a:spcPts val="350"/>
              </a:spcBef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Implements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requests</a:t>
            </a:r>
            <a:r>
              <a:rPr sz="16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sto MT"/>
                <a:cs typeface="Calisto MT"/>
              </a:rPr>
              <a:t>or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responses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65576" y="4334255"/>
            <a:ext cx="1477010" cy="1908175"/>
            <a:chOff x="3465576" y="4334255"/>
            <a:chExt cx="1477010" cy="190817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65576" y="4334255"/>
              <a:ext cx="1476755" cy="190804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75888" y="4849368"/>
              <a:ext cx="1106423" cy="9128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820589" y="4894713"/>
            <a:ext cx="765175" cy="6908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80645" marR="5080" indent="-68580">
              <a:lnSpc>
                <a:spcPts val="1660"/>
              </a:lnSpc>
              <a:spcBef>
                <a:spcPts val="365"/>
              </a:spcBef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Decodes </a:t>
            </a: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MIME</a:t>
            </a:r>
            <a:endParaRPr sz="1600">
              <a:latin typeface="Calisto MT"/>
              <a:cs typeface="Calisto MT"/>
            </a:endParaRPr>
          </a:p>
          <a:p>
            <a:pPr marL="36830">
              <a:lnSpc>
                <a:spcPts val="1650"/>
              </a:lnSpc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requests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66715" y="4334255"/>
            <a:ext cx="1477010" cy="1908175"/>
            <a:chOff x="4966715" y="4334255"/>
            <a:chExt cx="1477010" cy="190817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6715" y="4334255"/>
              <a:ext cx="1476755" cy="190804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61788" y="4849368"/>
              <a:ext cx="1141475" cy="91287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306012" y="4894713"/>
            <a:ext cx="798830" cy="6908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ctr">
              <a:lnSpc>
                <a:spcPct val="86600"/>
              </a:lnSpc>
              <a:spcBef>
                <a:spcPts val="350"/>
              </a:spcBef>
            </a:pP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Manages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servelet lifecycle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469379" y="4334255"/>
            <a:ext cx="1506220" cy="1908175"/>
            <a:chOff x="6469379" y="4334255"/>
            <a:chExt cx="1506220" cy="190817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69379" y="4334255"/>
              <a:ext cx="1476755" cy="190804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93763" y="4639055"/>
              <a:ext cx="1481326" cy="13334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637442" y="4683639"/>
            <a:ext cx="1139825" cy="11131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-1270" algn="ctr">
              <a:lnSpc>
                <a:spcPct val="86600"/>
              </a:lnSpc>
              <a:spcBef>
                <a:spcPts val="350"/>
              </a:spcBef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Built/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installed</a:t>
            </a:r>
            <a:r>
              <a:rPr sz="16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6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a Web-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enabled application server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972043" y="4334255"/>
            <a:ext cx="1477010" cy="1908175"/>
            <a:chOff x="7972043" y="4334255"/>
            <a:chExt cx="1477010" cy="1908175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72043" y="4334255"/>
              <a:ext cx="1476755" cy="190804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70164" y="4849368"/>
              <a:ext cx="1130807" cy="91287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8314961" y="4894713"/>
            <a:ext cx="789305" cy="6908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17475" marR="5080" indent="-105410">
              <a:lnSpc>
                <a:spcPts val="1660"/>
              </a:lnSpc>
              <a:spcBef>
                <a:spcPts val="365"/>
              </a:spcBef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Supports </a:t>
            </a: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HTTP</a:t>
            </a:r>
            <a:endParaRPr sz="1600">
              <a:latin typeface="Calisto MT"/>
              <a:cs typeface="Calisto MT"/>
            </a:endParaRPr>
          </a:p>
          <a:p>
            <a:pPr marL="36830">
              <a:lnSpc>
                <a:spcPts val="1650"/>
              </a:lnSpc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protocol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473183" y="4334255"/>
            <a:ext cx="1477010" cy="1908175"/>
            <a:chOff x="9473183" y="4334255"/>
            <a:chExt cx="1477010" cy="1908175"/>
          </a:xfrm>
        </p:grpSpPr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3183" y="4334255"/>
              <a:ext cx="1476755" cy="190804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12807" y="4849368"/>
              <a:ext cx="1397507" cy="91287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657150" y="4894713"/>
            <a:ext cx="1108710" cy="6908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065" marR="5080" algn="ctr">
              <a:lnSpc>
                <a:spcPct val="86600"/>
              </a:lnSpc>
              <a:spcBef>
                <a:spcPts val="350"/>
              </a:spcBef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Controls servlet </a:t>
            </a: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environment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Servlet</a:t>
            </a:r>
            <a:r>
              <a:rPr spc="20" dirty="0"/>
              <a:t> </a:t>
            </a:r>
            <a:r>
              <a:rPr spc="-25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3721" y="1308667"/>
            <a:ext cx="3256915" cy="5035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12420" marR="5080" indent="-300355">
              <a:lnSpc>
                <a:spcPts val="1850"/>
              </a:lnSpc>
              <a:spcBef>
                <a:spcPts val="215"/>
              </a:spcBef>
            </a:pPr>
            <a:r>
              <a:rPr sz="1600" dirty="0">
                <a:latin typeface="Calisto MT"/>
                <a:cs typeface="Calisto MT"/>
              </a:rPr>
              <a:t>Packages</a:t>
            </a:r>
            <a:r>
              <a:rPr sz="1600" spc="-6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containing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classes</a:t>
            </a:r>
            <a:r>
              <a:rPr sz="1600" spc="-7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related</a:t>
            </a:r>
            <a:r>
              <a:rPr sz="1600" spc="-65" dirty="0">
                <a:latin typeface="Calisto MT"/>
                <a:cs typeface="Calisto MT"/>
              </a:rPr>
              <a:t> </a:t>
            </a:r>
            <a:r>
              <a:rPr sz="1600" spc="-35" dirty="0">
                <a:latin typeface="Calisto MT"/>
                <a:cs typeface="Calisto MT"/>
              </a:rPr>
              <a:t>to </a:t>
            </a:r>
            <a:r>
              <a:rPr sz="1600" spc="-10" dirty="0">
                <a:latin typeface="Calisto MT"/>
                <a:cs typeface="Calisto MT"/>
              </a:rPr>
              <a:t>developing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and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managing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Servlets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47282" y="1123950"/>
            <a:ext cx="436245" cy="894715"/>
          </a:xfrm>
          <a:custGeom>
            <a:avLst/>
            <a:gdLst/>
            <a:ahLst/>
            <a:cxnLst/>
            <a:rect l="l" t="t" r="r" b="b"/>
            <a:pathLst>
              <a:path w="436245" h="894714">
                <a:moveTo>
                  <a:pt x="435863" y="894588"/>
                </a:moveTo>
                <a:lnTo>
                  <a:pt x="377929" y="889138"/>
                </a:lnTo>
                <a:lnTo>
                  <a:pt x="325870" y="873760"/>
                </a:lnTo>
                <a:lnTo>
                  <a:pt x="281763" y="849906"/>
                </a:lnTo>
                <a:lnTo>
                  <a:pt x="247686" y="819031"/>
                </a:lnTo>
                <a:lnTo>
                  <a:pt x="225716" y="782589"/>
                </a:lnTo>
                <a:lnTo>
                  <a:pt x="217931" y="742035"/>
                </a:lnTo>
                <a:lnTo>
                  <a:pt x="217931" y="599846"/>
                </a:lnTo>
                <a:lnTo>
                  <a:pt x="210147" y="559292"/>
                </a:lnTo>
                <a:lnTo>
                  <a:pt x="188177" y="522850"/>
                </a:lnTo>
                <a:lnTo>
                  <a:pt x="154100" y="491975"/>
                </a:lnTo>
                <a:lnTo>
                  <a:pt x="109993" y="468122"/>
                </a:lnTo>
                <a:lnTo>
                  <a:pt x="57934" y="452743"/>
                </a:lnTo>
                <a:lnTo>
                  <a:pt x="0" y="447294"/>
                </a:lnTo>
                <a:lnTo>
                  <a:pt x="57934" y="441844"/>
                </a:lnTo>
                <a:lnTo>
                  <a:pt x="109993" y="426466"/>
                </a:lnTo>
                <a:lnTo>
                  <a:pt x="154100" y="402612"/>
                </a:lnTo>
                <a:lnTo>
                  <a:pt x="188177" y="371737"/>
                </a:lnTo>
                <a:lnTo>
                  <a:pt x="210147" y="335295"/>
                </a:lnTo>
                <a:lnTo>
                  <a:pt x="217931" y="294741"/>
                </a:lnTo>
                <a:lnTo>
                  <a:pt x="217931" y="152552"/>
                </a:lnTo>
                <a:lnTo>
                  <a:pt x="225716" y="111998"/>
                </a:lnTo>
                <a:lnTo>
                  <a:pt x="247686" y="75556"/>
                </a:lnTo>
                <a:lnTo>
                  <a:pt x="281763" y="44681"/>
                </a:lnTo>
                <a:lnTo>
                  <a:pt x="325870" y="20828"/>
                </a:lnTo>
                <a:lnTo>
                  <a:pt x="377929" y="5449"/>
                </a:lnTo>
                <a:lnTo>
                  <a:pt x="435863" y="0"/>
                </a:lnTo>
              </a:path>
            </a:pathLst>
          </a:custGeom>
          <a:ln w="19050">
            <a:solidFill>
              <a:srgbClr val="8391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8395" y="1120140"/>
            <a:ext cx="3243070" cy="9022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37582" y="1244785"/>
            <a:ext cx="2941320" cy="57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ts val="2155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sz="1800" spc="-10" dirty="0">
                <a:latin typeface="Courier New"/>
                <a:cs typeface="Courier New"/>
              </a:rPr>
              <a:t>jakarta.servlet</a:t>
            </a:r>
            <a:endParaRPr sz="1800">
              <a:latin typeface="Courier New"/>
              <a:cs typeface="Courier New"/>
            </a:endParaRPr>
          </a:p>
          <a:p>
            <a:pPr marL="184785" indent="-172085">
              <a:lnSpc>
                <a:spcPts val="2155"/>
              </a:lnSpc>
              <a:buFont typeface="Arial"/>
              <a:buChar char="•"/>
              <a:tabLst>
                <a:tab pos="184785" algn="l"/>
              </a:tabLst>
            </a:pPr>
            <a:r>
              <a:rPr sz="1800" spc="-10" dirty="0">
                <a:latin typeface="Courier New"/>
                <a:cs typeface="Courier New"/>
              </a:rPr>
              <a:t>jakarta.servlet.http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9867" y="2918460"/>
            <a:ext cx="6426707" cy="338783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94036" y="2503427"/>
            <a:ext cx="1718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Hierarchy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3092" y="2503427"/>
            <a:ext cx="2463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GenericServlet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56029" y="3257170"/>
            <a:ext cx="2300605" cy="2005330"/>
            <a:chOff x="1756029" y="3257170"/>
            <a:chExt cx="2300605" cy="2005330"/>
          </a:xfrm>
        </p:grpSpPr>
        <p:sp>
          <p:nvSpPr>
            <p:cNvPr id="11" name="object 11"/>
            <p:cNvSpPr/>
            <p:nvPr/>
          </p:nvSpPr>
          <p:spPr>
            <a:xfrm>
              <a:off x="1765554" y="3266695"/>
              <a:ext cx="2281555" cy="640080"/>
            </a:xfrm>
            <a:custGeom>
              <a:avLst/>
              <a:gdLst/>
              <a:ahLst/>
              <a:cxnLst/>
              <a:rect l="l" t="t" r="r" b="b"/>
              <a:pathLst>
                <a:path w="2281554" h="640079">
                  <a:moveTo>
                    <a:pt x="2054504" y="0"/>
                  </a:moveTo>
                  <a:lnTo>
                    <a:pt x="226923" y="0"/>
                  </a:lnTo>
                  <a:lnTo>
                    <a:pt x="166599" y="3810"/>
                  </a:lnTo>
                  <a:lnTo>
                    <a:pt x="112392" y="14565"/>
                  </a:lnTo>
                  <a:lnTo>
                    <a:pt x="66465" y="31246"/>
                  </a:lnTo>
                  <a:lnTo>
                    <a:pt x="30982" y="52837"/>
                  </a:lnTo>
                  <a:lnTo>
                    <a:pt x="0" y="106679"/>
                  </a:lnTo>
                  <a:lnTo>
                    <a:pt x="0" y="533399"/>
                  </a:lnTo>
                  <a:lnTo>
                    <a:pt x="30982" y="587242"/>
                  </a:lnTo>
                  <a:lnTo>
                    <a:pt x="66465" y="608833"/>
                  </a:lnTo>
                  <a:lnTo>
                    <a:pt x="112392" y="625514"/>
                  </a:lnTo>
                  <a:lnTo>
                    <a:pt x="166599" y="636269"/>
                  </a:lnTo>
                  <a:lnTo>
                    <a:pt x="226923" y="640079"/>
                  </a:lnTo>
                  <a:lnTo>
                    <a:pt x="2054504" y="640079"/>
                  </a:lnTo>
                  <a:lnTo>
                    <a:pt x="2114828" y="636269"/>
                  </a:lnTo>
                  <a:lnTo>
                    <a:pt x="2169035" y="625514"/>
                  </a:lnTo>
                  <a:lnTo>
                    <a:pt x="2214962" y="608833"/>
                  </a:lnTo>
                  <a:lnTo>
                    <a:pt x="2250445" y="587242"/>
                  </a:lnTo>
                  <a:lnTo>
                    <a:pt x="2281428" y="533399"/>
                  </a:lnTo>
                  <a:lnTo>
                    <a:pt x="2281428" y="106679"/>
                  </a:lnTo>
                  <a:lnTo>
                    <a:pt x="2250445" y="52837"/>
                  </a:lnTo>
                  <a:lnTo>
                    <a:pt x="2214962" y="31246"/>
                  </a:lnTo>
                  <a:lnTo>
                    <a:pt x="2169035" y="14565"/>
                  </a:lnTo>
                  <a:lnTo>
                    <a:pt x="2114828" y="3810"/>
                  </a:lnTo>
                  <a:lnTo>
                    <a:pt x="2054504" y="0"/>
                  </a:lnTo>
                  <a:close/>
                </a:path>
              </a:pathLst>
            </a:custGeom>
            <a:solidFill>
              <a:srgbClr val="D2E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5554" y="3266695"/>
              <a:ext cx="2281555" cy="640080"/>
            </a:xfrm>
            <a:custGeom>
              <a:avLst/>
              <a:gdLst/>
              <a:ahLst/>
              <a:cxnLst/>
              <a:rect l="l" t="t" r="r" b="b"/>
              <a:pathLst>
                <a:path w="2281554" h="640079">
                  <a:moveTo>
                    <a:pt x="0" y="106679"/>
                  </a:moveTo>
                  <a:lnTo>
                    <a:pt x="30982" y="52837"/>
                  </a:lnTo>
                  <a:lnTo>
                    <a:pt x="66465" y="31246"/>
                  </a:lnTo>
                  <a:lnTo>
                    <a:pt x="112392" y="14565"/>
                  </a:lnTo>
                  <a:lnTo>
                    <a:pt x="166599" y="3810"/>
                  </a:lnTo>
                  <a:lnTo>
                    <a:pt x="226923" y="0"/>
                  </a:lnTo>
                  <a:lnTo>
                    <a:pt x="2054504" y="0"/>
                  </a:lnTo>
                  <a:lnTo>
                    <a:pt x="2114828" y="3810"/>
                  </a:lnTo>
                  <a:lnTo>
                    <a:pt x="2169035" y="14565"/>
                  </a:lnTo>
                  <a:lnTo>
                    <a:pt x="2214962" y="31246"/>
                  </a:lnTo>
                  <a:lnTo>
                    <a:pt x="2250445" y="52837"/>
                  </a:lnTo>
                  <a:lnTo>
                    <a:pt x="2281428" y="106679"/>
                  </a:lnTo>
                  <a:lnTo>
                    <a:pt x="2281428" y="533399"/>
                  </a:lnTo>
                  <a:lnTo>
                    <a:pt x="2250445" y="587242"/>
                  </a:lnTo>
                  <a:lnTo>
                    <a:pt x="2214962" y="608833"/>
                  </a:lnTo>
                  <a:lnTo>
                    <a:pt x="2169035" y="625514"/>
                  </a:lnTo>
                  <a:lnTo>
                    <a:pt x="2114828" y="636269"/>
                  </a:lnTo>
                  <a:lnTo>
                    <a:pt x="2054504" y="640079"/>
                  </a:lnTo>
                  <a:lnTo>
                    <a:pt x="226923" y="640079"/>
                  </a:lnTo>
                  <a:lnTo>
                    <a:pt x="166599" y="636269"/>
                  </a:lnTo>
                  <a:lnTo>
                    <a:pt x="112392" y="625514"/>
                  </a:lnTo>
                  <a:lnTo>
                    <a:pt x="66465" y="608833"/>
                  </a:lnTo>
                  <a:lnTo>
                    <a:pt x="30982" y="587242"/>
                  </a:lnTo>
                  <a:lnTo>
                    <a:pt x="0" y="533399"/>
                  </a:lnTo>
                  <a:lnTo>
                    <a:pt x="0" y="106679"/>
                  </a:lnTo>
                  <a:close/>
                </a:path>
              </a:pathLst>
            </a:custGeom>
            <a:ln w="19049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5554" y="3938779"/>
              <a:ext cx="2281555" cy="641985"/>
            </a:xfrm>
            <a:custGeom>
              <a:avLst/>
              <a:gdLst/>
              <a:ahLst/>
              <a:cxnLst/>
              <a:rect l="l" t="t" r="r" b="b"/>
              <a:pathLst>
                <a:path w="2281554" h="641985">
                  <a:moveTo>
                    <a:pt x="2054504" y="0"/>
                  </a:moveTo>
                  <a:lnTo>
                    <a:pt x="226923" y="0"/>
                  </a:lnTo>
                  <a:lnTo>
                    <a:pt x="166599" y="3819"/>
                  </a:lnTo>
                  <a:lnTo>
                    <a:pt x="112392" y="14600"/>
                  </a:lnTo>
                  <a:lnTo>
                    <a:pt x="66465" y="31321"/>
                  </a:lnTo>
                  <a:lnTo>
                    <a:pt x="30982" y="52963"/>
                  </a:lnTo>
                  <a:lnTo>
                    <a:pt x="0" y="106933"/>
                  </a:lnTo>
                  <a:lnTo>
                    <a:pt x="0" y="534669"/>
                  </a:lnTo>
                  <a:lnTo>
                    <a:pt x="30982" y="588640"/>
                  </a:lnTo>
                  <a:lnTo>
                    <a:pt x="66465" y="610282"/>
                  </a:lnTo>
                  <a:lnTo>
                    <a:pt x="112392" y="627003"/>
                  </a:lnTo>
                  <a:lnTo>
                    <a:pt x="166599" y="637784"/>
                  </a:lnTo>
                  <a:lnTo>
                    <a:pt x="226923" y="641603"/>
                  </a:lnTo>
                  <a:lnTo>
                    <a:pt x="2054504" y="641603"/>
                  </a:lnTo>
                  <a:lnTo>
                    <a:pt x="2114828" y="637784"/>
                  </a:lnTo>
                  <a:lnTo>
                    <a:pt x="2169035" y="627003"/>
                  </a:lnTo>
                  <a:lnTo>
                    <a:pt x="2214962" y="610282"/>
                  </a:lnTo>
                  <a:lnTo>
                    <a:pt x="2250445" y="588640"/>
                  </a:lnTo>
                  <a:lnTo>
                    <a:pt x="2281428" y="534669"/>
                  </a:lnTo>
                  <a:lnTo>
                    <a:pt x="2281428" y="106933"/>
                  </a:lnTo>
                  <a:lnTo>
                    <a:pt x="2250445" y="52963"/>
                  </a:lnTo>
                  <a:lnTo>
                    <a:pt x="2214962" y="31321"/>
                  </a:lnTo>
                  <a:lnTo>
                    <a:pt x="2169035" y="14600"/>
                  </a:lnTo>
                  <a:lnTo>
                    <a:pt x="2114828" y="3819"/>
                  </a:lnTo>
                  <a:lnTo>
                    <a:pt x="2054504" y="0"/>
                  </a:lnTo>
                  <a:close/>
                </a:path>
              </a:pathLst>
            </a:custGeom>
            <a:solidFill>
              <a:srgbClr val="FFD7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65554" y="3938779"/>
              <a:ext cx="2281555" cy="641985"/>
            </a:xfrm>
            <a:custGeom>
              <a:avLst/>
              <a:gdLst/>
              <a:ahLst/>
              <a:cxnLst/>
              <a:rect l="l" t="t" r="r" b="b"/>
              <a:pathLst>
                <a:path w="2281554" h="641985">
                  <a:moveTo>
                    <a:pt x="0" y="106933"/>
                  </a:moveTo>
                  <a:lnTo>
                    <a:pt x="30982" y="52963"/>
                  </a:lnTo>
                  <a:lnTo>
                    <a:pt x="66465" y="31321"/>
                  </a:lnTo>
                  <a:lnTo>
                    <a:pt x="112392" y="14600"/>
                  </a:lnTo>
                  <a:lnTo>
                    <a:pt x="166599" y="3819"/>
                  </a:lnTo>
                  <a:lnTo>
                    <a:pt x="226923" y="0"/>
                  </a:lnTo>
                  <a:lnTo>
                    <a:pt x="2054504" y="0"/>
                  </a:lnTo>
                  <a:lnTo>
                    <a:pt x="2114828" y="3819"/>
                  </a:lnTo>
                  <a:lnTo>
                    <a:pt x="2169035" y="14600"/>
                  </a:lnTo>
                  <a:lnTo>
                    <a:pt x="2214962" y="31321"/>
                  </a:lnTo>
                  <a:lnTo>
                    <a:pt x="2250445" y="52963"/>
                  </a:lnTo>
                  <a:lnTo>
                    <a:pt x="2281428" y="106933"/>
                  </a:lnTo>
                  <a:lnTo>
                    <a:pt x="2281428" y="534669"/>
                  </a:lnTo>
                  <a:lnTo>
                    <a:pt x="2250445" y="588640"/>
                  </a:lnTo>
                  <a:lnTo>
                    <a:pt x="2214962" y="610282"/>
                  </a:lnTo>
                  <a:lnTo>
                    <a:pt x="2169035" y="627003"/>
                  </a:lnTo>
                  <a:lnTo>
                    <a:pt x="2114828" y="637784"/>
                  </a:lnTo>
                  <a:lnTo>
                    <a:pt x="2054504" y="641603"/>
                  </a:lnTo>
                  <a:lnTo>
                    <a:pt x="226923" y="641603"/>
                  </a:lnTo>
                  <a:lnTo>
                    <a:pt x="166599" y="637784"/>
                  </a:lnTo>
                  <a:lnTo>
                    <a:pt x="112392" y="627003"/>
                  </a:lnTo>
                  <a:lnTo>
                    <a:pt x="66465" y="610282"/>
                  </a:lnTo>
                  <a:lnTo>
                    <a:pt x="30982" y="588640"/>
                  </a:lnTo>
                  <a:lnTo>
                    <a:pt x="0" y="534669"/>
                  </a:lnTo>
                  <a:lnTo>
                    <a:pt x="0" y="106933"/>
                  </a:lnTo>
                  <a:close/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65554" y="4612387"/>
              <a:ext cx="2281555" cy="640080"/>
            </a:xfrm>
            <a:custGeom>
              <a:avLst/>
              <a:gdLst/>
              <a:ahLst/>
              <a:cxnLst/>
              <a:rect l="l" t="t" r="r" b="b"/>
              <a:pathLst>
                <a:path w="2281554" h="640079">
                  <a:moveTo>
                    <a:pt x="2054504" y="0"/>
                  </a:moveTo>
                  <a:lnTo>
                    <a:pt x="226923" y="0"/>
                  </a:lnTo>
                  <a:lnTo>
                    <a:pt x="166599" y="3810"/>
                  </a:lnTo>
                  <a:lnTo>
                    <a:pt x="112392" y="14565"/>
                  </a:lnTo>
                  <a:lnTo>
                    <a:pt x="66465" y="31246"/>
                  </a:lnTo>
                  <a:lnTo>
                    <a:pt x="30982" y="52837"/>
                  </a:lnTo>
                  <a:lnTo>
                    <a:pt x="0" y="106680"/>
                  </a:lnTo>
                  <a:lnTo>
                    <a:pt x="0" y="533400"/>
                  </a:lnTo>
                  <a:lnTo>
                    <a:pt x="30982" y="587242"/>
                  </a:lnTo>
                  <a:lnTo>
                    <a:pt x="66465" y="608833"/>
                  </a:lnTo>
                  <a:lnTo>
                    <a:pt x="112392" y="625514"/>
                  </a:lnTo>
                  <a:lnTo>
                    <a:pt x="166599" y="636269"/>
                  </a:lnTo>
                  <a:lnTo>
                    <a:pt x="226923" y="640080"/>
                  </a:lnTo>
                  <a:lnTo>
                    <a:pt x="2054504" y="640080"/>
                  </a:lnTo>
                  <a:lnTo>
                    <a:pt x="2114828" y="636269"/>
                  </a:lnTo>
                  <a:lnTo>
                    <a:pt x="2169035" y="625514"/>
                  </a:lnTo>
                  <a:lnTo>
                    <a:pt x="2214962" y="608833"/>
                  </a:lnTo>
                  <a:lnTo>
                    <a:pt x="2250445" y="587242"/>
                  </a:lnTo>
                  <a:lnTo>
                    <a:pt x="2281428" y="533400"/>
                  </a:lnTo>
                  <a:lnTo>
                    <a:pt x="2281428" y="106680"/>
                  </a:lnTo>
                  <a:lnTo>
                    <a:pt x="2250445" y="52837"/>
                  </a:lnTo>
                  <a:lnTo>
                    <a:pt x="2214962" y="31246"/>
                  </a:lnTo>
                  <a:lnTo>
                    <a:pt x="2169035" y="14565"/>
                  </a:lnTo>
                  <a:lnTo>
                    <a:pt x="2114828" y="3810"/>
                  </a:lnTo>
                  <a:lnTo>
                    <a:pt x="2054504" y="0"/>
                  </a:lnTo>
                  <a:close/>
                </a:path>
              </a:pathLst>
            </a:custGeom>
            <a:solidFill>
              <a:srgbClr val="B3B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65554" y="4612387"/>
              <a:ext cx="2281555" cy="640080"/>
            </a:xfrm>
            <a:custGeom>
              <a:avLst/>
              <a:gdLst/>
              <a:ahLst/>
              <a:cxnLst/>
              <a:rect l="l" t="t" r="r" b="b"/>
              <a:pathLst>
                <a:path w="2281554" h="640079">
                  <a:moveTo>
                    <a:pt x="0" y="106680"/>
                  </a:moveTo>
                  <a:lnTo>
                    <a:pt x="30982" y="52837"/>
                  </a:lnTo>
                  <a:lnTo>
                    <a:pt x="66465" y="31246"/>
                  </a:lnTo>
                  <a:lnTo>
                    <a:pt x="112392" y="14565"/>
                  </a:lnTo>
                  <a:lnTo>
                    <a:pt x="166599" y="3810"/>
                  </a:lnTo>
                  <a:lnTo>
                    <a:pt x="226923" y="0"/>
                  </a:lnTo>
                  <a:lnTo>
                    <a:pt x="2054504" y="0"/>
                  </a:lnTo>
                  <a:lnTo>
                    <a:pt x="2114828" y="3810"/>
                  </a:lnTo>
                  <a:lnTo>
                    <a:pt x="2169035" y="14565"/>
                  </a:lnTo>
                  <a:lnTo>
                    <a:pt x="2214962" y="31246"/>
                  </a:lnTo>
                  <a:lnTo>
                    <a:pt x="2250445" y="52837"/>
                  </a:lnTo>
                  <a:lnTo>
                    <a:pt x="2281428" y="106680"/>
                  </a:lnTo>
                  <a:lnTo>
                    <a:pt x="2281428" y="533400"/>
                  </a:lnTo>
                  <a:lnTo>
                    <a:pt x="2250445" y="587242"/>
                  </a:lnTo>
                  <a:lnTo>
                    <a:pt x="2214962" y="608833"/>
                  </a:lnTo>
                  <a:lnTo>
                    <a:pt x="2169035" y="625514"/>
                  </a:lnTo>
                  <a:lnTo>
                    <a:pt x="2114828" y="636269"/>
                  </a:lnTo>
                  <a:lnTo>
                    <a:pt x="2054504" y="640080"/>
                  </a:lnTo>
                  <a:lnTo>
                    <a:pt x="226923" y="640080"/>
                  </a:lnTo>
                  <a:lnTo>
                    <a:pt x="166599" y="636269"/>
                  </a:lnTo>
                  <a:lnTo>
                    <a:pt x="112392" y="625514"/>
                  </a:lnTo>
                  <a:lnTo>
                    <a:pt x="66465" y="608833"/>
                  </a:lnTo>
                  <a:lnTo>
                    <a:pt x="30982" y="587242"/>
                  </a:lnTo>
                  <a:lnTo>
                    <a:pt x="0" y="533400"/>
                  </a:lnTo>
                  <a:lnTo>
                    <a:pt x="0" y="106680"/>
                  </a:lnTo>
                  <a:close/>
                </a:path>
              </a:pathLst>
            </a:custGeom>
            <a:ln w="19049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98633" y="3419689"/>
            <a:ext cx="1612265" cy="1614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D1B11"/>
                </a:solidFill>
                <a:latin typeface="Courier New"/>
                <a:cs typeface="Courier New"/>
              </a:rPr>
              <a:t>Servlet</a:t>
            </a:r>
            <a:endParaRPr sz="1600">
              <a:latin typeface="Courier New"/>
              <a:cs typeface="Courier New"/>
            </a:endParaRPr>
          </a:p>
          <a:p>
            <a:pPr marL="12700" marR="5080" algn="ctr">
              <a:lnSpc>
                <a:spcPct val="275900"/>
              </a:lnSpc>
            </a:pPr>
            <a:r>
              <a:rPr sz="1600" spc="-10" dirty="0">
                <a:solidFill>
                  <a:srgbClr val="1D1B11"/>
                </a:solidFill>
                <a:latin typeface="Courier New"/>
                <a:cs typeface="Courier New"/>
              </a:rPr>
              <a:t>ServletConfig Serializable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Servlet</a:t>
            </a:r>
            <a:r>
              <a:rPr spc="20" dirty="0"/>
              <a:t> </a:t>
            </a:r>
            <a:r>
              <a:rPr spc="-10" dirty="0"/>
              <a:t>Lifecycle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2415" y="1975104"/>
            <a:ext cx="2009139" cy="3464560"/>
            <a:chOff x="4852415" y="1975104"/>
            <a:chExt cx="2009139" cy="3464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2415" y="1975104"/>
              <a:ext cx="2008631" cy="34640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4563" y="3462528"/>
              <a:ext cx="1161286" cy="53187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431476" y="3490522"/>
            <a:ext cx="848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init()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926580" y="1975104"/>
            <a:ext cx="2007235" cy="3464560"/>
            <a:chOff x="6926580" y="1975104"/>
            <a:chExt cx="2007235" cy="34645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6580" y="1975104"/>
              <a:ext cx="2007107" cy="34640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2988" y="3462528"/>
              <a:ext cx="1572767" cy="5318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298887" y="3490522"/>
            <a:ext cx="1259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service()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99219" y="1975104"/>
            <a:ext cx="2007235" cy="3464560"/>
            <a:chOff x="8999219" y="1975104"/>
            <a:chExt cx="2007235" cy="346456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9219" y="1975104"/>
              <a:ext cx="2007106" cy="34640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15627" y="3462528"/>
              <a:ext cx="1572767" cy="5318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372042" y="3490522"/>
            <a:ext cx="1259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destroy()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2218" y="1075363"/>
            <a:ext cx="2533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Lifecycle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11224" y="1888235"/>
            <a:ext cx="717804" cy="358444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757762" y="1991556"/>
            <a:ext cx="1515745" cy="1017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51460" algn="l"/>
              </a:tabLst>
            </a:pPr>
            <a:r>
              <a:rPr sz="1800" spc="-10" dirty="0">
                <a:latin typeface="Calisto MT"/>
                <a:cs typeface="Calisto MT"/>
              </a:rPr>
              <a:t>Instantiation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Calisto MT"/>
              <a:buAutoNum type="arabicPeriod"/>
            </a:pPr>
            <a:endParaRPr sz="1800">
              <a:latin typeface="Calisto MT"/>
              <a:cs typeface="Calisto MT"/>
            </a:endParaRPr>
          </a:p>
          <a:p>
            <a:pPr marL="251460" indent="-238760">
              <a:lnSpc>
                <a:spcPct val="100000"/>
              </a:lnSpc>
              <a:buAutoNum type="arabicPeriod"/>
              <a:tabLst>
                <a:tab pos="251460" algn="l"/>
              </a:tabLst>
            </a:pPr>
            <a:r>
              <a:rPr sz="1800" spc="-10" dirty="0">
                <a:latin typeface="Calisto MT"/>
                <a:cs typeface="Calisto MT"/>
              </a:rPr>
              <a:t>Initialization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757762" y="3425586"/>
            <a:ext cx="968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3.</a:t>
            </a:r>
            <a:r>
              <a:rPr sz="1800" spc="-10" dirty="0">
                <a:latin typeface="Calisto MT"/>
                <a:cs typeface="Calisto MT"/>
              </a:rPr>
              <a:t> Service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57762" y="4142601"/>
            <a:ext cx="1419860" cy="1017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52095" algn="l"/>
              </a:tabLst>
            </a:pPr>
            <a:r>
              <a:rPr sz="1800" spc="-10" dirty="0">
                <a:latin typeface="Calisto MT"/>
                <a:cs typeface="Calisto MT"/>
              </a:rPr>
              <a:t>Destroy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Calisto MT"/>
              <a:buAutoNum type="arabicPeriod" startAt="4"/>
            </a:pPr>
            <a:endParaRPr sz="1800">
              <a:latin typeface="Calisto MT"/>
              <a:cs typeface="Calisto MT"/>
            </a:endParaRPr>
          </a:p>
          <a:p>
            <a:pPr marL="251460" indent="-238760">
              <a:lnSpc>
                <a:spcPct val="100000"/>
              </a:lnSpc>
              <a:buAutoNum type="arabicPeriod" startAt="4"/>
              <a:tabLst>
                <a:tab pos="251460" algn="l"/>
              </a:tabLst>
            </a:pPr>
            <a:r>
              <a:rPr sz="1800" spc="-10" dirty="0">
                <a:latin typeface="Calisto MT"/>
                <a:cs typeface="Calisto MT"/>
              </a:rPr>
              <a:t>Unavailable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9696" y="1075372"/>
            <a:ext cx="1619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Lifecycle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Servlet</a:t>
            </a:r>
            <a:r>
              <a:rPr spc="1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155" y="1705355"/>
            <a:ext cx="6690359" cy="37658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15355" y="1053095"/>
            <a:ext cx="2831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Multithreaded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Model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25511" y="1758695"/>
            <a:ext cx="4003675" cy="2982595"/>
            <a:chOff x="7525511" y="1758695"/>
            <a:chExt cx="4003675" cy="29825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5511" y="1790699"/>
              <a:ext cx="4003547" cy="451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9679" y="1758695"/>
              <a:ext cx="1315210" cy="5654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8183" y="1810511"/>
              <a:ext cx="3918204" cy="3657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5511" y="2193035"/>
              <a:ext cx="4003547" cy="4511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1100" y="2161032"/>
              <a:ext cx="1452371" cy="5654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68183" y="2212847"/>
              <a:ext cx="3918204" cy="3657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5511" y="2595372"/>
              <a:ext cx="4003547" cy="4526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69679" y="2563367"/>
              <a:ext cx="1315210" cy="5654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68183" y="2615183"/>
              <a:ext cx="3918204" cy="3672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5511" y="2999231"/>
              <a:ext cx="4003547" cy="4511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63940" y="2967227"/>
              <a:ext cx="1725167" cy="5654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68183" y="3019043"/>
              <a:ext cx="3918204" cy="3657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5511" y="3401567"/>
              <a:ext cx="4003547" cy="4511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01100" y="3369563"/>
              <a:ext cx="1452371" cy="56540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68183" y="3421379"/>
              <a:ext cx="3918204" cy="3657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5511" y="3803904"/>
              <a:ext cx="4003547" cy="4526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96884" y="3771900"/>
              <a:ext cx="1860803" cy="5654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68183" y="3823716"/>
              <a:ext cx="3918204" cy="36728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5511" y="4207763"/>
              <a:ext cx="4003547" cy="4511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32519" y="4175760"/>
              <a:ext cx="1588007" cy="56540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68183" y="4227575"/>
              <a:ext cx="3918204" cy="36576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764168" y="1678178"/>
            <a:ext cx="152654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468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doGet() doPost() doPut() doDelete() doHead() doOptions() doTrace()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6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443622" y="1068453"/>
            <a:ext cx="41675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Specific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Handling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Handling</a:t>
            </a:r>
            <a:r>
              <a:rPr spc="-25" dirty="0"/>
              <a:t> </a:t>
            </a:r>
            <a:r>
              <a:rPr dirty="0"/>
              <a:t>Servlet</a:t>
            </a:r>
            <a:r>
              <a:rPr spc="-40" dirty="0"/>
              <a:t> </a:t>
            </a:r>
            <a:r>
              <a:rPr spc="-10" dirty="0"/>
              <a:t>Request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59298" y="831722"/>
            <a:ext cx="5284470" cy="1390650"/>
            <a:chOff x="5059298" y="831722"/>
            <a:chExt cx="5284470" cy="1390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8836" y="841248"/>
              <a:ext cx="5265406" cy="13715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64061" y="836485"/>
              <a:ext cx="5274945" cy="1381125"/>
            </a:xfrm>
            <a:custGeom>
              <a:avLst/>
              <a:gdLst/>
              <a:ahLst/>
              <a:cxnLst/>
              <a:rect l="l" t="t" r="r" b="b"/>
              <a:pathLst>
                <a:path w="5274945" h="1381125">
                  <a:moveTo>
                    <a:pt x="0" y="0"/>
                  </a:moveTo>
                  <a:lnTo>
                    <a:pt x="5274945" y="0"/>
                  </a:lnTo>
                  <a:lnTo>
                    <a:pt x="5274945" y="1381125"/>
                  </a:lnTo>
                  <a:lnTo>
                    <a:pt x="0" y="13811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95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0921" y="1342952"/>
            <a:ext cx="1356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sto MT"/>
                <a:cs typeface="Calisto MT"/>
              </a:rPr>
              <a:t>Servlet</a:t>
            </a:r>
            <a:r>
              <a:rPr sz="1600" spc="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Request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913" y="3250487"/>
            <a:ext cx="20802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sto MT"/>
                <a:cs typeface="Calisto MT"/>
              </a:rPr>
              <a:t>HTTP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Request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Headers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91384" y="2884931"/>
            <a:ext cx="1318260" cy="1457325"/>
            <a:chOff x="2691384" y="2884931"/>
            <a:chExt cx="1318260" cy="14573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5100" y="2884931"/>
              <a:ext cx="1304543" cy="14569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1384" y="3348227"/>
              <a:ext cx="940307" cy="5120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7772" y="2904743"/>
              <a:ext cx="1219200" cy="13715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842568" y="3408271"/>
            <a:ext cx="636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Accept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16323" y="2834640"/>
            <a:ext cx="1647825" cy="1457325"/>
            <a:chOff x="4116323" y="2834640"/>
            <a:chExt cx="1647825" cy="145732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0039" y="2834640"/>
              <a:ext cx="1633727" cy="14569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16323" y="3297936"/>
              <a:ext cx="1025651" cy="7315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72711" y="2854451"/>
              <a:ext cx="1548384" cy="13716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267958" y="3358724"/>
            <a:ext cx="72199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Accept- Charset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10655" y="2857500"/>
            <a:ext cx="1469390" cy="1457325"/>
            <a:chOff x="6010655" y="2857500"/>
            <a:chExt cx="1469390" cy="1457325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24372" y="2857500"/>
              <a:ext cx="1455419" cy="145694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0655" y="3320796"/>
              <a:ext cx="1167383" cy="7315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67043" y="2877311"/>
              <a:ext cx="1370076" cy="13716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162516" y="3381749"/>
            <a:ext cx="86233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Accept- </a:t>
            </a:r>
            <a:r>
              <a:rPr sz="1600" b="1" spc="-20" dirty="0">
                <a:solidFill>
                  <a:srgbClr val="FFFFFF"/>
                </a:solidFill>
                <a:latin typeface="Calisto MT"/>
                <a:cs typeface="Calisto MT"/>
              </a:rPr>
              <a:t>Encoding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757159" y="2834640"/>
            <a:ext cx="1468120" cy="1457325"/>
            <a:chOff x="7757159" y="2834640"/>
            <a:chExt cx="1468120" cy="1457325"/>
          </a:xfrm>
        </p:grpSpPr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70876" y="2834640"/>
              <a:ext cx="1453895" cy="14569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57159" y="3297936"/>
              <a:ext cx="1193291" cy="73151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13547" y="2854451"/>
              <a:ext cx="1368552" cy="13716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908683" y="3358724"/>
            <a:ext cx="88900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Accept- Language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525000" y="2843783"/>
            <a:ext cx="1969135" cy="1457325"/>
            <a:chOff x="9525000" y="2843783"/>
            <a:chExt cx="1969135" cy="1457325"/>
          </a:xfrm>
        </p:grpSpPr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38716" y="2843783"/>
              <a:ext cx="1955291" cy="145694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25000" y="3308603"/>
              <a:ext cx="1591055" cy="5120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81388" y="2863595"/>
              <a:ext cx="1869947" cy="137159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677117" y="3368249"/>
            <a:ext cx="1289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Authorization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113020" y="5131308"/>
            <a:ext cx="1636775" cy="1085087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5354608" y="5512308"/>
            <a:ext cx="105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Calisto MT"/>
                <a:cs typeface="Calisto MT"/>
              </a:rPr>
              <a:t>Text</a:t>
            </a:r>
            <a:r>
              <a:rPr sz="1800" b="1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sto MT"/>
                <a:cs typeface="Calisto MT"/>
              </a:rPr>
              <a:t>input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883907" y="5131308"/>
            <a:ext cx="1635251" cy="1085087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7058169" y="5388864"/>
            <a:ext cx="118872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46685" marR="5080" indent="-134620">
              <a:lnSpc>
                <a:spcPts val="1939"/>
              </a:lnSpc>
              <a:spcBef>
                <a:spcPts val="345"/>
              </a:spcBef>
            </a:pPr>
            <a:r>
              <a:rPr sz="1800" b="1" spc="-20" dirty="0">
                <a:solidFill>
                  <a:srgbClr val="FFFFFF"/>
                </a:solidFill>
                <a:latin typeface="Calisto MT"/>
                <a:cs typeface="Calisto MT"/>
              </a:rPr>
              <a:t>Drop-down </a:t>
            </a: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list</a:t>
            </a:r>
            <a:r>
              <a:rPr sz="1800" b="1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input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654795" y="5131308"/>
            <a:ext cx="1635251" cy="108508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9052877" y="5388864"/>
            <a:ext cx="73977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2545" marR="5080" indent="-30480">
              <a:lnSpc>
                <a:spcPts val="1939"/>
              </a:lnSpc>
              <a:spcBef>
                <a:spcPts val="345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Submit button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7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760991" y="5391463"/>
            <a:ext cx="1255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sto MT"/>
                <a:cs typeface="Calisto MT"/>
              </a:rPr>
              <a:t>HTML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Forms</a:t>
            </a:r>
            <a:endParaRPr sz="16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78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Handling</a:t>
            </a:r>
            <a:r>
              <a:rPr spc="-25" dirty="0"/>
              <a:t> </a:t>
            </a:r>
            <a:r>
              <a:rPr dirty="0"/>
              <a:t>Servlet</a:t>
            </a:r>
            <a:r>
              <a:rPr spc="-40" dirty="0"/>
              <a:t> </a:t>
            </a:r>
            <a:r>
              <a:rPr spc="-10" dirty="0"/>
              <a:t>Response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62558" y="2538602"/>
            <a:ext cx="7314565" cy="2546350"/>
            <a:chOff x="662558" y="2538602"/>
            <a:chExt cx="7314565" cy="2546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084" y="2548128"/>
              <a:ext cx="7295387" cy="25267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7321" y="2543365"/>
              <a:ext cx="7305040" cy="2536825"/>
            </a:xfrm>
            <a:custGeom>
              <a:avLst/>
              <a:gdLst/>
              <a:ahLst/>
              <a:cxnLst/>
              <a:rect l="l" t="t" r="r" b="b"/>
              <a:pathLst>
                <a:path w="7305040" h="2536825">
                  <a:moveTo>
                    <a:pt x="0" y="0"/>
                  </a:moveTo>
                  <a:lnTo>
                    <a:pt x="7304913" y="0"/>
                  </a:lnTo>
                  <a:lnTo>
                    <a:pt x="7304913" y="2536317"/>
                  </a:lnTo>
                  <a:lnTo>
                    <a:pt x="0" y="253631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95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85409" y="1194949"/>
            <a:ext cx="1668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Response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239886" y="1925954"/>
            <a:ext cx="3289935" cy="3771265"/>
            <a:chOff x="8239886" y="1925954"/>
            <a:chExt cx="3289935" cy="37712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9411" y="1935479"/>
              <a:ext cx="3270503" cy="37520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44649" y="1930717"/>
              <a:ext cx="3280410" cy="3761740"/>
            </a:xfrm>
            <a:custGeom>
              <a:avLst/>
              <a:gdLst/>
              <a:ahLst/>
              <a:cxnLst/>
              <a:rect l="l" t="t" r="r" b="b"/>
              <a:pathLst>
                <a:path w="3280409" h="3761740">
                  <a:moveTo>
                    <a:pt x="0" y="0"/>
                  </a:moveTo>
                  <a:lnTo>
                    <a:pt x="3280029" y="0"/>
                  </a:lnTo>
                  <a:lnTo>
                    <a:pt x="3280029" y="3761613"/>
                  </a:lnTo>
                  <a:lnTo>
                    <a:pt x="0" y="37616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95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08921" y="1194949"/>
            <a:ext cx="2350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Response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Response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Sending</a:t>
            </a:r>
            <a:r>
              <a:rPr spc="-65" dirty="0"/>
              <a:t> </a:t>
            </a:r>
            <a:r>
              <a:rPr spc="-10" dirty="0"/>
              <a:t>Headers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6448" y="3218688"/>
            <a:ext cx="711835" cy="1346200"/>
            <a:chOff x="536448" y="3218688"/>
            <a:chExt cx="711835" cy="1346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8" y="3218688"/>
              <a:ext cx="711707" cy="13456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072" y="3232404"/>
              <a:ext cx="633222" cy="126644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10817" y="3233166"/>
            <a:ext cx="3569335" cy="1266825"/>
          </a:xfrm>
          <a:prstGeom prst="rect">
            <a:avLst/>
          </a:prstGeom>
          <a:solidFill>
            <a:srgbClr val="FFEBCC">
              <a:alpha val="90194"/>
            </a:srgbClr>
          </a:solidFill>
          <a:ln w="9994">
            <a:solidFill>
              <a:srgbClr val="C94921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endParaRPr sz="1600">
              <a:latin typeface="Times New Roman"/>
              <a:cs typeface="Times New Roman"/>
            </a:endParaRPr>
          </a:p>
          <a:p>
            <a:pPr marL="203200" marR="146685" indent="-50800" algn="ctr">
              <a:lnSpc>
                <a:spcPts val="1850"/>
              </a:lnSpc>
              <a:spcBef>
                <a:spcPts val="5"/>
              </a:spcBef>
            </a:pPr>
            <a:r>
              <a:rPr sz="1600" dirty="0">
                <a:latin typeface="Calisto MT"/>
                <a:cs typeface="Calisto MT"/>
              </a:rPr>
              <a:t>Contains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data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about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server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and</a:t>
            </a:r>
            <a:r>
              <a:rPr sz="1600" spc="50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file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date,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size,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and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type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that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server </a:t>
            </a:r>
            <a:r>
              <a:rPr sz="1600" dirty="0">
                <a:latin typeface="Calisto MT"/>
                <a:cs typeface="Calisto MT"/>
              </a:rPr>
              <a:t>sends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back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to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client.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9642" y="1765856"/>
            <a:ext cx="1794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-1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Headers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58116" y="1765856"/>
            <a:ext cx="1663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Sending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Headers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98592" y="2592323"/>
            <a:ext cx="2867025" cy="1167765"/>
            <a:chOff x="5498592" y="2592323"/>
            <a:chExt cx="2867025" cy="116776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8592" y="2592323"/>
              <a:ext cx="2866643" cy="11673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5836" y="2616707"/>
              <a:ext cx="2772156" cy="107289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545835" y="2616707"/>
            <a:ext cx="2772410" cy="1073150"/>
          </a:xfrm>
          <a:prstGeom prst="rect">
            <a:avLst/>
          </a:prstGeom>
          <a:ln w="9525">
            <a:solidFill>
              <a:srgbClr val="129F84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addHeader()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59952" y="2621279"/>
            <a:ext cx="3122930" cy="1169035"/>
            <a:chOff x="8759952" y="2621279"/>
            <a:chExt cx="3122930" cy="11690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9952" y="2621279"/>
              <a:ext cx="3122675" cy="116890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7196" y="2645663"/>
              <a:ext cx="3028188" cy="107442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807195" y="2645664"/>
            <a:ext cx="3028315" cy="1074420"/>
          </a:xfrm>
          <a:prstGeom prst="rect">
            <a:avLst/>
          </a:prstGeom>
          <a:ln w="9525">
            <a:solidFill>
              <a:srgbClr val="97B853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addDateHeader()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19928" y="4017264"/>
            <a:ext cx="2867025" cy="1169035"/>
            <a:chOff x="5519928" y="4017264"/>
            <a:chExt cx="2867025" cy="116903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19928" y="4017264"/>
              <a:ext cx="2866643" cy="11689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7172" y="4041648"/>
              <a:ext cx="2772155" cy="107442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567171" y="4041647"/>
            <a:ext cx="2772410" cy="1074420"/>
          </a:xfrm>
          <a:prstGeom prst="rect">
            <a:avLst/>
          </a:prstGeom>
          <a:ln w="9525">
            <a:solidFill>
              <a:srgbClr val="F39A0B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800">
              <a:latin typeface="Times New Roman"/>
              <a:cs typeface="Times New Roman"/>
            </a:endParaRPr>
          </a:p>
          <a:p>
            <a:pPr marL="18923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addIntHeader()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759952" y="3947159"/>
            <a:ext cx="3095625" cy="1167765"/>
            <a:chOff x="8759952" y="3947159"/>
            <a:chExt cx="3095625" cy="116776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59952" y="3947159"/>
              <a:ext cx="3095243" cy="116738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07196" y="3971543"/>
              <a:ext cx="3000755" cy="107289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807195" y="3971544"/>
            <a:ext cx="3001010" cy="1073150"/>
          </a:xfrm>
          <a:prstGeom prst="rect">
            <a:avLst/>
          </a:prstGeom>
          <a:ln w="9525">
            <a:solidFill>
              <a:srgbClr val="BE3525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containsHeader()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Reading</a:t>
            </a:r>
            <a:r>
              <a:rPr spc="-70" dirty="0"/>
              <a:t> </a:t>
            </a:r>
            <a:r>
              <a:rPr dirty="0"/>
              <a:t>Binary</a:t>
            </a:r>
            <a:r>
              <a:rPr spc="-75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144" y="1213103"/>
            <a:ext cx="2689859" cy="13487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67146" y="1624976"/>
            <a:ext cx="2343785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960119" marR="5080" indent="-948055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latin typeface="Calisto MT"/>
                <a:cs typeface="Calisto MT"/>
              </a:rPr>
              <a:t>Producing</a:t>
            </a:r>
            <a:r>
              <a:rPr sz="1600" spc="-35" dirty="0">
                <a:latin typeface="Calisto MT"/>
                <a:cs typeface="Calisto MT"/>
              </a:rPr>
              <a:t> Text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and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Binary </a:t>
            </a:r>
            <a:r>
              <a:rPr sz="1600" spc="-20" dirty="0">
                <a:latin typeface="Calisto MT"/>
                <a:cs typeface="Calisto MT"/>
              </a:rPr>
              <a:t>Data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57652" y="2548508"/>
            <a:ext cx="3544570" cy="1691005"/>
            <a:chOff x="2557652" y="2548508"/>
            <a:chExt cx="3544570" cy="1691005"/>
          </a:xfrm>
        </p:grpSpPr>
        <p:sp>
          <p:nvSpPr>
            <p:cNvPr id="6" name="object 6"/>
            <p:cNvSpPr/>
            <p:nvPr/>
          </p:nvSpPr>
          <p:spPr>
            <a:xfrm>
              <a:off x="2567177" y="2558033"/>
              <a:ext cx="268605" cy="1005840"/>
            </a:xfrm>
            <a:custGeom>
              <a:avLst/>
              <a:gdLst/>
              <a:ahLst/>
              <a:cxnLst/>
              <a:rect l="l" t="t" r="r" b="b"/>
              <a:pathLst>
                <a:path w="268605" h="1005839">
                  <a:moveTo>
                    <a:pt x="0" y="0"/>
                  </a:moveTo>
                  <a:lnTo>
                    <a:pt x="0" y="1005700"/>
                  </a:lnTo>
                  <a:lnTo>
                    <a:pt x="268185" y="1005700"/>
                  </a:lnTo>
                </a:path>
              </a:pathLst>
            </a:custGeom>
            <a:ln w="1905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35402" y="2893312"/>
              <a:ext cx="3261360" cy="1341120"/>
            </a:xfrm>
            <a:custGeom>
              <a:avLst/>
              <a:gdLst/>
              <a:ahLst/>
              <a:cxnLst/>
              <a:rect l="l" t="t" r="r" b="b"/>
              <a:pathLst>
                <a:path w="3261360" h="1341120">
                  <a:moveTo>
                    <a:pt x="3127248" y="0"/>
                  </a:moveTo>
                  <a:lnTo>
                    <a:pt x="134112" y="0"/>
                  </a:lnTo>
                  <a:lnTo>
                    <a:pt x="91722" y="6837"/>
                  </a:lnTo>
                  <a:lnTo>
                    <a:pt x="54907" y="25876"/>
                  </a:lnTo>
                  <a:lnTo>
                    <a:pt x="25876" y="54907"/>
                  </a:lnTo>
                  <a:lnTo>
                    <a:pt x="6837" y="91722"/>
                  </a:lnTo>
                  <a:lnTo>
                    <a:pt x="0" y="134112"/>
                  </a:lnTo>
                  <a:lnTo>
                    <a:pt x="0" y="1207008"/>
                  </a:lnTo>
                  <a:lnTo>
                    <a:pt x="6837" y="1249397"/>
                  </a:lnTo>
                  <a:lnTo>
                    <a:pt x="25876" y="1286212"/>
                  </a:lnTo>
                  <a:lnTo>
                    <a:pt x="54907" y="1315243"/>
                  </a:lnTo>
                  <a:lnTo>
                    <a:pt x="91722" y="1334282"/>
                  </a:lnTo>
                  <a:lnTo>
                    <a:pt x="134112" y="1341120"/>
                  </a:lnTo>
                  <a:lnTo>
                    <a:pt x="3127248" y="1341120"/>
                  </a:lnTo>
                  <a:lnTo>
                    <a:pt x="3169637" y="1334282"/>
                  </a:lnTo>
                  <a:lnTo>
                    <a:pt x="3206452" y="1315243"/>
                  </a:lnTo>
                  <a:lnTo>
                    <a:pt x="3235483" y="1286212"/>
                  </a:lnTo>
                  <a:lnTo>
                    <a:pt x="3254522" y="1249397"/>
                  </a:lnTo>
                  <a:lnTo>
                    <a:pt x="3261360" y="1207008"/>
                  </a:lnTo>
                  <a:lnTo>
                    <a:pt x="3261360" y="134112"/>
                  </a:lnTo>
                  <a:lnTo>
                    <a:pt x="3254522" y="91722"/>
                  </a:lnTo>
                  <a:lnTo>
                    <a:pt x="3235483" y="54907"/>
                  </a:lnTo>
                  <a:lnTo>
                    <a:pt x="3206452" y="25876"/>
                  </a:lnTo>
                  <a:lnTo>
                    <a:pt x="3169637" y="6837"/>
                  </a:lnTo>
                  <a:lnTo>
                    <a:pt x="3127248" y="0"/>
                  </a:lnTo>
                  <a:close/>
                </a:path>
              </a:pathLst>
            </a:custGeom>
            <a:solidFill>
              <a:srgbClr val="E7E49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35402" y="2893312"/>
              <a:ext cx="3261360" cy="1341120"/>
            </a:xfrm>
            <a:custGeom>
              <a:avLst/>
              <a:gdLst/>
              <a:ahLst/>
              <a:cxnLst/>
              <a:rect l="l" t="t" r="r" b="b"/>
              <a:pathLst>
                <a:path w="3261360" h="1341120">
                  <a:moveTo>
                    <a:pt x="0" y="134112"/>
                  </a:moveTo>
                  <a:lnTo>
                    <a:pt x="6837" y="91722"/>
                  </a:lnTo>
                  <a:lnTo>
                    <a:pt x="25876" y="54907"/>
                  </a:lnTo>
                  <a:lnTo>
                    <a:pt x="54907" y="25876"/>
                  </a:lnTo>
                  <a:lnTo>
                    <a:pt x="91722" y="6837"/>
                  </a:lnTo>
                  <a:lnTo>
                    <a:pt x="134112" y="0"/>
                  </a:lnTo>
                  <a:lnTo>
                    <a:pt x="3127248" y="0"/>
                  </a:lnTo>
                  <a:lnTo>
                    <a:pt x="3169637" y="6837"/>
                  </a:lnTo>
                  <a:lnTo>
                    <a:pt x="3206452" y="25876"/>
                  </a:lnTo>
                  <a:lnTo>
                    <a:pt x="3235483" y="54907"/>
                  </a:lnTo>
                  <a:lnTo>
                    <a:pt x="3254522" y="91722"/>
                  </a:lnTo>
                  <a:lnTo>
                    <a:pt x="3261360" y="134112"/>
                  </a:lnTo>
                  <a:lnTo>
                    <a:pt x="3261360" y="1207008"/>
                  </a:lnTo>
                  <a:lnTo>
                    <a:pt x="3254522" y="1249397"/>
                  </a:lnTo>
                  <a:lnTo>
                    <a:pt x="3235483" y="1286212"/>
                  </a:lnTo>
                  <a:lnTo>
                    <a:pt x="3206452" y="1315243"/>
                  </a:lnTo>
                  <a:lnTo>
                    <a:pt x="3169637" y="1334282"/>
                  </a:lnTo>
                  <a:lnTo>
                    <a:pt x="3127248" y="1341120"/>
                  </a:lnTo>
                  <a:lnTo>
                    <a:pt x="134112" y="1341120"/>
                  </a:lnTo>
                  <a:lnTo>
                    <a:pt x="91722" y="1334282"/>
                  </a:lnTo>
                  <a:lnTo>
                    <a:pt x="54907" y="1315243"/>
                  </a:lnTo>
                  <a:lnTo>
                    <a:pt x="25876" y="1286212"/>
                  </a:lnTo>
                  <a:lnTo>
                    <a:pt x="6837" y="1249397"/>
                  </a:lnTo>
                  <a:lnTo>
                    <a:pt x="0" y="1207008"/>
                  </a:lnTo>
                  <a:lnTo>
                    <a:pt x="0" y="134112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89687" y="3082776"/>
            <a:ext cx="2949575" cy="8909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1905" algn="ctr">
              <a:lnSpc>
                <a:spcPts val="1630"/>
              </a:lnSpc>
              <a:spcBef>
                <a:spcPts val="390"/>
              </a:spcBef>
            </a:pPr>
            <a:r>
              <a:rPr sz="1600" spc="-10" dirty="0">
                <a:latin typeface="Courier New"/>
                <a:cs typeface="Courier New"/>
              </a:rPr>
              <a:t>public ServletOutputStream </a:t>
            </a:r>
            <a:r>
              <a:rPr sz="1600" dirty="0">
                <a:latin typeface="Courier New"/>
                <a:cs typeface="Courier New"/>
              </a:rPr>
              <a:t>getOutputStream()</a:t>
            </a:r>
            <a:r>
              <a:rPr sz="1600" spc="-16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throws IOException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57652" y="2548508"/>
            <a:ext cx="3544570" cy="3367404"/>
            <a:chOff x="2557652" y="2548508"/>
            <a:chExt cx="3544570" cy="3367404"/>
          </a:xfrm>
        </p:grpSpPr>
        <p:sp>
          <p:nvSpPr>
            <p:cNvPr id="11" name="object 11"/>
            <p:cNvSpPr/>
            <p:nvPr/>
          </p:nvSpPr>
          <p:spPr>
            <a:xfrm>
              <a:off x="2567177" y="2558033"/>
              <a:ext cx="268605" cy="2682240"/>
            </a:xfrm>
            <a:custGeom>
              <a:avLst/>
              <a:gdLst/>
              <a:ahLst/>
              <a:cxnLst/>
              <a:rect l="l" t="t" r="r" b="b"/>
              <a:pathLst>
                <a:path w="268605" h="2682240">
                  <a:moveTo>
                    <a:pt x="0" y="0"/>
                  </a:moveTo>
                  <a:lnTo>
                    <a:pt x="0" y="2681884"/>
                  </a:lnTo>
                  <a:lnTo>
                    <a:pt x="268185" y="2681884"/>
                  </a:lnTo>
                </a:path>
              </a:pathLst>
            </a:custGeom>
            <a:ln w="1905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35402" y="4569712"/>
              <a:ext cx="3261360" cy="1341120"/>
            </a:xfrm>
            <a:custGeom>
              <a:avLst/>
              <a:gdLst/>
              <a:ahLst/>
              <a:cxnLst/>
              <a:rect l="l" t="t" r="r" b="b"/>
              <a:pathLst>
                <a:path w="3261360" h="1341120">
                  <a:moveTo>
                    <a:pt x="3127248" y="0"/>
                  </a:moveTo>
                  <a:lnTo>
                    <a:pt x="134112" y="0"/>
                  </a:lnTo>
                  <a:lnTo>
                    <a:pt x="91722" y="6837"/>
                  </a:lnTo>
                  <a:lnTo>
                    <a:pt x="54907" y="25876"/>
                  </a:lnTo>
                  <a:lnTo>
                    <a:pt x="25876" y="54907"/>
                  </a:lnTo>
                  <a:lnTo>
                    <a:pt x="6837" y="91722"/>
                  </a:lnTo>
                  <a:lnTo>
                    <a:pt x="0" y="134112"/>
                  </a:lnTo>
                  <a:lnTo>
                    <a:pt x="0" y="1207008"/>
                  </a:lnTo>
                  <a:lnTo>
                    <a:pt x="6837" y="1249397"/>
                  </a:lnTo>
                  <a:lnTo>
                    <a:pt x="25876" y="1286212"/>
                  </a:lnTo>
                  <a:lnTo>
                    <a:pt x="54907" y="1315243"/>
                  </a:lnTo>
                  <a:lnTo>
                    <a:pt x="91722" y="1334282"/>
                  </a:lnTo>
                  <a:lnTo>
                    <a:pt x="134112" y="1341120"/>
                  </a:lnTo>
                  <a:lnTo>
                    <a:pt x="3127248" y="1341120"/>
                  </a:lnTo>
                  <a:lnTo>
                    <a:pt x="3169637" y="1334282"/>
                  </a:lnTo>
                  <a:lnTo>
                    <a:pt x="3206452" y="1315243"/>
                  </a:lnTo>
                  <a:lnTo>
                    <a:pt x="3235483" y="1286212"/>
                  </a:lnTo>
                  <a:lnTo>
                    <a:pt x="3254522" y="1249397"/>
                  </a:lnTo>
                  <a:lnTo>
                    <a:pt x="3261360" y="1207008"/>
                  </a:lnTo>
                  <a:lnTo>
                    <a:pt x="3261360" y="134112"/>
                  </a:lnTo>
                  <a:lnTo>
                    <a:pt x="3254522" y="91722"/>
                  </a:lnTo>
                  <a:lnTo>
                    <a:pt x="3235483" y="54907"/>
                  </a:lnTo>
                  <a:lnTo>
                    <a:pt x="3206452" y="25876"/>
                  </a:lnTo>
                  <a:lnTo>
                    <a:pt x="3169637" y="6837"/>
                  </a:lnTo>
                  <a:lnTo>
                    <a:pt x="3127248" y="0"/>
                  </a:lnTo>
                  <a:close/>
                </a:path>
              </a:pathLst>
            </a:custGeom>
            <a:solidFill>
              <a:srgbClr val="BEBEB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35402" y="4569712"/>
              <a:ext cx="3261360" cy="1341120"/>
            </a:xfrm>
            <a:custGeom>
              <a:avLst/>
              <a:gdLst/>
              <a:ahLst/>
              <a:cxnLst/>
              <a:rect l="l" t="t" r="r" b="b"/>
              <a:pathLst>
                <a:path w="3261360" h="1341120">
                  <a:moveTo>
                    <a:pt x="0" y="134112"/>
                  </a:moveTo>
                  <a:lnTo>
                    <a:pt x="6837" y="91722"/>
                  </a:lnTo>
                  <a:lnTo>
                    <a:pt x="25876" y="54907"/>
                  </a:lnTo>
                  <a:lnTo>
                    <a:pt x="54907" y="25876"/>
                  </a:lnTo>
                  <a:lnTo>
                    <a:pt x="91722" y="6837"/>
                  </a:lnTo>
                  <a:lnTo>
                    <a:pt x="134112" y="0"/>
                  </a:lnTo>
                  <a:lnTo>
                    <a:pt x="3127248" y="0"/>
                  </a:lnTo>
                  <a:lnTo>
                    <a:pt x="3169637" y="6837"/>
                  </a:lnTo>
                  <a:lnTo>
                    <a:pt x="3206452" y="25876"/>
                  </a:lnTo>
                  <a:lnTo>
                    <a:pt x="3235483" y="54907"/>
                  </a:lnTo>
                  <a:lnTo>
                    <a:pt x="3254522" y="91722"/>
                  </a:lnTo>
                  <a:lnTo>
                    <a:pt x="3261360" y="134112"/>
                  </a:lnTo>
                  <a:lnTo>
                    <a:pt x="3261360" y="1207008"/>
                  </a:lnTo>
                  <a:lnTo>
                    <a:pt x="3254522" y="1249397"/>
                  </a:lnTo>
                  <a:lnTo>
                    <a:pt x="3235483" y="1286212"/>
                  </a:lnTo>
                  <a:lnTo>
                    <a:pt x="3206452" y="1315243"/>
                  </a:lnTo>
                  <a:lnTo>
                    <a:pt x="3169637" y="1334282"/>
                  </a:lnTo>
                  <a:lnTo>
                    <a:pt x="3127248" y="1341120"/>
                  </a:lnTo>
                  <a:lnTo>
                    <a:pt x="134112" y="1341120"/>
                  </a:lnTo>
                  <a:lnTo>
                    <a:pt x="91722" y="1334282"/>
                  </a:lnTo>
                  <a:lnTo>
                    <a:pt x="54907" y="1315243"/>
                  </a:lnTo>
                  <a:lnTo>
                    <a:pt x="25876" y="1286212"/>
                  </a:lnTo>
                  <a:lnTo>
                    <a:pt x="6837" y="1249397"/>
                  </a:lnTo>
                  <a:lnTo>
                    <a:pt x="0" y="1207008"/>
                  </a:lnTo>
                  <a:lnTo>
                    <a:pt x="0" y="134112"/>
                  </a:lnTo>
                  <a:close/>
                </a:path>
              </a:pathLst>
            </a:custGeom>
            <a:ln w="9994">
              <a:solidFill>
                <a:srgbClr val="3EC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94536" y="4758954"/>
            <a:ext cx="2340610" cy="8909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1270" algn="ctr">
              <a:lnSpc>
                <a:spcPts val="1630"/>
              </a:lnSpc>
              <a:spcBef>
                <a:spcPts val="390"/>
              </a:spcBef>
            </a:pPr>
            <a:r>
              <a:rPr sz="1600" spc="-10" dirty="0">
                <a:latin typeface="Courier New"/>
                <a:cs typeface="Courier New"/>
              </a:rPr>
              <a:t>public java.io.PrintWriter </a:t>
            </a:r>
            <a:r>
              <a:rPr sz="1600" dirty="0">
                <a:latin typeface="Courier New"/>
                <a:cs typeface="Courier New"/>
              </a:rPr>
              <a:t>getWriter()</a:t>
            </a:r>
            <a:r>
              <a:rPr sz="1600" spc="-1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throws IOException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5540" y="1213103"/>
            <a:ext cx="2689859" cy="134873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495978" y="1624976"/>
            <a:ext cx="2149475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862965" marR="5080" indent="-850900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latin typeface="Calisto MT"/>
                <a:cs typeface="Calisto MT"/>
              </a:rPr>
              <a:t>Sending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35" dirty="0">
                <a:latin typeface="Calisto MT"/>
                <a:cs typeface="Calisto MT"/>
              </a:rPr>
              <a:t>Text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and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Binary </a:t>
            </a:r>
            <a:r>
              <a:rPr sz="1600" spc="-20" dirty="0">
                <a:latin typeface="Calisto MT"/>
                <a:cs typeface="Calisto MT"/>
              </a:rPr>
              <a:t>Data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89572" y="2548508"/>
            <a:ext cx="3404235" cy="1691005"/>
            <a:chOff x="6489572" y="2548508"/>
            <a:chExt cx="3404235" cy="1691005"/>
          </a:xfrm>
        </p:grpSpPr>
        <p:sp>
          <p:nvSpPr>
            <p:cNvPr id="18" name="object 18"/>
            <p:cNvSpPr/>
            <p:nvPr/>
          </p:nvSpPr>
          <p:spPr>
            <a:xfrm>
              <a:off x="6499097" y="2558033"/>
              <a:ext cx="268605" cy="1005840"/>
            </a:xfrm>
            <a:custGeom>
              <a:avLst/>
              <a:gdLst/>
              <a:ahLst/>
              <a:cxnLst/>
              <a:rect l="l" t="t" r="r" b="b"/>
              <a:pathLst>
                <a:path w="268604" h="1005839">
                  <a:moveTo>
                    <a:pt x="0" y="0"/>
                  </a:moveTo>
                  <a:lnTo>
                    <a:pt x="0" y="1005700"/>
                  </a:lnTo>
                  <a:lnTo>
                    <a:pt x="268185" y="1005700"/>
                  </a:lnTo>
                </a:path>
              </a:pathLst>
            </a:custGeom>
            <a:ln w="1905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67321" y="2893315"/>
              <a:ext cx="3121660" cy="1341120"/>
            </a:xfrm>
            <a:custGeom>
              <a:avLst/>
              <a:gdLst/>
              <a:ahLst/>
              <a:cxnLst/>
              <a:rect l="l" t="t" r="r" b="b"/>
              <a:pathLst>
                <a:path w="3121659" h="1341120">
                  <a:moveTo>
                    <a:pt x="2987040" y="0"/>
                  </a:moveTo>
                  <a:lnTo>
                    <a:pt x="134112" y="0"/>
                  </a:lnTo>
                  <a:lnTo>
                    <a:pt x="91722" y="6837"/>
                  </a:lnTo>
                  <a:lnTo>
                    <a:pt x="54907" y="25876"/>
                  </a:lnTo>
                  <a:lnTo>
                    <a:pt x="25876" y="54907"/>
                  </a:lnTo>
                  <a:lnTo>
                    <a:pt x="6837" y="91722"/>
                  </a:lnTo>
                  <a:lnTo>
                    <a:pt x="0" y="134112"/>
                  </a:lnTo>
                  <a:lnTo>
                    <a:pt x="0" y="1207008"/>
                  </a:lnTo>
                  <a:lnTo>
                    <a:pt x="6837" y="1249397"/>
                  </a:lnTo>
                  <a:lnTo>
                    <a:pt x="25876" y="1286212"/>
                  </a:lnTo>
                  <a:lnTo>
                    <a:pt x="54907" y="1315243"/>
                  </a:lnTo>
                  <a:lnTo>
                    <a:pt x="91722" y="1334282"/>
                  </a:lnTo>
                  <a:lnTo>
                    <a:pt x="134112" y="1341120"/>
                  </a:lnTo>
                  <a:lnTo>
                    <a:pt x="2987040" y="1341120"/>
                  </a:lnTo>
                  <a:lnTo>
                    <a:pt x="3029429" y="1334282"/>
                  </a:lnTo>
                  <a:lnTo>
                    <a:pt x="3066244" y="1315243"/>
                  </a:lnTo>
                  <a:lnTo>
                    <a:pt x="3095275" y="1286212"/>
                  </a:lnTo>
                  <a:lnTo>
                    <a:pt x="3114314" y="1249397"/>
                  </a:lnTo>
                  <a:lnTo>
                    <a:pt x="3121152" y="1207008"/>
                  </a:lnTo>
                  <a:lnTo>
                    <a:pt x="3121152" y="134112"/>
                  </a:lnTo>
                  <a:lnTo>
                    <a:pt x="3114314" y="91722"/>
                  </a:lnTo>
                  <a:lnTo>
                    <a:pt x="3095275" y="54907"/>
                  </a:lnTo>
                  <a:lnTo>
                    <a:pt x="3066244" y="25876"/>
                  </a:lnTo>
                  <a:lnTo>
                    <a:pt x="3029429" y="6837"/>
                  </a:lnTo>
                  <a:lnTo>
                    <a:pt x="2987040" y="0"/>
                  </a:lnTo>
                  <a:close/>
                </a:path>
              </a:pathLst>
            </a:custGeom>
            <a:solidFill>
              <a:srgbClr val="F1B9A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67321" y="2893315"/>
              <a:ext cx="3121660" cy="1341120"/>
            </a:xfrm>
            <a:custGeom>
              <a:avLst/>
              <a:gdLst/>
              <a:ahLst/>
              <a:cxnLst/>
              <a:rect l="l" t="t" r="r" b="b"/>
              <a:pathLst>
                <a:path w="3121659" h="1341120">
                  <a:moveTo>
                    <a:pt x="0" y="134112"/>
                  </a:moveTo>
                  <a:lnTo>
                    <a:pt x="6837" y="91722"/>
                  </a:lnTo>
                  <a:lnTo>
                    <a:pt x="25876" y="54907"/>
                  </a:lnTo>
                  <a:lnTo>
                    <a:pt x="54907" y="25876"/>
                  </a:lnTo>
                  <a:lnTo>
                    <a:pt x="91722" y="6837"/>
                  </a:lnTo>
                  <a:lnTo>
                    <a:pt x="134112" y="0"/>
                  </a:lnTo>
                  <a:lnTo>
                    <a:pt x="2987040" y="0"/>
                  </a:lnTo>
                  <a:lnTo>
                    <a:pt x="3029429" y="6837"/>
                  </a:lnTo>
                  <a:lnTo>
                    <a:pt x="3066244" y="25876"/>
                  </a:lnTo>
                  <a:lnTo>
                    <a:pt x="3095275" y="54907"/>
                  </a:lnTo>
                  <a:lnTo>
                    <a:pt x="3114314" y="91722"/>
                  </a:lnTo>
                  <a:lnTo>
                    <a:pt x="3121152" y="134112"/>
                  </a:lnTo>
                  <a:lnTo>
                    <a:pt x="3121152" y="1207008"/>
                  </a:lnTo>
                  <a:lnTo>
                    <a:pt x="3114314" y="1249397"/>
                  </a:lnTo>
                  <a:lnTo>
                    <a:pt x="3095275" y="1286212"/>
                  </a:lnTo>
                  <a:lnTo>
                    <a:pt x="3066244" y="1315243"/>
                  </a:lnTo>
                  <a:lnTo>
                    <a:pt x="3029429" y="1334282"/>
                  </a:lnTo>
                  <a:lnTo>
                    <a:pt x="2987040" y="1341120"/>
                  </a:lnTo>
                  <a:lnTo>
                    <a:pt x="134112" y="1341120"/>
                  </a:lnTo>
                  <a:lnTo>
                    <a:pt x="91722" y="1334282"/>
                  </a:lnTo>
                  <a:lnTo>
                    <a:pt x="54907" y="1315243"/>
                  </a:lnTo>
                  <a:lnTo>
                    <a:pt x="25876" y="1286212"/>
                  </a:lnTo>
                  <a:lnTo>
                    <a:pt x="6837" y="1249397"/>
                  </a:lnTo>
                  <a:lnTo>
                    <a:pt x="0" y="1207008"/>
                  </a:lnTo>
                  <a:lnTo>
                    <a:pt x="0" y="134112"/>
                  </a:lnTo>
                  <a:close/>
                </a:path>
              </a:pathLst>
            </a:custGeom>
            <a:ln w="9994">
              <a:solidFill>
                <a:srgbClr val="61C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72965" y="3186376"/>
            <a:ext cx="2705735" cy="6838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635" algn="ctr">
              <a:lnSpc>
                <a:spcPts val="1630"/>
              </a:lnSpc>
              <a:spcBef>
                <a:spcPts val="390"/>
              </a:spcBef>
            </a:pPr>
            <a:r>
              <a:rPr sz="1600" dirty="0">
                <a:latin typeface="Courier New"/>
                <a:cs typeface="Courier New"/>
              </a:rPr>
              <a:t>public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void </a:t>
            </a:r>
            <a:r>
              <a:rPr sz="1600" dirty="0">
                <a:latin typeface="Courier New"/>
                <a:cs typeface="Courier New"/>
              </a:rPr>
              <a:t>print(boolean</a:t>
            </a:r>
            <a:r>
              <a:rPr sz="1600" spc="-13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b)throws java.io.IOException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89572" y="2548508"/>
            <a:ext cx="3407410" cy="3336925"/>
            <a:chOff x="6489572" y="2548508"/>
            <a:chExt cx="3407410" cy="3336925"/>
          </a:xfrm>
        </p:grpSpPr>
        <p:sp>
          <p:nvSpPr>
            <p:cNvPr id="23" name="object 23"/>
            <p:cNvSpPr/>
            <p:nvPr/>
          </p:nvSpPr>
          <p:spPr>
            <a:xfrm>
              <a:off x="6499097" y="2558033"/>
              <a:ext cx="266065" cy="2651760"/>
            </a:xfrm>
            <a:custGeom>
              <a:avLst/>
              <a:gdLst/>
              <a:ahLst/>
              <a:cxnLst/>
              <a:rect l="l" t="t" r="r" b="b"/>
              <a:pathLst>
                <a:path w="266065" h="2651760">
                  <a:moveTo>
                    <a:pt x="0" y="0"/>
                  </a:moveTo>
                  <a:lnTo>
                    <a:pt x="0" y="2651696"/>
                  </a:lnTo>
                  <a:lnTo>
                    <a:pt x="265658" y="2651696"/>
                  </a:lnTo>
                </a:path>
              </a:pathLst>
            </a:custGeom>
            <a:ln w="19049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4273" y="4539233"/>
              <a:ext cx="3127375" cy="1341120"/>
            </a:xfrm>
            <a:custGeom>
              <a:avLst/>
              <a:gdLst/>
              <a:ahLst/>
              <a:cxnLst/>
              <a:rect l="l" t="t" r="r" b="b"/>
              <a:pathLst>
                <a:path w="3127375" h="1341120">
                  <a:moveTo>
                    <a:pt x="2993136" y="0"/>
                  </a:moveTo>
                  <a:lnTo>
                    <a:pt x="134112" y="0"/>
                  </a:lnTo>
                  <a:lnTo>
                    <a:pt x="91722" y="6837"/>
                  </a:lnTo>
                  <a:lnTo>
                    <a:pt x="54907" y="25876"/>
                  </a:lnTo>
                  <a:lnTo>
                    <a:pt x="25876" y="54907"/>
                  </a:lnTo>
                  <a:lnTo>
                    <a:pt x="6837" y="91722"/>
                  </a:lnTo>
                  <a:lnTo>
                    <a:pt x="0" y="134112"/>
                  </a:lnTo>
                  <a:lnTo>
                    <a:pt x="0" y="1207008"/>
                  </a:lnTo>
                  <a:lnTo>
                    <a:pt x="6837" y="1249397"/>
                  </a:lnTo>
                  <a:lnTo>
                    <a:pt x="25876" y="1286212"/>
                  </a:lnTo>
                  <a:lnTo>
                    <a:pt x="54907" y="1315243"/>
                  </a:lnTo>
                  <a:lnTo>
                    <a:pt x="91722" y="1334282"/>
                  </a:lnTo>
                  <a:lnTo>
                    <a:pt x="134112" y="1341120"/>
                  </a:lnTo>
                  <a:lnTo>
                    <a:pt x="2993136" y="1341120"/>
                  </a:lnTo>
                  <a:lnTo>
                    <a:pt x="3035525" y="1334282"/>
                  </a:lnTo>
                  <a:lnTo>
                    <a:pt x="3072340" y="1315243"/>
                  </a:lnTo>
                  <a:lnTo>
                    <a:pt x="3101371" y="1286212"/>
                  </a:lnTo>
                  <a:lnTo>
                    <a:pt x="3120410" y="1249397"/>
                  </a:lnTo>
                  <a:lnTo>
                    <a:pt x="3127248" y="1207008"/>
                  </a:lnTo>
                  <a:lnTo>
                    <a:pt x="3127248" y="134112"/>
                  </a:lnTo>
                  <a:lnTo>
                    <a:pt x="3120410" y="91722"/>
                  </a:lnTo>
                  <a:lnTo>
                    <a:pt x="3101371" y="54907"/>
                  </a:lnTo>
                  <a:lnTo>
                    <a:pt x="3072340" y="25876"/>
                  </a:lnTo>
                  <a:lnTo>
                    <a:pt x="3035525" y="6837"/>
                  </a:lnTo>
                  <a:lnTo>
                    <a:pt x="2993136" y="0"/>
                  </a:lnTo>
                  <a:close/>
                </a:path>
              </a:pathLst>
            </a:custGeom>
            <a:solidFill>
              <a:srgbClr val="FFD79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64273" y="4539233"/>
              <a:ext cx="3127375" cy="1341120"/>
            </a:xfrm>
            <a:custGeom>
              <a:avLst/>
              <a:gdLst/>
              <a:ahLst/>
              <a:cxnLst/>
              <a:rect l="l" t="t" r="r" b="b"/>
              <a:pathLst>
                <a:path w="3127375" h="1341120">
                  <a:moveTo>
                    <a:pt x="0" y="134112"/>
                  </a:moveTo>
                  <a:lnTo>
                    <a:pt x="6837" y="91722"/>
                  </a:lnTo>
                  <a:lnTo>
                    <a:pt x="25876" y="54907"/>
                  </a:lnTo>
                  <a:lnTo>
                    <a:pt x="54907" y="25876"/>
                  </a:lnTo>
                  <a:lnTo>
                    <a:pt x="91722" y="6837"/>
                  </a:lnTo>
                  <a:lnTo>
                    <a:pt x="134112" y="0"/>
                  </a:lnTo>
                  <a:lnTo>
                    <a:pt x="2993136" y="0"/>
                  </a:lnTo>
                  <a:lnTo>
                    <a:pt x="3035525" y="6837"/>
                  </a:lnTo>
                  <a:lnTo>
                    <a:pt x="3072340" y="25876"/>
                  </a:lnTo>
                  <a:lnTo>
                    <a:pt x="3101371" y="54907"/>
                  </a:lnTo>
                  <a:lnTo>
                    <a:pt x="3120410" y="91722"/>
                  </a:lnTo>
                  <a:lnTo>
                    <a:pt x="3127248" y="134112"/>
                  </a:lnTo>
                  <a:lnTo>
                    <a:pt x="3127248" y="1207008"/>
                  </a:lnTo>
                  <a:lnTo>
                    <a:pt x="3120410" y="1249397"/>
                  </a:lnTo>
                  <a:lnTo>
                    <a:pt x="3101371" y="1286212"/>
                  </a:lnTo>
                  <a:lnTo>
                    <a:pt x="3072340" y="1315243"/>
                  </a:lnTo>
                  <a:lnTo>
                    <a:pt x="3035525" y="1334282"/>
                  </a:lnTo>
                  <a:lnTo>
                    <a:pt x="2993136" y="1341120"/>
                  </a:lnTo>
                  <a:lnTo>
                    <a:pt x="134112" y="1341120"/>
                  </a:lnTo>
                  <a:lnTo>
                    <a:pt x="91722" y="1334282"/>
                  </a:lnTo>
                  <a:lnTo>
                    <a:pt x="54907" y="1315243"/>
                  </a:lnTo>
                  <a:lnTo>
                    <a:pt x="25876" y="1286212"/>
                  </a:lnTo>
                  <a:lnTo>
                    <a:pt x="6837" y="1249397"/>
                  </a:lnTo>
                  <a:lnTo>
                    <a:pt x="0" y="1207008"/>
                  </a:lnTo>
                  <a:lnTo>
                    <a:pt x="0" y="134112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851500" y="4832368"/>
            <a:ext cx="2949575" cy="6838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algn="ctr">
              <a:lnSpc>
                <a:spcPts val="1630"/>
              </a:lnSpc>
              <a:spcBef>
                <a:spcPts val="390"/>
              </a:spcBef>
            </a:pPr>
            <a:r>
              <a:rPr sz="1600" dirty="0">
                <a:latin typeface="Courier New"/>
                <a:cs typeface="Courier New"/>
              </a:rPr>
              <a:t>public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void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println(char c)throws java.io.IOException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Redirecting</a:t>
            </a:r>
            <a:r>
              <a:rPr spc="-95" dirty="0"/>
              <a:t> </a:t>
            </a:r>
            <a:r>
              <a:rPr spc="-10" dirty="0"/>
              <a:t>Requests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78379" y="1075944"/>
            <a:ext cx="2688590" cy="1390015"/>
            <a:chOff x="2278379" y="1075944"/>
            <a:chExt cx="2688590" cy="1390015"/>
          </a:xfrm>
        </p:grpSpPr>
        <p:sp>
          <p:nvSpPr>
            <p:cNvPr id="4" name="object 4"/>
            <p:cNvSpPr/>
            <p:nvPr/>
          </p:nvSpPr>
          <p:spPr>
            <a:xfrm>
              <a:off x="4501133" y="1745742"/>
              <a:ext cx="459740" cy="0"/>
            </a:xfrm>
            <a:custGeom>
              <a:avLst/>
              <a:gdLst/>
              <a:ahLst/>
              <a:cxnLst/>
              <a:rect l="l" t="t" r="r" b="b"/>
              <a:pathLst>
                <a:path w="459739">
                  <a:moveTo>
                    <a:pt x="0" y="0"/>
                  </a:moveTo>
                  <a:lnTo>
                    <a:pt x="459143" y="0"/>
                  </a:lnTo>
                </a:path>
              </a:pathLst>
            </a:custGeom>
            <a:ln w="1270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84073" y="1701288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379" y="1075944"/>
              <a:ext cx="2263139" cy="13898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0696" y="1400556"/>
              <a:ext cx="1834895" cy="7772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8003" y="1089660"/>
              <a:ext cx="2183892" cy="131063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318004" y="1089660"/>
            <a:ext cx="2184400" cy="131064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75"/>
              </a:spcBef>
            </a:pPr>
            <a:endParaRPr sz="1800">
              <a:latin typeface="Times New Roman"/>
              <a:cs typeface="Times New Roman"/>
            </a:endParaRPr>
          </a:p>
          <a:p>
            <a:pPr marL="744855" marR="367665" indent="-370840">
              <a:lnSpc>
                <a:spcPts val="1870"/>
              </a:lnSpc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Client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makes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a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request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63668" y="1075944"/>
            <a:ext cx="2688590" cy="1390015"/>
            <a:chOff x="4963668" y="1075944"/>
            <a:chExt cx="2688590" cy="1390015"/>
          </a:xfrm>
        </p:grpSpPr>
        <p:sp>
          <p:nvSpPr>
            <p:cNvPr id="11" name="object 11"/>
            <p:cNvSpPr/>
            <p:nvPr/>
          </p:nvSpPr>
          <p:spPr>
            <a:xfrm>
              <a:off x="7186422" y="1745742"/>
              <a:ext cx="459740" cy="0"/>
            </a:xfrm>
            <a:custGeom>
              <a:avLst/>
              <a:gdLst/>
              <a:ahLst/>
              <a:cxnLst/>
              <a:rect l="l" t="t" r="r" b="b"/>
              <a:pathLst>
                <a:path w="459740">
                  <a:moveTo>
                    <a:pt x="0" y="0"/>
                  </a:moveTo>
                  <a:lnTo>
                    <a:pt x="459143" y="0"/>
                  </a:lnTo>
                </a:path>
              </a:pathLst>
            </a:custGeom>
            <a:ln w="12700">
              <a:solidFill>
                <a:srgbClr val="A8EB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69361" y="1701288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A8EB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3668" y="1075944"/>
              <a:ext cx="2264663" cy="13898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1100" y="1400556"/>
              <a:ext cx="2266187" cy="77723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003291" y="1089660"/>
            <a:ext cx="2185670" cy="1310640"/>
          </a:xfrm>
          <a:prstGeom prst="rect">
            <a:avLst/>
          </a:prstGeom>
          <a:solidFill>
            <a:srgbClr val="AB3B18"/>
          </a:solidFill>
        </p:spPr>
        <p:txBody>
          <a:bodyPr vert="horz" wrap="square" lIns="0" tIns="149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75"/>
              </a:spcBef>
            </a:pPr>
            <a:endParaRPr sz="1800">
              <a:latin typeface="Times New Roman"/>
              <a:cs typeface="Times New Roman"/>
            </a:endParaRPr>
          </a:p>
          <a:p>
            <a:pPr marL="293370" marR="153035" indent="-134620">
              <a:lnSpc>
                <a:spcPts val="1870"/>
              </a:lnSpc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Request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goes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container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59150" y="1075944"/>
            <a:ext cx="6574790" cy="1789430"/>
            <a:chOff x="3359150" y="1075944"/>
            <a:chExt cx="6574790" cy="1789430"/>
          </a:xfrm>
        </p:grpSpPr>
        <p:sp>
          <p:nvSpPr>
            <p:cNvPr id="17" name="object 17"/>
            <p:cNvSpPr/>
            <p:nvPr/>
          </p:nvSpPr>
          <p:spPr>
            <a:xfrm>
              <a:off x="3409946" y="2399538"/>
              <a:ext cx="5372735" cy="459740"/>
            </a:xfrm>
            <a:custGeom>
              <a:avLst/>
              <a:gdLst/>
              <a:ahLst/>
              <a:cxnLst/>
              <a:rect l="l" t="t" r="r" b="b"/>
              <a:pathLst>
                <a:path w="5372734" h="459739">
                  <a:moveTo>
                    <a:pt x="5372544" y="0"/>
                  </a:moveTo>
                  <a:lnTo>
                    <a:pt x="5372544" y="252958"/>
                  </a:lnTo>
                  <a:lnTo>
                    <a:pt x="0" y="252958"/>
                  </a:lnTo>
                  <a:lnTo>
                    <a:pt x="0" y="459143"/>
                  </a:lnTo>
                </a:path>
              </a:pathLst>
            </a:custGeom>
            <a:ln w="12700">
              <a:solidFill>
                <a:srgbClr val="22D7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65500" y="2782474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22D7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479" y="1075944"/>
              <a:ext cx="2263139" cy="13898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8579" y="1281684"/>
              <a:ext cx="2244851" cy="101498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90103" y="1089660"/>
              <a:ext cx="2183892" cy="131063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690104" y="1089660"/>
            <a:ext cx="2184400" cy="13106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endParaRPr sz="1800">
              <a:latin typeface="Times New Roman"/>
              <a:cs typeface="Times New Roman"/>
            </a:endParaRPr>
          </a:p>
          <a:p>
            <a:pPr marL="168910" marR="163195" indent="51435" algn="just">
              <a:lnSpc>
                <a:spcPts val="1870"/>
              </a:lnSpc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Container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decides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handling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800" spc="1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concerned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278379" y="2887979"/>
            <a:ext cx="2688590" cy="1390015"/>
            <a:chOff x="2278379" y="2887979"/>
            <a:chExt cx="2688590" cy="1390015"/>
          </a:xfrm>
        </p:grpSpPr>
        <p:sp>
          <p:nvSpPr>
            <p:cNvPr id="24" name="object 24"/>
            <p:cNvSpPr/>
            <p:nvPr/>
          </p:nvSpPr>
          <p:spPr>
            <a:xfrm>
              <a:off x="4501133" y="3557777"/>
              <a:ext cx="459740" cy="0"/>
            </a:xfrm>
            <a:custGeom>
              <a:avLst/>
              <a:gdLst/>
              <a:ahLst/>
              <a:cxnLst/>
              <a:rect l="l" t="t" r="r" b="b"/>
              <a:pathLst>
                <a:path w="459739">
                  <a:moveTo>
                    <a:pt x="0" y="0"/>
                  </a:moveTo>
                  <a:lnTo>
                    <a:pt x="459143" y="0"/>
                  </a:lnTo>
                </a:path>
              </a:pathLst>
            </a:custGeom>
            <a:ln w="12700">
              <a:solidFill>
                <a:srgbClr val="30C5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84073" y="3513324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30C5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379" y="2887979"/>
              <a:ext cx="2263139" cy="138988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0384" y="2974847"/>
              <a:ext cx="2255519" cy="125425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18003" y="2901695"/>
              <a:ext cx="2183892" cy="131063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318004" y="2901695"/>
            <a:ext cx="2184400" cy="131064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63830" marR="158750" algn="ctr">
              <a:lnSpc>
                <a:spcPts val="1870"/>
              </a:lnSpc>
              <a:spcBef>
                <a:spcPts val="138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If</a:t>
            </a:r>
            <a:r>
              <a:rPr sz="1800" spc="18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it cannot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handle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request,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it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forwards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them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another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 /</a:t>
            </a:r>
            <a:r>
              <a:rPr sz="1800" spc="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JSP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file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63668" y="2887979"/>
            <a:ext cx="2688590" cy="1390015"/>
            <a:chOff x="4963668" y="2887979"/>
            <a:chExt cx="2688590" cy="1390015"/>
          </a:xfrm>
        </p:grpSpPr>
        <p:sp>
          <p:nvSpPr>
            <p:cNvPr id="31" name="object 31"/>
            <p:cNvSpPr/>
            <p:nvPr/>
          </p:nvSpPr>
          <p:spPr>
            <a:xfrm>
              <a:off x="7186422" y="3557777"/>
              <a:ext cx="459740" cy="0"/>
            </a:xfrm>
            <a:custGeom>
              <a:avLst/>
              <a:gdLst/>
              <a:ahLst/>
              <a:cxnLst/>
              <a:rect l="l" t="t" r="r" b="b"/>
              <a:pathLst>
                <a:path w="459740">
                  <a:moveTo>
                    <a:pt x="0" y="0"/>
                  </a:moveTo>
                  <a:lnTo>
                    <a:pt x="459143" y="0"/>
                  </a:lnTo>
                </a:path>
              </a:pathLst>
            </a:custGeom>
            <a:ln w="1270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69361" y="3513324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3668" y="2887979"/>
              <a:ext cx="2264663" cy="13898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99888" y="3093719"/>
              <a:ext cx="1848611" cy="10165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03292" y="2901695"/>
              <a:ext cx="2185416" cy="131063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003291" y="2901695"/>
            <a:ext cx="2185670" cy="13106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1800">
              <a:latin typeface="Times New Roman"/>
              <a:cs typeface="Times New Roman"/>
            </a:endParaRPr>
          </a:p>
          <a:p>
            <a:pPr marL="367665" marR="361950" indent="-635" algn="ctr">
              <a:lnSpc>
                <a:spcPts val="1870"/>
              </a:lnSpc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sends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response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browser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50480" y="2887979"/>
            <a:ext cx="2263140" cy="1390015"/>
            <a:chOff x="7650480" y="2887979"/>
            <a:chExt cx="2263140" cy="1390015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480" y="2887979"/>
              <a:ext cx="2263139" cy="138988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92212" y="3093719"/>
              <a:ext cx="2039111" cy="101650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90104" y="2901695"/>
              <a:ext cx="2183892" cy="131063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690104" y="2901695"/>
            <a:ext cx="2184400" cy="13106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1800">
              <a:latin typeface="Times New Roman"/>
              <a:cs typeface="Times New Roman"/>
            </a:endParaRPr>
          </a:p>
          <a:p>
            <a:pPr marL="304800" marR="265430" indent="-32384" algn="just">
              <a:lnSpc>
                <a:spcPts val="1870"/>
              </a:lnSpc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Browser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makes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a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new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request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displays</a:t>
            </a:r>
            <a:r>
              <a:rPr sz="1800" spc="-7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result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542788" y="5151120"/>
            <a:ext cx="1779905" cy="772795"/>
            <a:chOff x="5542788" y="5151120"/>
            <a:chExt cx="1779905" cy="772795"/>
          </a:xfrm>
        </p:grpSpPr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42788" y="5151120"/>
              <a:ext cx="1639823" cy="68275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82411" y="5164835"/>
              <a:ext cx="1560576" cy="60350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000750" y="5316473"/>
              <a:ext cx="1316990" cy="601980"/>
            </a:xfrm>
            <a:custGeom>
              <a:avLst/>
              <a:gdLst/>
              <a:ahLst/>
              <a:cxnLst/>
              <a:rect l="l" t="t" r="r" b="b"/>
              <a:pathLst>
                <a:path w="1316990" h="601979">
                  <a:moveTo>
                    <a:pt x="1256538" y="0"/>
                  </a:moveTo>
                  <a:lnTo>
                    <a:pt x="60198" y="0"/>
                  </a:lnTo>
                  <a:lnTo>
                    <a:pt x="36765" y="4730"/>
                  </a:lnTo>
                  <a:lnTo>
                    <a:pt x="17630" y="17630"/>
                  </a:lnTo>
                  <a:lnTo>
                    <a:pt x="4730" y="36765"/>
                  </a:lnTo>
                  <a:lnTo>
                    <a:pt x="0" y="60197"/>
                  </a:lnTo>
                  <a:lnTo>
                    <a:pt x="0" y="541782"/>
                  </a:lnTo>
                  <a:lnTo>
                    <a:pt x="4730" y="565214"/>
                  </a:lnTo>
                  <a:lnTo>
                    <a:pt x="17630" y="584349"/>
                  </a:lnTo>
                  <a:lnTo>
                    <a:pt x="36765" y="597249"/>
                  </a:lnTo>
                  <a:lnTo>
                    <a:pt x="60198" y="601979"/>
                  </a:lnTo>
                  <a:lnTo>
                    <a:pt x="1256538" y="601979"/>
                  </a:lnTo>
                  <a:lnTo>
                    <a:pt x="1279970" y="597249"/>
                  </a:lnTo>
                  <a:lnTo>
                    <a:pt x="1299105" y="584349"/>
                  </a:lnTo>
                  <a:lnTo>
                    <a:pt x="1312005" y="565214"/>
                  </a:lnTo>
                  <a:lnTo>
                    <a:pt x="1316736" y="541782"/>
                  </a:lnTo>
                  <a:lnTo>
                    <a:pt x="1316736" y="60197"/>
                  </a:lnTo>
                  <a:lnTo>
                    <a:pt x="1312005" y="36765"/>
                  </a:lnTo>
                  <a:lnTo>
                    <a:pt x="1299105" y="17630"/>
                  </a:lnTo>
                  <a:lnTo>
                    <a:pt x="1279970" y="4730"/>
                  </a:lnTo>
                  <a:lnTo>
                    <a:pt x="1256538" y="0"/>
                  </a:lnTo>
                  <a:close/>
                </a:path>
              </a:pathLst>
            </a:custGeom>
            <a:solidFill>
              <a:srgbClr val="DDDDD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00750" y="5316473"/>
              <a:ext cx="1316990" cy="601980"/>
            </a:xfrm>
            <a:custGeom>
              <a:avLst/>
              <a:gdLst/>
              <a:ahLst/>
              <a:cxnLst/>
              <a:rect l="l" t="t" r="r" b="b"/>
              <a:pathLst>
                <a:path w="1316990" h="601979">
                  <a:moveTo>
                    <a:pt x="0" y="60197"/>
                  </a:moveTo>
                  <a:lnTo>
                    <a:pt x="4730" y="36765"/>
                  </a:lnTo>
                  <a:lnTo>
                    <a:pt x="17630" y="17630"/>
                  </a:lnTo>
                  <a:lnTo>
                    <a:pt x="36765" y="4730"/>
                  </a:lnTo>
                  <a:lnTo>
                    <a:pt x="60198" y="0"/>
                  </a:lnTo>
                  <a:lnTo>
                    <a:pt x="1256538" y="0"/>
                  </a:lnTo>
                  <a:lnTo>
                    <a:pt x="1279970" y="4730"/>
                  </a:lnTo>
                  <a:lnTo>
                    <a:pt x="1299105" y="17630"/>
                  </a:lnTo>
                  <a:lnTo>
                    <a:pt x="1312005" y="36765"/>
                  </a:lnTo>
                  <a:lnTo>
                    <a:pt x="1316736" y="60197"/>
                  </a:lnTo>
                  <a:lnTo>
                    <a:pt x="1316736" y="541782"/>
                  </a:lnTo>
                  <a:lnTo>
                    <a:pt x="1312005" y="565214"/>
                  </a:lnTo>
                  <a:lnTo>
                    <a:pt x="1299105" y="584349"/>
                  </a:lnTo>
                  <a:lnTo>
                    <a:pt x="1279970" y="597249"/>
                  </a:lnTo>
                  <a:lnTo>
                    <a:pt x="1256538" y="601979"/>
                  </a:lnTo>
                  <a:lnTo>
                    <a:pt x="60198" y="601979"/>
                  </a:lnTo>
                  <a:lnTo>
                    <a:pt x="36765" y="597249"/>
                  </a:lnTo>
                  <a:lnTo>
                    <a:pt x="17630" y="584349"/>
                  </a:lnTo>
                  <a:lnTo>
                    <a:pt x="4730" y="565214"/>
                  </a:lnTo>
                  <a:lnTo>
                    <a:pt x="0" y="541782"/>
                  </a:lnTo>
                  <a:lnTo>
                    <a:pt x="0" y="60197"/>
                  </a:lnTo>
                  <a:close/>
                </a:path>
              </a:pathLst>
            </a:custGeom>
            <a:ln w="9994">
              <a:solidFill>
                <a:srgbClr val="5552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165832" y="5310101"/>
            <a:ext cx="985519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1839"/>
              </a:lnSpc>
              <a:spcBef>
                <a:spcPts val="425"/>
              </a:spcBef>
            </a:pPr>
            <a:r>
              <a:rPr sz="1800" spc="-10" dirty="0">
                <a:latin typeface="Courier New"/>
                <a:cs typeface="Courier New"/>
              </a:rPr>
              <a:t>forward </a:t>
            </a:r>
            <a:r>
              <a:rPr sz="1800" spc="-25" dirty="0">
                <a:latin typeface="Courier New"/>
                <a:cs typeface="Courier New"/>
              </a:rPr>
              <a:t>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325867" y="5151120"/>
            <a:ext cx="1779905" cy="772795"/>
            <a:chOff x="7325867" y="5151120"/>
            <a:chExt cx="1779905" cy="772795"/>
          </a:xfrm>
        </p:grpSpPr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25867" y="5151120"/>
              <a:ext cx="1639823" cy="68275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65492" y="5164835"/>
              <a:ext cx="1560576" cy="60350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782305" y="5316473"/>
              <a:ext cx="1318260" cy="601980"/>
            </a:xfrm>
            <a:custGeom>
              <a:avLst/>
              <a:gdLst/>
              <a:ahLst/>
              <a:cxnLst/>
              <a:rect l="l" t="t" r="r" b="b"/>
              <a:pathLst>
                <a:path w="1318259" h="601979">
                  <a:moveTo>
                    <a:pt x="1258062" y="0"/>
                  </a:moveTo>
                  <a:lnTo>
                    <a:pt x="60198" y="0"/>
                  </a:lnTo>
                  <a:lnTo>
                    <a:pt x="36765" y="4730"/>
                  </a:lnTo>
                  <a:lnTo>
                    <a:pt x="17630" y="17630"/>
                  </a:lnTo>
                  <a:lnTo>
                    <a:pt x="4730" y="36765"/>
                  </a:lnTo>
                  <a:lnTo>
                    <a:pt x="0" y="60197"/>
                  </a:lnTo>
                  <a:lnTo>
                    <a:pt x="0" y="541782"/>
                  </a:lnTo>
                  <a:lnTo>
                    <a:pt x="4730" y="565214"/>
                  </a:lnTo>
                  <a:lnTo>
                    <a:pt x="17630" y="584349"/>
                  </a:lnTo>
                  <a:lnTo>
                    <a:pt x="36765" y="597249"/>
                  </a:lnTo>
                  <a:lnTo>
                    <a:pt x="60198" y="601979"/>
                  </a:lnTo>
                  <a:lnTo>
                    <a:pt x="1258062" y="601979"/>
                  </a:lnTo>
                  <a:lnTo>
                    <a:pt x="1281494" y="597249"/>
                  </a:lnTo>
                  <a:lnTo>
                    <a:pt x="1300629" y="584349"/>
                  </a:lnTo>
                  <a:lnTo>
                    <a:pt x="1313529" y="565214"/>
                  </a:lnTo>
                  <a:lnTo>
                    <a:pt x="1318260" y="541782"/>
                  </a:lnTo>
                  <a:lnTo>
                    <a:pt x="1318260" y="60197"/>
                  </a:lnTo>
                  <a:lnTo>
                    <a:pt x="1313529" y="36765"/>
                  </a:lnTo>
                  <a:lnTo>
                    <a:pt x="1300629" y="17630"/>
                  </a:lnTo>
                  <a:lnTo>
                    <a:pt x="1281494" y="4730"/>
                  </a:lnTo>
                  <a:lnTo>
                    <a:pt x="1258062" y="0"/>
                  </a:lnTo>
                  <a:close/>
                </a:path>
              </a:pathLst>
            </a:custGeom>
            <a:solidFill>
              <a:srgbClr val="DDDDD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782305" y="5316473"/>
              <a:ext cx="1318260" cy="601980"/>
            </a:xfrm>
            <a:custGeom>
              <a:avLst/>
              <a:gdLst/>
              <a:ahLst/>
              <a:cxnLst/>
              <a:rect l="l" t="t" r="r" b="b"/>
              <a:pathLst>
                <a:path w="1318259" h="601979">
                  <a:moveTo>
                    <a:pt x="0" y="60197"/>
                  </a:moveTo>
                  <a:lnTo>
                    <a:pt x="4730" y="36765"/>
                  </a:lnTo>
                  <a:lnTo>
                    <a:pt x="17630" y="17630"/>
                  </a:lnTo>
                  <a:lnTo>
                    <a:pt x="36765" y="4730"/>
                  </a:lnTo>
                  <a:lnTo>
                    <a:pt x="60198" y="0"/>
                  </a:lnTo>
                  <a:lnTo>
                    <a:pt x="1258062" y="0"/>
                  </a:lnTo>
                  <a:lnTo>
                    <a:pt x="1281494" y="4730"/>
                  </a:lnTo>
                  <a:lnTo>
                    <a:pt x="1300629" y="17630"/>
                  </a:lnTo>
                  <a:lnTo>
                    <a:pt x="1313529" y="36765"/>
                  </a:lnTo>
                  <a:lnTo>
                    <a:pt x="1318260" y="60197"/>
                  </a:lnTo>
                  <a:lnTo>
                    <a:pt x="1318260" y="541782"/>
                  </a:lnTo>
                  <a:lnTo>
                    <a:pt x="1313529" y="565214"/>
                  </a:lnTo>
                  <a:lnTo>
                    <a:pt x="1300629" y="584349"/>
                  </a:lnTo>
                  <a:lnTo>
                    <a:pt x="1281494" y="597249"/>
                  </a:lnTo>
                  <a:lnTo>
                    <a:pt x="1258062" y="601979"/>
                  </a:lnTo>
                  <a:lnTo>
                    <a:pt x="60198" y="601979"/>
                  </a:lnTo>
                  <a:lnTo>
                    <a:pt x="36765" y="597249"/>
                  </a:lnTo>
                  <a:lnTo>
                    <a:pt x="17630" y="584349"/>
                  </a:lnTo>
                  <a:lnTo>
                    <a:pt x="4730" y="565214"/>
                  </a:lnTo>
                  <a:lnTo>
                    <a:pt x="0" y="541782"/>
                  </a:lnTo>
                  <a:lnTo>
                    <a:pt x="0" y="60197"/>
                  </a:lnTo>
                  <a:close/>
                </a:path>
              </a:pathLst>
            </a:custGeom>
            <a:ln w="9994">
              <a:solidFill>
                <a:srgbClr val="5552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948350" y="5310101"/>
            <a:ext cx="985519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1839"/>
              </a:lnSpc>
              <a:spcBef>
                <a:spcPts val="425"/>
              </a:spcBef>
            </a:pPr>
            <a:r>
              <a:rPr sz="1800" spc="-10" dirty="0">
                <a:latin typeface="Courier New"/>
                <a:cs typeface="Courier New"/>
              </a:rPr>
              <a:t>include </a:t>
            </a:r>
            <a:r>
              <a:rPr sz="1800" spc="-25" dirty="0">
                <a:latin typeface="Courier New"/>
                <a:cs typeface="Courier New"/>
              </a:rPr>
              <a:t>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11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1976633" y="5166540"/>
            <a:ext cx="3126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same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use </a:t>
            </a:r>
            <a:r>
              <a:rPr sz="1800" dirty="0">
                <a:latin typeface="Calisto MT"/>
                <a:cs typeface="Calisto MT"/>
              </a:rPr>
              <a:t>these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share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data: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Initializing</a:t>
            </a:r>
            <a:r>
              <a:rPr spc="-95" dirty="0"/>
              <a:t> </a:t>
            </a:r>
            <a:r>
              <a:rPr spc="-10" dirty="0"/>
              <a:t>Servlets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12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15306" y="1607174"/>
          <a:ext cx="8637905" cy="4112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5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3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b="1" spc="-10" dirty="0">
                          <a:latin typeface="Calisto MT"/>
                          <a:cs typeface="Calisto MT"/>
                        </a:rPr>
                        <a:t>Method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b="1" spc="-10" dirty="0">
                          <a:latin typeface="Calisto MT"/>
                          <a:cs typeface="Calisto MT"/>
                        </a:rPr>
                        <a:t>Description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354965" indent="-286385">
                        <a:lnSpc>
                          <a:spcPts val="1945"/>
                        </a:lnSpc>
                        <a:buFont typeface="Arial"/>
                        <a:buChar char="•"/>
                        <a:tabLst>
                          <a:tab pos="354965" algn="l"/>
                        </a:tabLst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String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549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getInitParameter(String</a:t>
                      </a:r>
                      <a:r>
                        <a:rPr sz="1800" b="1" spc="-2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name)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830580">
                        <a:lnSpc>
                          <a:spcPts val="2160"/>
                        </a:lnSpc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Returns</a:t>
                      </a:r>
                      <a:r>
                        <a:rPr sz="1800" spc="-6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parameter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value</a:t>
                      </a:r>
                      <a:r>
                        <a:rPr sz="1800" spc="-5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for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the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specified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parameter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name.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354330" indent="-286385">
                        <a:lnSpc>
                          <a:spcPts val="1945"/>
                        </a:lnSpc>
                        <a:buFont typeface="Arial"/>
                        <a:buChar char="•"/>
                        <a:tabLst>
                          <a:tab pos="354330" algn="l"/>
                        </a:tabLst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Enumeration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5433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getInitParameterNames()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525145">
                        <a:lnSpc>
                          <a:spcPts val="2160"/>
                        </a:lnSpc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Returns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names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of</a:t>
                      </a:r>
                      <a:r>
                        <a:rPr sz="1800" spc="17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initialization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parameters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of</a:t>
                      </a:r>
                      <a:r>
                        <a:rPr sz="1800" spc="15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context.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354330" indent="-286385">
                        <a:lnSpc>
                          <a:spcPts val="1945"/>
                        </a:lnSpc>
                        <a:buFont typeface="Arial"/>
                        <a:buChar char="•"/>
                        <a:tabLst>
                          <a:tab pos="354330" algn="l"/>
                        </a:tabLst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b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void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54330" marR="80899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setAttribute(String</a:t>
                      </a:r>
                      <a:r>
                        <a:rPr sz="1800" b="1" spc="-1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name,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Object</a:t>
                      </a:r>
                      <a:r>
                        <a:rPr sz="18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object)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554990">
                        <a:lnSpc>
                          <a:spcPts val="2160"/>
                        </a:lnSpc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Sets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given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object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in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application scope.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353695" indent="-286385">
                        <a:lnSpc>
                          <a:spcPts val="1945"/>
                        </a:lnSpc>
                        <a:buFont typeface="Arial"/>
                        <a:buChar char="•"/>
                        <a:tabLst>
                          <a:tab pos="353695" algn="l"/>
                        </a:tabLst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543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getAttribute(String</a:t>
                      </a:r>
                      <a:r>
                        <a:rPr sz="1800" b="1" spc="-1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name)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672465">
                        <a:lnSpc>
                          <a:spcPts val="2160"/>
                        </a:lnSpc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Returns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attribute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for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specified name.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353695" indent="-286385">
                        <a:lnSpc>
                          <a:spcPts val="1945"/>
                        </a:lnSpc>
                        <a:buFont typeface="Arial"/>
                        <a:buChar char="•"/>
                        <a:tabLst>
                          <a:tab pos="353695" algn="l"/>
                        </a:tabLst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Enumeration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5369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getInitParameterNames()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917575" algn="just">
                        <a:lnSpc>
                          <a:spcPts val="2160"/>
                        </a:lnSpc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Returns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names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of</a:t>
                      </a:r>
                      <a:r>
                        <a:rPr sz="1800" spc="17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context's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initialization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parameters</a:t>
                      </a:r>
                      <a:r>
                        <a:rPr sz="1800" spc="-7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as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an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Enumeration</a:t>
                      </a:r>
                      <a:r>
                        <a:rPr sz="1800" spc="-6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of</a:t>
                      </a:r>
                      <a:r>
                        <a:rPr sz="1800" spc="1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String</a:t>
                      </a:r>
                      <a:r>
                        <a:rPr sz="1800" spc="-5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objects.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353695" indent="-286385">
                        <a:lnSpc>
                          <a:spcPts val="1945"/>
                        </a:lnSpc>
                        <a:buFont typeface="Arial"/>
                        <a:buChar char="•"/>
                        <a:tabLst>
                          <a:tab pos="353695" algn="l"/>
                        </a:tabLst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sz="1800" b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void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53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removeAttribute(String</a:t>
                      </a:r>
                      <a:r>
                        <a:rPr sz="1800" b="1" spc="-2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name)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133350">
                        <a:lnSpc>
                          <a:spcPts val="2160"/>
                        </a:lnSpc>
                      </a:pPr>
                      <a:r>
                        <a:rPr sz="1800" spc="-20" dirty="0">
                          <a:latin typeface="Calisto MT"/>
                          <a:cs typeface="Calisto MT"/>
                        </a:rPr>
                        <a:t>Removes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attribute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with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given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name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from the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servlet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context.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65253" y="941771"/>
            <a:ext cx="2658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ServletContext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Error</a:t>
            </a:r>
            <a:r>
              <a:rPr spc="-50" dirty="0"/>
              <a:t> </a:t>
            </a:r>
            <a:r>
              <a:rPr dirty="0"/>
              <a:t>Handling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Servlets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13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39107" y="1585316"/>
          <a:ext cx="8790305" cy="434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10" dirty="0">
                          <a:latin typeface="Calisto MT"/>
                          <a:cs typeface="Calisto MT"/>
                        </a:rPr>
                        <a:t>Status</a:t>
                      </a:r>
                      <a:endParaRPr sz="1800">
                        <a:latin typeface="Calisto MT"/>
                        <a:cs typeface="Calisto MT"/>
                      </a:endParaRPr>
                    </a:p>
                    <a:p>
                      <a:pPr marL="2654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latin typeface="Calisto MT"/>
                          <a:cs typeface="Calisto MT"/>
                        </a:rPr>
                        <a:t>Code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483234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10" dirty="0">
                          <a:latin typeface="Calisto MT"/>
                          <a:cs typeface="Calisto MT"/>
                        </a:rPr>
                        <a:t>Associated</a:t>
                      </a:r>
                      <a:endParaRPr sz="1800">
                        <a:latin typeface="Calisto MT"/>
                        <a:cs typeface="Calisto MT"/>
                      </a:endParaRPr>
                    </a:p>
                    <a:p>
                      <a:pPr marL="600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latin typeface="Calisto MT"/>
                          <a:cs typeface="Calisto MT"/>
                        </a:rPr>
                        <a:t>Message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10" dirty="0">
                          <a:latin typeface="Calisto MT"/>
                          <a:cs typeface="Calisto MT"/>
                        </a:rPr>
                        <a:t>Meaning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25" dirty="0">
                          <a:latin typeface="Calisto MT"/>
                          <a:cs typeface="Calisto MT"/>
                        </a:rPr>
                        <a:t>301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Moved</a:t>
                      </a:r>
                      <a:endParaRPr sz="1800">
                        <a:latin typeface="Calisto MT"/>
                        <a:cs typeface="Calisto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Permanently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Document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moved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separate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location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as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mentioned</a:t>
                      </a:r>
                      <a:r>
                        <a:rPr sz="1800" spc="-6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in</a:t>
                      </a:r>
                      <a:endParaRPr sz="1800">
                        <a:latin typeface="Calisto MT"/>
                        <a:cs typeface="Calisto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Calisto MT"/>
                          <a:cs typeface="Calisto MT"/>
                        </a:rPr>
                        <a:t>URL.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25" dirty="0">
                          <a:latin typeface="Calisto MT"/>
                          <a:cs typeface="Calisto MT"/>
                        </a:rPr>
                        <a:t>302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Found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Temporary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replacement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of</a:t>
                      </a:r>
                      <a:r>
                        <a:rPr sz="1800" spc="16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file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from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one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location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the</a:t>
                      </a:r>
                      <a:endParaRPr sz="1800">
                        <a:latin typeface="Calisto MT"/>
                        <a:cs typeface="Calisto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other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as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specified.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b="1" spc="-25" dirty="0">
                          <a:latin typeface="Calisto MT"/>
                          <a:cs typeface="Calisto MT"/>
                        </a:rPr>
                        <a:t>400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Bad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Request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request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placed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syntactically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incorrect.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b="1" spc="-25" dirty="0">
                          <a:latin typeface="Calisto MT"/>
                          <a:cs typeface="Calisto MT"/>
                        </a:rPr>
                        <a:t>401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Unauthorized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Authorization</a:t>
                      </a:r>
                      <a:r>
                        <a:rPr sz="1800" spc="-7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not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given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access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password-</a:t>
                      </a:r>
                      <a:endParaRPr sz="1800">
                        <a:latin typeface="Calisto MT"/>
                        <a:cs typeface="Calisto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protected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page.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b="1" spc="-25" dirty="0">
                          <a:latin typeface="Calisto MT"/>
                          <a:cs typeface="Calisto MT"/>
                        </a:rPr>
                        <a:t>404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Not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Found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Resource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not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found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in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specified</a:t>
                      </a:r>
                      <a:r>
                        <a:rPr sz="1800" spc="-5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address.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b="1" spc="-25" dirty="0">
                          <a:latin typeface="Calisto MT"/>
                          <a:cs typeface="Calisto MT"/>
                        </a:rPr>
                        <a:t>408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28575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Request</a:t>
                      </a:r>
                      <a:r>
                        <a:rPr sz="1800" spc="-1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Timeout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28575">
                      <a:solidFill>
                        <a:srgbClr val="4189B3"/>
                      </a:solidFill>
                      <a:prstDash val="solid"/>
                    </a:lnB>
                    <a:solidFill>
                      <a:srgbClr val="CFDAE4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Time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taken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by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client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very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long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</a:t>
                      </a:r>
                      <a:r>
                        <a:rPr sz="1800" spc="-2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send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request.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28575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b="1" spc="-25" dirty="0">
                          <a:latin typeface="Calisto MT"/>
                          <a:cs typeface="Calisto MT"/>
                        </a:rPr>
                        <a:t>500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28575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Internal</a:t>
                      </a:r>
                      <a:r>
                        <a:rPr sz="1800" spc="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Server</a:t>
                      </a:r>
                      <a:endParaRPr sz="1800">
                        <a:latin typeface="Calisto MT"/>
                        <a:cs typeface="Calisto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Calisto MT"/>
                          <a:cs typeface="Calisto MT"/>
                        </a:rPr>
                        <a:t>Error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28575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Server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unable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to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locate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requested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file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due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to</a:t>
                      </a:r>
                      <a:endParaRPr sz="1800">
                        <a:latin typeface="Calisto MT"/>
                        <a:cs typeface="Calisto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alisto MT"/>
                          <a:cs typeface="Calisto MT"/>
                        </a:rPr>
                        <a:t>servlet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deletion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or</a:t>
                      </a:r>
                      <a:r>
                        <a:rPr sz="1800" spc="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crash.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28575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431556" y="946278"/>
            <a:ext cx="1327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sto MT"/>
                <a:cs typeface="Calisto MT"/>
              </a:rPr>
              <a:t>Status</a:t>
            </a:r>
            <a:r>
              <a:rPr sz="1800" b="1" spc="-30" dirty="0">
                <a:latin typeface="Calisto MT"/>
                <a:cs typeface="Calisto MT"/>
              </a:rPr>
              <a:t> </a:t>
            </a:r>
            <a:r>
              <a:rPr sz="1800" b="1" spc="-20" dirty="0">
                <a:latin typeface="Calisto MT"/>
                <a:cs typeface="Calisto MT"/>
              </a:rPr>
              <a:t>Codes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File</a:t>
            </a:r>
            <a:r>
              <a:rPr spc="-40" dirty="0"/>
              <a:t> </a:t>
            </a:r>
            <a:r>
              <a:rPr spc="-10" dirty="0"/>
              <a:t>Upload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1927" y="1380744"/>
            <a:ext cx="7246620" cy="4147185"/>
            <a:chOff x="2471927" y="1380744"/>
            <a:chExt cx="7246620" cy="4147185"/>
          </a:xfrm>
        </p:grpSpPr>
        <p:sp>
          <p:nvSpPr>
            <p:cNvPr id="4" name="object 4"/>
            <p:cNvSpPr/>
            <p:nvPr/>
          </p:nvSpPr>
          <p:spPr>
            <a:xfrm>
              <a:off x="2514599" y="1397508"/>
              <a:ext cx="7162800" cy="4063365"/>
            </a:xfrm>
            <a:custGeom>
              <a:avLst/>
              <a:gdLst/>
              <a:ahLst/>
              <a:cxnLst/>
              <a:rect l="l" t="t" r="r" b="b"/>
              <a:pathLst>
                <a:path w="7162800" h="4063365">
                  <a:moveTo>
                    <a:pt x="7162800" y="0"/>
                  </a:moveTo>
                  <a:lnTo>
                    <a:pt x="0" y="0"/>
                  </a:lnTo>
                  <a:lnTo>
                    <a:pt x="0" y="4062984"/>
                  </a:lnTo>
                  <a:lnTo>
                    <a:pt x="7162800" y="4062984"/>
                  </a:lnTo>
                  <a:lnTo>
                    <a:pt x="7162800" y="0"/>
                  </a:lnTo>
                  <a:close/>
                </a:path>
              </a:pathLst>
            </a:custGeom>
            <a:solidFill>
              <a:srgbClr val="9D36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1927" y="1380744"/>
              <a:ext cx="7246619" cy="414680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941351" y="2168969"/>
            <a:ext cx="6308090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499870" marR="5080" indent="-1487805">
              <a:lnSpc>
                <a:spcPts val="2080"/>
              </a:lnSpc>
              <a:spcBef>
                <a:spcPts val="440"/>
              </a:spcBef>
            </a:pP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When</a:t>
            </a:r>
            <a:r>
              <a:rPr sz="20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data</a:t>
            </a:r>
            <a:r>
              <a:rPr sz="20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sent</a:t>
            </a:r>
            <a:r>
              <a:rPr sz="20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as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form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data</a:t>
            </a:r>
            <a:r>
              <a:rPr sz="20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or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as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multipart,</a:t>
            </a:r>
            <a:r>
              <a:rPr sz="20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files can</a:t>
            </a:r>
            <a:r>
              <a:rPr sz="20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be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uploaded</a:t>
            </a:r>
            <a:r>
              <a:rPr sz="2000" spc="-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using</a:t>
            </a:r>
            <a:r>
              <a:rPr sz="20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these</a:t>
            </a:r>
            <a:r>
              <a:rPr sz="20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methods: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70404" y="3491484"/>
            <a:ext cx="3671570" cy="1958339"/>
            <a:chOff x="2470404" y="3491484"/>
            <a:chExt cx="3671570" cy="195833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0404" y="3491484"/>
              <a:ext cx="3671315" cy="19583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1696" y="3945636"/>
              <a:ext cx="2958083" cy="11003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15362" y="3510534"/>
              <a:ext cx="3581400" cy="1870075"/>
            </a:xfrm>
            <a:custGeom>
              <a:avLst/>
              <a:gdLst/>
              <a:ahLst/>
              <a:cxnLst/>
              <a:rect l="l" t="t" r="r" b="b"/>
              <a:pathLst>
                <a:path w="3581400" h="1870075">
                  <a:moveTo>
                    <a:pt x="3581400" y="0"/>
                  </a:moveTo>
                  <a:lnTo>
                    <a:pt x="0" y="0"/>
                  </a:lnTo>
                  <a:lnTo>
                    <a:pt x="0" y="1869948"/>
                  </a:lnTo>
                  <a:lnTo>
                    <a:pt x="3581400" y="1869948"/>
                  </a:lnTo>
                  <a:lnTo>
                    <a:pt x="3581400" y="0"/>
                  </a:lnTo>
                  <a:close/>
                </a:path>
              </a:pathLst>
            </a:custGeom>
            <a:solidFill>
              <a:srgbClr val="FFDF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15362" y="3510534"/>
              <a:ext cx="3581400" cy="1870075"/>
            </a:xfrm>
            <a:custGeom>
              <a:avLst/>
              <a:gdLst/>
              <a:ahLst/>
              <a:cxnLst/>
              <a:rect l="l" t="t" r="r" b="b"/>
              <a:pathLst>
                <a:path w="3581400" h="1870075">
                  <a:moveTo>
                    <a:pt x="0" y="0"/>
                  </a:moveTo>
                  <a:lnTo>
                    <a:pt x="3581400" y="0"/>
                  </a:lnTo>
                  <a:lnTo>
                    <a:pt x="3581400" y="1869948"/>
                  </a:lnTo>
                  <a:lnTo>
                    <a:pt x="0" y="1869948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FFDF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20359" y="3976274"/>
            <a:ext cx="3571875" cy="84772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564515" marR="559435" indent="-635" algn="ctr">
              <a:lnSpc>
                <a:spcPct val="84800"/>
              </a:lnSpc>
              <a:spcBef>
                <a:spcPts val="465"/>
              </a:spcBef>
            </a:pPr>
            <a:r>
              <a:rPr sz="2000" spc="-10" dirty="0">
                <a:latin typeface="Courier New"/>
                <a:cs typeface="Courier New"/>
              </a:rPr>
              <a:t>public Collection&lt;Part&gt; getParts()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51803" y="3491484"/>
            <a:ext cx="3671570" cy="1958339"/>
            <a:chOff x="6051803" y="3491484"/>
            <a:chExt cx="3671570" cy="1958339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1803" y="3491484"/>
              <a:ext cx="3671315" cy="19583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8295" y="4075176"/>
              <a:ext cx="3415283" cy="84277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096761" y="3510534"/>
            <a:ext cx="3581400" cy="1870075"/>
          </a:xfrm>
          <a:prstGeom prst="rect">
            <a:avLst/>
          </a:prstGeom>
          <a:solidFill>
            <a:srgbClr val="CFDAE4">
              <a:alpha val="90194"/>
            </a:srgbClr>
          </a:solidFill>
          <a:ln w="9994">
            <a:solidFill>
              <a:srgbClr val="CFDAE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00">
              <a:latin typeface="Times New Roman"/>
              <a:cs typeface="Times New Roman"/>
            </a:endParaRPr>
          </a:p>
          <a:p>
            <a:pPr marL="264795" marR="259715" indent="685800">
              <a:lnSpc>
                <a:spcPts val="2039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public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Part </a:t>
            </a:r>
            <a:r>
              <a:rPr sz="2000" dirty="0">
                <a:latin typeface="Courier New"/>
                <a:cs typeface="Courier New"/>
              </a:rPr>
              <a:t>getPart(String</a:t>
            </a:r>
            <a:r>
              <a:rPr sz="2000" spc="-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name)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82" y="592768"/>
            <a:ext cx="11137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Web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component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based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technology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managed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container</a:t>
            </a:r>
            <a:r>
              <a:rPr sz="1800" spc="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responsible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082" y="696401"/>
            <a:ext cx="11139170" cy="287591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1225"/>
              </a:spcBef>
            </a:pP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generating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dynamic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content.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3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init()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service()</a:t>
            </a:r>
            <a:r>
              <a:rPr sz="1800" dirty="0">
                <a:latin typeface="Calisto MT"/>
                <a:cs typeface="Calisto MT"/>
              </a:rPr>
              <a:t>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destroy()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servlet's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lifecycle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methods.</a:t>
            </a:r>
            <a:endParaRPr sz="1800">
              <a:latin typeface="Calisto MT"/>
              <a:cs typeface="Calisto MT"/>
            </a:endParaRPr>
          </a:p>
          <a:p>
            <a:pPr marL="194310" marR="5080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GenericServlet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class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defines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 that is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not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protocol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dependent. </a:t>
            </a:r>
            <a:r>
              <a:rPr sz="1800" spc="-10" dirty="0">
                <a:latin typeface="Calisto MT"/>
                <a:cs typeface="Calisto MT"/>
              </a:rPr>
              <a:t>To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have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better control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over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required 	</a:t>
            </a:r>
            <a:r>
              <a:rPr sz="1800" dirty="0">
                <a:latin typeface="Calisto MT"/>
                <a:cs typeface="Calisto MT"/>
              </a:rPr>
              <a:t>servlets,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HttpServlet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extended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GenericServlet</a:t>
            </a:r>
            <a:r>
              <a:rPr sz="1800" spc="-10" dirty="0">
                <a:latin typeface="Calisto MT"/>
                <a:cs typeface="Calisto MT"/>
              </a:rPr>
              <a:t>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ts val="2030"/>
              </a:lnSpc>
              <a:spcBef>
                <a:spcPts val="121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2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2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contains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25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2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25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passed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2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2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2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229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servlet.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requests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implement</a:t>
            </a:r>
            <a:r>
              <a:rPr sz="1800" spc="2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</a:t>
            </a:r>
            <a:endParaRPr sz="1800">
              <a:latin typeface="Calisto MT"/>
              <a:cs typeface="Calisto MT"/>
            </a:endParaRPr>
          </a:p>
          <a:p>
            <a:pPr marL="194945">
              <a:lnSpc>
                <a:spcPts val="2030"/>
              </a:lnSpc>
            </a:pPr>
            <a:r>
              <a:rPr sz="1800" dirty="0">
                <a:latin typeface="Courier New"/>
                <a:cs typeface="Courier New"/>
              </a:rPr>
              <a:t>ServletRequest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relevant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information.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ts val="2020"/>
              </a:lnSpc>
              <a:spcBef>
                <a:spcPts val="124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3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contains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3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3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passed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3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client.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3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responses</a:t>
            </a:r>
            <a:r>
              <a:rPr sz="1800" spc="3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implement</a:t>
            </a:r>
            <a:r>
              <a:rPr sz="1800" spc="30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</a:t>
            </a:r>
            <a:endParaRPr sz="1800">
              <a:latin typeface="Calisto MT"/>
              <a:cs typeface="Calisto MT"/>
            </a:endParaRPr>
          </a:p>
          <a:p>
            <a:pPr marL="194945">
              <a:lnSpc>
                <a:spcPts val="2020"/>
              </a:lnSpc>
            </a:pPr>
            <a:r>
              <a:rPr sz="1800" dirty="0">
                <a:latin typeface="Courier New"/>
                <a:cs typeface="Courier New"/>
              </a:rPr>
              <a:t>ServletResponse</a:t>
            </a:r>
            <a:r>
              <a:rPr sz="1800" spc="-1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interface.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This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interface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defines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various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response.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082" y="3697156"/>
            <a:ext cx="11139170" cy="2816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1610">
              <a:lnSpc>
                <a:spcPts val="2050"/>
              </a:lnSpc>
              <a:spcBef>
                <a:spcPts val="100"/>
              </a:spcBef>
              <a:buSzPct val="80555"/>
              <a:buFont typeface="Corbel"/>
              <a:buChar char="•"/>
              <a:tabLst>
                <a:tab pos="194310" algn="l"/>
                <a:tab pos="751205" algn="l"/>
                <a:tab pos="1250950" algn="l"/>
                <a:tab pos="1726564" algn="l"/>
                <a:tab pos="4442460" algn="l"/>
                <a:tab pos="5315585" algn="l"/>
                <a:tab pos="5772785" algn="l"/>
                <a:tab pos="6432550" algn="l"/>
                <a:tab pos="7240270" algn="l"/>
                <a:tab pos="7599680" algn="l"/>
                <a:tab pos="7869555" algn="l"/>
              </a:tabLst>
            </a:pPr>
            <a:r>
              <a:rPr sz="1800" spc="-25" dirty="0">
                <a:latin typeface="Calisto MT"/>
                <a:cs typeface="Calisto MT"/>
              </a:rPr>
              <a:t>You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25" dirty="0">
                <a:latin typeface="Calisto MT"/>
                <a:cs typeface="Calisto MT"/>
              </a:rPr>
              <a:t>can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25" dirty="0">
                <a:latin typeface="Calisto MT"/>
                <a:cs typeface="Calisto MT"/>
              </a:rPr>
              <a:t>use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dirty="0">
                <a:latin typeface="Courier New"/>
                <a:cs typeface="Courier New"/>
              </a:rPr>
              <a:t>getInputStream()</a:t>
            </a:r>
            <a:r>
              <a:rPr sz="1800" spc="20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retrieve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25" dirty="0">
                <a:latin typeface="Calisto MT"/>
                <a:cs typeface="Calisto MT"/>
              </a:rPr>
              <a:t>the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input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10" dirty="0">
                <a:latin typeface="Calisto MT"/>
                <a:cs typeface="Calisto MT"/>
              </a:rPr>
              <a:t>stream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25" dirty="0">
                <a:latin typeface="Calisto MT"/>
                <a:cs typeface="Calisto MT"/>
              </a:rPr>
              <a:t>as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spc="-50" dirty="0">
                <a:latin typeface="Calisto MT"/>
                <a:cs typeface="Calisto MT"/>
              </a:rPr>
              <a:t>a</a:t>
            </a:r>
            <a:r>
              <a:rPr sz="1800" dirty="0">
                <a:latin typeface="Calisto MT"/>
                <a:cs typeface="Calisto MT"/>
              </a:rPr>
              <a:t>	</a:t>
            </a:r>
            <a:r>
              <a:rPr sz="1800" dirty="0">
                <a:latin typeface="Courier New"/>
                <a:cs typeface="Courier New"/>
              </a:rPr>
              <a:t>ServletInputStream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object.</a:t>
            </a:r>
            <a:endParaRPr sz="1800">
              <a:latin typeface="Calisto MT"/>
              <a:cs typeface="Calisto MT"/>
            </a:endParaRPr>
          </a:p>
          <a:p>
            <a:pPr marL="194945">
              <a:lnSpc>
                <a:spcPts val="2050"/>
              </a:lnSpc>
            </a:pPr>
            <a:r>
              <a:rPr sz="1800" spc="-10" dirty="0">
                <a:latin typeface="Courier New"/>
                <a:cs typeface="Courier New"/>
              </a:rPr>
              <a:t>ServletOutputStream</a:t>
            </a:r>
            <a:r>
              <a:rPr sz="1800" spc="-64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output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stream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sending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binary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 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client.</a:t>
            </a:r>
            <a:endParaRPr sz="1800">
              <a:latin typeface="Calisto MT"/>
              <a:cs typeface="Calisto MT"/>
            </a:endParaRPr>
          </a:p>
          <a:p>
            <a:pPr marL="193675" marR="5080" indent="-181610" algn="just">
              <a:lnSpc>
                <a:spcPts val="1989"/>
              </a:lnSpc>
              <a:spcBef>
                <a:spcPts val="1395"/>
              </a:spcBef>
              <a:buSzPct val="80555"/>
              <a:buFont typeface="Corbel"/>
              <a:buChar char="•"/>
              <a:tabLst>
                <a:tab pos="196215" algn="l"/>
              </a:tabLst>
            </a:pPr>
            <a:r>
              <a:rPr sz="1800" dirty="0">
                <a:latin typeface="Calisto MT"/>
                <a:cs typeface="Calisto MT"/>
              </a:rPr>
              <a:t>include methods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along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RequestDispatcher</a:t>
            </a:r>
            <a:r>
              <a:rPr sz="1800" spc="-24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interface.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Inter-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communication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	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gain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other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currently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loaded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perform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some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tasks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other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servlets.</a:t>
            </a:r>
            <a:endParaRPr sz="1800">
              <a:latin typeface="Calisto MT"/>
              <a:cs typeface="Calisto MT"/>
            </a:endParaRPr>
          </a:p>
          <a:p>
            <a:pPr marL="194310" marR="5080" indent="-182245" algn="just">
              <a:lnSpc>
                <a:spcPts val="1939"/>
              </a:lnSpc>
              <a:spcBef>
                <a:spcPts val="134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Errors</a:t>
            </a:r>
            <a:r>
              <a:rPr sz="1800" spc="-1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Web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reported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spc="-35" dirty="0">
                <a:latin typeface="Courier New"/>
                <a:cs typeface="Courier New"/>
              </a:rPr>
              <a:t>sendError</a:t>
            </a:r>
            <a:r>
              <a:rPr sz="1800" spc="-23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spc="-35" dirty="0">
                <a:latin typeface="Courier New"/>
                <a:cs typeface="Courier New"/>
              </a:rPr>
              <a:t>setStatus</a:t>
            </a:r>
            <a:r>
              <a:rPr sz="1800" spc="-23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methods.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Errors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are </a:t>
            </a:r>
            <a:r>
              <a:rPr sz="1800" dirty="0">
                <a:latin typeface="Calisto MT"/>
                <a:cs typeface="Calisto MT"/>
              </a:rPr>
              <a:t>logged</a:t>
            </a:r>
            <a:r>
              <a:rPr sz="1800" spc="31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31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1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log</a:t>
            </a:r>
            <a:r>
              <a:rPr sz="1800" spc="31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method</a:t>
            </a:r>
            <a:r>
              <a:rPr sz="1800" spc="31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409" dirty="0">
                <a:latin typeface="Calisto MT"/>
                <a:cs typeface="Calisto MT"/>
              </a:rPr>
              <a:t>  </a:t>
            </a:r>
            <a:r>
              <a:rPr sz="1800" dirty="0">
                <a:latin typeface="Courier New"/>
                <a:cs typeface="Courier New"/>
              </a:rPr>
              <a:t>ServletContext</a:t>
            </a:r>
            <a:r>
              <a:rPr sz="1800" spc="459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31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forwarded</a:t>
            </a:r>
            <a:r>
              <a:rPr sz="1800" spc="31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31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31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error</a:t>
            </a:r>
            <a:r>
              <a:rPr sz="1800" spc="31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31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305" dirty="0">
                <a:latin typeface="Calisto MT"/>
                <a:cs typeface="Calisto MT"/>
              </a:rPr>
              <a:t> 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dirty="0">
                <a:latin typeface="Courier New"/>
                <a:cs typeface="Courier New"/>
              </a:rPr>
              <a:t>RequestDispatcher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interface.</a:t>
            </a:r>
            <a:endParaRPr sz="1800">
              <a:latin typeface="Calisto MT"/>
              <a:cs typeface="Calisto MT"/>
            </a:endParaRPr>
          </a:p>
          <a:p>
            <a:pPr marL="193675" marR="6985" indent="-181610" algn="just">
              <a:lnSpc>
                <a:spcPts val="2000"/>
              </a:lnSpc>
              <a:spcBef>
                <a:spcPts val="1365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3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RequestDispatcher</a:t>
            </a:r>
            <a:r>
              <a:rPr sz="1800" spc="-254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3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redirect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3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Web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3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receiving</a:t>
            </a:r>
            <a:r>
              <a:rPr sz="1800" spc="3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3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error 	</a:t>
            </a:r>
            <a:r>
              <a:rPr sz="1800" dirty="0">
                <a:latin typeface="Calisto MT"/>
                <a:cs typeface="Calisto MT"/>
              </a:rPr>
              <a:t>message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952</Words>
  <Application>Microsoft Office PowerPoint</Application>
  <PresentationFormat>Widescreen</PresentationFormat>
  <Paragraphs>213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Algerian</vt:lpstr>
      <vt:lpstr>Arial</vt:lpstr>
      <vt:lpstr>Arial Black</vt:lpstr>
      <vt:lpstr>Arial Rounded MT Bold</vt:lpstr>
      <vt:lpstr>Calibri</vt:lpstr>
      <vt:lpstr>Calisto MT</vt:lpstr>
      <vt:lpstr>Corbel</vt:lpstr>
      <vt:lpstr>Courier New</vt:lpstr>
      <vt:lpstr>Times New Roman</vt:lpstr>
      <vt:lpstr>Office Theme</vt:lpstr>
      <vt:lpstr>Jakarta Server Pages and</vt:lpstr>
      <vt:lpstr>Objectives</vt:lpstr>
      <vt:lpstr>Introduction</vt:lpstr>
      <vt:lpstr>Servlet API</vt:lpstr>
      <vt:lpstr>Servlet Lifecycle</vt:lpstr>
      <vt:lpstr>Servlet Architecture</vt:lpstr>
      <vt:lpstr>Handling Servlet Request</vt:lpstr>
      <vt:lpstr>Handling Servlet Response</vt:lpstr>
      <vt:lpstr>Response and Sending Headers</vt:lpstr>
      <vt:lpstr>Reading Binary Data</vt:lpstr>
      <vt:lpstr>Redirecting Requests</vt:lpstr>
      <vt:lpstr>Initializing Servlets</vt:lpstr>
      <vt:lpstr>Error Handling in Servlets</vt:lpstr>
      <vt:lpstr>File Upload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4</cp:revision>
  <dcterms:created xsi:type="dcterms:W3CDTF">2025-10-19T10:33:49Z</dcterms:created>
  <dcterms:modified xsi:type="dcterms:W3CDTF">2025-10-20T00:47:00Z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