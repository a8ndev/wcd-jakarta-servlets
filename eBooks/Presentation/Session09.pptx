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349" r:id="rId4"/>
    <p:sldId id="350" r:id="rId5"/>
    <p:sldId id="351" r:id="rId6"/>
    <p:sldId id="352" r:id="rId7"/>
    <p:sldId id="353" r:id="rId8"/>
    <p:sldId id="354" r:id="rId9"/>
    <p:sldId id="355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87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907" y="79546"/>
            <a:ext cx="580898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80291" y="1592148"/>
            <a:ext cx="2744470" cy="346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907" y="33827"/>
            <a:ext cx="1201018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0712" y="1300308"/>
            <a:ext cx="6851650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74575" y="6635253"/>
            <a:ext cx="102870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19714" y="6613906"/>
            <a:ext cx="33083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sp>
          <p:nvSpPr>
            <p:cNvPr id="4" name="object 4"/>
            <p:cNvSpPr/>
            <p:nvPr/>
          </p:nvSpPr>
          <p:spPr>
            <a:xfrm>
              <a:off x="126492" y="2930651"/>
              <a:ext cx="11963400" cy="3736975"/>
            </a:xfrm>
            <a:custGeom>
              <a:avLst/>
              <a:gdLst/>
              <a:ahLst/>
              <a:cxnLst/>
              <a:rect l="l" t="t" r="r" b="b"/>
              <a:pathLst>
                <a:path w="11963400" h="3736975">
                  <a:moveTo>
                    <a:pt x="11963400" y="0"/>
                  </a:moveTo>
                  <a:lnTo>
                    <a:pt x="0" y="0"/>
                  </a:lnTo>
                  <a:lnTo>
                    <a:pt x="0" y="3736848"/>
                  </a:lnTo>
                  <a:lnTo>
                    <a:pt x="11963400" y="3736848"/>
                  </a:lnTo>
                  <a:lnTo>
                    <a:pt x="1196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7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827" y="2222496"/>
            <a:ext cx="69913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 Rounded MT Bold"/>
                <a:cs typeface="Arial Rounded MT Bold"/>
              </a:rPr>
              <a:t>Jakarta</a:t>
            </a:r>
            <a:r>
              <a:rPr sz="4400" spc="-190" dirty="0">
                <a:latin typeface="Arial Rounded MT Bold"/>
                <a:cs typeface="Arial Rounded MT Bold"/>
              </a:rPr>
              <a:t> </a:t>
            </a:r>
            <a:r>
              <a:rPr sz="4400" dirty="0">
                <a:latin typeface="Arial Rounded MT Bold"/>
                <a:cs typeface="Arial Rounded MT Bold"/>
              </a:rPr>
              <a:t>Server</a:t>
            </a:r>
            <a:r>
              <a:rPr sz="4400" spc="-204" dirty="0">
                <a:latin typeface="Arial Rounded MT Bold"/>
                <a:cs typeface="Arial Rounded MT Bold"/>
              </a:rPr>
              <a:t> </a:t>
            </a:r>
            <a:r>
              <a:rPr sz="4400" spc="-30" dirty="0">
                <a:latin typeface="Arial Rounded MT Bold"/>
                <a:cs typeface="Arial Rounded MT Bold"/>
              </a:rPr>
              <a:t>Pages</a:t>
            </a:r>
            <a:r>
              <a:rPr sz="4400" spc="-195" dirty="0">
                <a:latin typeface="Arial Rounded MT Bold"/>
                <a:cs typeface="Arial Rounded MT Bold"/>
              </a:rPr>
              <a:t> </a:t>
            </a:r>
            <a:r>
              <a:rPr sz="4400" spc="-25" dirty="0">
                <a:latin typeface="Arial Rounded MT Bold"/>
                <a:cs typeface="Arial Rounded MT Bold"/>
              </a:rPr>
              <a:t>and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50"/>
              </a:lnSpc>
            </a:pPr>
            <a:r>
              <a:rPr spc="-50" dirty="0"/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6827" y="2893106"/>
            <a:ext cx="22567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Servlets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805" y="4517499"/>
            <a:ext cx="3679825" cy="1474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564"/>
                </a:solidFill>
                <a:latin typeface="Algerian"/>
                <a:cs typeface="Algerian"/>
              </a:rPr>
              <a:t>SESSION:</a:t>
            </a:r>
            <a:r>
              <a:rPr sz="2400" spc="-75" dirty="0">
                <a:solidFill>
                  <a:srgbClr val="FFC564"/>
                </a:solidFill>
                <a:latin typeface="Algerian"/>
                <a:cs typeface="Algerian"/>
              </a:rPr>
              <a:t> </a:t>
            </a:r>
            <a:r>
              <a:rPr sz="2400" spc="-50" dirty="0">
                <a:solidFill>
                  <a:srgbClr val="FFC564"/>
                </a:solidFill>
                <a:latin typeface="Algerian"/>
                <a:cs typeface="Algerian"/>
              </a:rPr>
              <a:t>9</a:t>
            </a:r>
            <a:endParaRPr sz="2400">
              <a:latin typeface="Algerian"/>
              <a:cs typeface="Algerian"/>
            </a:endParaRPr>
          </a:p>
          <a:p>
            <a:pPr marL="12700" marR="5080">
              <a:lnSpc>
                <a:spcPct val="100000"/>
              </a:lnSpc>
              <a:spcBef>
                <a:spcPts val="2770"/>
              </a:spcBef>
            </a:pP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Asynchronous</a:t>
            </a:r>
            <a:r>
              <a:rPr sz="2400" spc="-45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spc="-10" dirty="0">
                <a:solidFill>
                  <a:srgbClr val="FFC564"/>
                </a:solidFill>
                <a:latin typeface="Arial Black"/>
                <a:cs typeface="Arial Black"/>
              </a:rPr>
              <a:t>Servlet Communication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027" y="38586"/>
            <a:ext cx="1570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825" y="759967"/>
            <a:ext cx="8655050" cy="342392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necessity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Asynchronous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Servlet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advantages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Asynchronous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servlet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Asynchronous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Asynchronous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Listener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asynchronous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JavaScript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XMLHttpRequest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object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necessity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9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non-</a:t>
            </a:r>
            <a:r>
              <a:rPr sz="1800" dirty="0">
                <a:latin typeface="Calisto MT"/>
                <a:cs typeface="Calisto MT"/>
              </a:rPr>
              <a:t>blocking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I/O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support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Servlet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how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implement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non-blocking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I/O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asynchronous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Servlet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necessity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protocol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upgrade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Elaborate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process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protocol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upgrade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Servlet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24583" y="1534667"/>
            <a:ext cx="2430780" cy="1489075"/>
            <a:chOff x="1624583" y="1534667"/>
            <a:chExt cx="2430780" cy="1489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4583" y="1534667"/>
              <a:ext cx="2430779" cy="14889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0115" y="1670303"/>
              <a:ext cx="2354579" cy="125425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4207" y="1548385"/>
              <a:ext cx="2351532" cy="140970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848521" y="1721325"/>
            <a:ext cx="1981835" cy="101346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065" marR="5080" algn="ctr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Request</a:t>
            </a:r>
            <a:r>
              <a:rPr sz="18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sent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Servlet</a:t>
            </a:r>
            <a:r>
              <a:rPr sz="1800" spc="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performs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some</a:t>
            </a:r>
            <a:r>
              <a:rPr sz="1800" spc="-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pre-processing tasks.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183379" y="1947672"/>
            <a:ext cx="577850" cy="662940"/>
            <a:chOff x="4183379" y="1947672"/>
            <a:chExt cx="577850" cy="66294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83379" y="1947672"/>
              <a:ext cx="577595" cy="66293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23003" y="1961387"/>
              <a:ext cx="498348" cy="583691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4916423" y="1534667"/>
            <a:ext cx="2430780" cy="1489075"/>
            <a:chOff x="4916423" y="1534667"/>
            <a:chExt cx="2430780" cy="148907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6423" y="1534667"/>
              <a:ext cx="2430779" cy="148894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21579" y="1908047"/>
              <a:ext cx="2260091" cy="77876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956047" y="1548385"/>
              <a:ext cx="2352040" cy="1409700"/>
            </a:xfrm>
            <a:custGeom>
              <a:avLst/>
              <a:gdLst/>
              <a:ahLst/>
              <a:cxnLst/>
              <a:rect l="l" t="t" r="r" b="b"/>
              <a:pathLst>
                <a:path w="2352040" h="1409700">
                  <a:moveTo>
                    <a:pt x="2210562" y="0"/>
                  </a:moveTo>
                  <a:lnTo>
                    <a:pt x="140970" y="0"/>
                  </a:lnTo>
                  <a:lnTo>
                    <a:pt x="96414" y="7187"/>
                  </a:lnTo>
                  <a:lnTo>
                    <a:pt x="57716" y="27200"/>
                  </a:lnTo>
                  <a:lnTo>
                    <a:pt x="27200" y="57716"/>
                  </a:lnTo>
                  <a:lnTo>
                    <a:pt x="7187" y="96414"/>
                  </a:lnTo>
                  <a:lnTo>
                    <a:pt x="0" y="140970"/>
                  </a:lnTo>
                  <a:lnTo>
                    <a:pt x="0" y="1268730"/>
                  </a:lnTo>
                  <a:lnTo>
                    <a:pt x="7187" y="1313285"/>
                  </a:lnTo>
                  <a:lnTo>
                    <a:pt x="27200" y="1351983"/>
                  </a:lnTo>
                  <a:lnTo>
                    <a:pt x="57716" y="1382499"/>
                  </a:lnTo>
                  <a:lnTo>
                    <a:pt x="96414" y="1402512"/>
                  </a:lnTo>
                  <a:lnTo>
                    <a:pt x="140970" y="1409700"/>
                  </a:lnTo>
                  <a:lnTo>
                    <a:pt x="2210562" y="1409700"/>
                  </a:lnTo>
                  <a:lnTo>
                    <a:pt x="2255117" y="1402512"/>
                  </a:lnTo>
                  <a:lnTo>
                    <a:pt x="2293815" y="1382499"/>
                  </a:lnTo>
                  <a:lnTo>
                    <a:pt x="2324331" y="1351983"/>
                  </a:lnTo>
                  <a:lnTo>
                    <a:pt x="2344344" y="1313285"/>
                  </a:lnTo>
                  <a:lnTo>
                    <a:pt x="2351532" y="1268730"/>
                  </a:lnTo>
                  <a:lnTo>
                    <a:pt x="2351532" y="140970"/>
                  </a:lnTo>
                  <a:lnTo>
                    <a:pt x="2344346" y="96414"/>
                  </a:lnTo>
                  <a:lnTo>
                    <a:pt x="2324335" y="57716"/>
                  </a:lnTo>
                  <a:lnTo>
                    <a:pt x="2293820" y="27200"/>
                  </a:lnTo>
                  <a:lnTo>
                    <a:pt x="2255122" y="7187"/>
                  </a:lnTo>
                  <a:lnTo>
                    <a:pt x="2210562" y="0"/>
                  </a:lnTo>
                  <a:close/>
                </a:path>
              </a:pathLst>
            </a:custGeom>
            <a:solidFill>
              <a:srgbClr val="7C88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180347" y="1958814"/>
            <a:ext cx="1905000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 indent="19685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Servlet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receives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request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parameters.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475219" y="1947672"/>
            <a:ext cx="577850" cy="662940"/>
            <a:chOff x="7475219" y="1947672"/>
            <a:chExt cx="577850" cy="66294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75219" y="1947672"/>
              <a:ext cx="577595" cy="66293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514843" y="1961387"/>
              <a:ext cx="498475" cy="584200"/>
            </a:xfrm>
            <a:custGeom>
              <a:avLst/>
              <a:gdLst/>
              <a:ahLst/>
              <a:cxnLst/>
              <a:rect l="l" t="t" r="r" b="b"/>
              <a:pathLst>
                <a:path w="498475" h="584200">
                  <a:moveTo>
                    <a:pt x="249174" y="0"/>
                  </a:moveTo>
                  <a:lnTo>
                    <a:pt x="249174" y="116738"/>
                  </a:lnTo>
                  <a:lnTo>
                    <a:pt x="0" y="116738"/>
                  </a:lnTo>
                  <a:lnTo>
                    <a:pt x="0" y="466953"/>
                  </a:lnTo>
                  <a:lnTo>
                    <a:pt x="249174" y="466953"/>
                  </a:lnTo>
                  <a:lnTo>
                    <a:pt x="249174" y="583692"/>
                  </a:lnTo>
                  <a:lnTo>
                    <a:pt x="498348" y="291846"/>
                  </a:lnTo>
                  <a:lnTo>
                    <a:pt x="249174" y="0"/>
                  </a:lnTo>
                  <a:close/>
                </a:path>
              </a:pathLst>
            </a:custGeom>
            <a:solidFill>
              <a:srgbClr val="7C88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8209788" y="1534667"/>
            <a:ext cx="2430780" cy="1489075"/>
            <a:chOff x="8209788" y="1534667"/>
            <a:chExt cx="2430780" cy="148907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09788" y="1534667"/>
              <a:ext cx="2430779" cy="148894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16468" y="1789176"/>
              <a:ext cx="2272283" cy="101650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49412" y="1548385"/>
              <a:ext cx="2351531" cy="14097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8475781" y="1840071"/>
            <a:ext cx="1897380" cy="7753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 algn="ctr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Servlet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requests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for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some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external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connection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or</a:t>
            </a:r>
            <a:r>
              <a:rPr sz="18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data.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93707" y="3151632"/>
            <a:ext cx="662939" cy="577595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8209788" y="3886200"/>
            <a:ext cx="2430780" cy="1489075"/>
            <a:chOff x="8209788" y="3886200"/>
            <a:chExt cx="2430780" cy="148907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09788" y="3886200"/>
              <a:ext cx="2430779" cy="148894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95132" y="4259580"/>
              <a:ext cx="2316478" cy="77876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49412" y="3899917"/>
              <a:ext cx="2351531" cy="140970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454370" y="4310411"/>
            <a:ext cx="1940560" cy="5378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417830" marR="5080" indent="-405765">
              <a:lnSpc>
                <a:spcPts val="1870"/>
              </a:lnSpc>
              <a:spcBef>
                <a:spcPts val="4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Servlet</a:t>
            </a:r>
            <a:r>
              <a:rPr sz="1800" spc="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returns</a:t>
            </a:r>
            <a:r>
              <a:rPr sz="1800" spc="2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back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to</a:t>
            </a:r>
            <a:r>
              <a:rPr sz="1800" spc="-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the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pool.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504176" y="4299204"/>
            <a:ext cx="577595" cy="662939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4916423" y="3886200"/>
            <a:ext cx="2452370" cy="1489075"/>
            <a:chOff x="4916423" y="3886200"/>
            <a:chExt cx="2452370" cy="1489075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16423" y="3886200"/>
              <a:ext cx="2430779" cy="148894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53000" y="4021836"/>
              <a:ext cx="2415539" cy="125425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956047" y="3899917"/>
              <a:ext cx="2351531" cy="140970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5111920" y="4072921"/>
            <a:ext cx="2042795" cy="10134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-3810" algn="ctr">
              <a:lnSpc>
                <a:spcPts val="1870"/>
              </a:lnSpc>
              <a:spcBef>
                <a:spcPts val="400"/>
              </a:spcBef>
            </a:pP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JDBC</a:t>
            </a:r>
            <a:r>
              <a:rPr sz="1800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connection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operation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is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 assigned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to an</a:t>
            </a:r>
            <a:r>
              <a:rPr sz="1800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asynchronous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context</a:t>
            </a:r>
            <a:r>
              <a:rPr sz="1800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object.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212335" y="4299204"/>
            <a:ext cx="577595" cy="662939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1624583" y="3886200"/>
            <a:ext cx="2430780" cy="1489075"/>
            <a:chOff x="1624583" y="3886200"/>
            <a:chExt cx="2430780" cy="1489075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4583" y="3886200"/>
              <a:ext cx="2430779" cy="148894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751075" y="4140708"/>
              <a:ext cx="2237231" cy="101650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64207" y="3899917"/>
              <a:ext cx="2351532" cy="1409700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909526" y="4191666"/>
            <a:ext cx="1861820" cy="7753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-1905" algn="ctr">
              <a:lnSpc>
                <a:spcPts val="1870"/>
              </a:lnSpc>
              <a:spcBef>
                <a:spcPts val="400"/>
              </a:spcBef>
            </a:pP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Asynchronous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context</a:t>
            </a:r>
            <a:r>
              <a:rPr sz="1800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notifies</a:t>
            </a:r>
            <a:r>
              <a:rPr sz="1800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sto MT"/>
                <a:cs typeface="Calisto MT"/>
              </a:rPr>
              <a:t>the </a:t>
            </a:r>
            <a:r>
              <a:rPr sz="1800" dirty="0">
                <a:solidFill>
                  <a:srgbClr val="FFFFFF"/>
                </a:solidFill>
                <a:latin typeface="Calisto MT"/>
                <a:cs typeface="Calisto MT"/>
              </a:rPr>
              <a:t>Servlet</a:t>
            </a:r>
            <a:r>
              <a:rPr sz="1800" spc="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sto MT"/>
                <a:cs typeface="Calisto MT"/>
              </a:rPr>
              <a:t>container.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Handling</a:t>
            </a:r>
            <a:r>
              <a:rPr spc="-114" dirty="0"/>
              <a:t> </a:t>
            </a:r>
            <a:r>
              <a:rPr dirty="0"/>
              <a:t>Asynchronous</a:t>
            </a:r>
            <a:r>
              <a:rPr spc="-140" dirty="0"/>
              <a:t> </a:t>
            </a:r>
            <a:r>
              <a:rPr spc="-10" dirty="0"/>
              <a:t>Servlet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14982" y="1062482"/>
            <a:ext cx="1897380" cy="2703195"/>
            <a:chOff x="2014982" y="1062482"/>
            <a:chExt cx="1897380" cy="2703195"/>
          </a:xfrm>
        </p:grpSpPr>
        <p:sp>
          <p:nvSpPr>
            <p:cNvPr id="4" name="object 4"/>
            <p:cNvSpPr/>
            <p:nvPr/>
          </p:nvSpPr>
          <p:spPr>
            <a:xfrm>
              <a:off x="2020062" y="1067562"/>
              <a:ext cx="1887220" cy="2693035"/>
            </a:xfrm>
            <a:custGeom>
              <a:avLst/>
              <a:gdLst/>
              <a:ahLst/>
              <a:cxnLst/>
              <a:rect l="l" t="t" r="r" b="b"/>
              <a:pathLst>
                <a:path w="1887220" h="2693035">
                  <a:moveTo>
                    <a:pt x="1886712" y="0"/>
                  </a:moveTo>
                  <a:lnTo>
                    <a:pt x="943356" y="943356"/>
                  </a:lnTo>
                  <a:lnTo>
                    <a:pt x="0" y="0"/>
                  </a:lnTo>
                  <a:lnTo>
                    <a:pt x="0" y="1749552"/>
                  </a:lnTo>
                  <a:lnTo>
                    <a:pt x="943356" y="2692908"/>
                  </a:lnTo>
                  <a:lnTo>
                    <a:pt x="1886712" y="1749552"/>
                  </a:lnTo>
                  <a:lnTo>
                    <a:pt x="1886712" y="0"/>
                  </a:lnTo>
                  <a:close/>
                </a:path>
              </a:pathLst>
            </a:custGeom>
            <a:solidFill>
              <a:srgbClr val="4189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020062" y="1067562"/>
              <a:ext cx="1887220" cy="2693035"/>
            </a:xfrm>
            <a:custGeom>
              <a:avLst/>
              <a:gdLst/>
              <a:ahLst/>
              <a:cxnLst/>
              <a:rect l="l" t="t" r="r" b="b"/>
              <a:pathLst>
                <a:path w="1887220" h="2693035">
                  <a:moveTo>
                    <a:pt x="1886712" y="0"/>
                  </a:moveTo>
                  <a:lnTo>
                    <a:pt x="1886712" y="1749552"/>
                  </a:lnTo>
                  <a:lnTo>
                    <a:pt x="943356" y="2692908"/>
                  </a:lnTo>
                  <a:lnTo>
                    <a:pt x="0" y="1749552"/>
                  </a:lnTo>
                  <a:lnTo>
                    <a:pt x="0" y="0"/>
                  </a:lnTo>
                  <a:lnTo>
                    <a:pt x="943356" y="943356"/>
                  </a:lnTo>
                  <a:lnTo>
                    <a:pt x="1886712" y="0"/>
                  </a:lnTo>
                  <a:close/>
                </a:path>
              </a:pathLst>
            </a:custGeom>
            <a:ln w="9994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126888" y="2106283"/>
            <a:ext cx="1671320" cy="533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92759" marR="5080" indent="-480059">
              <a:lnSpc>
                <a:spcPts val="1839"/>
              </a:lnSpc>
              <a:spcBef>
                <a:spcPts val="425"/>
              </a:spcBef>
            </a:pPr>
            <a:r>
              <a:rPr sz="1800" b="1" spc="-10" dirty="0">
                <a:latin typeface="Courier New"/>
                <a:cs typeface="Courier New"/>
              </a:rPr>
              <a:t>AsyncContext Class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06773" y="1067556"/>
            <a:ext cx="6343015" cy="1751330"/>
          </a:xfrm>
          <a:custGeom>
            <a:avLst/>
            <a:gdLst/>
            <a:ahLst/>
            <a:cxnLst/>
            <a:rect l="l" t="t" r="r" b="b"/>
            <a:pathLst>
              <a:path w="6343015" h="1751330">
                <a:moveTo>
                  <a:pt x="6342888" y="291858"/>
                </a:moveTo>
                <a:lnTo>
                  <a:pt x="6342888" y="1459230"/>
                </a:lnTo>
                <a:lnTo>
                  <a:pt x="6339068" y="1506570"/>
                </a:lnTo>
                <a:lnTo>
                  <a:pt x="6328008" y="1551478"/>
                </a:lnTo>
                <a:lnTo>
                  <a:pt x="6310311" y="1593352"/>
                </a:lnTo>
                <a:lnTo>
                  <a:pt x="6286575" y="1631593"/>
                </a:lnTo>
                <a:lnTo>
                  <a:pt x="6257404" y="1665598"/>
                </a:lnTo>
                <a:lnTo>
                  <a:pt x="6223396" y="1694768"/>
                </a:lnTo>
                <a:lnTo>
                  <a:pt x="6185154" y="1718501"/>
                </a:lnTo>
                <a:lnTo>
                  <a:pt x="6143278" y="1736198"/>
                </a:lnTo>
                <a:lnTo>
                  <a:pt x="6098370" y="1747256"/>
                </a:lnTo>
                <a:lnTo>
                  <a:pt x="6051029" y="1751076"/>
                </a:lnTo>
                <a:lnTo>
                  <a:pt x="0" y="1751076"/>
                </a:lnTo>
                <a:lnTo>
                  <a:pt x="0" y="0"/>
                </a:lnTo>
                <a:lnTo>
                  <a:pt x="6051029" y="0"/>
                </a:lnTo>
                <a:lnTo>
                  <a:pt x="6098370" y="3819"/>
                </a:lnTo>
                <a:lnTo>
                  <a:pt x="6143278" y="14879"/>
                </a:lnTo>
                <a:lnTo>
                  <a:pt x="6185154" y="32576"/>
                </a:lnTo>
                <a:lnTo>
                  <a:pt x="6223396" y="56312"/>
                </a:lnTo>
                <a:lnTo>
                  <a:pt x="6257404" y="85483"/>
                </a:lnTo>
                <a:lnTo>
                  <a:pt x="6286575" y="119491"/>
                </a:lnTo>
                <a:lnTo>
                  <a:pt x="6310311" y="157733"/>
                </a:lnTo>
                <a:lnTo>
                  <a:pt x="6328008" y="199609"/>
                </a:lnTo>
                <a:lnTo>
                  <a:pt x="6339068" y="244517"/>
                </a:lnTo>
                <a:lnTo>
                  <a:pt x="6342888" y="291858"/>
                </a:lnTo>
                <a:close/>
              </a:path>
            </a:pathLst>
          </a:custGeom>
          <a:ln w="9994">
            <a:solidFill>
              <a:srgbClr val="4189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020573" y="1207668"/>
            <a:ext cx="4175760" cy="1388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ts val="2155"/>
              </a:lnSpc>
              <a:spcBef>
                <a:spcPts val="100"/>
              </a:spcBef>
              <a:buChar char="•"/>
              <a:tabLst>
                <a:tab pos="184150" algn="l"/>
              </a:tabLst>
            </a:pPr>
            <a:r>
              <a:rPr sz="1800" dirty="0">
                <a:latin typeface="Courier New"/>
                <a:cs typeface="Courier New"/>
              </a:rPr>
              <a:t>void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start(Runnable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spc="-20" dirty="0">
                <a:latin typeface="Courier New"/>
                <a:cs typeface="Courier New"/>
              </a:rPr>
              <a:t>run)</a:t>
            </a:r>
            <a:endParaRPr sz="1800">
              <a:latin typeface="Courier New"/>
              <a:cs typeface="Courier New"/>
            </a:endParaRPr>
          </a:p>
          <a:p>
            <a:pPr marL="184150" indent="-171450">
              <a:lnSpc>
                <a:spcPts val="2140"/>
              </a:lnSpc>
              <a:buChar char="•"/>
              <a:tabLst>
                <a:tab pos="184150" algn="l"/>
              </a:tabLst>
            </a:pPr>
            <a:r>
              <a:rPr sz="1800" dirty="0">
                <a:latin typeface="Courier New"/>
                <a:cs typeface="Courier New"/>
              </a:rPr>
              <a:t>ServletRequest</a:t>
            </a:r>
            <a:r>
              <a:rPr sz="1800" spc="-7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getRequest()</a:t>
            </a:r>
            <a:endParaRPr sz="1800">
              <a:latin typeface="Courier New"/>
              <a:cs typeface="Courier New"/>
            </a:endParaRPr>
          </a:p>
          <a:p>
            <a:pPr marL="184150" indent="-171450">
              <a:lnSpc>
                <a:spcPts val="2135"/>
              </a:lnSpc>
              <a:buChar char="•"/>
              <a:tabLst>
                <a:tab pos="184150" algn="l"/>
              </a:tabLst>
            </a:pPr>
            <a:r>
              <a:rPr sz="1800" dirty="0">
                <a:latin typeface="Courier New"/>
                <a:cs typeface="Courier New"/>
              </a:rPr>
              <a:t>ServletResponse</a:t>
            </a:r>
            <a:r>
              <a:rPr sz="1800" spc="-7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getResponse()</a:t>
            </a:r>
            <a:endParaRPr sz="1800">
              <a:latin typeface="Courier New"/>
              <a:cs typeface="Courier New"/>
            </a:endParaRPr>
          </a:p>
          <a:p>
            <a:pPr marL="184150" indent="-171450">
              <a:lnSpc>
                <a:spcPts val="2140"/>
              </a:lnSpc>
              <a:buChar char="•"/>
              <a:tabLst>
                <a:tab pos="184150" algn="l"/>
              </a:tabLst>
            </a:pPr>
            <a:r>
              <a:rPr sz="1800" dirty="0">
                <a:latin typeface="Courier New"/>
                <a:cs typeface="Courier New"/>
              </a:rPr>
              <a:t>void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complete()</a:t>
            </a:r>
            <a:endParaRPr sz="1800">
              <a:latin typeface="Courier New"/>
              <a:cs typeface="Courier New"/>
            </a:endParaRPr>
          </a:p>
          <a:p>
            <a:pPr marL="184150" indent="-171450">
              <a:lnSpc>
                <a:spcPts val="2155"/>
              </a:lnSpc>
              <a:buChar char="•"/>
              <a:tabLst>
                <a:tab pos="184150" algn="l"/>
              </a:tabLst>
            </a:pPr>
            <a:r>
              <a:rPr sz="1800" dirty="0">
                <a:latin typeface="Courier New"/>
                <a:cs typeface="Courier New"/>
              </a:rPr>
              <a:t>void</a:t>
            </a:r>
            <a:r>
              <a:rPr sz="1800" spc="-6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dispatch(String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path)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14982" y="3473450"/>
            <a:ext cx="1897380" cy="2703195"/>
            <a:chOff x="2014982" y="3473450"/>
            <a:chExt cx="1897380" cy="2703195"/>
          </a:xfrm>
        </p:grpSpPr>
        <p:sp>
          <p:nvSpPr>
            <p:cNvPr id="10" name="object 10"/>
            <p:cNvSpPr/>
            <p:nvPr/>
          </p:nvSpPr>
          <p:spPr>
            <a:xfrm>
              <a:off x="2020062" y="3478530"/>
              <a:ext cx="1887220" cy="2693035"/>
            </a:xfrm>
            <a:custGeom>
              <a:avLst/>
              <a:gdLst/>
              <a:ahLst/>
              <a:cxnLst/>
              <a:rect l="l" t="t" r="r" b="b"/>
              <a:pathLst>
                <a:path w="1887220" h="2693035">
                  <a:moveTo>
                    <a:pt x="1886712" y="0"/>
                  </a:moveTo>
                  <a:lnTo>
                    <a:pt x="943356" y="943356"/>
                  </a:lnTo>
                  <a:lnTo>
                    <a:pt x="0" y="0"/>
                  </a:lnTo>
                  <a:lnTo>
                    <a:pt x="0" y="1749552"/>
                  </a:lnTo>
                  <a:lnTo>
                    <a:pt x="943356" y="2692908"/>
                  </a:lnTo>
                  <a:lnTo>
                    <a:pt x="1886712" y="1749552"/>
                  </a:lnTo>
                  <a:lnTo>
                    <a:pt x="1886712" y="0"/>
                  </a:lnTo>
                  <a:close/>
                </a:path>
              </a:pathLst>
            </a:custGeom>
            <a:solidFill>
              <a:srgbClr val="D6D3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20062" y="3478530"/>
              <a:ext cx="1887220" cy="2693035"/>
            </a:xfrm>
            <a:custGeom>
              <a:avLst/>
              <a:gdLst/>
              <a:ahLst/>
              <a:cxnLst/>
              <a:rect l="l" t="t" r="r" b="b"/>
              <a:pathLst>
                <a:path w="1887220" h="2693035">
                  <a:moveTo>
                    <a:pt x="1886712" y="0"/>
                  </a:moveTo>
                  <a:lnTo>
                    <a:pt x="1886712" y="1749552"/>
                  </a:lnTo>
                  <a:lnTo>
                    <a:pt x="943356" y="2692908"/>
                  </a:lnTo>
                  <a:lnTo>
                    <a:pt x="0" y="1749552"/>
                  </a:lnTo>
                  <a:lnTo>
                    <a:pt x="0" y="0"/>
                  </a:lnTo>
                  <a:lnTo>
                    <a:pt x="943356" y="943356"/>
                  </a:lnTo>
                  <a:lnTo>
                    <a:pt x="1886712" y="0"/>
                  </a:lnTo>
                  <a:close/>
                </a:path>
              </a:pathLst>
            </a:custGeom>
            <a:ln w="9994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58308" y="4517073"/>
            <a:ext cx="1808480" cy="5334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6385" marR="5080" indent="-274320">
              <a:lnSpc>
                <a:spcPts val="1839"/>
              </a:lnSpc>
              <a:spcBef>
                <a:spcPts val="425"/>
              </a:spcBef>
            </a:pPr>
            <a:r>
              <a:rPr sz="1800" b="1" spc="-10" dirty="0">
                <a:latin typeface="Courier New"/>
                <a:cs typeface="Courier New"/>
              </a:rPr>
              <a:t>AsyncListener Interface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06773" y="3478534"/>
            <a:ext cx="6343015" cy="1750060"/>
          </a:xfrm>
          <a:custGeom>
            <a:avLst/>
            <a:gdLst/>
            <a:ahLst/>
            <a:cxnLst/>
            <a:rect l="l" t="t" r="r" b="b"/>
            <a:pathLst>
              <a:path w="6343015" h="1750060">
                <a:moveTo>
                  <a:pt x="6342888" y="291592"/>
                </a:moveTo>
                <a:lnTo>
                  <a:pt x="6342888" y="1457947"/>
                </a:lnTo>
                <a:lnTo>
                  <a:pt x="6339071" y="1505247"/>
                </a:lnTo>
                <a:lnTo>
                  <a:pt x="6328021" y="1550116"/>
                </a:lnTo>
                <a:lnTo>
                  <a:pt x="6310339" y="1591956"/>
                </a:lnTo>
                <a:lnTo>
                  <a:pt x="6286625" y="1630165"/>
                </a:lnTo>
                <a:lnTo>
                  <a:pt x="6257480" y="1664142"/>
                </a:lnTo>
                <a:lnTo>
                  <a:pt x="6223503" y="1693289"/>
                </a:lnTo>
                <a:lnTo>
                  <a:pt x="6185296" y="1717003"/>
                </a:lnTo>
                <a:lnTo>
                  <a:pt x="6143459" y="1734685"/>
                </a:lnTo>
                <a:lnTo>
                  <a:pt x="6098592" y="1745735"/>
                </a:lnTo>
                <a:lnTo>
                  <a:pt x="6051296" y="1749552"/>
                </a:lnTo>
                <a:lnTo>
                  <a:pt x="0" y="1749552"/>
                </a:lnTo>
                <a:lnTo>
                  <a:pt x="0" y="0"/>
                </a:lnTo>
                <a:lnTo>
                  <a:pt x="6051296" y="0"/>
                </a:lnTo>
                <a:lnTo>
                  <a:pt x="6098592" y="3816"/>
                </a:lnTo>
                <a:lnTo>
                  <a:pt x="6143459" y="14864"/>
                </a:lnTo>
                <a:lnTo>
                  <a:pt x="6185296" y="32545"/>
                </a:lnTo>
                <a:lnTo>
                  <a:pt x="6223503" y="56258"/>
                </a:lnTo>
                <a:lnTo>
                  <a:pt x="6257480" y="85402"/>
                </a:lnTo>
                <a:lnTo>
                  <a:pt x="6286625" y="119378"/>
                </a:lnTo>
                <a:lnTo>
                  <a:pt x="6310339" y="157585"/>
                </a:lnTo>
                <a:lnTo>
                  <a:pt x="6328021" y="199423"/>
                </a:lnTo>
                <a:lnTo>
                  <a:pt x="6339071" y="244292"/>
                </a:lnTo>
                <a:lnTo>
                  <a:pt x="6342888" y="291592"/>
                </a:lnTo>
                <a:close/>
              </a:path>
            </a:pathLst>
          </a:custGeom>
          <a:ln w="9994">
            <a:solidFill>
              <a:srgbClr val="D6D3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020573" y="3754411"/>
            <a:ext cx="5135880" cy="1115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ts val="2155"/>
              </a:lnSpc>
              <a:spcBef>
                <a:spcPts val="100"/>
              </a:spcBef>
              <a:buChar char="•"/>
              <a:tabLst>
                <a:tab pos="184150" algn="l"/>
              </a:tabLst>
            </a:pPr>
            <a:r>
              <a:rPr sz="1800" dirty="0">
                <a:latin typeface="Courier New"/>
                <a:cs typeface="Courier New"/>
              </a:rPr>
              <a:t>void</a:t>
            </a:r>
            <a:r>
              <a:rPr sz="1800" spc="-5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onStartAsync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(AsyncEvent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event)</a:t>
            </a:r>
            <a:endParaRPr sz="1800">
              <a:latin typeface="Courier New"/>
              <a:cs typeface="Courier New"/>
            </a:endParaRPr>
          </a:p>
          <a:p>
            <a:pPr marL="184150" indent="-171450">
              <a:lnSpc>
                <a:spcPts val="2140"/>
              </a:lnSpc>
              <a:buChar char="•"/>
              <a:tabLst>
                <a:tab pos="184150" algn="l"/>
              </a:tabLst>
            </a:pPr>
            <a:r>
              <a:rPr sz="1800" dirty="0">
                <a:latin typeface="Courier New"/>
                <a:cs typeface="Courier New"/>
              </a:rPr>
              <a:t>void</a:t>
            </a:r>
            <a:r>
              <a:rPr sz="1800" spc="-4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onComplete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(AsyncEvent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event)</a:t>
            </a:r>
            <a:endParaRPr sz="1800">
              <a:latin typeface="Courier New"/>
              <a:cs typeface="Courier New"/>
            </a:endParaRPr>
          </a:p>
          <a:p>
            <a:pPr marL="184150" indent="-171450">
              <a:lnSpc>
                <a:spcPts val="2135"/>
              </a:lnSpc>
              <a:buChar char="•"/>
              <a:tabLst>
                <a:tab pos="184150" algn="l"/>
              </a:tabLst>
            </a:pPr>
            <a:r>
              <a:rPr sz="1800" dirty="0">
                <a:latin typeface="Courier New"/>
                <a:cs typeface="Courier New"/>
              </a:rPr>
              <a:t>void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onError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(AsyncEvent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event)</a:t>
            </a:r>
            <a:endParaRPr sz="1800">
              <a:latin typeface="Courier New"/>
              <a:cs typeface="Courier New"/>
            </a:endParaRPr>
          </a:p>
          <a:p>
            <a:pPr marL="184150" indent="-171450">
              <a:lnSpc>
                <a:spcPts val="2150"/>
              </a:lnSpc>
              <a:buChar char="•"/>
              <a:tabLst>
                <a:tab pos="184150" algn="l"/>
              </a:tabLst>
            </a:pPr>
            <a:r>
              <a:rPr sz="1800" dirty="0">
                <a:latin typeface="Courier New"/>
                <a:cs typeface="Courier New"/>
              </a:rPr>
              <a:t>void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onTimeout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(AsyncEvent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event)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Server</a:t>
            </a:r>
            <a:r>
              <a:rPr spc="-70" dirty="0"/>
              <a:t> </a:t>
            </a:r>
            <a:r>
              <a:rPr dirty="0"/>
              <a:t>Push</a:t>
            </a:r>
            <a:r>
              <a:rPr spc="-60" dirty="0"/>
              <a:t> </a:t>
            </a:r>
            <a:r>
              <a:rPr dirty="0"/>
              <a:t>Mechanism</a:t>
            </a:r>
            <a:r>
              <a:rPr spc="-5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spc="-10" dirty="0"/>
              <a:t>Servlet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12" y="1508760"/>
            <a:ext cx="6095986" cy="42763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31540" y="950889"/>
            <a:ext cx="5013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D0D0D"/>
                </a:solidFill>
                <a:latin typeface="Calisto MT"/>
                <a:cs typeface="Calisto MT"/>
              </a:rPr>
              <a:t>Asynchronous</a:t>
            </a:r>
            <a:r>
              <a:rPr sz="1800" spc="-55" dirty="0">
                <a:solidFill>
                  <a:srgbClr val="0D0D0D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sto MT"/>
                <a:cs typeface="Calisto MT"/>
              </a:rPr>
              <a:t>Communication</a:t>
            </a:r>
            <a:r>
              <a:rPr sz="1800" spc="-30" dirty="0">
                <a:solidFill>
                  <a:srgbClr val="0D0D0D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0D0D0D"/>
                </a:solidFill>
                <a:latin typeface="Calisto MT"/>
                <a:cs typeface="Calisto MT"/>
              </a:rPr>
              <a:t>in</a:t>
            </a:r>
            <a:r>
              <a:rPr sz="1800" spc="-25" dirty="0">
                <a:solidFill>
                  <a:srgbClr val="0D0D0D"/>
                </a:solidFill>
                <a:latin typeface="Calisto MT"/>
                <a:cs typeface="Calisto MT"/>
              </a:rPr>
              <a:t> </a:t>
            </a:r>
            <a:r>
              <a:rPr sz="1800" spc="-45" dirty="0">
                <a:solidFill>
                  <a:srgbClr val="0D0D0D"/>
                </a:solidFill>
                <a:latin typeface="Calisto MT"/>
                <a:cs typeface="Calisto MT"/>
              </a:rPr>
              <a:t>Web</a:t>
            </a:r>
            <a:r>
              <a:rPr sz="1800" spc="-25" dirty="0">
                <a:solidFill>
                  <a:srgbClr val="0D0D0D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sto MT"/>
                <a:cs typeface="Calisto MT"/>
              </a:rPr>
              <a:t>Application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Non-</a:t>
            </a:r>
            <a:r>
              <a:rPr dirty="0"/>
              <a:t>Blocking</a:t>
            </a:r>
            <a:r>
              <a:rPr spc="-60" dirty="0"/>
              <a:t> </a:t>
            </a:r>
            <a:r>
              <a:rPr dirty="0"/>
              <a:t>Input/Output</a:t>
            </a:r>
            <a:r>
              <a:rPr spc="-55" dirty="0"/>
              <a:t> </a:t>
            </a:r>
            <a:r>
              <a:rPr dirty="0"/>
              <a:t>in</a:t>
            </a:r>
            <a:r>
              <a:rPr spc="-70" dirty="0"/>
              <a:t> </a:t>
            </a:r>
            <a:r>
              <a:rPr spc="-10" dirty="0"/>
              <a:t>Servlet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50364" y="832103"/>
            <a:ext cx="7964805" cy="5006340"/>
            <a:chOff x="2150364" y="832103"/>
            <a:chExt cx="7964805" cy="50063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50364" y="832103"/>
              <a:ext cx="7964423" cy="50063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89988" y="845821"/>
              <a:ext cx="7885430" cy="4927600"/>
            </a:xfrm>
            <a:custGeom>
              <a:avLst/>
              <a:gdLst/>
              <a:ahLst/>
              <a:cxnLst/>
              <a:rect l="l" t="t" r="r" b="b"/>
              <a:pathLst>
                <a:path w="7885430" h="4927600">
                  <a:moveTo>
                    <a:pt x="6584010" y="0"/>
                  </a:moveTo>
                  <a:lnTo>
                    <a:pt x="6653403" y="615886"/>
                  </a:lnTo>
                  <a:lnTo>
                    <a:pt x="6590728" y="628040"/>
                  </a:lnTo>
                  <a:lnTo>
                    <a:pt x="6466214" y="652818"/>
                  </a:lnTo>
                  <a:lnTo>
                    <a:pt x="6342814" y="678220"/>
                  </a:lnTo>
                  <a:lnTo>
                    <a:pt x="6220528" y="704248"/>
                  </a:lnTo>
                  <a:lnTo>
                    <a:pt x="6099357" y="730901"/>
                  </a:lnTo>
                  <a:lnTo>
                    <a:pt x="5979299" y="758178"/>
                  </a:lnTo>
                  <a:lnTo>
                    <a:pt x="5860356" y="786081"/>
                  </a:lnTo>
                  <a:lnTo>
                    <a:pt x="5742527" y="814610"/>
                  </a:lnTo>
                  <a:lnTo>
                    <a:pt x="5625812" y="843763"/>
                  </a:lnTo>
                  <a:lnTo>
                    <a:pt x="5510212" y="873541"/>
                  </a:lnTo>
                  <a:lnTo>
                    <a:pt x="5395725" y="903945"/>
                  </a:lnTo>
                  <a:lnTo>
                    <a:pt x="5282353" y="934973"/>
                  </a:lnTo>
                  <a:lnTo>
                    <a:pt x="5170095" y="966627"/>
                  </a:lnTo>
                  <a:lnTo>
                    <a:pt x="5058951" y="998906"/>
                  </a:lnTo>
                  <a:lnTo>
                    <a:pt x="4948922" y="1031810"/>
                  </a:lnTo>
                  <a:lnTo>
                    <a:pt x="4840006" y="1065339"/>
                  </a:lnTo>
                  <a:lnTo>
                    <a:pt x="4732205" y="1099493"/>
                  </a:lnTo>
                  <a:lnTo>
                    <a:pt x="4625518" y="1134273"/>
                  </a:lnTo>
                  <a:lnTo>
                    <a:pt x="4519945" y="1169677"/>
                  </a:lnTo>
                  <a:lnTo>
                    <a:pt x="4415486" y="1205707"/>
                  </a:lnTo>
                  <a:lnTo>
                    <a:pt x="4312142" y="1242362"/>
                  </a:lnTo>
                  <a:lnTo>
                    <a:pt x="4209911" y="1279642"/>
                  </a:lnTo>
                  <a:lnTo>
                    <a:pt x="4108795" y="1317547"/>
                  </a:lnTo>
                  <a:lnTo>
                    <a:pt x="4008793" y="1356077"/>
                  </a:lnTo>
                  <a:lnTo>
                    <a:pt x="3909906" y="1395232"/>
                  </a:lnTo>
                  <a:lnTo>
                    <a:pt x="3812132" y="1435012"/>
                  </a:lnTo>
                  <a:lnTo>
                    <a:pt x="3715473" y="1475418"/>
                  </a:lnTo>
                  <a:lnTo>
                    <a:pt x="3619927" y="1516449"/>
                  </a:lnTo>
                  <a:lnTo>
                    <a:pt x="3572573" y="1537198"/>
                  </a:lnTo>
                  <a:lnTo>
                    <a:pt x="3525496" y="1558104"/>
                  </a:lnTo>
                  <a:lnTo>
                    <a:pt x="3478699" y="1579167"/>
                  </a:lnTo>
                  <a:lnTo>
                    <a:pt x="3432179" y="1600385"/>
                  </a:lnTo>
                  <a:lnTo>
                    <a:pt x="3385939" y="1621760"/>
                  </a:lnTo>
                  <a:lnTo>
                    <a:pt x="3339977" y="1643291"/>
                  </a:lnTo>
                  <a:lnTo>
                    <a:pt x="3294293" y="1664979"/>
                  </a:lnTo>
                  <a:lnTo>
                    <a:pt x="3248888" y="1686822"/>
                  </a:lnTo>
                  <a:lnTo>
                    <a:pt x="3203762" y="1708822"/>
                  </a:lnTo>
                  <a:lnTo>
                    <a:pt x="3158914" y="1730979"/>
                  </a:lnTo>
                  <a:lnTo>
                    <a:pt x="3114345" y="1753291"/>
                  </a:lnTo>
                  <a:lnTo>
                    <a:pt x="3070054" y="1775760"/>
                  </a:lnTo>
                  <a:lnTo>
                    <a:pt x="3026042" y="1798385"/>
                  </a:lnTo>
                  <a:lnTo>
                    <a:pt x="2982308" y="1821166"/>
                  </a:lnTo>
                  <a:lnTo>
                    <a:pt x="2938853" y="1844104"/>
                  </a:lnTo>
                  <a:lnTo>
                    <a:pt x="2895676" y="1867198"/>
                  </a:lnTo>
                  <a:lnTo>
                    <a:pt x="2852778" y="1890448"/>
                  </a:lnTo>
                  <a:lnTo>
                    <a:pt x="2810159" y="1913855"/>
                  </a:lnTo>
                  <a:lnTo>
                    <a:pt x="2767818" y="1937418"/>
                  </a:lnTo>
                  <a:lnTo>
                    <a:pt x="2725755" y="1961137"/>
                  </a:lnTo>
                  <a:lnTo>
                    <a:pt x="2683972" y="1985012"/>
                  </a:lnTo>
                  <a:lnTo>
                    <a:pt x="2642466" y="2009044"/>
                  </a:lnTo>
                  <a:lnTo>
                    <a:pt x="2601239" y="2033232"/>
                  </a:lnTo>
                  <a:lnTo>
                    <a:pt x="2560291" y="2057576"/>
                  </a:lnTo>
                  <a:lnTo>
                    <a:pt x="2519622" y="2082076"/>
                  </a:lnTo>
                  <a:lnTo>
                    <a:pt x="2479230" y="2106733"/>
                  </a:lnTo>
                  <a:lnTo>
                    <a:pt x="2439118" y="2131546"/>
                  </a:lnTo>
                  <a:lnTo>
                    <a:pt x="2399284" y="2156515"/>
                  </a:lnTo>
                  <a:lnTo>
                    <a:pt x="2359728" y="2181641"/>
                  </a:lnTo>
                  <a:lnTo>
                    <a:pt x="2320451" y="2206923"/>
                  </a:lnTo>
                  <a:lnTo>
                    <a:pt x="2281453" y="2232361"/>
                  </a:lnTo>
                  <a:lnTo>
                    <a:pt x="2242733" y="2257956"/>
                  </a:lnTo>
                  <a:lnTo>
                    <a:pt x="2204292" y="2283706"/>
                  </a:lnTo>
                  <a:lnTo>
                    <a:pt x="2166129" y="2309613"/>
                  </a:lnTo>
                  <a:lnTo>
                    <a:pt x="2128245" y="2335677"/>
                  </a:lnTo>
                  <a:lnTo>
                    <a:pt x="2090639" y="2361896"/>
                  </a:lnTo>
                  <a:lnTo>
                    <a:pt x="2053312" y="2388272"/>
                  </a:lnTo>
                  <a:lnTo>
                    <a:pt x="2016264" y="2414804"/>
                  </a:lnTo>
                  <a:lnTo>
                    <a:pt x="1979494" y="2441493"/>
                  </a:lnTo>
                  <a:lnTo>
                    <a:pt x="1943002" y="2468337"/>
                  </a:lnTo>
                  <a:lnTo>
                    <a:pt x="1906789" y="2495338"/>
                  </a:lnTo>
                  <a:lnTo>
                    <a:pt x="1870855" y="2522496"/>
                  </a:lnTo>
                  <a:lnTo>
                    <a:pt x="1835199" y="2549809"/>
                  </a:lnTo>
                  <a:lnTo>
                    <a:pt x="1799822" y="2577279"/>
                  </a:lnTo>
                  <a:lnTo>
                    <a:pt x="1764723" y="2604905"/>
                  </a:lnTo>
                  <a:lnTo>
                    <a:pt x="1729903" y="2632687"/>
                  </a:lnTo>
                  <a:lnTo>
                    <a:pt x="1695361" y="2660626"/>
                  </a:lnTo>
                  <a:lnTo>
                    <a:pt x="1661098" y="2688721"/>
                  </a:lnTo>
                  <a:lnTo>
                    <a:pt x="1627113" y="2716972"/>
                  </a:lnTo>
                  <a:lnTo>
                    <a:pt x="1593407" y="2745380"/>
                  </a:lnTo>
                  <a:lnTo>
                    <a:pt x="1559980" y="2773944"/>
                  </a:lnTo>
                  <a:lnTo>
                    <a:pt x="1526831" y="2802664"/>
                  </a:lnTo>
                  <a:lnTo>
                    <a:pt x="1493961" y="2831540"/>
                  </a:lnTo>
                  <a:lnTo>
                    <a:pt x="1461369" y="2860573"/>
                  </a:lnTo>
                  <a:lnTo>
                    <a:pt x="1429056" y="2889762"/>
                  </a:lnTo>
                  <a:lnTo>
                    <a:pt x="1397021" y="2919107"/>
                  </a:lnTo>
                  <a:lnTo>
                    <a:pt x="1365265" y="2948608"/>
                  </a:lnTo>
                  <a:lnTo>
                    <a:pt x="1333787" y="2978266"/>
                  </a:lnTo>
                  <a:lnTo>
                    <a:pt x="1302588" y="3008080"/>
                  </a:lnTo>
                  <a:lnTo>
                    <a:pt x="1271667" y="3038050"/>
                  </a:lnTo>
                  <a:lnTo>
                    <a:pt x="1241025" y="3068177"/>
                  </a:lnTo>
                  <a:lnTo>
                    <a:pt x="1210662" y="3098460"/>
                  </a:lnTo>
                  <a:lnTo>
                    <a:pt x="1180577" y="3128899"/>
                  </a:lnTo>
                  <a:lnTo>
                    <a:pt x="1150771" y="3159495"/>
                  </a:lnTo>
                  <a:lnTo>
                    <a:pt x="1121243" y="3190246"/>
                  </a:lnTo>
                  <a:lnTo>
                    <a:pt x="1091994" y="3221154"/>
                  </a:lnTo>
                  <a:lnTo>
                    <a:pt x="1063023" y="3252219"/>
                  </a:lnTo>
                  <a:lnTo>
                    <a:pt x="1034331" y="3283439"/>
                  </a:lnTo>
                  <a:lnTo>
                    <a:pt x="1005917" y="3314816"/>
                  </a:lnTo>
                  <a:lnTo>
                    <a:pt x="977782" y="3346349"/>
                  </a:lnTo>
                  <a:lnTo>
                    <a:pt x="949926" y="3378039"/>
                  </a:lnTo>
                  <a:lnTo>
                    <a:pt x="922348" y="3409884"/>
                  </a:lnTo>
                  <a:lnTo>
                    <a:pt x="895048" y="3441886"/>
                  </a:lnTo>
                  <a:lnTo>
                    <a:pt x="868027" y="3474045"/>
                  </a:lnTo>
                  <a:lnTo>
                    <a:pt x="841285" y="3506359"/>
                  </a:lnTo>
                  <a:lnTo>
                    <a:pt x="814821" y="3538830"/>
                  </a:lnTo>
                  <a:lnTo>
                    <a:pt x="788636" y="3571457"/>
                  </a:lnTo>
                  <a:lnTo>
                    <a:pt x="762729" y="3604240"/>
                  </a:lnTo>
                  <a:lnTo>
                    <a:pt x="737101" y="3637180"/>
                  </a:lnTo>
                  <a:lnTo>
                    <a:pt x="711751" y="3670276"/>
                  </a:lnTo>
                  <a:lnTo>
                    <a:pt x="686680" y="3703528"/>
                  </a:lnTo>
                  <a:lnTo>
                    <a:pt x="661888" y="3736937"/>
                  </a:lnTo>
                  <a:lnTo>
                    <a:pt x="637374" y="3770502"/>
                  </a:lnTo>
                  <a:lnTo>
                    <a:pt x="613138" y="3804223"/>
                  </a:lnTo>
                  <a:lnTo>
                    <a:pt x="589182" y="3838100"/>
                  </a:lnTo>
                  <a:lnTo>
                    <a:pt x="565503" y="3872134"/>
                  </a:lnTo>
                  <a:lnTo>
                    <a:pt x="542103" y="3906324"/>
                  </a:lnTo>
                  <a:lnTo>
                    <a:pt x="518982" y="3940670"/>
                  </a:lnTo>
                  <a:lnTo>
                    <a:pt x="496140" y="3975172"/>
                  </a:lnTo>
                  <a:lnTo>
                    <a:pt x="473575" y="4009831"/>
                  </a:lnTo>
                  <a:lnTo>
                    <a:pt x="451290" y="4044646"/>
                  </a:lnTo>
                  <a:lnTo>
                    <a:pt x="429283" y="4079617"/>
                  </a:lnTo>
                  <a:lnTo>
                    <a:pt x="407554" y="4114745"/>
                  </a:lnTo>
                  <a:lnTo>
                    <a:pt x="386104" y="4150029"/>
                  </a:lnTo>
                  <a:lnTo>
                    <a:pt x="364933" y="4185469"/>
                  </a:lnTo>
                  <a:lnTo>
                    <a:pt x="344040" y="4221066"/>
                  </a:lnTo>
                  <a:lnTo>
                    <a:pt x="323426" y="4256818"/>
                  </a:lnTo>
                  <a:lnTo>
                    <a:pt x="303090" y="4292727"/>
                  </a:lnTo>
                  <a:lnTo>
                    <a:pt x="283033" y="4328793"/>
                  </a:lnTo>
                  <a:lnTo>
                    <a:pt x="263254" y="4365014"/>
                  </a:lnTo>
                  <a:lnTo>
                    <a:pt x="243754" y="4401392"/>
                  </a:lnTo>
                  <a:lnTo>
                    <a:pt x="224532" y="4437926"/>
                  </a:lnTo>
                  <a:lnTo>
                    <a:pt x="205589" y="4474617"/>
                  </a:lnTo>
                  <a:lnTo>
                    <a:pt x="186925" y="4511463"/>
                  </a:lnTo>
                  <a:lnTo>
                    <a:pt x="168539" y="4548466"/>
                  </a:lnTo>
                  <a:lnTo>
                    <a:pt x="150431" y="4585625"/>
                  </a:lnTo>
                  <a:lnTo>
                    <a:pt x="132603" y="4622941"/>
                  </a:lnTo>
                  <a:lnTo>
                    <a:pt x="115052" y="4660413"/>
                  </a:lnTo>
                  <a:lnTo>
                    <a:pt x="97781" y="4698041"/>
                  </a:lnTo>
                  <a:lnTo>
                    <a:pt x="80787" y="4735825"/>
                  </a:lnTo>
                  <a:lnTo>
                    <a:pt x="64073" y="4773766"/>
                  </a:lnTo>
                  <a:lnTo>
                    <a:pt x="47637" y="4811863"/>
                  </a:lnTo>
                  <a:lnTo>
                    <a:pt x="31479" y="4850116"/>
                  </a:lnTo>
                  <a:lnTo>
                    <a:pt x="15600" y="4888526"/>
                  </a:lnTo>
                  <a:lnTo>
                    <a:pt x="0" y="4927092"/>
                  </a:lnTo>
                  <a:lnTo>
                    <a:pt x="25390" y="4892969"/>
                  </a:lnTo>
                  <a:lnTo>
                    <a:pt x="51014" y="4859031"/>
                  </a:lnTo>
                  <a:lnTo>
                    <a:pt x="76872" y="4825279"/>
                  </a:lnTo>
                  <a:lnTo>
                    <a:pt x="102965" y="4791713"/>
                  </a:lnTo>
                  <a:lnTo>
                    <a:pt x="129292" y="4758333"/>
                  </a:lnTo>
                  <a:lnTo>
                    <a:pt x="155853" y="4725138"/>
                  </a:lnTo>
                  <a:lnTo>
                    <a:pt x="182648" y="4692128"/>
                  </a:lnTo>
                  <a:lnTo>
                    <a:pt x="209678" y="4659304"/>
                  </a:lnTo>
                  <a:lnTo>
                    <a:pt x="236941" y="4626666"/>
                  </a:lnTo>
                  <a:lnTo>
                    <a:pt x="264439" y="4594213"/>
                  </a:lnTo>
                  <a:lnTo>
                    <a:pt x="292171" y="4561946"/>
                  </a:lnTo>
                  <a:lnTo>
                    <a:pt x="320137" y="4529865"/>
                  </a:lnTo>
                  <a:lnTo>
                    <a:pt x="348337" y="4497969"/>
                  </a:lnTo>
                  <a:lnTo>
                    <a:pt x="376772" y="4466258"/>
                  </a:lnTo>
                  <a:lnTo>
                    <a:pt x="405441" y="4434734"/>
                  </a:lnTo>
                  <a:lnTo>
                    <a:pt x="434344" y="4403395"/>
                  </a:lnTo>
                  <a:lnTo>
                    <a:pt x="463481" y="4372241"/>
                  </a:lnTo>
                  <a:lnTo>
                    <a:pt x="492852" y="4341273"/>
                  </a:lnTo>
                  <a:lnTo>
                    <a:pt x="522458" y="4310491"/>
                  </a:lnTo>
                  <a:lnTo>
                    <a:pt x="552297" y="4279894"/>
                  </a:lnTo>
                  <a:lnTo>
                    <a:pt x="582371" y="4249483"/>
                  </a:lnTo>
                  <a:lnTo>
                    <a:pt x="612679" y="4219257"/>
                  </a:lnTo>
                  <a:lnTo>
                    <a:pt x="643221" y="4189217"/>
                  </a:lnTo>
                  <a:lnTo>
                    <a:pt x="673998" y="4159363"/>
                  </a:lnTo>
                  <a:lnTo>
                    <a:pt x="705009" y="4129694"/>
                  </a:lnTo>
                  <a:lnTo>
                    <a:pt x="736253" y="4100210"/>
                  </a:lnTo>
                  <a:lnTo>
                    <a:pt x="767732" y="4070913"/>
                  </a:lnTo>
                  <a:lnTo>
                    <a:pt x="799446" y="4041801"/>
                  </a:lnTo>
                  <a:lnTo>
                    <a:pt x="831393" y="4012874"/>
                  </a:lnTo>
                  <a:lnTo>
                    <a:pt x="863575" y="3984133"/>
                  </a:lnTo>
                  <a:lnTo>
                    <a:pt x="895990" y="3955578"/>
                  </a:lnTo>
                  <a:lnTo>
                    <a:pt x="928640" y="3927208"/>
                  </a:lnTo>
                  <a:lnTo>
                    <a:pt x="961524" y="3899024"/>
                  </a:lnTo>
                  <a:lnTo>
                    <a:pt x="994643" y="3871025"/>
                  </a:lnTo>
                  <a:lnTo>
                    <a:pt x="1027995" y="3843212"/>
                  </a:lnTo>
                  <a:lnTo>
                    <a:pt x="1061582" y="3815585"/>
                  </a:lnTo>
                  <a:lnTo>
                    <a:pt x="1095403" y="3788143"/>
                  </a:lnTo>
                  <a:lnTo>
                    <a:pt x="1129458" y="3760887"/>
                  </a:lnTo>
                  <a:lnTo>
                    <a:pt x="1163747" y="3733816"/>
                  </a:lnTo>
                  <a:lnTo>
                    <a:pt x="1198271" y="3706931"/>
                  </a:lnTo>
                  <a:lnTo>
                    <a:pt x="1233028" y="3680232"/>
                  </a:lnTo>
                  <a:lnTo>
                    <a:pt x="1268020" y="3653718"/>
                  </a:lnTo>
                  <a:lnTo>
                    <a:pt x="1303246" y="3627389"/>
                  </a:lnTo>
                  <a:lnTo>
                    <a:pt x="1338706" y="3601247"/>
                  </a:lnTo>
                  <a:lnTo>
                    <a:pt x="1374401" y="3575290"/>
                  </a:lnTo>
                  <a:lnTo>
                    <a:pt x="1410329" y="3549518"/>
                  </a:lnTo>
                  <a:lnTo>
                    <a:pt x="1446492" y="3523932"/>
                  </a:lnTo>
                  <a:lnTo>
                    <a:pt x="1482889" y="3498532"/>
                  </a:lnTo>
                  <a:lnTo>
                    <a:pt x="1519520" y="3473317"/>
                  </a:lnTo>
                  <a:lnTo>
                    <a:pt x="1556385" y="3448288"/>
                  </a:lnTo>
                  <a:lnTo>
                    <a:pt x="1593485" y="3423444"/>
                  </a:lnTo>
                  <a:lnTo>
                    <a:pt x="1630819" y="3398786"/>
                  </a:lnTo>
                  <a:lnTo>
                    <a:pt x="1668387" y="3374314"/>
                  </a:lnTo>
                  <a:lnTo>
                    <a:pt x="1706189" y="3350027"/>
                  </a:lnTo>
                  <a:lnTo>
                    <a:pt x="1744225" y="3325926"/>
                  </a:lnTo>
                  <a:lnTo>
                    <a:pt x="1782495" y="3302010"/>
                  </a:lnTo>
                  <a:lnTo>
                    <a:pt x="1821000" y="3278280"/>
                  </a:lnTo>
                  <a:lnTo>
                    <a:pt x="1859739" y="3254735"/>
                  </a:lnTo>
                  <a:lnTo>
                    <a:pt x="1898712" y="3231377"/>
                  </a:lnTo>
                  <a:lnTo>
                    <a:pt x="1937919" y="3208203"/>
                  </a:lnTo>
                  <a:lnTo>
                    <a:pt x="1977361" y="3185216"/>
                  </a:lnTo>
                  <a:lnTo>
                    <a:pt x="2017036" y="3162413"/>
                  </a:lnTo>
                  <a:lnTo>
                    <a:pt x="2056946" y="3139797"/>
                  </a:lnTo>
                  <a:lnTo>
                    <a:pt x="2097090" y="3117366"/>
                  </a:lnTo>
                  <a:lnTo>
                    <a:pt x="2137468" y="3095120"/>
                  </a:lnTo>
                  <a:lnTo>
                    <a:pt x="2178080" y="3073061"/>
                  </a:lnTo>
                  <a:lnTo>
                    <a:pt x="2218927" y="3051186"/>
                  </a:lnTo>
                  <a:lnTo>
                    <a:pt x="2260008" y="3029498"/>
                  </a:lnTo>
                  <a:lnTo>
                    <a:pt x="2301323" y="3007995"/>
                  </a:lnTo>
                  <a:lnTo>
                    <a:pt x="2342872" y="2986677"/>
                  </a:lnTo>
                  <a:lnTo>
                    <a:pt x="2384655" y="2965546"/>
                  </a:lnTo>
                  <a:lnTo>
                    <a:pt x="2426672" y="2944599"/>
                  </a:lnTo>
                  <a:lnTo>
                    <a:pt x="2468924" y="2923839"/>
                  </a:lnTo>
                  <a:lnTo>
                    <a:pt x="2511410" y="2903263"/>
                  </a:lnTo>
                  <a:lnTo>
                    <a:pt x="2554130" y="2882874"/>
                  </a:lnTo>
                  <a:lnTo>
                    <a:pt x="2597084" y="2862670"/>
                  </a:lnTo>
                  <a:lnTo>
                    <a:pt x="2640273" y="2842652"/>
                  </a:lnTo>
                  <a:lnTo>
                    <a:pt x="2683695" y="2822819"/>
                  </a:lnTo>
                  <a:lnTo>
                    <a:pt x="2727352" y="2803172"/>
                  </a:lnTo>
                  <a:lnTo>
                    <a:pt x="2771243" y="2783710"/>
                  </a:lnTo>
                  <a:lnTo>
                    <a:pt x="2815368" y="2764434"/>
                  </a:lnTo>
                  <a:lnTo>
                    <a:pt x="2859728" y="2745344"/>
                  </a:lnTo>
                  <a:lnTo>
                    <a:pt x="2904321" y="2726439"/>
                  </a:lnTo>
                  <a:lnTo>
                    <a:pt x="2949149" y="2707720"/>
                  </a:lnTo>
                  <a:lnTo>
                    <a:pt x="2994211" y="2689186"/>
                  </a:lnTo>
                  <a:lnTo>
                    <a:pt x="3039507" y="2670838"/>
                  </a:lnTo>
                  <a:lnTo>
                    <a:pt x="3085037" y="2652676"/>
                  </a:lnTo>
                  <a:lnTo>
                    <a:pt x="3130802" y="2634699"/>
                  </a:lnTo>
                  <a:lnTo>
                    <a:pt x="3176800" y="2616908"/>
                  </a:lnTo>
                  <a:lnTo>
                    <a:pt x="3223033" y="2599302"/>
                  </a:lnTo>
                  <a:lnTo>
                    <a:pt x="3269500" y="2581882"/>
                  </a:lnTo>
                  <a:lnTo>
                    <a:pt x="3316201" y="2564647"/>
                  </a:lnTo>
                  <a:lnTo>
                    <a:pt x="3410306" y="2530735"/>
                  </a:lnTo>
                  <a:lnTo>
                    <a:pt x="3505348" y="2497565"/>
                  </a:lnTo>
                  <a:lnTo>
                    <a:pt x="3601327" y="2465137"/>
                  </a:lnTo>
                  <a:lnTo>
                    <a:pt x="3698242" y="2433452"/>
                  </a:lnTo>
                  <a:lnTo>
                    <a:pt x="3796094" y="2402509"/>
                  </a:lnTo>
                  <a:lnTo>
                    <a:pt x="3894883" y="2372309"/>
                  </a:lnTo>
                  <a:lnTo>
                    <a:pt x="3994608" y="2342851"/>
                  </a:lnTo>
                  <a:lnTo>
                    <a:pt x="4095270" y="2314135"/>
                  </a:lnTo>
                  <a:lnTo>
                    <a:pt x="4196869" y="2286161"/>
                  </a:lnTo>
                  <a:lnTo>
                    <a:pt x="4299405" y="2258930"/>
                  </a:lnTo>
                  <a:lnTo>
                    <a:pt x="4402877" y="2232441"/>
                  </a:lnTo>
                  <a:lnTo>
                    <a:pt x="4507287" y="2206695"/>
                  </a:lnTo>
                  <a:lnTo>
                    <a:pt x="4612633" y="2181691"/>
                  </a:lnTo>
                  <a:lnTo>
                    <a:pt x="4718915" y="2157429"/>
                  </a:lnTo>
                  <a:lnTo>
                    <a:pt x="4826135" y="2133910"/>
                  </a:lnTo>
                  <a:lnTo>
                    <a:pt x="4934291" y="2111132"/>
                  </a:lnTo>
                  <a:lnTo>
                    <a:pt x="5043384" y="2089098"/>
                  </a:lnTo>
                  <a:lnTo>
                    <a:pt x="5153414" y="2067805"/>
                  </a:lnTo>
                  <a:lnTo>
                    <a:pt x="5264380" y="2047255"/>
                  </a:lnTo>
                  <a:lnTo>
                    <a:pt x="5376283" y="2027448"/>
                  </a:lnTo>
                  <a:lnTo>
                    <a:pt x="5489123" y="2008382"/>
                  </a:lnTo>
                  <a:lnTo>
                    <a:pt x="5602900" y="1990059"/>
                  </a:lnTo>
                  <a:lnTo>
                    <a:pt x="5717614" y="1972479"/>
                  </a:lnTo>
                  <a:lnTo>
                    <a:pt x="5833264" y="1955641"/>
                  </a:lnTo>
                  <a:lnTo>
                    <a:pt x="5949851" y="1939545"/>
                  </a:lnTo>
                  <a:lnTo>
                    <a:pt x="6067374" y="1924191"/>
                  </a:lnTo>
                  <a:lnTo>
                    <a:pt x="6185835" y="1909580"/>
                  </a:lnTo>
                  <a:lnTo>
                    <a:pt x="6305232" y="1895711"/>
                  </a:lnTo>
                  <a:lnTo>
                    <a:pt x="6425566" y="1882584"/>
                  </a:lnTo>
                  <a:lnTo>
                    <a:pt x="6546837" y="1870200"/>
                  </a:lnTo>
                  <a:lnTo>
                    <a:pt x="6669044" y="1858558"/>
                  </a:lnTo>
                  <a:lnTo>
                    <a:pt x="6792188" y="1847659"/>
                  </a:lnTo>
                  <a:lnTo>
                    <a:pt x="6861581" y="2463546"/>
                  </a:lnTo>
                  <a:lnTo>
                    <a:pt x="7885176" y="985418"/>
                  </a:lnTo>
                  <a:lnTo>
                    <a:pt x="6584010" y="0"/>
                  </a:lnTo>
                  <a:close/>
                </a:path>
              </a:pathLst>
            </a:custGeom>
            <a:solidFill>
              <a:srgbClr val="CFDA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7603" y="4495800"/>
              <a:ext cx="260603" cy="26060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67228" y="4509515"/>
              <a:ext cx="181356" cy="18135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166704" y="4543506"/>
            <a:ext cx="1366520" cy="10134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1870"/>
              </a:lnSpc>
              <a:spcBef>
                <a:spcPts val="400"/>
              </a:spcBef>
            </a:pPr>
            <a:r>
              <a:rPr sz="1800" dirty="0">
                <a:latin typeface="Calisto MT"/>
                <a:cs typeface="Calisto MT"/>
              </a:rPr>
              <a:t>Enable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 </a:t>
            </a:r>
            <a:r>
              <a:rPr sz="1800" spc="-10" dirty="0">
                <a:latin typeface="Calisto MT"/>
                <a:cs typeface="Calisto MT"/>
              </a:rPr>
              <a:t>asynchronous </a:t>
            </a:r>
            <a:r>
              <a:rPr sz="1800" dirty="0">
                <a:latin typeface="Calisto MT"/>
                <a:cs typeface="Calisto MT"/>
              </a:rPr>
              <a:t>mode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 </a:t>
            </a:r>
            <a:r>
              <a:rPr sz="1800" spc="-10" dirty="0">
                <a:latin typeface="Calisto MT"/>
                <a:cs typeface="Calisto MT"/>
              </a:rPr>
              <a:t>Servlet.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09288" y="3349752"/>
            <a:ext cx="393700" cy="394970"/>
            <a:chOff x="4209288" y="3349752"/>
            <a:chExt cx="393700" cy="39497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09288" y="3349752"/>
              <a:ext cx="393191" cy="3947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48912" y="3363468"/>
              <a:ext cx="313943" cy="31546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4560286" y="3464360"/>
            <a:ext cx="1432560" cy="101346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latin typeface="Calisto MT"/>
                <a:cs typeface="Calisto MT"/>
              </a:rPr>
              <a:t>Obtain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an </a:t>
            </a:r>
            <a:r>
              <a:rPr sz="1800" dirty="0">
                <a:latin typeface="Calisto MT"/>
                <a:cs typeface="Calisto MT"/>
              </a:rPr>
              <a:t>input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stream </a:t>
            </a:r>
            <a:r>
              <a:rPr sz="1800" dirty="0">
                <a:latin typeface="Calisto MT"/>
                <a:cs typeface="Calisto MT"/>
              </a:rPr>
              <a:t>and/or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an </a:t>
            </a:r>
            <a:r>
              <a:rPr sz="1800" dirty="0">
                <a:latin typeface="Calisto MT"/>
                <a:cs typeface="Calisto MT"/>
              </a:rPr>
              <a:t>output</a:t>
            </a:r>
            <a:r>
              <a:rPr sz="1800" spc="-10" dirty="0">
                <a:latin typeface="Calisto MT"/>
                <a:cs typeface="Calisto MT"/>
              </a:rPr>
              <a:t> stream.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844539" y="2505455"/>
            <a:ext cx="497205" cy="497205"/>
            <a:chOff x="5844539" y="2505455"/>
            <a:chExt cx="497205" cy="497205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44539" y="2505455"/>
              <a:ext cx="496823" cy="49682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84163" y="2519172"/>
              <a:ext cx="417575" cy="41757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301808" y="2671018"/>
            <a:ext cx="1434465" cy="101346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latin typeface="Calisto MT"/>
                <a:cs typeface="Calisto MT"/>
              </a:rPr>
              <a:t>Assign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read </a:t>
            </a:r>
            <a:r>
              <a:rPr sz="1800" dirty="0">
                <a:latin typeface="Calisto MT"/>
                <a:cs typeface="Calisto MT"/>
              </a:rPr>
              <a:t>and/or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write </a:t>
            </a:r>
            <a:r>
              <a:rPr sz="1800" dirty="0">
                <a:latin typeface="Calisto MT"/>
                <a:cs typeface="Calisto MT"/>
              </a:rPr>
              <a:t>listener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I/O </a:t>
            </a:r>
            <a:r>
              <a:rPr sz="1800" spc="-10" dirty="0">
                <a:latin typeface="Calisto MT"/>
                <a:cs typeface="Calisto MT"/>
              </a:rPr>
              <a:t>streams.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626095" y="1946148"/>
            <a:ext cx="638810" cy="640080"/>
            <a:chOff x="7626095" y="1946148"/>
            <a:chExt cx="638810" cy="640080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26095" y="1946148"/>
              <a:ext cx="638555" cy="64007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65719" y="1959864"/>
              <a:ext cx="559307" cy="56083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229781" y="2183184"/>
            <a:ext cx="1276985" cy="7753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 algn="just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latin typeface="Calisto MT"/>
                <a:cs typeface="Calisto MT"/>
              </a:rPr>
              <a:t>Process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 </a:t>
            </a:r>
            <a:r>
              <a:rPr sz="1800" dirty="0">
                <a:latin typeface="Calisto MT"/>
                <a:cs typeface="Calisto MT"/>
              </a:rPr>
              <a:t>request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and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response.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Protocol</a:t>
            </a:r>
            <a:r>
              <a:rPr spc="-80" dirty="0"/>
              <a:t> </a:t>
            </a:r>
            <a:r>
              <a:rPr dirty="0"/>
              <a:t>Upgrade</a:t>
            </a:r>
            <a:r>
              <a:rPr spc="-70" dirty="0"/>
              <a:t> </a:t>
            </a:r>
            <a:r>
              <a:rPr spc="-10" dirty="0"/>
              <a:t>Processing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267967" y="1702307"/>
            <a:ext cx="10305415" cy="3462654"/>
            <a:chOff x="1267967" y="1702307"/>
            <a:chExt cx="10305415" cy="346265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7967" y="2200655"/>
              <a:ext cx="10305287" cy="29641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856" y="1702307"/>
              <a:ext cx="7229855" cy="118567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748738" y="2149899"/>
            <a:ext cx="3232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Upgrading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1.1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Protocol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7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29816" y="3421829"/>
            <a:ext cx="84315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8450" algn="l"/>
              </a:tabLst>
            </a:pPr>
            <a:r>
              <a:rPr sz="1800" dirty="0">
                <a:latin typeface="Calisto MT"/>
                <a:cs typeface="Calisto MT"/>
              </a:rPr>
              <a:t>Clients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switch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protocols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Upgrade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header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HTTP/1.1.</a:t>
            </a:r>
            <a:endParaRPr sz="1800">
              <a:latin typeface="Calisto MT"/>
              <a:cs typeface="Calisto MT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sz="1800" spc="-10" dirty="0">
                <a:latin typeface="Calisto MT"/>
                <a:cs typeface="Calisto MT"/>
              </a:rPr>
              <a:t>Persistent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connections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HTTP/1.1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allow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multiple</a:t>
            </a:r>
            <a:r>
              <a:rPr sz="1800" spc="-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over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single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connection.</a:t>
            </a:r>
            <a:endParaRPr sz="1800">
              <a:latin typeface="Calisto MT"/>
              <a:cs typeface="Calisto MT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sz="1800" dirty="0">
                <a:latin typeface="Calisto MT"/>
                <a:cs typeface="Calisto MT"/>
              </a:rPr>
              <a:t>HTTP/1.0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was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stateless,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while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HTTP/1.1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supports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persistent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connections.</a:t>
            </a:r>
            <a:endParaRPr sz="1800">
              <a:latin typeface="Calisto MT"/>
              <a:cs typeface="Calisto MT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8450" algn="l"/>
              </a:tabLst>
            </a:pP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response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status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101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indicates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successful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protocol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switching.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Summary</a:t>
            </a:r>
            <a:r>
              <a:rPr spc="20" dirty="0"/>
              <a:t> </a:t>
            </a:r>
            <a:r>
              <a:rPr spc="-10" dirty="0"/>
              <a:t>[1-</a:t>
            </a:r>
            <a:r>
              <a:rPr spc="-25" dirty="0"/>
              <a:t>2]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618" y="904990"/>
            <a:ext cx="10891520" cy="450786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94310" marR="330200" indent="-181610">
              <a:lnSpc>
                <a:spcPts val="1939"/>
              </a:lnSpc>
              <a:spcBef>
                <a:spcPts val="34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architecture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8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based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multithreaded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model.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this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model,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container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normally 	</a:t>
            </a:r>
            <a:r>
              <a:rPr sz="1800" dirty="0">
                <a:latin typeface="Calisto MT"/>
                <a:cs typeface="Calisto MT"/>
              </a:rPr>
              <a:t>creates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pool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8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threads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ready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instance.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6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Java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API provides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asynchronous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processing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support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filters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applications.</a:t>
            </a:r>
            <a:endParaRPr sz="1800">
              <a:latin typeface="Calisto MT"/>
              <a:cs typeface="Calisto MT"/>
            </a:endParaRPr>
          </a:p>
          <a:p>
            <a:pPr marL="194310" marR="20955" indent="-181610">
              <a:lnSpc>
                <a:spcPts val="1939"/>
              </a:lnSpc>
              <a:spcBef>
                <a:spcPts val="143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asynchronous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processing,</a:t>
            </a:r>
            <a:r>
              <a:rPr sz="1800" spc="-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thread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waiting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resource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released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container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returned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to 	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pool.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5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interface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jakarta.servlet.AsyncContext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process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asynchronously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within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Servlet.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spc="-5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handle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these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events,</a:t>
            </a:r>
            <a:r>
              <a:rPr sz="1800" spc="-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AsyncContext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registered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AsyncListener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interface.</a:t>
            </a:r>
            <a:endParaRPr sz="1800">
              <a:latin typeface="Calisto MT"/>
              <a:cs typeface="Calisto MT"/>
            </a:endParaRPr>
          </a:p>
          <a:p>
            <a:pPr marL="194310" marR="262890" indent="-181610">
              <a:lnSpc>
                <a:spcPts val="1939"/>
              </a:lnSpc>
              <a:spcBef>
                <a:spcPts val="143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mechanism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sending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asynchronously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without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redrawing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the 	</a:t>
            </a:r>
            <a:r>
              <a:rPr sz="1800" dirty="0">
                <a:latin typeface="Calisto MT"/>
                <a:cs typeface="Calisto MT"/>
              </a:rPr>
              <a:t>whole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page,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referred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push.</a:t>
            </a:r>
            <a:endParaRPr sz="1800">
              <a:latin typeface="Calisto MT"/>
              <a:cs typeface="Calisto MT"/>
            </a:endParaRPr>
          </a:p>
          <a:p>
            <a:pPr marL="194310" marR="5080" indent="-181610">
              <a:lnSpc>
                <a:spcPts val="1939"/>
              </a:lnSpc>
              <a:spcBef>
                <a:spcPts val="1400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One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most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popular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programming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approaches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modern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40" dirty="0">
                <a:latin typeface="Calisto MT"/>
                <a:cs typeface="Calisto MT"/>
              </a:rPr>
              <a:t>Web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push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server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data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to 	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performed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AJAX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mechanism.</a:t>
            </a:r>
            <a:endParaRPr sz="1800">
              <a:latin typeface="Calisto MT"/>
              <a:cs typeface="Calisto MT"/>
            </a:endParaRPr>
          </a:p>
          <a:p>
            <a:pPr marL="193675" marR="139065" indent="-181610">
              <a:lnSpc>
                <a:spcPts val="1939"/>
              </a:lnSpc>
              <a:spcBef>
                <a:spcPts val="1415"/>
              </a:spcBef>
              <a:buSzPct val="80555"/>
              <a:buFont typeface="Corbel"/>
              <a:buChar char="•"/>
              <a:tabLst>
                <a:tab pos="194945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AJAX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mechanism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works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XMLHttpRequest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object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that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pass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requests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responses 	asynchronously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between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server.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Summary</a:t>
            </a:r>
            <a:r>
              <a:rPr spc="20" dirty="0"/>
              <a:t> </a:t>
            </a:r>
            <a:r>
              <a:rPr spc="-10" dirty="0"/>
              <a:t>[2-</a:t>
            </a:r>
            <a:r>
              <a:rPr spc="-25" dirty="0"/>
              <a:t>2]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9375">
              <a:lnSpc>
                <a:spcPts val="1050"/>
              </a:lnSpc>
            </a:pPr>
            <a:r>
              <a:rPr spc="-50" dirty="0"/>
              <a:t>9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618" y="904990"/>
            <a:ext cx="10606405" cy="121920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93675" marR="989965" indent="-181610">
              <a:lnSpc>
                <a:spcPts val="1939"/>
              </a:lnSpc>
              <a:spcBef>
                <a:spcPts val="345"/>
              </a:spcBef>
              <a:buSzPct val="80555"/>
              <a:buFont typeface="Corbel"/>
              <a:buChar char="•"/>
              <a:tabLst>
                <a:tab pos="194945" algn="l"/>
              </a:tabLst>
            </a:pP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API</a:t>
            </a:r>
            <a:r>
              <a:rPr sz="1800" spc="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provides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non-</a:t>
            </a:r>
            <a:r>
              <a:rPr sz="1800" dirty="0">
                <a:latin typeface="Calisto MT"/>
                <a:cs typeface="Calisto MT"/>
              </a:rPr>
              <a:t>blocking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I/O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support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 Servlets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filters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 process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input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output 	asynchronously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</a:t>
            </a:r>
            <a:r>
              <a:rPr sz="1800" spc="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 </a:t>
            </a:r>
            <a:r>
              <a:rPr sz="1800" spc="-10" dirty="0">
                <a:latin typeface="Calisto MT"/>
                <a:cs typeface="Calisto MT"/>
              </a:rPr>
              <a:t>request.</a:t>
            </a:r>
            <a:endParaRPr sz="1800">
              <a:latin typeface="Calisto MT"/>
              <a:cs typeface="Calisto MT"/>
            </a:endParaRPr>
          </a:p>
          <a:p>
            <a:pPr marL="194310" marR="5080" indent="-181610">
              <a:lnSpc>
                <a:spcPts val="1939"/>
              </a:lnSpc>
              <a:spcBef>
                <a:spcPts val="141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With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Servlet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3.0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API,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protocol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been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upgraded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from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1.0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1.1.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1.0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was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50" dirty="0">
                <a:latin typeface="Calisto MT"/>
                <a:cs typeface="Calisto MT"/>
              </a:rPr>
              <a:t>a 	</a:t>
            </a:r>
            <a:r>
              <a:rPr sz="1800" dirty="0">
                <a:latin typeface="Calisto MT"/>
                <a:cs typeface="Calisto MT"/>
              </a:rPr>
              <a:t>stateless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protocol,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whereas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HTTP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1.1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persist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connection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between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client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server.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593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Algerian</vt:lpstr>
      <vt:lpstr>Arial</vt:lpstr>
      <vt:lpstr>Arial Black</vt:lpstr>
      <vt:lpstr>Arial Rounded MT Bold</vt:lpstr>
      <vt:lpstr>Calibri</vt:lpstr>
      <vt:lpstr>Calisto MT</vt:lpstr>
      <vt:lpstr>Corbel</vt:lpstr>
      <vt:lpstr>Courier New</vt:lpstr>
      <vt:lpstr>Office Theme</vt:lpstr>
      <vt:lpstr>Jakarta Server Pages and</vt:lpstr>
      <vt:lpstr>Objectives</vt:lpstr>
      <vt:lpstr>Introduction</vt:lpstr>
      <vt:lpstr>Handling Asynchronous Servlet</vt:lpstr>
      <vt:lpstr>Server Push Mechanism in Servlet</vt:lpstr>
      <vt:lpstr>Non-Blocking Input/Output in Servlet</vt:lpstr>
      <vt:lpstr>Protocol Upgrade Processing</vt:lpstr>
      <vt:lpstr>Summary [1-2]</vt:lpstr>
      <vt:lpstr>Summary [2-2]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Aptech Limited</dc:creator>
  <cp:lastModifiedBy>Hoang Duc Quang</cp:lastModifiedBy>
  <cp:revision>6</cp:revision>
  <dcterms:created xsi:type="dcterms:W3CDTF">2025-10-19T10:33:49Z</dcterms:created>
  <dcterms:modified xsi:type="dcterms:W3CDTF">2025-10-20T01:24:28Z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Acrobat PDFMaker 24 for PowerPoint</vt:lpwstr>
  </property>
  <property fmtid="{D5CDD505-2E9C-101B-9397-08002B2CF9AE}" pid="4" name="EBX_PUBLISHER">
    <vt:lpwstr>Aptech</vt:lpwstr>
  </property>
  <property fmtid="{D5CDD505-2E9C-101B-9397-08002B2CF9AE}" pid="5" name="LastSaved">
    <vt:filetime>2025-10-19T00:00:00Z</vt:filetime>
  </property>
  <property fmtid="{D5CDD505-2E9C-101B-9397-08002B2CF9AE}" pid="6" name="Producer">
    <vt:lpwstr>Adobe PDF Library 24.2.159</vt:lpwstr>
  </property>
</Properties>
</file>