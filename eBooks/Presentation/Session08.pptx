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6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jp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50"/>
              </a:lnSpc>
            </a:pPr>
            <a:r>
              <a:rPr spc="-50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4667250" cy="147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8</a:t>
            </a:r>
            <a:endParaRPr sz="2400">
              <a:latin typeface="Algerian"/>
              <a:cs typeface="Algerian"/>
            </a:endParaRPr>
          </a:p>
          <a:p>
            <a:pPr marL="12700" marR="508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Database</a:t>
            </a:r>
            <a:r>
              <a:rPr sz="2400" spc="-3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Access</a:t>
            </a:r>
            <a:r>
              <a:rPr sz="2400" spc="-3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and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20" dirty="0">
                <a:solidFill>
                  <a:srgbClr val="FFC564"/>
                </a:solidFill>
                <a:latin typeface="Arial Black"/>
                <a:cs typeface="Arial Black"/>
              </a:rPr>
              <a:t>Event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Handling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59" y="759967"/>
            <a:ext cx="6252845" cy="257556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JDBC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4.3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JPA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role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connecting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JPA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significance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events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types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listener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interfaces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JDBC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versus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JPA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2314" y="2403019"/>
            <a:ext cx="1761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sto MT"/>
                <a:cs typeface="Calisto MT"/>
              </a:rPr>
              <a:t>Using</a:t>
            </a:r>
            <a:r>
              <a:rPr sz="1800" b="1" spc="-20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JDBC</a:t>
            </a:r>
            <a:r>
              <a:rPr sz="1800" b="1" spc="-45" dirty="0">
                <a:latin typeface="Calisto MT"/>
                <a:cs typeface="Calisto MT"/>
              </a:rPr>
              <a:t> </a:t>
            </a:r>
            <a:r>
              <a:rPr sz="1800" b="1" spc="-25" dirty="0">
                <a:latin typeface="Calisto MT"/>
                <a:cs typeface="Calisto MT"/>
              </a:rPr>
              <a:t>API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17314" y="1953005"/>
            <a:ext cx="433070" cy="1247140"/>
          </a:xfrm>
          <a:custGeom>
            <a:avLst/>
            <a:gdLst/>
            <a:ahLst/>
            <a:cxnLst/>
            <a:rect l="l" t="t" r="r" b="b"/>
            <a:pathLst>
              <a:path w="433070" h="1247139">
                <a:moveTo>
                  <a:pt x="432815" y="1246632"/>
                </a:moveTo>
                <a:lnTo>
                  <a:pt x="375285" y="1241221"/>
                </a:lnTo>
                <a:lnTo>
                  <a:pt x="323590" y="1225950"/>
                </a:lnTo>
                <a:lnTo>
                  <a:pt x="279792" y="1202264"/>
                </a:lnTo>
                <a:lnTo>
                  <a:pt x="245953" y="1171606"/>
                </a:lnTo>
                <a:lnTo>
                  <a:pt x="224138" y="1135418"/>
                </a:lnTo>
                <a:lnTo>
                  <a:pt x="216407" y="1095146"/>
                </a:lnTo>
                <a:lnTo>
                  <a:pt x="216407" y="774801"/>
                </a:lnTo>
                <a:lnTo>
                  <a:pt x="208677" y="734529"/>
                </a:lnTo>
                <a:lnTo>
                  <a:pt x="186862" y="698341"/>
                </a:lnTo>
                <a:lnTo>
                  <a:pt x="153023" y="667683"/>
                </a:lnTo>
                <a:lnTo>
                  <a:pt x="109225" y="643997"/>
                </a:lnTo>
                <a:lnTo>
                  <a:pt x="57530" y="628726"/>
                </a:lnTo>
                <a:lnTo>
                  <a:pt x="0" y="623316"/>
                </a:lnTo>
                <a:lnTo>
                  <a:pt x="57530" y="617905"/>
                </a:lnTo>
                <a:lnTo>
                  <a:pt x="109225" y="602634"/>
                </a:lnTo>
                <a:lnTo>
                  <a:pt x="153023" y="578948"/>
                </a:lnTo>
                <a:lnTo>
                  <a:pt x="186862" y="548290"/>
                </a:lnTo>
                <a:lnTo>
                  <a:pt x="208677" y="512102"/>
                </a:lnTo>
                <a:lnTo>
                  <a:pt x="216407" y="471830"/>
                </a:lnTo>
                <a:lnTo>
                  <a:pt x="216407" y="151485"/>
                </a:lnTo>
                <a:lnTo>
                  <a:pt x="224138" y="111213"/>
                </a:lnTo>
                <a:lnTo>
                  <a:pt x="245953" y="75025"/>
                </a:lnTo>
                <a:lnTo>
                  <a:pt x="279792" y="44367"/>
                </a:lnTo>
                <a:lnTo>
                  <a:pt x="323590" y="20681"/>
                </a:lnTo>
                <a:lnTo>
                  <a:pt x="375285" y="5410"/>
                </a:lnTo>
                <a:lnTo>
                  <a:pt x="432815" y="0"/>
                </a:lnTo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8532" y="1947672"/>
            <a:ext cx="5899403" cy="1255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78839" y="2261412"/>
            <a:ext cx="525589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Part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800" spc="1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Java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platform.</a:t>
            </a:r>
            <a:endParaRPr sz="1800">
              <a:latin typeface="Calisto MT"/>
              <a:cs typeface="Calisto MT"/>
            </a:endParaRPr>
          </a:p>
          <a:p>
            <a:pPr marL="185420" indent="-172720">
              <a:lnSpc>
                <a:spcPct val="100000"/>
              </a:lnSpc>
              <a:spcBef>
                <a:spcPts val="20"/>
              </a:spcBef>
              <a:buChar char="•"/>
              <a:tabLst>
                <a:tab pos="185420" algn="l"/>
              </a:tabLst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Enables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Web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application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interact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DBMS.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3363" y="3633470"/>
            <a:ext cx="2027555" cy="7861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6350" indent="690245">
              <a:lnSpc>
                <a:spcPts val="1920"/>
              </a:lnSpc>
              <a:spcBef>
                <a:spcPts val="360"/>
              </a:spcBef>
            </a:pPr>
            <a:r>
              <a:rPr sz="1800" b="1" dirty="0">
                <a:latin typeface="Calisto MT"/>
                <a:cs typeface="Calisto MT"/>
              </a:rPr>
              <a:t>Using</a:t>
            </a:r>
            <a:r>
              <a:rPr sz="1800" b="1" spc="-5" dirty="0">
                <a:latin typeface="Calisto MT"/>
                <a:cs typeface="Calisto MT"/>
              </a:rPr>
              <a:t> </a:t>
            </a:r>
            <a:r>
              <a:rPr sz="1800" b="1" spc="-10" dirty="0">
                <a:latin typeface="Calisto MT"/>
                <a:cs typeface="Calisto MT"/>
              </a:rPr>
              <a:t>Object </a:t>
            </a:r>
            <a:r>
              <a:rPr sz="1800" b="1" dirty="0">
                <a:latin typeface="Calisto MT"/>
                <a:cs typeface="Calisto MT"/>
              </a:rPr>
              <a:t>Relational</a:t>
            </a:r>
            <a:r>
              <a:rPr sz="1800" b="1" spc="-90" dirty="0">
                <a:latin typeface="Calisto MT"/>
                <a:cs typeface="Calisto MT"/>
              </a:rPr>
              <a:t> </a:t>
            </a:r>
            <a:r>
              <a:rPr sz="1800" b="1" spc="-10" dirty="0">
                <a:latin typeface="Calisto MT"/>
                <a:cs typeface="Calisto MT"/>
              </a:rPr>
              <a:t>Mapping</a:t>
            </a:r>
            <a:endParaRPr sz="1800">
              <a:latin typeface="Calisto MT"/>
              <a:cs typeface="Calisto MT"/>
            </a:endParaRPr>
          </a:p>
          <a:p>
            <a:pPr marL="818515">
              <a:lnSpc>
                <a:spcPts val="1885"/>
              </a:lnSpc>
            </a:pPr>
            <a:r>
              <a:rPr sz="1800" b="1" dirty="0">
                <a:latin typeface="Calisto MT"/>
                <a:cs typeface="Calisto MT"/>
              </a:rPr>
              <a:t>(ORM)</a:t>
            </a:r>
            <a:r>
              <a:rPr sz="1800" b="1" spc="-35" dirty="0">
                <a:latin typeface="Calisto MT"/>
                <a:cs typeface="Calisto MT"/>
              </a:rPr>
              <a:t> </a:t>
            </a:r>
            <a:r>
              <a:rPr sz="1800" b="1" spc="-25" dirty="0">
                <a:latin typeface="Calisto MT"/>
                <a:cs typeface="Calisto MT"/>
              </a:rPr>
              <a:t>API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63617" y="3443478"/>
            <a:ext cx="287020" cy="1286510"/>
          </a:xfrm>
          <a:custGeom>
            <a:avLst/>
            <a:gdLst/>
            <a:ahLst/>
            <a:cxnLst/>
            <a:rect l="l" t="t" r="r" b="b"/>
            <a:pathLst>
              <a:path w="287020" h="1286510">
                <a:moveTo>
                  <a:pt x="286512" y="1286256"/>
                </a:moveTo>
                <a:lnTo>
                  <a:pt x="230749" y="1278375"/>
                </a:lnTo>
                <a:lnTo>
                  <a:pt x="185213" y="1256885"/>
                </a:lnTo>
                <a:lnTo>
                  <a:pt x="154513" y="1225010"/>
                </a:lnTo>
                <a:lnTo>
                  <a:pt x="143256" y="1185976"/>
                </a:lnTo>
                <a:lnTo>
                  <a:pt x="143256" y="743407"/>
                </a:lnTo>
                <a:lnTo>
                  <a:pt x="131998" y="704373"/>
                </a:lnTo>
                <a:lnTo>
                  <a:pt x="101298" y="672498"/>
                </a:lnTo>
                <a:lnTo>
                  <a:pt x="55762" y="651008"/>
                </a:lnTo>
                <a:lnTo>
                  <a:pt x="0" y="643128"/>
                </a:lnTo>
                <a:lnTo>
                  <a:pt x="55762" y="635247"/>
                </a:lnTo>
                <a:lnTo>
                  <a:pt x="101298" y="613757"/>
                </a:lnTo>
                <a:lnTo>
                  <a:pt x="131998" y="581882"/>
                </a:lnTo>
                <a:lnTo>
                  <a:pt x="143256" y="542848"/>
                </a:lnTo>
                <a:lnTo>
                  <a:pt x="143256" y="100279"/>
                </a:lnTo>
                <a:lnTo>
                  <a:pt x="154513" y="61245"/>
                </a:lnTo>
                <a:lnTo>
                  <a:pt x="185213" y="29370"/>
                </a:lnTo>
                <a:lnTo>
                  <a:pt x="230749" y="7880"/>
                </a:lnTo>
                <a:lnTo>
                  <a:pt x="286512" y="0"/>
                </a:lnTo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1476" y="3438144"/>
            <a:ext cx="5966459" cy="12953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011158" y="3632923"/>
            <a:ext cx="4110354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persistence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mechanism</a:t>
            </a:r>
            <a:endParaRPr sz="1800">
              <a:latin typeface="Calisto MT"/>
              <a:cs typeface="Calisto MT"/>
            </a:endParaRPr>
          </a:p>
          <a:p>
            <a:pPr marL="184785" indent="-17208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84785" algn="l"/>
              </a:tabLst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Helps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accessing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relational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databases.</a:t>
            </a:r>
            <a:endParaRPr sz="1800">
              <a:latin typeface="Calisto MT"/>
              <a:cs typeface="Calisto MT"/>
            </a:endParaRPr>
          </a:p>
          <a:p>
            <a:pPr marL="184785" indent="-17208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84785" algn="l"/>
              </a:tabLst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Maps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Java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objects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database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tables.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JDBC</a:t>
            </a:r>
            <a:r>
              <a:rPr spc="-80" dirty="0"/>
              <a:t>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3264" y="1510283"/>
            <a:ext cx="7205471" cy="47503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51151" y="929735"/>
            <a:ext cx="1889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JDBC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Enhancements</a:t>
            </a:r>
            <a:r>
              <a:rPr spc="-70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spc="-20" dirty="0"/>
              <a:t>JDBC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07692" y="2084832"/>
            <a:ext cx="3988435" cy="1645920"/>
            <a:chOff x="2107692" y="2084832"/>
            <a:chExt cx="3988435" cy="1645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7692" y="2084832"/>
              <a:ext cx="3988307" cy="16459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4936" y="2109216"/>
              <a:ext cx="3893820" cy="155143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154935" y="2109216"/>
            <a:ext cx="3893820" cy="1551940"/>
          </a:xfrm>
          <a:prstGeom prst="rect">
            <a:avLst/>
          </a:prstGeom>
          <a:ln w="9525">
            <a:solidFill>
              <a:srgbClr val="129F84"/>
            </a:solidFill>
          </a:ln>
        </p:spPr>
        <p:txBody>
          <a:bodyPr vert="horz" wrap="square" lIns="0" tIns="2432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14"/>
              </a:spcBef>
            </a:pPr>
            <a:endParaRPr sz="1800">
              <a:latin typeface="Times New Roman"/>
              <a:cs typeface="Times New Roman"/>
            </a:endParaRPr>
          </a:p>
          <a:p>
            <a:pPr marL="990600" marR="572135" indent="-408940">
              <a:lnSpc>
                <a:spcPts val="198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java.sql.connection. beginRequest()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5698" y="3835146"/>
            <a:ext cx="3893820" cy="914400"/>
          </a:xfrm>
          <a:prstGeom prst="rect">
            <a:avLst/>
          </a:prstGeom>
          <a:solidFill>
            <a:srgbClr val="FFC000"/>
          </a:solidFill>
          <a:ln w="9994">
            <a:solidFill>
              <a:srgbClr val="D6D346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66825" marR="294640" indent="-982980">
              <a:lnSpc>
                <a:spcPts val="1939"/>
              </a:lnSpc>
              <a:spcBef>
                <a:spcPts val="33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Informs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driver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request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about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start.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55436" y="2084832"/>
            <a:ext cx="4002404" cy="1645920"/>
            <a:chOff x="6155436" y="2084832"/>
            <a:chExt cx="4002404" cy="16459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5436" y="2084832"/>
              <a:ext cx="4002023" cy="16459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2680" y="2109216"/>
              <a:ext cx="3907535" cy="155143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202679" y="2109216"/>
            <a:ext cx="3907790" cy="1551940"/>
          </a:xfrm>
          <a:prstGeom prst="rect">
            <a:avLst/>
          </a:prstGeom>
          <a:ln w="9525">
            <a:solidFill>
              <a:srgbClr val="97B853"/>
            </a:solidFill>
          </a:ln>
        </p:spPr>
        <p:txBody>
          <a:bodyPr vert="horz" wrap="square" lIns="0" tIns="2432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14"/>
              </a:spcBef>
            </a:pPr>
            <a:endParaRPr sz="1800">
              <a:latin typeface="Times New Roman"/>
              <a:cs typeface="Times New Roman"/>
            </a:endParaRPr>
          </a:p>
          <a:p>
            <a:pPr marL="1134110" marR="579755" indent="-546100">
              <a:lnSpc>
                <a:spcPts val="198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java.sql.connection. endRequest()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29350" y="3835146"/>
            <a:ext cx="3931920" cy="914400"/>
          </a:xfrm>
          <a:prstGeom prst="rect">
            <a:avLst/>
          </a:prstGeom>
          <a:solidFill>
            <a:srgbClr val="BD7600"/>
          </a:solidFill>
          <a:ln w="9994">
            <a:solidFill>
              <a:srgbClr val="FD9E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319530" marR="314325" indent="-1016635">
              <a:lnSpc>
                <a:spcPts val="1939"/>
              </a:lnSpc>
              <a:spcBef>
                <a:spcPts val="33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Informs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driver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request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about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end.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Java</a:t>
            </a:r>
            <a:r>
              <a:rPr spc="-95" dirty="0"/>
              <a:t> </a:t>
            </a:r>
            <a:r>
              <a:rPr spc="-10" dirty="0"/>
              <a:t>Persistence</a:t>
            </a:r>
            <a:r>
              <a:rPr spc="-65" dirty="0"/>
              <a:t> </a:t>
            </a:r>
            <a:r>
              <a:rPr dirty="0"/>
              <a:t>API</a:t>
            </a:r>
            <a:r>
              <a:rPr spc="-75" dirty="0"/>
              <a:t> </a:t>
            </a:r>
            <a:r>
              <a:rPr spc="-10" dirty="0"/>
              <a:t>(JPA)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7180" y="2226564"/>
            <a:ext cx="4828540" cy="2825750"/>
            <a:chOff x="297180" y="2226564"/>
            <a:chExt cx="4828540" cy="2825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180" y="2226564"/>
              <a:ext cx="4828031" cy="28254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188" y="2290572"/>
              <a:ext cx="4645088" cy="26426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2138" y="2271521"/>
              <a:ext cx="4683760" cy="2680970"/>
            </a:xfrm>
            <a:custGeom>
              <a:avLst/>
              <a:gdLst/>
              <a:ahLst/>
              <a:cxnLst/>
              <a:rect l="l" t="t" r="r" b="b"/>
              <a:pathLst>
                <a:path w="4683760" h="2680970">
                  <a:moveTo>
                    <a:pt x="0" y="0"/>
                  </a:moveTo>
                  <a:lnTo>
                    <a:pt x="4683252" y="0"/>
                  </a:lnTo>
                  <a:lnTo>
                    <a:pt x="4683252" y="2680716"/>
                  </a:lnTo>
                  <a:lnTo>
                    <a:pt x="0" y="2680716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1858" y="809608"/>
            <a:ext cx="33642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Mapping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Tables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4267" y="809608"/>
            <a:ext cx="285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Primary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Components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JPA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3759" y="1487934"/>
            <a:ext cx="6383501" cy="424789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07" y="79546"/>
            <a:ext cx="33896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EntityManager</a:t>
            </a:r>
            <a:r>
              <a:rPr spc="-75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60" dirty="0"/>
              <a:t>JPA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48839" y="1784604"/>
            <a:ext cx="7749540" cy="3415665"/>
            <a:chOff x="2148839" y="1784604"/>
            <a:chExt cx="7749540" cy="34156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8839" y="1784604"/>
              <a:ext cx="7749540" cy="34152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5415" y="1821180"/>
              <a:ext cx="7623048" cy="32887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80653" y="1816417"/>
              <a:ext cx="7632700" cy="3298825"/>
            </a:xfrm>
            <a:custGeom>
              <a:avLst/>
              <a:gdLst/>
              <a:ahLst/>
              <a:cxnLst/>
              <a:rect l="l" t="t" r="r" b="b"/>
              <a:pathLst>
                <a:path w="7632700" h="3298825">
                  <a:moveTo>
                    <a:pt x="0" y="0"/>
                  </a:moveTo>
                  <a:lnTo>
                    <a:pt x="7632573" y="0"/>
                  </a:lnTo>
                  <a:lnTo>
                    <a:pt x="7632573" y="3298316"/>
                  </a:lnTo>
                  <a:lnTo>
                    <a:pt x="0" y="329831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DAO</a:t>
            </a:r>
            <a:r>
              <a:rPr spc="-60" dirty="0"/>
              <a:t> </a:t>
            </a:r>
            <a:r>
              <a:rPr dirty="0"/>
              <a:t>Pattern</a:t>
            </a:r>
            <a:r>
              <a:rPr spc="-1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spc="-10" dirty="0"/>
              <a:t>Databases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9239" y="1226820"/>
            <a:ext cx="8920480" cy="4893945"/>
            <a:chOff x="1539239" y="1226820"/>
            <a:chExt cx="8920480" cy="4893945"/>
          </a:xfrm>
        </p:grpSpPr>
        <p:sp>
          <p:nvSpPr>
            <p:cNvPr id="4" name="object 4"/>
            <p:cNvSpPr/>
            <p:nvPr/>
          </p:nvSpPr>
          <p:spPr>
            <a:xfrm>
              <a:off x="4586477" y="3675126"/>
              <a:ext cx="608965" cy="1974850"/>
            </a:xfrm>
            <a:custGeom>
              <a:avLst/>
              <a:gdLst/>
              <a:ahLst/>
              <a:cxnLst/>
              <a:rect l="l" t="t" r="r" b="b"/>
              <a:pathLst>
                <a:path w="608964" h="1974850">
                  <a:moveTo>
                    <a:pt x="0" y="0"/>
                  </a:moveTo>
                  <a:lnTo>
                    <a:pt x="304177" y="0"/>
                  </a:lnTo>
                  <a:lnTo>
                    <a:pt x="304177" y="1974342"/>
                  </a:lnTo>
                  <a:lnTo>
                    <a:pt x="608368" y="1974342"/>
                  </a:lnTo>
                </a:path>
                <a:path w="608964" h="1974850">
                  <a:moveTo>
                    <a:pt x="0" y="0"/>
                  </a:moveTo>
                  <a:lnTo>
                    <a:pt x="304177" y="0"/>
                  </a:lnTo>
                  <a:lnTo>
                    <a:pt x="304177" y="658114"/>
                  </a:lnTo>
                  <a:lnTo>
                    <a:pt x="608368" y="658114"/>
                  </a:lnTo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86477" y="3016756"/>
              <a:ext cx="608965" cy="658495"/>
            </a:xfrm>
            <a:custGeom>
              <a:avLst/>
              <a:gdLst/>
              <a:ahLst/>
              <a:cxnLst/>
              <a:rect l="l" t="t" r="r" b="b"/>
              <a:pathLst>
                <a:path w="608964" h="658495">
                  <a:moveTo>
                    <a:pt x="0" y="658114"/>
                  </a:moveTo>
                  <a:lnTo>
                    <a:pt x="304177" y="658114"/>
                  </a:lnTo>
                  <a:lnTo>
                    <a:pt x="304177" y="0"/>
                  </a:lnTo>
                  <a:lnTo>
                    <a:pt x="608368" y="0"/>
                  </a:lnTo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86477" y="1700020"/>
              <a:ext cx="608965" cy="1974850"/>
            </a:xfrm>
            <a:custGeom>
              <a:avLst/>
              <a:gdLst/>
              <a:ahLst/>
              <a:cxnLst/>
              <a:rect l="l" t="t" r="r" b="b"/>
              <a:pathLst>
                <a:path w="608964" h="1974850">
                  <a:moveTo>
                    <a:pt x="0" y="1974342"/>
                  </a:moveTo>
                  <a:lnTo>
                    <a:pt x="304177" y="1974342"/>
                  </a:lnTo>
                  <a:lnTo>
                    <a:pt x="304177" y="0"/>
                  </a:lnTo>
                  <a:lnTo>
                    <a:pt x="608368" y="0"/>
                  </a:lnTo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9239" y="3206495"/>
              <a:ext cx="3049523" cy="9342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9219" y="1226820"/>
              <a:ext cx="5172455" cy="944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9219" y="2543556"/>
              <a:ext cx="5189219" cy="9433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9219" y="3860292"/>
              <a:ext cx="5224271" cy="9433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9219" y="5175504"/>
              <a:ext cx="5269991" cy="9448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897645" y="1304165"/>
            <a:ext cx="3750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 marR="5080" indent="-413384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Separates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business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logic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from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database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access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easier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maintenance.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93462" y="2659992"/>
            <a:ext cx="8208009" cy="193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17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Encapsulates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data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access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implementation</a:t>
            </a:r>
            <a:r>
              <a:rPr sz="18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in 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DAO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classes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using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JDBC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API.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Calisto MT"/>
              <a:cs typeface="Calisto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Importance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800" spc="1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DAO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pattern</a:t>
            </a:r>
            <a:endParaRPr sz="1800">
              <a:latin typeface="Calisto MT"/>
              <a:cs typeface="Calisto MT"/>
            </a:endParaRPr>
          </a:p>
          <a:p>
            <a:pPr marL="4218940" marR="260985" algn="ctr">
              <a:lnSpc>
                <a:spcPct val="100000"/>
              </a:lnSpc>
              <a:spcBef>
                <a:spcPts val="18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Enhances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flexibility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independence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between</a:t>
            </a:r>
            <a:r>
              <a:rPr sz="18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application</a:t>
            </a:r>
            <a:r>
              <a:rPr sz="18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layers.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3173" y="5373016"/>
            <a:ext cx="4898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marR="5080" indent="-139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Utilizes</a:t>
            </a:r>
            <a:r>
              <a:rPr sz="18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DAO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performing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data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access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functions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such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as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insertion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retrieval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business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services.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07" y="79546"/>
            <a:ext cx="2682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JDBC</a:t>
            </a:r>
            <a:r>
              <a:rPr spc="-105" dirty="0"/>
              <a:t> </a:t>
            </a:r>
            <a:r>
              <a:rPr dirty="0"/>
              <a:t>versus</a:t>
            </a:r>
            <a:r>
              <a:rPr spc="-120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9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25464" y="1003694"/>
          <a:ext cx="8017509" cy="4834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4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1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b="1" spc="-20" dirty="0">
                          <a:latin typeface="Calisto MT"/>
                          <a:cs typeface="Calisto MT"/>
                        </a:rPr>
                        <a:t>JDBC</a:t>
                      </a:r>
                      <a:endParaRPr sz="2000">
                        <a:latin typeface="Calisto MT"/>
                        <a:cs typeface="Calisto MT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28575">
                      <a:solidFill>
                        <a:srgbClr val="4189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b="1" spc="-25" dirty="0">
                          <a:latin typeface="Calisto MT"/>
                          <a:cs typeface="Calisto MT"/>
                        </a:rPr>
                        <a:t>JPA</a:t>
                      </a:r>
                      <a:endParaRPr sz="2000">
                        <a:latin typeface="Calisto MT"/>
                        <a:cs typeface="Calisto MT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28575">
                      <a:solidFill>
                        <a:srgbClr val="4189B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Database-dependent.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28575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4189B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Database-independent.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28575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4189B3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Uses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queries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based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on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database.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2923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7805" marR="528955" indent="-95123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Uses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single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query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for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different databases.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65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Development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slower.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2415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4189B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65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Development</a:t>
                      </a:r>
                      <a:r>
                        <a:rPr sz="1800" spc="-6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and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productivity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good.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2415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4189B3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Does</a:t>
                      </a:r>
                      <a:r>
                        <a:rPr sz="1800" spc="-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not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support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POJO</a:t>
                      </a:r>
                      <a:r>
                        <a:rPr sz="1800" spc="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model.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Supports</a:t>
                      </a:r>
                      <a:r>
                        <a:rPr sz="1800" spc="-5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POJO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model</a:t>
                      </a:r>
                      <a:r>
                        <a:rPr sz="1800" spc="-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programming.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40" dirty="0">
                          <a:latin typeface="Calisto MT"/>
                          <a:cs typeface="Calisto MT"/>
                        </a:rPr>
                        <a:t>Java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cache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required.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4189B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43025" marR="355600" indent="-98171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Uses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too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levels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of</a:t>
                      </a:r>
                      <a:r>
                        <a:rPr sz="1800" spc="1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cache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for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better performance.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4189B3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 marL="1226820" marR="151765" indent="-106870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Full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SQL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query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written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</a:t>
                      </a:r>
                      <a:r>
                        <a:rPr sz="1800" spc="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associate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database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tables.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0330" marR="504190" indent="-85979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Annotations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are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used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create associations.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85" dirty="0"/>
              <a:t> </a:t>
            </a:r>
            <a:r>
              <a:rPr dirty="0"/>
              <a:t>Event</a:t>
            </a:r>
            <a:r>
              <a:rPr spc="-85" dirty="0"/>
              <a:t> </a:t>
            </a:r>
            <a:r>
              <a:rPr spc="-10" dirty="0"/>
              <a:t>Handling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7284" y="1481328"/>
            <a:ext cx="5398135" cy="3660775"/>
            <a:chOff x="367284" y="1481328"/>
            <a:chExt cx="5398135" cy="3660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84" y="1481328"/>
              <a:ext cx="5398007" cy="36606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292" y="1545335"/>
              <a:ext cx="5215127" cy="34777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2242" y="1526286"/>
              <a:ext cx="5253355" cy="3515995"/>
            </a:xfrm>
            <a:custGeom>
              <a:avLst/>
              <a:gdLst/>
              <a:ahLst/>
              <a:cxnLst/>
              <a:rect l="l" t="t" r="r" b="b"/>
              <a:pathLst>
                <a:path w="5253355" h="3515995">
                  <a:moveTo>
                    <a:pt x="0" y="0"/>
                  </a:moveTo>
                  <a:lnTo>
                    <a:pt x="5253228" y="0"/>
                  </a:lnTo>
                  <a:lnTo>
                    <a:pt x="5253228" y="3515867"/>
                  </a:lnTo>
                  <a:lnTo>
                    <a:pt x="0" y="351586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33386" y="966763"/>
            <a:ext cx="1811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Listener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Interfaces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6476" y="934211"/>
            <a:ext cx="4573523" cy="47548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21325" y="981592"/>
            <a:ext cx="3042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ServletContextListener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6476" y="1473708"/>
            <a:ext cx="4573523" cy="4754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6476" y="2014728"/>
            <a:ext cx="4573523" cy="47548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6476" y="2554223"/>
            <a:ext cx="4573523" cy="47548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56476" y="3093720"/>
            <a:ext cx="4573523" cy="4754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56476" y="3634740"/>
            <a:ext cx="4573523" cy="47548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56476" y="4174235"/>
            <a:ext cx="4573523" cy="47548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56476" y="4713732"/>
            <a:ext cx="4573523" cy="4754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56476" y="5254752"/>
            <a:ext cx="4573523" cy="47548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56476" y="5794247"/>
            <a:ext cx="4573523" cy="47548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004105" y="1521592"/>
            <a:ext cx="4277360" cy="462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ServletContextEvent</a:t>
            </a:r>
            <a:endParaRPr sz="1800">
              <a:latin typeface="Courier New"/>
              <a:cs typeface="Courier New"/>
            </a:endParaRPr>
          </a:p>
          <a:p>
            <a:pPr marL="12700" marR="5080" algn="ctr">
              <a:lnSpc>
                <a:spcPts val="4250"/>
              </a:lnSpc>
              <a:spcBef>
                <a:spcPts val="290"/>
              </a:spcBef>
            </a:pPr>
            <a:r>
              <a:rPr sz="1800" b="1" spc="-10" dirty="0">
                <a:latin typeface="Courier New"/>
                <a:cs typeface="Courier New"/>
              </a:rPr>
              <a:t>ServletContextAttributeListener ServletContextAttributeEvent HttpSessionAttributeListener HttpSessionBindingListener HttpSessionBindingEvent HttpSessionListener HttpSessionActivationListener HttpSessionEvent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754115"/>
            <a:ext cx="11079480" cy="526034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most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common operation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performed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storing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retrieving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information.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several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mechanisms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JDBC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JPA.</a:t>
            </a:r>
            <a:endParaRPr sz="1800">
              <a:latin typeface="Calisto MT"/>
              <a:cs typeface="Calisto MT"/>
            </a:endParaRPr>
          </a:p>
          <a:p>
            <a:pPr marL="194310" marR="38735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JDBC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interfaces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allow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perform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operations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on 	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databases.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5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JDBC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4.3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improvement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JDBC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API,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includes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both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java.sql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javax.sql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packages.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spc="-20" dirty="0">
                <a:latin typeface="Calisto MT"/>
                <a:cs typeface="Calisto MT"/>
              </a:rPr>
              <a:t>JPA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ORM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technology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persist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entities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database.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annotations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XML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mapping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entity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existing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tables.</a:t>
            </a:r>
            <a:endParaRPr sz="1800">
              <a:latin typeface="Calisto MT"/>
              <a:cs typeface="Calisto MT"/>
            </a:endParaRPr>
          </a:p>
          <a:p>
            <a:pPr marL="194310" marR="5080" indent="-181610">
              <a:lnSpc>
                <a:spcPts val="1939"/>
              </a:lnSpc>
              <a:spcBef>
                <a:spcPts val="142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JPA,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persistent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referred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Entities.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Entities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old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persisted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relational 	</a:t>
            </a:r>
            <a:r>
              <a:rPr sz="1800" dirty="0">
                <a:latin typeface="Calisto MT"/>
                <a:cs typeface="Calisto MT"/>
              </a:rPr>
              <a:t>databases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legacy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systems.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persistence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context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represents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managed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entity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instances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exist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particular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store.</a:t>
            </a:r>
            <a:endParaRPr sz="1800">
              <a:latin typeface="Calisto MT"/>
              <a:cs typeface="Calisto MT"/>
            </a:endParaRPr>
          </a:p>
          <a:p>
            <a:pPr marL="194310" marR="260985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DAO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pattern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easy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maintenance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separating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business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logics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	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access.</a:t>
            </a:r>
            <a:endParaRPr sz="1800">
              <a:latin typeface="Calisto MT"/>
              <a:cs typeface="Calisto MT"/>
            </a:endParaRPr>
          </a:p>
          <a:p>
            <a:pPr marL="194310" marR="495300" indent="-181610">
              <a:lnSpc>
                <a:spcPts val="1939"/>
              </a:lnSpc>
              <a:spcBef>
                <a:spcPts val="140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events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life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cycle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monitored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listener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objects.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These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invoked 	</a:t>
            </a:r>
            <a:r>
              <a:rPr sz="1800" dirty="0">
                <a:latin typeface="Calisto MT"/>
                <a:cs typeface="Calisto MT"/>
              </a:rPr>
              <a:t>when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life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cycle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events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occur.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549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Algerian</vt:lpstr>
      <vt:lpstr>Arial</vt:lpstr>
      <vt:lpstr>Arial Black</vt:lpstr>
      <vt:lpstr>Arial Rounded MT Bold</vt:lpstr>
      <vt:lpstr>Calibri</vt:lpstr>
      <vt:lpstr>Calisto MT</vt:lpstr>
      <vt:lpstr>Corbel</vt:lpstr>
      <vt:lpstr>Courier New</vt:lpstr>
      <vt:lpstr>Times New Roman</vt:lpstr>
      <vt:lpstr>Office Theme</vt:lpstr>
      <vt:lpstr>Jakarta Server Pages and</vt:lpstr>
      <vt:lpstr>Objectives</vt:lpstr>
      <vt:lpstr>Introduction</vt:lpstr>
      <vt:lpstr>JDBC API</vt:lpstr>
      <vt:lpstr>Enhancements in JDBC</vt:lpstr>
      <vt:lpstr>Java Persistence API (JPA)</vt:lpstr>
      <vt:lpstr>EntityManager in JPA</vt:lpstr>
      <vt:lpstr>DAO Pattern for Databases</vt:lpstr>
      <vt:lpstr>JDBC versus JPA</vt:lpstr>
      <vt:lpstr>Session Event Handling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5</cp:revision>
  <dcterms:created xsi:type="dcterms:W3CDTF">2025-10-19T10:33:49Z</dcterms:created>
  <dcterms:modified xsi:type="dcterms:W3CDTF">2025-10-20T01:23:37Z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