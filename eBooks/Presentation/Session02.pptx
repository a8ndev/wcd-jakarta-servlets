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0907" y="79546"/>
            <a:ext cx="5808980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80291" y="1592148"/>
            <a:ext cx="2744470" cy="3464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492240"/>
            <a:ext cx="12179820" cy="3657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907" y="33827"/>
            <a:ext cx="1201018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0712" y="1300308"/>
            <a:ext cx="6851650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74575" y="6635253"/>
            <a:ext cx="102870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19714" y="6613906"/>
            <a:ext cx="33083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chemeClr val="bg1"/>
                </a:solidFill>
                <a:latin typeface="Calisto MT"/>
                <a:cs typeface="Calisto MT"/>
              </a:defRPr>
            </a:lvl1pPr>
          </a:lstStyle>
          <a:p>
            <a:pPr marL="144780">
              <a:lnSpc>
                <a:spcPts val="105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572" y="0"/>
            <a:ext cx="12187555" cy="6858000"/>
            <a:chOff x="4572" y="0"/>
            <a:chExt cx="12187555" cy="6858000"/>
          </a:xfrm>
        </p:grpSpPr>
        <p:sp>
          <p:nvSpPr>
            <p:cNvPr id="4" name="object 4"/>
            <p:cNvSpPr/>
            <p:nvPr/>
          </p:nvSpPr>
          <p:spPr>
            <a:xfrm>
              <a:off x="126492" y="2930651"/>
              <a:ext cx="11963400" cy="3736975"/>
            </a:xfrm>
            <a:custGeom>
              <a:avLst/>
              <a:gdLst/>
              <a:ahLst/>
              <a:cxnLst/>
              <a:rect l="l" t="t" r="r" b="b"/>
              <a:pathLst>
                <a:path w="11963400" h="3736975">
                  <a:moveTo>
                    <a:pt x="11963400" y="0"/>
                  </a:moveTo>
                  <a:lnTo>
                    <a:pt x="0" y="0"/>
                  </a:lnTo>
                  <a:lnTo>
                    <a:pt x="0" y="3736848"/>
                  </a:lnTo>
                  <a:lnTo>
                    <a:pt x="11963400" y="3736848"/>
                  </a:lnTo>
                  <a:lnTo>
                    <a:pt x="11963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" y="0"/>
              <a:ext cx="12187427" cy="6857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827" y="2222496"/>
            <a:ext cx="69913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Arial Rounded MT Bold"/>
                <a:cs typeface="Arial Rounded MT Bold"/>
              </a:rPr>
              <a:t>Jakarta</a:t>
            </a:r>
            <a:r>
              <a:rPr sz="4400" spc="-190" dirty="0">
                <a:latin typeface="Arial Rounded MT Bold"/>
                <a:cs typeface="Arial Rounded MT Bold"/>
              </a:rPr>
              <a:t> </a:t>
            </a:r>
            <a:r>
              <a:rPr sz="4400" dirty="0">
                <a:latin typeface="Arial Rounded MT Bold"/>
                <a:cs typeface="Arial Rounded MT Bold"/>
              </a:rPr>
              <a:t>Server</a:t>
            </a:r>
            <a:r>
              <a:rPr sz="4400" spc="-204" dirty="0">
                <a:latin typeface="Arial Rounded MT Bold"/>
                <a:cs typeface="Arial Rounded MT Bold"/>
              </a:rPr>
              <a:t> </a:t>
            </a:r>
            <a:r>
              <a:rPr sz="4400" spc="-30" dirty="0">
                <a:latin typeface="Arial Rounded MT Bold"/>
                <a:cs typeface="Arial Rounded MT Bold"/>
              </a:rPr>
              <a:t>Pages</a:t>
            </a:r>
            <a:r>
              <a:rPr sz="4400" spc="-195" dirty="0">
                <a:latin typeface="Arial Rounded MT Bold"/>
                <a:cs typeface="Arial Rounded MT Bold"/>
              </a:rPr>
              <a:t> </a:t>
            </a:r>
            <a:r>
              <a:rPr sz="4400" spc="-25" dirty="0">
                <a:latin typeface="Arial Rounded MT Bold"/>
                <a:cs typeface="Arial Rounded MT Bold"/>
              </a:rPr>
              <a:t>and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6827" y="2893106"/>
            <a:ext cx="22567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FFFFFF"/>
                </a:solidFill>
                <a:latin typeface="Arial Rounded MT Bold"/>
                <a:cs typeface="Arial Rounded MT Bold"/>
              </a:rPr>
              <a:t>Servlets</a:t>
            </a:r>
            <a:endParaRPr sz="4400">
              <a:latin typeface="Arial Rounded MT Bold"/>
              <a:cs typeface="Arial Rounded MT Bol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4805" y="4517499"/>
            <a:ext cx="4456430" cy="1108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C564"/>
                </a:solidFill>
                <a:latin typeface="Algerian"/>
                <a:cs typeface="Algerian"/>
              </a:rPr>
              <a:t>SESSION:</a:t>
            </a:r>
            <a:r>
              <a:rPr sz="2400" spc="-75" dirty="0">
                <a:solidFill>
                  <a:srgbClr val="FFC564"/>
                </a:solidFill>
                <a:latin typeface="Algerian"/>
                <a:cs typeface="Algerian"/>
              </a:rPr>
              <a:t> </a:t>
            </a:r>
            <a:r>
              <a:rPr sz="2400" spc="-50" dirty="0">
                <a:solidFill>
                  <a:srgbClr val="FFC564"/>
                </a:solidFill>
                <a:latin typeface="Algerian"/>
                <a:cs typeface="Algerian"/>
              </a:rPr>
              <a:t>2</a:t>
            </a:r>
            <a:endParaRPr sz="2400">
              <a:latin typeface="Algerian"/>
              <a:cs typeface="Algerian"/>
            </a:endParaRPr>
          </a:p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Introduction</a:t>
            </a:r>
            <a:r>
              <a:rPr sz="2400" spc="25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dirty="0">
                <a:solidFill>
                  <a:srgbClr val="FFC564"/>
                </a:solidFill>
                <a:latin typeface="Arial Black"/>
                <a:cs typeface="Arial Black"/>
              </a:rPr>
              <a:t>to Jakarta</a:t>
            </a:r>
            <a:r>
              <a:rPr sz="2400" spc="10" dirty="0">
                <a:solidFill>
                  <a:srgbClr val="FFC564"/>
                </a:solidFill>
                <a:latin typeface="Arial Black"/>
                <a:cs typeface="Arial Black"/>
              </a:rPr>
              <a:t> </a:t>
            </a:r>
            <a:r>
              <a:rPr sz="2400" spc="-25" dirty="0">
                <a:solidFill>
                  <a:srgbClr val="FFC564"/>
                </a:solidFill>
                <a:latin typeface="Arial Black"/>
                <a:cs typeface="Arial Black"/>
              </a:rPr>
              <a:t>EE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2027" y="44682"/>
            <a:ext cx="15709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Objectives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2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9258" y="542797"/>
            <a:ext cx="8046720" cy="3849370"/>
          </a:xfrm>
          <a:prstGeom prst="rect">
            <a:avLst/>
          </a:prstGeom>
        </p:spPr>
        <p:txBody>
          <a:bodyPr vert="horz" wrap="square" lIns="0" tIns="163195" rIns="0" bIns="0" rtlCol="0">
            <a:spAutoFit/>
          </a:bodyPr>
          <a:lstStyle/>
          <a:p>
            <a:pPr marL="194310" indent="-181610">
              <a:lnSpc>
                <a:spcPct val="100000"/>
              </a:lnSpc>
              <a:spcBef>
                <a:spcPts val="12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platform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architecture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profiles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Describe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model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its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components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Identify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microservices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cloud-</a:t>
            </a:r>
            <a:r>
              <a:rPr sz="1800" dirty="0">
                <a:latin typeface="Calisto MT"/>
                <a:cs typeface="Calisto MT"/>
              </a:rPr>
              <a:t>native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principles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25" dirty="0">
                <a:latin typeface="Calisto MT"/>
                <a:cs typeface="Calisto MT"/>
              </a:rPr>
              <a:t> EE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List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advantages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disadvantages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25" dirty="0">
                <a:latin typeface="Calisto MT"/>
                <a:cs typeface="Calisto MT"/>
              </a:rPr>
              <a:t> EE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key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specifications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7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installation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JDK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8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setting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up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system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variables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Identify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features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capabilities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Eclipse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IDE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Explain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installation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Eclipse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IDE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Background</a:t>
            </a:r>
            <a:r>
              <a:rPr spc="-60" dirty="0"/>
              <a:t> </a:t>
            </a:r>
            <a:r>
              <a:rPr dirty="0"/>
              <a:t>of</a:t>
            </a:r>
            <a:r>
              <a:rPr spc="190" dirty="0"/>
              <a:t> </a:t>
            </a:r>
            <a:r>
              <a:rPr dirty="0"/>
              <a:t>Jakarta</a:t>
            </a:r>
            <a:r>
              <a:rPr spc="-65" dirty="0"/>
              <a:t> </a:t>
            </a:r>
            <a:r>
              <a:rPr spc="-25" dirty="0"/>
              <a:t>EE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7006208" y="2051687"/>
            <a:ext cx="4682490" cy="859155"/>
            <a:chOff x="7006208" y="2051687"/>
            <a:chExt cx="4682490" cy="859155"/>
          </a:xfrm>
        </p:grpSpPr>
        <p:sp>
          <p:nvSpPr>
            <p:cNvPr id="6" name="object 6"/>
            <p:cNvSpPr/>
            <p:nvPr/>
          </p:nvSpPr>
          <p:spPr>
            <a:xfrm>
              <a:off x="7015733" y="2370582"/>
              <a:ext cx="4663440" cy="530860"/>
            </a:xfrm>
            <a:custGeom>
              <a:avLst/>
              <a:gdLst/>
              <a:ahLst/>
              <a:cxnLst/>
              <a:rect l="l" t="t" r="r" b="b"/>
              <a:pathLst>
                <a:path w="4663440" h="530860">
                  <a:moveTo>
                    <a:pt x="0" y="0"/>
                  </a:moveTo>
                  <a:lnTo>
                    <a:pt x="4663439" y="0"/>
                  </a:lnTo>
                  <a:lnTo>
                    <a:pt x="4663439" y="530351"/>
                  </a:lnTo>
                  <a:lnTo>
                    <a:pt x="0" y="53035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48905" y="2061212"/>
              <a:ext cx="3789045" cy="620395"/>
            </a:xfrm>
            <a:custGeom>
              <a:avLst/>
              <a:gdLst/>
              <a:ahLst/>
              <a:cxnLst/>
              <a:rect l="l" t="t" r="r" b="b"/>
              <a:pathLst>
                <a:path w="3789045" h="620394">
                  <a:moveTo>
                    <a:pt x="3685286" y="0"/>
                  </a:moveTo>
                  <a:lnTo>
                    <a:pt x="103378" y="0"/>
                  </a:lnTo>
                  <a:lnTo>
                    <a:pt x="63136" y="8123"/>
                  </a:lnTo>
                  <a:lnTo>
                    <a:pt x="30276" y="30276"/>
                  </a:lnTo>
                  <a:lnTo>
                    <a:pt x="8123" y="63136"/>
                  </a:lnTo>
                  <a:lnTo>
                    <a:pt x="0" y="103377"/>
                  </a:lnTo>
                  <a:lnTo>
                    <a:pt x="0" y="516889"/>
                  </a:lnTo>
                  <a:lnTo>
                    <a:pt x="8123" y="557126"/>
                  </a:lnTo>
                  <a:lnTo>
                    <a:pt x="30276" y="589986"/>
                  </a:lnTo>
                  <a:lnTo>
                    <a:pt x="63136" y="612142"/>
                  </a:lnTo>
                  <a:lnTo>
                    <a:pt x="103378" y="620267"/>
                  </a:lnTo>
                  <a:lnTo>
                    <a:pt x="3685286" y="620267"/>
                  </a:lnTo>
                  <a:lnTo>
                    <a:pt x="3725527" y="612142"/>
                  </a:lnTo>
                  <a:lnTo>
                    <a:pt x="3758387" y="589986"/>
                  </a:lnTo>
                  <a:lnTo>
                    <a:pt x="3780540" y="557126"/>
                  </a:lnTo>
                  <a:lnTo>
                    <a:pt x="3788664" y="516889"/>
                  </a:lnTo>
                  <a:lnTo>
                    <a:pt x="3788664" y="103377"/>
                  </a:lnTo>
                  <a:lnTo>
                    <a:pt x="3780540" y="63136"/>
                  </a:lnTo>
                  <a:lnTo>
                    <a:pt x="3758387" y="30276"/>
                  </a:lnTo>
                  <a:lnTo>
                    <a:pt x="3725527" y="8123"/>
                  </a:lnTo>
                  <a:lnTo>
                    <a:pt x="3685286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48905" y="2061212"/>
              <a:ext cx="3789045" cy="620395"/>
            </a:xfrm>
            <a:custGeom>
              <a:avLst/>
              <a:gdLst/>
              <a:ahLst/>
              <a:cxnLst/>
              <a:rect l="l" t="t" r="r" b="b"/>
              <a:pathLst>
                <a:path w="3789045" h="620394">
                  <a:moveTo>
                    <a:pt x="0" y="103377"/>
                  </a:moveTo>
                  <a:lnTo>
                    <a:pt x="8123" y="63136"/>
                  </a:lnTo>
                  <a:lnTo>
                    <a:pt x="30276" y="30276"/>
                  </a:lnTo>
                  <a:lnTo>
                    <a:pt x="63136" y="8123"/>
                  </a:lnTo>
                  <a:lnTo>
                    <a:pt x="103378" y="0"/>
                  </a:lnTo>
                  <a:lnTo>
                    <a:pt x="3685286" y="0"/>
                  </a:lnTo>
                  <a:lnTo>
                    <a:pt x="3725527" y="8123"/>
                  </a:lnTo>
                  <a:lnTo>
                    <a:pt x="3758387" y="30276"/>
                  </a:lnTo>
                  <a:lnTo>
                    <a:pt x="3780540" y="63136"/>
                  </a:lnTo>
                  <a:lnTo>
                    <a:pt x="3788664" y="103377"/>
                  </a:lnTo>
                  <a:lnTo>
                    <a:pt x="3788664" y="516889"/>
                  </a:lnTo>
                  <a:lnTo>
                    <a:pt x="3780540" y="557126"/>
                  </a:lnTo>
                  <a:lnTo>
                    <a:pt x="3758387" y="589986"/>
                  </a:lnTo>
                  <a:lnTo>
                    <a:pt x="3725527" y="612142"/>
                  </a:lnTo>
                  <a:lnTo>
                    <a:pt x="3685286" y="620267"/>
                  </a:lnTo>
                  <a:lnTo>
                    <a:pt x="103378" y="620267"/>
                  </a:lnTo>
                  <a:lnTo>
                    <a:pt x="63136" y="612142"/>
                  </a:lnTo>
                  <a:lnTo>
                    <a:pt x="30276" y="589986"/>
                  </a:lnTo>
                  <a:lnTo>
                    <a:pt x="8123" y="557126"/>
                  </a:lnTo>
                  <a:lnTo>
                    <a:pt x="0" y="516889"/>
                  </a:lnTo>
                  <a:lnTo>
                    <a:pt x="0" y="10337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389754" y="2197662"/>
            <a:ext cx="1331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Cleaner</a:t>
            </a:r>
            <a:r>
              <a:rPr sz="1800" b="1" spc="-4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sto MT"/>
                <a:cs typeface="Calisto MT"/>
              </a:rPr>
              <a:t>code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006208" y="3004185"/>
            <a:ext cx="4682490" cy="859155"/>
            <a:chOff x="7006208" y="3004185"/>
            <a:chExt cx="4682490" cy="859155"/>
          </a:xfrm>
        </p:grpSpPr>
        <p:sp>
          <p:nvSpPr>
            <p:cNvPr id="11" name="object 11"/>
            <p:cNvSpPr/>
            <p:nvPr/>
          </p:nvSpPr>
          <p:spPr>
            <a:xfrm>
              <a:off x="7015733" y="3323082"/>
              <a:ext cx="4663440" cy="530860"/>
            </a:xfrm>
            <a:custGeom>
              <a:avLst/>
              <a:gdLst/>
              <a:ahLst/>
              <a:cxnLst/>
              <a:rect l="l" t="t" r="r" b="b"/>
              <a:pathLst>
                <a:path w="4663440" h="530860">
                  <a:moveTo>
                    <a:pt x="0" y="0"/>
                  </a:moveTo>
                  <a:lnTo>
                    <a:pt x="4663439" y="0"/>
                  </a:lnTo>
                  <a:lnTo>
                    <a:pt x="4663439" y="530351"/>
                  </a:lnTo>
                  <a:lnTo>
                    <a:pt x="0" y="53035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3EC3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48905" y="3013710"/>
              <a:ext cx="3721735" cy="620395"/>
            </a:xfrm>
            <a:custGeom>
              <a:avLst/>
              <a:gdLst/>
              <a:ahLst/>
              <a:cxnLst/>
              <a:rect l="l" t="t" r="r" b="b"/>
              <a:pathLst>
                <a:path w="3721734" h="620395">
                  <a:moveTo>
                    <a:pt x="3618229" y="0"/>
                  </a:moveTo>
                  <a:lnTo>
                    <a:pt x="103378" y="0"/>
                  </a:lnTo>
                  <a:lnTo>
                    <a:pt x="63136" y="8123"/>
                  </a:lnTo>
                  <a:lnTo>
                    <a:pt x="30276" y="30276"/>
                  </a:lnTo>
                  <a:lnTo>
                    <a:pt x="8123" y="63136"/>
                  </a:lnTo>
                  <a:lnTo>
                    <a:pt x="0" y="103377"/>
                  </a:lnTo>
                  <a:lnTo>
                    <a:pt x="0" y="516889"/>
                  </a:lnTo>
                  <a:lnTo>
                    <a:pt x="8123" y="557126"/>
                  </a:lnTo>
                  <a:lnTo>
                    <a:pt x="30276" y="589986"/>
                  </a:lnTo>
                  <a:lnTo>
                    <a:pt x="63136" y="612142"/>
                  </a:lnTo>
                  <a:lnTo>
                    <a:pt x="103378" y="620267"/>
                  </a:lnTo>
                  <a:lnTo>
                    <a:pt x="3618229" y="620267"/>
                  </a:lnTo>
                  <a:lnTo>
                    <a:pt x="3658471" y="612142"/>
                  </a:lnTo>
                  <a:lnTo>
                    <a:pt x="3691331" y="589986"/>
                  </a:lnTo>
                  <a:lnTo>
                    <a:pt x="3713484" y="557126"/>
                  </a:lnTo>
                  <a:lnTo>
                    <a:pt x="3721608" y="516889"/>
                  </a:lnTo>
                  <a:lnTo>
                    <a:pt x="3721608" y="103377"/>
                  </a:lnTo>
                  <a:lnTo>
                    <a:pt x="3713484" y="63136"/>
                  </a:lnTo>
                  <a:lnTo>
                    <a:pt x="3691331" y="30276"/>
                  </a:lnTo>
                  <a:lnTo>
                    <a:pt x="3658471" y="8123"/>
                  </a:lnTo>
                  <a:lnTo>
                    <a:pt x="3618229" y="0"/>
                  </a:lnTo>
                  <a:close/>
                </a:path>
              </a:pathLst>
            </a:custGeom>
            <a:solidFill>
              <a:srgbClr val="3EC3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48905" y="3013710"/>
              <a:ext cx="3721735" cy="620395"/>
            </a:xfrm>
            <a:custGeom>
              <a:avLst/>
              <a:gdLst/>
              <a:ahLst/>
              <a:cxnLst/>
              <a:rect l="l" t="t" r="r" b="b"/>
              <a:pathLst>
                <a:path w="3721734" h="620395">
                  <a:moveTo>
                    <a:pt x="0" y="103377"/>
                  </a:moveTo>
                  <a:lnTo>
                    <a:pt x="8123" y="63136"/>
                  </a:lnTo>
                  <a:lnTo>
                    <a:pt x="30276" y="30276"/>
                  </a:lnTo>
                  <a:lnTo>
                    <a:pt x="63136" y="8123"/>
                  </a:lnTo>
                  <a:lnTo>
                    <a:pt x="103378" y="0"/>
                  </a:lnTo>
                  <a:lnTo>
                    <a:pt x="3618229" y="0"/>
                  </a:lnTo>
                  <a:lnTo>
                    <a:pt x="3658471" y="8123"/>
                  </a:lnTo>
                  <a:lnTo>
                    <a:pt x="3691331" y="30276"/>
                  </a:lnTo>
                  <a:lnTo>
                    <a:pt x="3713484" y="63136"/>
                  </a:lnTo>
                  <a:lnTo>
                    <a:pt x="3721608" y="103377"/>
                  </a:lnTo>
                  <a:lnTo>
                    <a:pt x="3721608" y="516889"/>
                  </a:lnTo>
                  <a:lnTo>
                    <a:pt x="3713484" y="557126"/>
                  </a:lnTo>
                  <a:lnTo>
                    <a:pt x="3691331" y="589986"/>
                  </a:lnTo>
                  <a:lnTo>
                    <a:pt x="3658471" y="612142"/>
                  </a:lnTo>
                  <a:lnTo>
                    <a:pt x="3618229" y="620267"/>
                  </a:lnTo>
                  <a:lnTo>
                    <a:pt x="103378" y="620267"/>
                  </a:lnTo>
                  <a:lnTo>
                    <a:pt x="63136" y="612142"/>
                  </a:lnTo>
                  <a:lnTo>
                    <a:pt x="30276" y="589986"/>
                  </a:lnTo>
                  <a:lnTo>
                    <a:pt x="8123" y="557126"/>
                  </a:lnTo>
                  <a:lnTo>
                    <a:pt x="0" y="516889"/>
                  </a:lnTo>
                  <a:lnTo>
                    <a:pt x="0" y="10337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389754" y="3150222"/>
            <a:ext cx="22294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Increased</a:t>
            </a:r>
            <a:r>
              <a:rPr sz="1800" b="1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adaptability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006208" y="3956687"/>
            <a:ext cx="4682490" cy="859155"/>
            <a:chOff x="7006208" y="3956687"/>
            <a:chExt cx="4682490" cy="859155"/>
          </a:xfrm>
        </p:grpSpPr>
        <p:sp>
          <p:nvSpPr>
            <p:cNvPr id="16" name="object 16"/>
            <p:cNvSpPr/>
            <p:nvPr/>
          </p:nvSpPr>
          <p:spPr>
            <a:xfrm>
              <a:off x="7015733" y="4275582"/>
              <a:ext cx="4663440" cy="530860"/>
            </a:xfrm>
            <a:custGeom>
              <a:avLst/>
              <a:gdLst/>
              <a:ahLst/>
              <a:cxnLst/>
              <a:rect l="l" t="t" r="r" b="b"/>
              <a:pathLst>
                <a:path w="4663440" h="530860">
                  <a:moveTo>
                    <a:pt x="0" y="0"/>
                  </a:moveTo>
                  <a:lnTo>
                    <a:pt x="4663439" y="0"/>
                  </a:lnTo>
                  <a:lnTo>
                    <a:pt x="4663439" y="530352"/>
                  </a:lnTo>
                  <a:lnTo>
                    <a:pt x="0" y="53035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61CE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48905" y="3966213"/>
              <a:ext cx="3743325" cy="620395"/>
            </a:xfrm>
            <a:custGeom>
              <a:avLst/>
              <a:gdLst/>
              <a:ahLst/>
              <a:cxnLst/>
              <a:rect l="l" t="t" r="r" b="b"/>
              <a:pathLst>
                <a:path w="3743325" h="620395">
                  <a:moveTo>
                    <a:pt x="3639566" y="0"/>
                  </a:moveTo>
                  <a:lnTo>
                    <a:pt x="103378" y="0"/>
                  </a:lnTo>
                  <a:lnTo>
                    <a:pt x="63141" y="8123"/>
                  </a:lnTo>
                  <a:lnTo>
                    <a:pt x="30281" y="30276"/>
                  </a:lnTo>
                  <a:lnTo>
                    <a:pt x="8125" y="63136"/>
                  </a:lnTo>
                  <a:lnTo>
                    <a:pt x="0" y="103378"/>
                  </a:lnTo>
                  <a:lnTo>
                    <a:pt x="0" y="516877"/>
                  </a:lnTo>
                  <a:lnTo>
                    <a:pt x="8125" y="557120"/>
                  </a:lnTo>
                  <a:lnTo>
                    <a:pt x="30281" y="589984"/>
                  </a:lnTo>
                  <a:lnTo>
                    <a:pt x="63141" y="612142"/>
                  </a:lnTo>
                  <a:lnTo>
                    <a:pt x="103378" y="620268"/>
                  </a:lnTo>
                  <a:lnTo>
                    <a:pt x="3639566" y="620268"/>
                  </a:lnTo>
                  <a:lnTo>
                    <a:pt x="3679807" y="612142"/>
                  </a:lnTo>
                  <a:lnTo>
                    <a:pt x="3712667" y="589984"/>
                  </a:lnTo>
                  <a:lnTo>
                    <a:pt x="3734820" y="557120"/>
                  </a:lnTo>
                  <a:lnTo>
                    <a:pt x="3742944" y="516877"/>
                  </a:lnTo>
                  <a:lnTo>
                    <a:pt x="3742944" y="103378"/>
                  </a:lnTo>
                  <a:lnTo>
                    <a:pt x="3734820" y="63136"/>
                  </a:lnTo>
                  <a:lnTo>
                    <a:pt x="3712667" y="30276"/>
                  </a:lnTo>
                  <a:lnTo>
                    <a:pt x="3679807" y="8123"/>
                  </a:lnTo>
                  <a:lnTo>
                    <a:pt x="3639566" y="0"/>
                  </a:lnTo>
                  <a:close/>
                </a:path>
              </a:pathLst>
            </a:custGeom>
            <a:solidFill>
              <a:srgbClr val="6060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48905" y="3966212"/>
              <a:ext cx="3743325" cy="620395"/>
            </a:xfrm>
            <a:custGeom>
              <a:avLst/>
              <a:gdLst/>
              <a:ahLst/>
              <a:cxnLst/>
              <a:rect l="l" t="t" r="r" b="b"/>
              <a:pathLst>
                <a:path w="3743325" h="620395">
                  <a:moveTo>
                    <a:pt x="0" y="103377"/>
                  </a:moveTo>
                  <a:lnTo>
                    <a:pt x="8125" y="63136"/>
                  </a:lnTo>
                  <a:lnTo>
                    <a:pt x="30281" y="30276"/>
                  </a:lnTo>
                  <a:lnTo>
                    <a:pt x="63141" y="8123"/>
                  </a:lnTo>
                  <a:lnTo>
                    <a:pt x="103378" y="0"/>
                  </a:lnTo>
                  <a:lnTo>
                    <a:pt x="3639566" y="0"/>
                  </a:lnTo>
                  <a:lnTo>
                    <a:pt x="3679807" y="8123"/>
                  </a:lnTo>
                  <a:lnTo>
                    <a:pt x="3712667" y="30276"/>
                  </a:lnTo>
                  <a:lnTo>
                    <a:pt x="3734820" y="63136"/>
                  </a:lnTo>
                  <a:lnTo>
                    <a:pt x="3742944" y="103377"/>
                  </a:lnTo>
                  <a:lnTo>
                    <a:pt x="3742944" y="516877"/>
                  </a:lnTo>
                  <a:lnTo>
                    <a:pt x="3734820" y="557120"/>
                  </a:lnTo>
                  <a:lnTo>
                    <a:pt x="3712667" y="589984"/>
                  </a:lnTo>
                  <a:lnTo>
                    <a:pt x="3679807" y="612142"/>
                  </a:lnTo>
                  <a:lnTo>
                    <a:pt x="3639566" y="620267"/>
                  </a:lnTo>
                  <a:lnTo>
                    <a:pt x="103378" y="620267"/>
                  </a:lnTo>
                  <a:lnTo>
                    <a:pt x="63141" y="612142"/>
                  </a:lnTo>
                  <a:lnTo>
                    <a:pt x="30281" y="589984"/>
                  </a:lnTo>
                  <a:lnTo>
                    <a:pt x="8125" y="557120"/>
                  </a:lnTo>
                  <a:lnTo>
                    <a:pt x="0" y="516877"/>
                  </a:lnTo>
                  <a:lnTo>
                    <a:pt x="0" y="10337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89754" y="4102782"/>
            <a:ext cx="2089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Improved</a:t>
            </a:r>
            <a:r>
              <a:rPr sz="1800" b="1" spc="-8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reusability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006208" y="4909187"/>
            <a:ext cx="4682490" cy="859155"/>
            <a:chOff x="7006208" y="4909187"/>
            <a:chExt cx="4682490" cy="859155"/>
          </a:xfrm>
        </p:grpSpPr>
        <p:sp>
          <p:nvSpPr>
            <p:cNvPr id="21" name="object 21"/>
            <p:cNvSpPr/>
            <p:nvPr/>
          </p:nvSpPr>
          <p:spPr>
            <a:xfrm>
              <a:off x="7015733" y="5228082"/>
              <a:ext cx="4663440" cy="530860"/>
            </a:xfrm>
            <a:custGeom>
              <a:avLst/>
              <a:gdLst/>
              <a:ahLst/>
              <a:cxnLst/>
              <a:rect l="l" t="t" r="r" b="b"/>
              <a:pathLst>
                <a:path w="4663440" h="530860">
                  <a:moveTo>
                    <a:pt x="0" y="0"/>
                  </a:moveTo>
                  <a:lnTo>
                    <a:pt x="4663439" y="0"/>
                  </a:lnTo>
                  <a:lnTo>
                    <a:pt x="4663439" y="530352"/>
                  </a:lnTo>
                  <a:lnTo>
                    <a:pt x="0" y="53035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48905" y="4918712"/>
              <a:ext cx="3720465" cy="620395"/>
            </a:xfrm>
            <a:custGeom>
              <a:avLst/>
              <a:gdLst/>
              <a:ahLst/>
              <a:cxnLst/>
              <a:rect l="l" t="t" r="r" b="b"/>
              <a:pathLst>
                <a:path w="3720465" h="620395">
                  <a:moveTo>
                    <a:pt x="3616705" y="0"/>
                  </a:moveTo>
                  <a:lnTo>
                    <a:pt x="103378" y="0"/>
                  </a:lnTo>
                  <a:lnTo>
                    <a:pt x="63136" y="8123"/>
                  </a:lnTo>
                  <a:lnTo>
                    <a:pt x="30276" y="30276"/>
                  </a:lnTo>
                  <a:lnTo>
                    <a:pt x="8123" y="63136"/>
                  </a:lnTo>
                  <a:lnTo>
                    <a:pt x="0" y="103377"/>
                  </a:lnTo>
                  <a:lnTo>
                    <a:pt x="0" y="516889"/>
                  </a:lnTo>
                  <a:lnTo>
                    <a:pt x="8123" y="557126"/>
                  </a:lnTo>
                  <a:lnTo>
                    <a:pt x="30276" y="589986"/>
                  </a:lnTo>
                  <a:lnTo>
                    <a:pt x="63136" y="612142"/>
                  </a:lnTo>
                  <a:lnTo>
                    <a:pt x="103378" y="620267"/>
                  </a:lnTo>
                  <a:lnTo>
                    <a:pt x="3616705" y="620267"/>
                  </a:lnTo>
                  <a:lnTo>
                    <a:pt x="3656947" y="612142"/>
                  </a:lnTo>
                  <a:lnTo>
                    <a:pt x="3689807" y="589986"/>
                  </a:lnTo>
                  <a:lnTo>
                    <a:pt x="3711960" y="557126"/>
                  </a:lnTo>
                  <a:lnTo>
                    <a:pt x="3720084" y="516889"/>
                  </a:lnTo>
                  <a:lnTo>
                    <a:pt x="3720084" y="103377"/>
                  </a:lnTo>
                  <a:lnTo>
                    <a:pt x="3711960" y="63136"/>
                  </a:lnTo>
                  <a:lnTo>
                    <a:pt x="3689807" y="30276"/>
                  </a:lnTo>
                  <a:lnTo>
                    <a:pt x="3656947" y="8123"/>
                  </a:lnTo>
                  <a:lnTo>
                    <a:pt x="3616705" y="0"/>
                  </a:lnTo>
                  <a:close/>
                </a:path>
              </a:pathLst>
            </a:custGeom>
            <a:solidFill>
              <a:srgbClr val="DF52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48905" y="4918712"/>
              <a:ext cx="3720465" cy="620395"/>
            </a:xfrm>
            <a:custGeom>
              <a:avLst/>
              <a:gdLst/>
              <a:ahLst/>
              <a:cxnLst/>
              <a:rect l="l" t="t" r="r" b="b"/>
              <a:pathLst>
                <a:path w="3720465" h="620395">
                  <a:moveTo>
                    <a:pt x="0" y="103377"/>
                  </a:moveTo>
                  <a:lnTo>
                    <a:pt x="8123" y="63136"/>
                  </a:lnTo>
                  <a:lnTo>
                    <a:pt x="30276" y="30276"/>
                  </a:lnTo>
                  <a:lnTo>
                    <a:pt x="63136" y="8123"/>
                  </a:lnTo>
                  <a:lnTo>
                    <a:pt x="103378" y="0"/>
                  </a:lnTo>
                  <a:lnTo>
                    <a:pt x="3616705" y="0"/>
                  </a:lnTo>
                  <a:lnTo>
                    <a:pt x="3656947" y="8123"/>
                  </a:lnTo>
                  <a:lnTo>
                    <a:pt x="3689807" y="30276"/>
                  </a:lnTo>
                  <a:lnTo>
                    <a:pt x="3711960" y="63136"/>
                  </a:lnTo>
                  <a:lnTo>
                    <a:pt x="3720084" y="103377"/>
                  </a:lnTo>
                  <a:lnTo>
                    <a:pt x="3720084" y="516889"/>
                  </a:lnTo>
                  <a:lnTo>
                    <a:pt x="3711960" y="557126"/>
                  </a:lnTo>
                  <a:lnTo>
                    <a:pt x="3689807" y="589986"/>
                  </a:lnTo>
                  <a:lnTo>
                    <a:pt x="3656947" y="612142"/>
                  </a:lnTo>
                  <a:lnTo>
                    <a:pt x="3616705" y="620267"/>
                  </a:lnTo>
                  <a:lnTo>
                    <a:pt x="103378" y="620267"/>
                  </a:lnTo>
                  <a:lnTo>
                    <a:pt x="63136" y="612142"/>
                  </a:lnTo>
                  <a:lnTo>
                    <a:pt x="30276" y="589986"/>
                  </a:lnTo>
                  <a:lnTo>
                    <a:pt x="8123" y="557126"/>
                  </a:lnTo>
                  <a:lnTo>
                    <a:pt x="0" y="516889"/>
                  </a:lnTo>
                  <a:lnTo>
                    <a:pt x="0" y="103377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389754" y="5055342"/>
            <a:ext cx="1960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Streamlined</a:t>
            </a:r>
            <a:r>
              <a:rPr sz="1800" b="1" spc="-8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testing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830494" y="1071988"/>
            <a:ext cx="2415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Objectives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EE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88494" y="1024439"/>
            <a:ext cx="2426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Highlights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25" dirty="0">
                <a:latin typeface="Calisto MT"/>
                <a:cs typeface="Calisto MT"/>
              </a:rPr>
              <a:t> EE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44473" y="1610105"/>
            <a:ext cx="4447540" cy="4448810"/>
            <a:chOff x="744473" y="1610105"/>
            <a:chExt cx="4447540" cy="4448810"/>
          </a:xfrm>
        </p:grpSpPr>
        <p:sp>
          <p:nvSpPr>
            <p:cNvPr id="28" name="object 28"/>
            <p:cNvSpPr/>
            <p:nvPr/>
          </p:nvSpPr>
          <p:spPr>
            <a:xfrm>
              <a:off x="744473" y="1610105"/>
              <a:ext cx="4447540" cy="4448810"/>
            </a:xfrm>
            <a:custGeom>
              <a:avLst/>
              <a:gdLst/>
              <a:ahLst/>
              <a:cxnLst/>
              <a:rect l="l" t="t" r="r" b="b"/>
              <a:pathLst>
                <a:path w="4447540" h="4448810">
                  <a:moveTo>
                    <a:pt x="2223516" y="0"/>
                  </a:moveTo>
                  <a:lnTo>
                    <a:pt x="0" y="4448556"/>
                  </a:lnTo>
                  <a:lnTo>
                    <a:pt x="4447032" y="4448556"/>
                  </a:lnTo>
                  <a:lnTo>
                    <a:pt x="2223516" y="0"/>
                  </a:lnTo>
                  <a:close/>
                </a:path>
              </a:pathLst>
            </a:custGeom>
            <a:solidFill>
              <a:srgbClr val="A6B7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78001" y="2055117"/>
              <a:ext cx="4183379" cy="791210"/>
            </a:xfrm>
            <a:custGeom>
              <a:avLst/>
              <a:gdLst/>
              <a:ahLst/>
              <a:cxnLst/>
              <a:rect l="l" t="t" r="r" b="b"/>
              <a:pathLst>
                <a:path w="4183379" h="791210">
                  <a:moveTo>
                    <a:pt x="4051554" y="0"/>
                  </a:moveTo>
                  <a:lnTo>
                    <a:pt x="131826" y="0"/>
                  </a:lnTo>
                  <a:lnTo>
                    <a:pt x="90157" y="6720"/>
                  </a:lnTo>
                  <a:lnTo>
                    <a:pt x="53969" y="25433"/>
                  </a:lnTo>
                  <a:lnTo>
                    <a:pt x="25433" y="53969"/>
                  </a:lnTo>
                  <a:lnTo>
                    <a:pt x="6720" y="90157"/>
                  </a:lnTo>
                  <a:lnTo>
                    <a:pt x="0" y="131825"/>
                  </a:lnTo>
                  <a:lnTo>
                    <a:pt x="0" y="659130"/>
                  </a:lnTo>
                  <a:lnTo>
                    <a:pt x="6720" y="700793"/>
                  </a:lnTo>
                  <a:lnTo>
                    <a:pt x="25433" y="736980"/>
                  </a:lnTo>
                  <a:lnTo>
                    <a:pt x="53969" y="765518"/>
                  </a:lnTo>
                  <a:lnTo>
                    <a:pt x="90157" y="784234"/>
                  </a:lnTo>
                  <a:lnTo>
                    <a:pt x="131826" y="790955"/>
                  </a:lnTo>
                  <a:lnTo>
                    <a:pt x="4051554" y="790955"/>
                  </a:lnTo>
                  <a:lnTo>
                    <a:pt x="4093222" y="784234"/>
                  </a:lnTo>
                  <a:lnTo>
                    <a:pt x="4129410" y="765518"/>
                  </a:lnTo>
                  <a:lnTo>
                    <a:pt x="4157946" y="736980"/>
                  </a:lnTo>
                  <a:lnTo>
                    <a:pt x="4176659" y="700793"/>
                  </a:lnTo>
                  <a:lnTo>
                    <a:pt x="4183379" y="659130"/>
                  </a:lnTo>
                  <a:lnTo>
                    <a:pt x="4183379" y="131825"/>
                  </a:lnTo>
                  <a:lnTo>
                    <a:pt x="4176659" y="90157"/>
                  </a:lnTo>
                  <a:lnTo>
                    <a:pt x="4157946" y="53969"/>
                  </a:lnTo>
                  <a:lnTo>
                    <a:pt x="4129410" y="25433"/>
                  </a:lnTo>
                  <a:lnTo>
                    <a:pt x="4093222" y="6720"/>
                  </a:lnTo>
                  <a:lnTo>
                    <a:pt x="405155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8001" y="2055117"/>
              <a:ext cx="4183379" cy="791210"/>
            </a:xfrm>
            <a:custGeom>
              <a:avLst/>
              <a:gdLst/>
              <a:ahLst/>
              <a:cxnLst/>
              <a:rect l="l" t="t" r="r" b="b"/>
              <a:pathLst>
                <a:path w="4183379" h="791210">
                  <a:moveTo>
                    <a:pt x="0" y="131825"/>
                  </a:moveTo>
                  <a:lnTo>
                    <a:pt x="6720" y="90157"/>
                  </a:lnTo>
                  <a:lnTo>
                    <a:pt x="25433" y="53969"/>
                  </a:lnTo>
                  <a:lnTo>
                    <a:pt x="53969" y="25433"/>
                  </a:lnTo>
                  <a:lnTo>
                    <a:pt x="90157" y="6720"/>
                  </a:lnTo>
                  <a:lnTo>
                    <a:pt x="131826" y="0"/>
                  </a:lnTo>
                  <a:lnTo>
                    <a:pt x="4051554" y="0"/>
                  </a:lnTo>
                  <a:lnTo>
                    <a:pt x="4093222" y="6720"/>
                  </a:lnTo>
                  <a:lnTo>
                    <a:pt x="4129410" y="25433"/>
                  </a:lnTo>
                  <a:lnTo>
                    <a:pt x="4157946" y="53969"/>
                  </a:lnTo>
                  <a:lnTo>
                    <a:pt x="4176659" y="90157"/>
                  </a:lnTo>
                  <a:lnTo>
                    <a:pt x="4183379" y="131825"/>
                  </a:lnTo>
                  <a:lnTo>
                    <a:pt x="4183379" y="659130"/>
                  </a:lnTo>
                  <a:lnTo>
                    <a:pt x="4176659" y="700793"/>
                  </a:lnTo>
                  <a:lnTo>
                    <a:pt x="4157946" y="736980"/>
                  </a:lnTo>
                  <a:lnTo>
                    <a:pt x="4129410" y="765518"/>
                  </a:lnTo>
                  <a:lnTo>
                    <a:pt x="4093222" y="784234"/>
                  </a:lnTo>
                  <a:lnTo>
                    <a:pt x="4051554" y="790955"/>
                  </a:lnTo>
                  <a:lnTo>
                    <a:pt x="131826" y="790955"/>
                  </a:lnTo>
                  <a:lnTo>
                    <a:pt x="90157" y="784234"/>
                  </a:lnTo>
                  <a:lnTo>
                    <a:pt x="53969" y="765518"/>
                  </a:lnTo>
                  <a:lnTo>
                    <a:pt x="25433" y="736980"/>
                  </a:lnTo>
                  <a:lnTo>
                    <a:pt x="6720" y="700793"/>
                  </a:lnTo>
                  <a:lnTo>
                    <a:pt x="0" y="659130"/>
                  </a:lnTo>
                  <a:lnTo>
                    <a:pt x="0" y="131825"/>
                  </a:lnTo>
                  <a:close/>
                </a:path>
              </a:pathLst>
            </a:custGeom>
            <a:ln w="19050">
              <a:solidFill>
                <a:srgbClr val="A6B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468695" y="2274753"/>
            <a:ext cx="2799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Improved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35" dirty="0">
                <a:latin typeface="Calisto MT"/>
                <a:cs typeface="Calisto MT"/>
              </a:rPr>
              <a:t>Java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alignment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56284" y="2947799"/>
            <a:ext cx="4202430" cy="810260"/>
            <a:chOff x="756284" y="2947799"/>
            <a:chExt cx="4202430" cy="810260"/>
          </a:xfrm>
        </p:grpSpPr>
        <p:sp>
          <p:nvSpPr>
            <p:cNvPr id="33" name="object 33"/>
            <p:cNvSpPr/>
            <p:nvPr/>
          </p:nvSpPr>
          <p:spPr>
            <a:xfrm>
              <a:off x="765809" y="2957324"/>
              <a:ext cx="4183379" cy="791210"/>
            </a:xfrm>
            <a:custGeom>
              <a:avLst/>
              <a:gdLst/>
              <a:ahLst/>
              <a:cxnLst/>
              <a:rect l="l" t="t" r="r" b="b"/>
              <a:pathLst>
                <a:path w="4183379" h="791210">
                  <a:moveTo>
                    <a:pt x="4051554" y="0"/>
                  </a:moveTo>
                  <a:lnTo>
                    <a:pt x="131826" y="0"/>
                  </a:lnTo>
                  <a:lnTo>
                    <a:pt x="90157" y="6720"/>
                  </a:lnTo>
                  <a:lnTo>
                    <a:pt x="53969" y="25433"/>
                  </a:lnTo>
                  <a:lnTo>
                    <a:pt x="25433" y="53969"/>
                  </a:lnTo>
                  <a:lnTo>
                    <a:pt x="6720" y="90157"/>
                  </a:lnTo>
                  <a:lnTo>
                    <a:pt x="0" y="131825"/>
                  </a:lnTo>
                  <a:lnTo>
                    <a:pt x="0" y="659130"/>
                  </a:lnTo>
                  <a:lnTo>
                    <a:pt x="6720" y="700793"/>
                  </a:lnTo>
                  <a:lnTo>
                    <a:pt x="25433" y="736980"/>
                  </a:lnTo>
                  <a:lnTo>
                    <a:pt x="53969" y="765518"/>
                  </a:lnTo>
                  <a:lnTo>
                    <a:pt x="90157" y="784234"/>
                  </a:lnTo>
                  <a:lnTo>
                    <a:pt x="131826" y="790955"/>
                  </a:lnTo>
                  <a:lnTo>
                    <a:pt x="4051554" y="790955"/>
                  </a:lnTo>
                  <a:lnTo>
                    <a:pt x="4093222" y="784234"/>
                  </a:lnTo>
                  <a:lnTo>
                    <a:pt x="4129410" y="765518"/>
                  </a:lnTo>
                  <a:lnTo>
                    <a:pt x="4157946" y="736980"/>
                  </a:lnTo>
                  <a:lnTo>
                    <a:pt x="4176659" y="700793"/>
                  </a:lnTo>
                  <a:lnTo>
                    <a:pt x="4183379" y="659130"/>
                  </a:lnTo>
                  <a:lnTo>
                    <a:pt x="4183379" y="131825"/>
                  </a:lnTo>
                  <a:lnTo>
                    <a:pt x="4176659" y="90157"/>
                  </a:lnTo>
                  <a:lnTo>
                    <a:pt x="4157946" y="53969"/>
                  </a:lnTo>
                  <a:lnTo>
                    <a:pt x="4129410" y="25433"/>
                  </a:lnTo>
                  <a:lnTo>
                    <a:pt x="4093222" y="6720"/>
                  </a:lnTo>
                  <a:lnTo>
                    <a:pt x="405155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5809" y="2957324"/>
              <a:ext cx="4183379" cy="791210"/>
            </a:xfrm>
            <a:custGeom>
              <a:avLst/>
              <a:gdLst/>
              <a:ahLst/>
              <a:cxnLst/>
              <a:rect l="l" t="t" r="r" b="b"/>
              <a:pathLst>
                <a:path w="4183379" h="791210">
                  <a:moveTo>
                    <a:pt x="0" y="131825"/>
                  </a:moveTo>
                  <a:lnTo>
                    <a:pt x="6720" y="90157"/>
                  </a:lnTo>
                  <a:lnTo>
                    <a:pt x="25433" y="53969"/>
                  </a:lnTo>
                  <a:lnTo>
                    <a:pt x="53969" y="25433"/>
                  </a:lnTo>
                  <a:lnTo>
                    <a:pt x="90157" y="6720"/>
                  </a:lnTo>
                  <a:lnTo>
                    <a:pt x="131826" y="0"/>
                  </a:lnTo>
                  <a:lnTo>
                    <a:pt x="4051554" y="0"/>
                  </a:lnTo>
                  <a:lnTo>
                    <a:pt x="4093222" y="6720"/>
                  </a:lnTo>
                  <a:lnTo>
                    <a:pt x="4129410" y="25433"/>
                  </a:lnTo>
                  <a:lnTo>
                    <a:pt x="4157946" y="53969"/>
                  </a:lnTo>
                  <a:lnTo>
                    <a:pt x="4176659" y="90157"/>
                  </a:lnTo>
                  <a:lnTo>
                    <a:pt x="4183379" y="131825"/>
                  </a:lnTo>
                  <a:lnTo>
                    <a:pt x="4183379" y="659130"/>
                  </a:lnTo>
                  <a:lnTo>
                    <a:pt x="4176659" y="700793"/>
                  </a:lnTo>
                  <a:lnTo>
                    <a:pt x="4157946" y="736980"/>
                  </a:lnTo>
                  <a:lnTo>
                    <a:pt x="4129410" y="765518"/>
                  </a:lnTo>
                  <a:lnTo>
                    <a:pt x="4093222" y="784234"/>
                  </a:lnTo>
                  <a:lnTo>
                    <a:pt x="4051554" y="790955"/>
                  </a:lnTo>
                  <a:lnTo>
                    <a:pt x="131826" y="790955"/>
                  </a:lnTo>
                  <a:lnTo>
                    <a:pt x="90157" y="784234"/>
                  </a:lnTo>
                  <a:lnTo>
                    <a:pt x="53969" y="765518"/>
                  </a:lnTo>
                  <a:lnTo>
                    <a:pt x="25433" y="736980"/>
                  </a:lnTo>
                  <a:lnTo>
                    <a:pt x="6720" y="700793"/>
                  </a:lnTo>
                  <a:lnTo>
                    <a:pt x="0" y="659130"/>
                  </a:lnTo>
                  <a:lnTo>
                    <a:pt x="0" y="131825"/>
                  </a:lnTo>
                  <a:close/>
                </a:path>
              </a:pathLst>
            </a:custGeom>
            <a:ln w="19050">
              <a:solidFill>
                <a:srgbClr val="A6B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092174" y="3175861"/>
            <a:ext cx="3528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JESP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guaranteed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documentation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741044" y="3869819"/>
            <a:ext cx="4323080" cy="810260"/>
            <a:chOff x="741044" y="3869819"/>
            <a:chExt cx="4323080" cy="810260"/>
          </a:xfrm>
        </p:grpSpPr>
        <p:sp>
          <p:nvSpPr>
            <p:cNvPr id="37" name="object 37"/>
            <p:cNvSpPr/>
            <p:nvPr/>
          </p:nvSpPr>
          <p:spPr>
            <a:xfrm>
              <a:off x="750569" y="3879344"/>
              <a:ext cx="4304030" cy="791210"/>
            </a:xfrm>
            <a:custGeom>
              <a:avLst/>
              <a:gdLst/>
              <a:ahLst/>
              <a:cxnLst/>
              <a:rect l="l" t="t" r="r" b="b"/>
              <a:pathLst>
                <a:path w="4304030" h="791210">
                  <a:moveTo>
                    <a:pt x="4171950" y="0"/>
                  </a:moveTo>
                  <a:lnTo>
                    <a:pt x="131826" y="0"/>
                  </a:lnTo>
                  <a:lnTo>
                    <a:pt x="90157" y="6720"/>
                  </a:lnTo>
                  <a:lnTo>
                    <a:pt x="53969" y="25433"/>
                  </a:lnTo>
                  <a:lnTo>
                    <a:pt x="25433" y="53969"/>
                  </a:lnTo>
                  <a:lnTo>
                    <a:pt x="6720" y="90157"/>
                  </a:lnTo>
                  <a:lnTo>
                    <a:pt x="0" y="131826"/>
                  </a:lnTo>
                  <a:lnTo>
                    <a:pt x="0" y="659130"/>
                  </a:lnTo>
                  <a:lnTo>
                    <a:pt x="6720" y="700793"/>
                  </a:lnTo>
                  <a:lnTo>
                    <a:pt x="25433" y="736980"/>
                  </a:lnTo>
                  <a:lnTo>
                    <a:pt x="53969" y="765518"/>
                  </a:lnTo>
                  <a:lnTo>
                    <a:pt x="90157" y="784234"/>
                  </a:lnTo>
                  <a:lnTo>
                    <a:pt x="131826" y="790956"/>
                  </a:lnTo>
                  <a:lnTo>
                    <a:pt x="4171950" y="790956"/>
                  </a:lnTo>
                  <a:lnTo>
                    <a:pt x="4213618" y="784234"/>
                  </a:lnTo>
                  <a:lnTo>
                    <a:pt x="4249806" y="765518"/>
                  </a:lnTo>
                  <a:lnTo>
                    <a:pt x="4278342" y="736980"/>
                  </a:lnTo>
                  <a:lnTo>
                    <a:pt x="4297055" y="700793"/>
                  </a:lnTo>
                  <a:lnTo>
                    <a:pt x="4303776" y="659130"/>
                  </a:lnTo>
                  <a:lnTo>
                    <a:pt x="4303776" y="131826"/>
                  </a:lnTo>
                  <a:lnTo>
                    <a:pt x="4297055" y="90157"/>
                  </a:lnTo>
                  <a:lnTo>
                    <a:pt x="4278342" y="53969"/>
                  </a:lnTo>
                  <a:lnTo>
                    <a:pt x="4249806" y="25433"/>
                  </a:lnTo>
                  <a:lnTo>
                    <a:pt x="4213618" y="6720"/>
                  </a:lnTo>
                  <a:lnTo>
                    <a:pt x="417195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0569" y="3879344"/>
              <a:ext cx="4304030" cy="791210"/>
            </a:xfrm>
            <a:custGeom>
              <a:avLst/>
              <a:gdLst/>
              <a:ahLst/>
              <a:cxnLst/>
              <a:rect l="l" t="t" r="r" b="b"/>
              <a:pathLst>
                <a:path w="4304030" h="791210">
                  <a:moveTo>
                    <a:pt x="0" y="131826"/>
                  </a:moveTo>
                  <a:lnTo>
                    <a:pt x="6720" y="90157"/>
                  </a:lnTo>
                  <a:lnTo>
                    <a:pt x="25433" y="53969"/>
                  </a:lnTo>
                  <a:lnTo>
                    <a:pt x="53969" y="25433"/>
                  </a:lnTo>
                  <a:lnTo>
                    <a:pt x="90157" y="6720"/>
                  </a:lnTo>
                  <a:lnTo>
                    <a:pt x="131826" y="0"/>
                  </a:lnTo>
                  <a:lnTo>
                    <a:pt x="4171950" y="0"/>
                  </a:lnTo>
                  <a:lnTo>
                    <a:pt x="4213618" y="6720"/>
                  </a:lnTo>
                  <a:lnTo>
                    <a:pt x="4249806" y="25433"/>
                  </a:lnTo>
                  <a:lnTo>
                    <a:pt x="4278342" y="53969"/>
                  </a:lnTo>
                  <a:lnTo>
                    <a:pt x="4297055" y="90157"/>
                  </a:lnTo>
                  <a:lnTo>
                    <a:pt x="4303776" y="131826"/>
                  </a:lnTo>
                  <a:lnTo>
                    <a:pt x="4303776" y="659130"/>
                  </a:lnTo>
                  <a:lnTo>
                    <a:pt x="4297055" y="700793"/>
                  </a:lnTo>
                  <a:lnTo>
                    <a:pt x="4278342" y="736980"/>
                  </a:lnTo>
                  <a:lnTo>
                    <a:pt x="4249806" y="765518"/>
                  </a:lnTo>
                  <a:lnTo>
                    <a:pt x="4213618" y="784234"/>
                  </a:lnTo>
                  <a:lnTo>
                    <a:pt x="4171950" y="790956"/>
                  </a:lnTo>
                  <a:lnTo>
                    <a:pt x="131826" y="790956"/>
                  </a:lnTo>
                  <a:lnTo>
                    <a:pt x="90157" y="784234"/>
                  </a:lnTo>
                  <a:lnTo>
                    <a:pt x="53969" y="765518"/>
                  </a:lnTo>
                  <a:lnTo>
                    <a:pt x="25433" y="736980"/>
                  </a:lnTo>
                  <a:lnTo>
                    <a:pt x="6720" y="700793"/>
                  </a:lnTo>
                  <a:lnTo>
                    <a:pt x="0" y="659130"/>
                  </a:lnTo>
                  <a:lnTo>
                    <a:pt x="0" y="131826"/>
                  </a:lnTo>
                  <a:close/>
                </a:path>
              </a:pathLst>
            </a:custGeom>
            <a:ln w="19050">
              <a:solidFill>
                <a:srgbClr val="A6B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243270" y="4098511"/>
            <a:ext cx="33166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Pre-</a:t>
            </a:r>
            <a:r>
              <a:rPr sz="1800" dirty="0">
                <a:latin typeface="Calisto MT"/>
                <a:cs typeface="Calisto MT"/>
              </a:rPr>
              <a:t>defined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APIs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per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specification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60856" y="4868039"/>
            <a:ext cx="4417695" cy="810260"/>
            <a:chOff x="760856" y="4868039"/>
            <a:chExt cx="4417695" cy="810260"/>
          </a:xfrm>
        </p:grpSpPr>
        <p:sp>
          <p:nvSpPr>
            <p:cNvPr id="41" name="object 41"/>
            <p:cNvSpPr/>
            <p:nvPr/>
          </p:nvSpPr>
          <p:spPr>
            <a:xfrm>
              <a:off x="770381" y="4877564"/>
              <a:ext cx="4398645" cy="791210"/>
            </a:xfrm>
            <a:custGeom>
              <a:avLst/>
              <a:gdLst/>
              <a:ahLst/>
              <a:cxnLst/>
              <a:rect l="l" t="t" r="r" b="b"/>
              <a:pathLst>
                <a:path w="4398645" h="791210">
                  <a:moveTo>
                    <a:pt x="4266438" y="0"/>
                  </a:moveTo>
                  <a:lnTo>
                    <a:pt x="131826" y="0"/>
                  </a:lnTo>
                  <a:lnTo>
                    <a:pt x="90157" y="6720"/>
                  </a:lnTo>
                  <a:lnTo>
                    <a:pt x="53969" y="25433"/>
                  </a:lnTo>
                  <a:lnTo>
                    <a:pt x="25433" y="53969"/>
                  </a:lnTo>
                  <a:lnTo>
                    <a:pt x="6720" y="90157"/>
                  </a:lnTo>
                  <a:lnTo>
                    <a:pt x="0" y="131825"/>
                  </a:lnTo>
                  <a:lnTo>
                    <a:pt x="0" y="659130"/>
                  </a:lnTo>
                  <a:lnTo>
                    <a:pt x="6720" y="700793"/>
                  </a:lnTo>
                  <a:lnTo>
                    <a:pt x="25433" y="736980"/>
                  </a:lnTo>
                  <a:lnTo>
                    <a:pt x="53969" y="765518"/>
                  </a:lnTo>
                  <a:lnTo>
                    <a:pt x="90157" y="784234"/>
                  </a:lnTo>
                  <a:lnTo>
                    <a:pt x="131826" y="790955"/>
                  </a:lnTo>
                  <a:lnTo>
                    <a:pt x="4266438" y="790955"/>
                  </a:lnTo>
                  <a:lnTo>
                    <a:pt x="4308106" y="784234"/>
                  </a:lnTo>
                  <a:lnTo>
                    <a:pt x="4344294" y="765518"/>
                  </a:lnTo>
                  <a:lnTo>
                    <a:pt x="4372830" y="736980"/>
                  </a:lnTo>
                  <a:lnTo>
                    <a:pt x="4391543" y="700793"/>
                  </a:lnTo>
                  <a:lnTo>
                    <a:pt x="4398264" y="659130"/>
                  </a:lnTo>
                  <a:lnTo>
                    <a:pt x="4398264" y="131825"/>
                  </a:lnTo>
                  <a:lnTo>
                    <a:pt x="4391543" y="90157"/>
                  </a:lnTo>
                  <a:lnTo>
                    <a:pt x="4372830" y="53969"/>
                  </a:lnTo>
                  <a:lnTo>
                    <a:pt x="4344294" y="25433"/>
                  </a:lnTo>
                  <a:lnTo>
                    <a:pt x="4308106" y="6720"/>
                  </a:lnTo>
                  <a:lnTo>
                    <a:pt x="426643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70381" y="4877564"/>
              <a:ext cx="4398645" cy="791210"/>
            </a:xfrm>
            <a:custGeom>
              <a:avLst/>
              <a:gdLst/>
              <a:ahLst/>
              <a:cxnLst/>
              <a:rect l="l" t="t" r="r" b="b"/>
              <a:pathLst>
                <a:path w="4398645" h="791210">
                  <a:moveTo>
                    <a:pt x="0" y="131825"/>
                  </a:moveTo>
                  <a:lnTo>
                    <a:pt x="6720" y="90157"/>
                  </a:lnTo>
                  <a:lnTo>
                    <a:pt x="25433" y="53969"/>
                  </a:lnTo>
                  <a:lnTo>
                    <a:pt x="53969" y="25433"/>
                  </a:lnTo>
                  <a:lnTo>
                    <a:pt x="90157" y="6720"/>
                  </a:lnTo>
                  <a:lnTo>
                    <a:pt x="131826" y="0"/>
                  </a:lnTo>
                  <a:lnTo>
                    <a:pt x="4266438" y="0"/>
                  </a:lnTo>
                  <a:lnTo>
                    <a:pt x="4308106" y="6720"/>
                  </a:lnTo>
                  <a:lnTo>
                    <a:pt x="4344294" y="25433"/>
                  </a:lnTo>
                  <a:lnTo>
                    <a:pt x="4372830" y="53969"/>
                  </a:lnTo>
                  <a:lnTo>
                    <a:pt x="4391543" y="90157"/>
                  </a:lnTo>
                  <a:lnTo>
                    <a:pt x="4398264" y="131825"/>
                  </a:lnTo>
                  <a:lnTo>
                    <a:pt x="4398264" y="659130"/>
                  </a:lnTo>
                  <a:lnTo>
                    <a:pt x="4391543" y="700793"/>
                  </a:lnTo>
                  <a:lnTo>
                    <a:pt x="4372830" y="736980"/>
                  </a:lnTo>
                  <a:lnTo>
                    <a:pt x="4344294" y="765518"/>
                  </a:lnTo>
                  <a:lnTo>
                    <a:pt x="4308106" y="784234"/>
                  </a:lnTo>
                  <a:lnTo>
                    <a:pt x="4266438" y="790955"/>
                  </a:lnTo>
                  <a:lnTo>
                    <a:pt x="131826" y="790955"/>
                  </a:lnTo>
                  <a:lnTo>
                    <a:pt x="90157" y="784234"/>
                  </a:lnTo>
                  <a:lnTo>
                    <a:pt x="53969" y="765518"/>
                  </a:lnTo>
                  <a:lnTo>
                    <a:pt x="25433" y="736980"/>
                  </a:lnTo>
                  <a:lnTo>
                    <a:pt x="6720" y="700793"/>
                  </a:lnTo>
                  <a:lnTo>
                    <a:pt x="0" y="659130"/>
                  </a:lnTo>
                  <a:lnTo>
                    <a:pt x="0" y="131825"/>
                  </a:lnTo>
                  <a:close/>
                </a:path>
              </a:pathLst>
            </a:custGeom>
            <a:ln w="19050">
              <a:solidFill>
                <a:srgbClr val="A6B7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68785" y="4977569"/>
            <a:ext cx="4203065" cy="53784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576070" marR="5080" indent="-1564005">
              <a:lnSpc>
                <a:spcPts val="1870"/>
              </a:lnSpc>
              <a:spcBef>
                <a:spcPts val="400"/>
              </a:spcBef>
            </a:pPr>
            <a:r>
              <a:rPr sz="1800" spc="-10" dirty="0">
                <a:latin typeface="Calisto MT"/>
                <a:cs typeface="Calisto MT"/>
              </a:rPr>
              <a:t>Inclusive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documentation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TCK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5" dirty="0">
                <a:latin typeface="Calisto MT"/>
                <a:cs typeface="Calisto MT"/>
              </a:rPr>
              <a:t> Web </a:t>
            </a:r>
            <a:r>
              <a:rPr sz="1800" dirty="0">
                <a:latin typeface="Calisto MT"/>
                <a:cs typeface="Calisto MT"/>
              </a:rPr>
              <a:t>app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testing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Jakarta</a:t>
            </a:r>
            <a:r>
              <a:rPr spc="-50" dirty="0"/>
              <a:t> </a:t>
            </a:r>
            <a:r>
              <a:rPr dirty="0"/>
              <a:t>EE</a:t>
            </a:r>
            <a:r>
              <a:rPr spc="-8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05804" y="1030284"/>
            <a:ext cx="3495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Multi-</a:t>
            </a:r>
            <a:r>
              <a:rPr sz="1800" dirty="0">
                <a:latin typeface="Calisto MT"/>
                <a:cs typeface="Calisto MT"/>
              </a:rPr>
              <a:t>Tier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60807" y="1030284"/>
            <a:ext cx="2353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28422" y="1730501"/>
            <a:ext cx="4754880" cy="1219200"/>
          </a:xfrm>
          <a:custGeom>
            <a:avLst/>
            <a:gdLst/>
            <a:ahLst/>
            <a:cxnLst/>
            <a:rect l="l" t="t" r="r" b="b"/>
            <a:pathLst>
              <a:path w="4754880" h="1219200">
                <a:moveTo>
                  <a:pt x="4632960" y="0"/>
                </a:moveTo>
                <a:lnTo>
                  <a:pt x="121920" y="0"/>
                </a:lnTo>
                <a:lnTo>
                  <a:pt x="74462" y="9580"/>
                </a:lnTo>
                <a:lnTo>
                  <a:pt x="35709" y="35709"/>
                </a:lnTo>
                <a:lnTo>
                  <a:pt x="9580" y="74462"/>
                </a:lnTo>
                <a:lnTo>
                  <a:pt x="0" y="121920"/>
                </a:lnTo>
                <a:lnTo>
                  <a:pt x="0" y="1097280"/>
                </a:lnTo>
                <a:lnTo>
                  <a:pt x="9580" y="1144737"/>
                </a:lnTo>
                <a:lnTo>
                  <a:pt x="35709" y="1183490"/>
                </a:lnTo>
                <a:lnTo>
                  <a:pt x="74462" y="1209619"/>
                </a:lnTo>
                <a:lnTo>
                  <a:pt x="121920" y="1219200"/>
                </a:lnTo>
                <a:lnTo>
                  <a:pt x="4632960" y="1219200"/>
                </a:lnTo>
                <a:lnTo>
                  <a:pt x="4680417" y="1209619"/>
                </a:lnTo>
                <a:lnTo>
                  <a:pt x="4719170" y="1183490"/>
                </a:lnTo>
                <a:lnTo>
                  <a:pt x="4745299" y="1144737"/>
                </a:lnTo>
                <a:lnTo>
                  <a:pt x="4754880" y="1097280"/>
                </a:lnTo>
                <a:lnTo>
                  <a:pt x="4754880" y="121920"/>
                </a:lnTo>
                <a:lnTo>
                  <a:pt x="4745299" y="74462"/>
                </a:lnTo>
                <a:lnTo>
                  <a:pt x="4719170" y="35709"/>
                </a:lnTo>
                <a:lnTo>
                  <a:pt x="4680417" y="9580"/>
                </a:lnTo>
                <a:lnTo>
                  <a:pt x="4632960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19437" y="2167189"/>
            <a:ext cx="1768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sto MT"/>
                <a:cs typeface="Calisto MT"/>
              </a:rPr>
              <a:t>Presentation</a:t>
            </a:r>
            <a:r>
              <a:rPr sz="1800" b="1" spc="-75" dirty="0">
                <a:latin typeface="Calisto MT"/>
                <a:cs typeface="Calisto MT"/>
              </a:rPr>
              <a:t> </a:t>
            </a:r>
            <a:r>
              <a:rPr sz="1800" b="1" spc="-20" dirty="0">
                <a:latin typeface="Calisto MT"/>
                <a:cs typeface="Calisto MT"/>
              </a:rPr>
              <a:t>Tier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76250" y="3152395"/>
            <a:ext cx="5299075" cy="1219200"/>
          </a:xfrm>
          <a:custGeom>
            <a:avLst/>
            <a:gdLst/>
            <a:ahLst/>
            <a:cxnLst/>
            <a:rect l="l" t="t" r="r" b="b"/>
            <a:pathLst>
              <a:path w="5299075" h="1219200">
                <a:moveTo>
                  <a:pt x="5177028" y="0"/>
                </a:moveTo>
                <a:lnTo>
                  <a:pt x="121920" y="0"/>
                </a:lnTo>
                <a:lnTo>
                  <a:pt x="74462" y="9580"/>
                </a:lnTo>
                <a:lnTo>
                  <a:pt x="35709" y="35709"/>
                </a:lnTo>
                <a:lnTo>
                  <a:pt x="9580" y="74462"/>
                </a:lnTo>
                <a:lnTo>
                  <a:pt x="0" y="121920"/>
                </a:lnTo>
                <a:lnTo>
                  <a:pt x="0" y="1097280"/>
                </a:lnTo>
                <a:lnTo>
                  <a:pt x="9580" y="1144737"/>
                </a:lnTo>
                <a:lnTo>
                  <a:pt x="35709" y="1183490"/>
                </a:lnTo>
                <a:lnTo>
                  <a:pt x="74462" y="1209619"/>
                </a:lnTo>
                <a:lnTo>
                  <a:pt x="121920" y="1219200"/>
                </a:lnTo>
                <a:lnTo>
                  <a:pt x="5177028" y="1219200"/>
                </a:lnTo>
                <a:lnTo>
                  <a:pt x="5224485" y="1209619"/>
                </a:lnTo>
                <a:lnTo>
                  <a:pt x="5263238" y="1183490"/>
                </a:lnTo>
                <a:lnTo>
                  <a:pt x="5289367" y="1144737"/>
                </a:lnTo>
                <a:lnTo>
                  <a:pt x="5298948" y="1097280"/>
                </a:lnTo>
                <a:lnTo>
                  <a:pt x="5298948" y="121920"/>
                </a:lnTo>
                <a:lnTo>
                  <a:pt x="5289367" y="74462"/>
                </a:lnTo>
                <a:lnTo>
                  <a:pt x="5263238" y="35709"/>
                </a:lnTo>
                <a:lnTo>
                  <a:pt x="5224485" y="9580"/>
                </a:lnTo>
                <a:lnTo>
                  <a:pt x="5177028" y="0"/>
                </a:lnTo>
                <a:close/>
              </a:path>
            </a:pathLst>
          </a:custGeom>
          <a:solidFill>
            <a:srgbClr val="41C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67590" y="3588957"/>
            <a:ext cx="288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sto MT"/>
                <a:cs typeface="Calisto MT"/>
              </a:rPr>
              <a:t>Application</a:t>
            </a:r>
            <a:r>
              <a:rPr sz="1800" b="1" spc="-25" dirty="0">
                <a:latin typeface="Calisto MT"/>
                <a:cs typeface="Calisto MT"/>
              </a:rPr>
              <a:t> </a:t>
            </a:r>
            <a:r>
              <a:rPr sz="1800" b="1" dirty="0">
                <a:latin typeface="Calisto MT"/>
                <a:cs typeface="Calisto MT"/>
              </a:rPr>
              <a:t>or</a:t>
            </a:r>
            <a:r>
              <a:rPr sz="1800" b="1" spc="-40" dirty="0">
                <a:latin typeface="Calisto MT"/>
                <a:cs typeface="Calisto MT"/>
              </a:rPr>
              <a:t> </a:t>
            </a:r>
            <a:r>
              <a:rPr sz="1800" b="1" dirty="0">
                <a:latin typeface="Calisto MT"/>
                <a:cs typeface="Calisto MT"/>
              </a:rPr>
              <a:t>Business</a:t>
            </a:r>
            <a:r>
              <a:rPr sz="1800" b="1" spc="-40" dirty="0">
                <a:latin typeface="Calisto MT"/>
                <a:cs typeface="Calisto MT"/>
              </a:rPr>
              <a:t> </a:t>
            </a:r>
            <a:r>
              <a:rPr sz="1800" b="1" spc="-20" dirty="0">
                <a:latin typeface="Calisto MT"/>
                <a:cs typeface="Calisto MT"/>
              </a:rPr>
              <a:t>Tier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68146" y="4574285"/>
            <a:ext cx="4754880" cy="1219200"/>
          </a:xfrm>
          <a:custGeom>
            <a:avLst/>
            <a:gdLst/>
            <a:ahLst/>
            <a:cxnLst/>
            <a:rect l="l" t="t" r="r" b="b"/>
            <a:pathLst>
              <a:path w="4754880" h="1219200">
                <a:moveTo>
                  <a:pt x="4632960" y="0"/>
                </a:moveTo>
                <a:lnTo>
                  <a:pt x="121920" y="0"/>
                </a:lnTo>
                <a:lnTo>
                  <a:pt x="74462" y="9580"/>
                </a:lnTo>
                <a:lnTo>
                  <a:pt x="35709" y="35709"/>
                </a:lnTo>
                <a:lnTo>
                  <a:pt x="9580" y="74462"/>
                </a:lnTo>
                <a:lnTo>
                  <a:pt x="0" y="121919"/>
                </a:lnTo>
                <a:lnTo>
                  <a:pt x="0" y="1097280"/>
                </a:lnTo>
                <a:lnTo>
                  <a:pt x="9580" y="1144737"/>
                </a:lnTo>
                <a:lnTo>
                  <a:pt x="35709" y="1183490"/>
                </a:lnTo>
                <a:lnTo>
                  <a:pt x="74462" y="1209619"/>
                </a:lnTo>
                <a:lnTo>
                  <a:pt x="121920" y="1219200"/>
                </a:lnTo>
                <a:lnTo>
                  <a:pt x="4632960" y="1219200"/>
                </a:lnTo>
                <a:lnTo>
                  <a:pt x="4680417" y="1209619"/>
                </a:lnTo>
                <a:lnTo>
                  <a:pt x="4719170" y="1183490"/>
                </a:lnTo>
                <a:lnTo>
                  <a:pt x="4745299" y="1144737"/>
                </a:lnTo>
                <a:lnTo>
                  <a:pt x="4754880" y="1097280"/>
                </a:lnTo>
                <a:lnTo>
                  <a:pt x="4754880" y="121919"/>
                </a:lnTo>
                <a:lnTo>
                  <a:pt x="4745299" y="74462"/>
                </a:lnTo>
                <a:lnTo>
                  <a:pt x="4719170" y="35709"/>
                </a:lnTo>
                <a:lnTo>
                  <a:pt x="4680417" y="9580"/>
                </a:lnTo>
                <a:lnTo>
                  <a:pt x="4632960" y="0"/>
                </a:lnTo>
                <a:close/>
              </a:path>
            </a:pathLst>
          </a:custGeom>
          <a:solidFill>
            <a:srgbClr val="D6D3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258611" y="5010726"/>
            <a:ext cx="2919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sto MT"/>
                <a:cs typeface="Calisto MT"/>
              </a:rPr>
              <a:t>Data</a:t>
            </a:r>
            <a:r>
              <a:rPr sz="1800" b="1" spc="-40" dirty="0">
                <a:latin typeface="Calisto MT"/>
                <a:cs typeface="Calisto MT"/>
              </a:rPr>
              <a:t> </a:t>
            </a:r>
            <a:r>
              <a:rPr sz="1800" b="1" dirty="0">
                <a:latin typeface="Calisto MT"/>
                <a:cs typeface="Calisto MT"/>
              </a:rPr>
              <a:t>Tier</a:t>
            </a:r>
            <a:r>
              <a:rPr sz="1800" b="1" spc="-15" dirty="0">
                <a:latin typeface="Calisto MT"/>
                <a:cs typeface="Calisto MT"/>
              </a:rPr>
              <a:t> </a:t>
            </a:r>
            <a:r>
              <a:rPr sz="1800" b="1" dirty="0">
                <a:latin typeface="Calisto MT"/>
                <a:cs typeface="Calisto MT"/>
              </a:rPr>
              <a:t>or</a:t>
            </a:r>
            <a:r>
              <a:rPr sz="1800" b="1" spc="-45" dirty="0">
                <a:latin typeface="Calisto MT"/>
                <a:cs typeface="Calisto MT"/>
              </a:rPr>
              <a:t> </a:t>
            </a:r>
            <a:r>
              <a:rPr sz="1800" b="1" spc="-10" dirty="0">
                <a:latin typeface="Calisto MT"/>
                <a:cs typeface="Calisto MT"/>
              </a:rPr>
              <a:t>Persistence</a:t>
            </a:r>
            <a:r>
              <a:rPr sz="1800" b="1" spc="-20" dirty="0">
                <a:latin typeface="Calisto MT"/>
                <a:cs typeface="Calisto MT"/>
              </a:rPr>
              <a:t> Tier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82821" y="2646045"/>
            <a:ext cx="1230630" cy="2224405"/>
            <a:chOff x="4282821" y="2646045"/>
            <a:chExt cx="1230630" cy="2224405"/>
          </a:xfrm>
        </p:grpSpPr>
        <p:sp>
          <p:nvSpPr>
            <p:cNvPr id="14" name="object 14"/>
            <p:cNvSpPr/>
            <p:nvPr/>
          </p:nvSpPr>
          <p:spPr>
            <a:xfrm>
              <a:off x="4292346" y="2655570"/>
              <a:ext cx="791210" cy="792480"/>
            </a:xfrm>
            <a:custGeom>
              <a:avLst/>
              <a:gdLst/>
              <a:ahLst/>
              <a:cxnLst/>
              <a:rect l="l" t="t" r="r" b="b"/>
              <a:pathLst>
                <a:path w="791210" h="792479">
                  <a:moveTo>
                    <a:pt x="612990" y="0"/>
                  </a:moveTo>
                  <a:lnTo>
                    <a:pt x="177965" y="0"/>
                  </a:lnTo>
                  <a:lnTo>
                    <a:pt x="177965" y="436549"/>
                  </a:lnTo>
                  <a:lnTo>
                    <a:pt x="0" y="436549"/>
                  </a:lnTo>
                  <a:lnTo>
                    <a:pt x="395478" y="792480"/>
                  </a:lnTo>
                  <a:lnTo>
                    <a:pt x="790956" y="436549"/>
                  </a:lnTo>
                  <a:lnTo>
                    <a:pt x="612990" y="436549"/>
                  </a:lnTo>
                  <a:lnTo>
                    <a:pt x="612990" y="0"/>
                  </a:lnTo>
                  <a:close/>
                </a:path>
              </a:pathLst>
            </a:custGeom>
            <a:solidFill>
              <a:srgbClr val="CFDAE4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92346" y="2655570"/>
              <a:ext cx="791210" cy="792480"/>
            </a:xfrm>
            <a:custGeom>
              <a:avLst/>
              <a:gdLst/>
              <a:ahLst/>
              <a:cxnLst/>
              <a:rect l="l" t="t" r="r" b="b"/>
              <a:pathLst>
                <a:path w="791210" h="792479">
                  <a:moveTo>
                    <a:pt x="0" y="436549"/>
                  </a:moveTo>
                  <a:lnTo>
                    <a:pt x="177965" y="436549"/>
                  </a:lnTo>
                  <a:lnTo>
                    <a:pt x="177965" y="0"/>
                  </a:lnTo>
                  <a:lnTo>
                    <a:pt x="612990" y="0"/>
                  </a:lnTo>
                  <a:lnTo>
                    <a:pt x="612990" y="436549"/>
                  </a:lnTo>
                  <a:lnTo>
                    <a:pt x="790956" y="436549"/>
                  </a:lnTo>
                  <a:lnTo>
                    <a:pt x="395478" y="792480"/>
                  </a:lnTo>
                  <a:lnTo>
                    <a:pt x="0" y="436549"/>
                  </a:lnTo>
                  <a:close/>
                </a:path>
              </a:pathLst>
            </a:custGeom>
            <a:ln w="19050">
              <a:solidFill>
                <a:srgbClr val="CFDA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11446" y="406831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614172" y="0"/>
                  </a:moveTo>
                  <a:lnTo>
                    <a:pt x="178308" y="0"/>
                  </a:lnTo>
                  <a:lnTo>
                    <a:pt x="178308" y="435863"/>
                  </a:lnTo>
                  <a:lnTo>
                    <a:pt x="0" y="435863"/>
                  </a:lnTo>
                  <a:lnTo>
                    <a:pt x="396240" y="792479"/>
                  </a:lnTo>
                  <a:lnTo>
                    <a:pt x="792480" y="435863"/>
                  </a:lnTo>
                  <a:lnTo>
                    <a:pt x="614172" y="435863"/>
                  </a:lnTo>
                  <a:lnTo>
                    <a:pt x="614172" y="0"/>
                  </a:lnTo>
                  <a:close/>
                </a:path>
              </a:pathLst>
            </a:custGeom>
            <a:solidFill>
              <a:srgbClr val="EFEEC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11446" y="4068318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0" y="435863"/>
                  </a:moveTo>
                  <a:lnTo>
                    <a:pt x="178308" y="435863"/>
                  </a:lnTo>
                  <a:lnTo>
                    <a:pt x="178308" y="0"/>
                  </a:lnTo>
                  <a:lnTo>
                    <a:pt x="614172" y="0"/>
                  </a:lnTo>
                  <a:lnTo>
                    <a:pt x="614172" y="435863"/>
                  </a:lnTo>
                  <a:lnTo>
                    <a:pt x="792480" y="435863"/>
                  </a:lnTo>
                  <a:lnTo>
                    <a:pt x="396240" y="792479"/>
                  </a:lnTo>
                  <a:lnTo>
                    <a:pt x="0" y="435863"/>
                  </a:lnTo>
                  <a:close/>
                </a:path>
              </a:pathLst>
            </a:custGeom>
            <a:ln w="19050">
              <a:solidFill>
                <a:srgbClr val="EFEE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631178" y="1432813"/>
            <a:ext cx="5247005" cy="1316355"/>
            <a:chOff x="6631178" y="1432813"/>
            <a:chExt cx="5247005" cy="1316355"/>
          </a:xfrm>
        </p:grpSpPr>
        <p:sp>
          <p:nvSpPr>
            <p:cNvPr id="19" name="object 19"/>
            <p:cNvSpPr/>
            <p:nvPr/>
          </p:nvSpPr>
          <p:spPr>
            <a:xfrm>
              <a:off x="6643878" y="1445513"/>
              <a:ext cx="5221605" cy="1290955"/>
            </a:xfrm>
            <a:custGeom>
              <a:avLst/>
              <a:gdLst/>
              <a:ahLst/>
              <a:cxnLst/>
              <a:rect l="l" t="t" r="r" b="b"/>
              <a:pathLst>
                <a:path w="5221605" h="1290955">
                  <a:moveTo>
                    <a:pt x="5221224" y="0"/>
                  </a:moveTo>
                  <a:lnTo>
                    <a:pt x="0" y="0"/>
                  </a:lnTo>
                  <a:lnTo>
                    <a:pt x="0" y="1290827"/>
                  </a:lnTo>
                  <a:lnTo>
                    <a:pt x="5221224" y="1290827"/>
                  </a:lnTo>
                  <a:lnTo>
                    <a:pt x="5221224" y="0"/>
                  </a:lnTo>
                  <a:close/>
                </a:path>
              </a:pathLst>
            </a:custGeom>
            <a:solidFill>
              <a:srgbClr val="E167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43878" y="1445513"/>
              <a:ext cx="5221605" cy="1290955"/>
            </a:xfrm>
            <a:custGeom>
              <a:avLst/>
              <a:gdLst/>
              <a:ahLst/>
              <a:cxnLst/>
              <a:rect l="l" t="t" r="r" b="b"/>
              <a:pathLst>
                <a:path w="5221605" h="1290955">
                  <a:moveTo>
                    <a:pt x="0" y="0"/>
                  </a:moveTo>
                  <a:lnTo>
                    <a:pt x="5221224" y="0"/>
                  </a:lnTo>
                  <a:lnTo>
                    <a:pt x="5221224" y="1290827"/>
                  </a:lnTo>
                  <a:lnTo>
                    <a:pt x="0" y="1290827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306321" y="1555069"/>
            <a:ext cx="158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Client</a:t>
            </a:r>
            <a:r>
              <a:rPr sz="1800" b="1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Machine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920483" y="2048257"/>
            <a:ext cx="4693920" cy="490855"/>
          </a:xfrm>
          <a:custGeom>
            <a:avLst/>
            <a:gdLst/>
            <a:ahLst/>
            <a:cxnLst/>
            <a:rect l="l" t="t" r="r" b="b"/>
            <a:pathLst>
              <a:path w="4693920" h="490855">
                <a:moveTo>
                  <a:pt x="4612132" y="0"/>
                </a:moveTo>
                <a:lnTo>
                  <a:pt x="81788" y="0"/>
                </a:lnTo>
                <a:lnTo>
                  <a:pt x="49950" y="6426"/>
                </a:lnTo>
                <a:lnTo>
                  <a:pt x="23953" y="23953"/>
                </a:lnTo>
                <a:lnTo>
                  <a:pt x="6426" y="49950"/>
                </a:lnTo>
                <a:lnTo>
                  <a:pt x="0" y="81787"/>
                </a:lnTo>
                <a:lnTo>
                  <a:pt x="0" y="408940"/>
                </a:lnTo>
                <a:lnTo>
                  <a:pt x="6426" y="440777"/>
                </a:lnTo>
                <a:lnTo>
                  <a:pt x="23953" y="466774"/>
                </a:lnTo>
                <a:lnTo>
                  <a:pt x="49950" y="484301"/>
                </a:lnTo>
                <a:lnTo>
                  <a:pt x="81788" y="490728"/>
                </a:lnTo>
                <a:lnTo>
                  <a:pt x="4612132" y="490728"/>
                </a:lnTo>
                <a:lnTo>
                  <a:pt x="4643969" y="484301"/>
                </a:lnTo>
                <a:lnTo>
                  <a:pt x="4669966" y="466774"/>
                </a:lnTo>
                <a:lnTo>
                  <a:pt x="4687493" y="440777"/>
                </a:lnTo>
                <a:lnTo>
                  <a:pt x="4693920" y="408940"/>
                </a:lnTo>
                <a:lnTo>
                  <a:pt x="4693920" y="81787"/>
                </a:lnTo>
                <a:lnTo>
                  <a:pt x="4687493" y="49950"/>
                </a:lnTo>
                <a:lnTo>
                  <a:pt x="4669966" y="23953"/>
                </a:lnTo>
                <a:lnTo>
                  <a:pt x="4643969" y="6426"/>
                </a:lnTo>
                <a:lnTo>
                  <a:pt x="4612132" y="0"/>
                </a:lnTo>
                <a:close/>
              </a:path>
            </a:pathLst>
          </a:custGeom>
          <a:solidFill>
            <a:srgbClr val="DCE6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428867" y="2072435"/>
            <a:ext cx="121920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14999"/>
              </a:lnSpc>
              <a:spcBef>
                <a:spcPts val="100"/>
              </a:spcBef>
            </a:pPr>
            <a:r>
              <a:rPr sz="1200" spc="-10" dirty="0">
                <a:latin typeface="Calisto MT"/>
                <a:cs typeface="Calisto MT"/>
              </a:rPr>
              <a:t>Application</a:t>
            </a:r>
            <a:r>
              <a:rPr sz="1200" spc="10" dirty="0">
                <a:latin typeface="Calisto MT"/>
                <a:cs typeface="Calisto MT"/>
              </a:rPr>
              <a:t> </a:t>
            </a:r>
            <a:r>
              <a:rPr sz="1200" spc="-10" dirty="0">
                <a:latin typeface="Calisto MT"/>
                <a:cs typeface="Calisto MT"/>
              </a:rPr>
              <a:t>Client Container</a:t>
            </a:r>
            <a:endParaRPr sz="1200">
              <a:latin typeface="Calisto MT"/>
              <a:cs typeface="Calisto MT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457943" y="2110741"/>
            <a:ext cx="1412875" cy="375285"/>
          </a:xfrm>
          <a:custGeom>
            <a:avLst/>
            <a:gdLst/>
            <a:ahLst/>
            <a:cxnLst/>
            <a:rect l="l" t="t" r="r" b="b"/>
            <a:pathLst>
              <a:path w="1412875" h="375285">
                <a:moveTo>
                  <a:pt x="1350264" y="0"/>
                </a:moveTo>
                <a:lnTo>
                  <a:pt x="62484" y="0"/>
                </a:lnTo>
                <a:lnTo>
                  <a:pt x="38163" y="4910"/>
                </a:lnTo>
                <a:lnTo>
                  <a:pt x="18302" y="18302"/>
                </a:lnTo>
                <a:lnTo>
                  <a:pt x="4910" y="38163"/>
                </a:lnTo>
                <a:lnTo>
                  <a:pt x="0" y="62484"/>
                </a:lnTo>
                <a:lnTo>
                  <a:pt x="0" y="312420"/>
                </a:lnTo>
                <a:lnTo>
                  <a:pt x="4910" y="336740"/>
                </a:lnTo>
                <a:lnTo>
                  <a:pt x="18302" y="356601"/>
                </a:lnTo>
                <a:lnTo>
                  <a:pt x="38163" y="369993"/>
                </a:lnTo>
                <a:lnTo>
                  <a:pt x="62484" y="374904"/>
                </a:lnTo>
                <a:lnTo>
                  <a:pt x="1350264" y="374904"/>
                </a:lnTo>
                <a:lnTo>
                  <a:pt x="1374584" y="369993"/>
                </a:lnTo>
                <a:lnTo>
                  <a:pt x="1394445" y="356601"/>
                </a:lnTo>
                <a:lnTo>
                  <a:pt x="1407837" y="336740"/>
                </a:lnTo>
                <a:lnTo>
                  <a:pt x="1412748" y="312420"/>
                </a:lnTo>
                <a:lnTo>
                  <a:pt x="1412748" y="62484"/>
                </a:lnTo>
                <a:lnTo>
                  <a:pt x="1407837" y="38163"/>
                </a:lnTo>
                <a:lnTo>
                  <a:pt x="1394445" y="18302"/>
                </a:lnTo>
                <a:lnTo>
                  <a:pt x="1374584" y="4910"/>
                </a:lnTo>
                <a:lnTo>
                  <a:pt x="1350264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853904" y="2202815"/>
            <a:ext cx="724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sto MT"/>
                <a:cs typeface="Calisto MT"/>
              </a:rPr>
              <a:t>Client</a:t>
            </a:r>
            <a:r>
              <a:rPr sz="1200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sto MT"/>
                <a:cs typeface="Calisto MT"/>
              </a:rPr>
              <a:t>Tier</a:t>
            </a:r>
            <a:endParaRPr sz="1200">
              <a:latin typeface="Calisto MT"/>
              <a:cs typeface="Calisto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631178" y="2807461"/>
            <a:ext cx="5247005" cy="1964055"/>
            <a:chOff x="6631178" y="2807461"/>
            <a:chExt cx="5247005" cy="1964055"/>
          </a:xfrm>
        </p:grpSpPr>
        <p:sp>
          <p:nvSpPr>
            <p:cNvPr id="27" name="object 27"/>
            <p:cNvSpPr/>
            <p:nvPr/>
          </p:nvSpPr>
          <p:spPr>
            <a:xfrm>
              <a:off x="6643878" y="2820161"/>
              <a:ext cx="5221605" cy="1938655"/>
            </a:xfrm>
            <a:custGeom>
              <a:avLst/>
              <a:gdLst/>
              <a:ahLst/>
              <a:cxnLst/>
              <a:rect l="l" t="t" r="r" b="b"/>
              <a:pathLst>
                <a:path w="5221605" h="1938654">
                  <a:moveTo>
                    <a:pt x="5221224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5221224" y="1938527"/>
                  </a:lnTo>
                  <a:lnTo>
                    <a:pt x="522122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43878" y="2820161"/>
              <a:ext cx="5221605" cy="1938655"/>
            </a:xfrm>
            <a:custGeom>
              <a:avLst/>
              <a:gdLst/>
              <a:ahLst/>
              <a:cxnLst/>
              <a:rect l="l" t="t" r="r" b="b"/>
              <a:pathLst>
                <a:path w="5221605" h="1938654">
                  <a:moveTo>
                    <a:pt x="0" y="0"/>
                  </a:moveTo>
                  <a:lnTo>
                    <a:pt x="5221224" y="0"/>
                  </a:lnTo>
                  <a:lnTo>
                    <a:pt x="5221224" y="1938527"/>
                  </a:lnTo>
                  <a:lnTo>
                    <a:pt x="0" y="1938527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011924" y="3198875"/>
              <a:ext cx="4693920" cy="546100"/>
            </a:xfrm>
            <a:custGeom>
              <a:avLst/>
              <a:gdLst/>
              <a:ahLst/>
              <a:cxnLst/>
              <a:rect l="l" t="t" r="r" b="b"/>
              <a:pathLst>
                <a:path w="4693920" h="546100">
                  <a:moveTo>
                    <a:pt x="4602988" y="0"/>
                  </a:moveTo>
                  <a:lnTo>
                    <a:pt x="90932" y="0"/>
                  </a:lnTo>
                  <a:lnTo>
                    <a:pt x="55539" y="7146"/>
                  </a:lnTo>
                  <a:lnTo>
                    <a:pt x="26635" y="26635"/>
                  </a:lnTo>
                  <a:lnTo>
                    <a:pt x="7146" y="55539"/>
                  </a:lnTo>
                  <a:lnTo>
                    <a:pt x="0" y="90932"/>
                  </a:lnTo>
                  <a:lnTo>
                    <a:pt x="0" y="454660"/>
                  </a:lnTo>
                  <a:lnTo>
                    <a:pt x="7146" y="490052"/>
                  </a:lnTo>
                  <a:lnTo>
                    <a:pt x="26635" y="518956"/>
                  </a:lnTo>
                  <a:lnTo>
                    <a:pt x="55539" y="538445"/>
                  </a:lnTo>
                  <a:lnTo>
                    <a:pt x="90932" y="545592"/>
                  </a:lnTo>
                  <a:lnTo>
                    <a:pt x="4602988" y="545592"/>
                  </a:lnTo>
                  <a:lnTo>
                    <a:pt x="4638380" y="538445"/>
                  </a:lnTo>
                  <a:lnTo>
                    <a:pt x="4667284" y="518956"/>
                  </a:lnTo>
                  <a:lnTo>
                    <a:pt x="4686773" y="490052"/>
                  </a:lnTo>
                  <a:lnTo>
                    <a:pt x="4693920" y="454660"/>
                  </a:lnTo>
                  <a:lnTo>
                    <a:pt x="4693920" y="90932"/>
                  </a:lnTo>
                  <a:lnTo>
                    <a:pt x="4686773" y="55539"/>
                  </a:lnTo>
                  <a:lnTo>
                    <a:pt x="4667284" y="26635"/>
                  </a:lnTo>
                  <a:lnTo>
                    <a:pt x="4638380" y="7146"/>
                  </a:lnTo>
                  <a:lnTo>
                    <a:pt x="4602988" y="0"/>
                  </a:lnTo>
                  <a:close/>
                </a:path>
              </a:pathLst>
            </a:custGeom>
            <a:solidFill>
              <a:srgbClr val="F9C0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353930" y="2816511"/>
            <a:ext cx="2172335" cy="840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053465">
              <a:lnSpc>
                <a:spcPct val="100000"/>
              </a:lnSpc>
              <a:spcBef>
                <a:spcPts val="420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Jakarta</a:t>
            </a:r>
            <a:r>
              <a:rPr sz="1800" b="1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Calisto MT"/>
                <a:cs typeface="Calisto MT"/>
              </a:rPr>
              <a:t>EE</a:t>
            </a:r>
            <a:endParaRPr sz="1800">
              <a:latin typeface="Calisto MT"/>
              <a:cs typeface="Calisto MT"/>
            </a:endParaRPr>
          </a:p>
          <a:p>
            <a:pPr marL="487680" marR="475615" indent="-475615">
              <a:lnSpc>
                <a:spcPct val="100000"/>
              </a:lnSpc>
              <a:spcBef>
                <a:spcPts val="325"/>
              </a:spcBef>
            </a:pPr>
            <a:r>
              <a:rPr sz="1800" baseline="4629" dirty="0">
                <a:latin typeface="Calisto MT"/>
                <a:cs typeface="Calisto MT"/>
              </a:rPr>
              <a:t>Web</a:t>
            </a:r>
            <a:r>
              <a:rPr sz="1800" spc="-60" baseline="4629" dirty="0">
                <a:latin typeface="Calisto MT"/>
                <a:cs typeface="Calisto MT"/>
              </a:rPr>
              <a:t> </a:t>
            </a:r>
            <a:r>
              <a:rPr sz="1800" baseline="4629" dirty="0">
                <a:latin typeface="Calisto MT"/>
                <a:cs typeface="Calisto MT"/>
              </a:rPr>
              <a:t>Container</a:t>
            </a:r>
            <a:r>
              <a:rPr sz="1800" spc="-52" baseline="4629" dirty="0">
                <a:latin typeface="Calisto MT"/>
                <a:cs typeface="Calisto MT"/>
              </a:rPr>
              <a:t> </a:t>
            </a:r>
            <a:r>
              <a:rPr sz="1800" spc="-457" baseline="4629" dirty="0">
                <a:latin typeface="Calisto MT"/>
                <a:cs typeface="Calisto MT"/>
              </a:rPr>
              <a:t>(</a:t>
            </a:r>
            <a:r>
              <a:rPr sz="1800" b="1" spc="-700" dirty="0">
                <a:solidFill>
                  <a:srgbClr val="FFFFFF"/>
                </a:solidFill>
                <a:latin typeface="Calisto MT"/>
                <a:cs typeface="Calisto MT"/>
              </a:rPr>
              <a:t>S</a:t>
            </a:r>
            <a:r>
              <a:rPr sz="1800" baseline="4629" dirty="0">
                <a:latin typeface="Calisto MT"/>
                <a:cs typeface="Calisto MT"/>
              </a:rPr>
              <a:t>J</a:t>
            </a:r>
            <a:r>
              <a:rPr sz="1800" spc="-750" baseline="4629" dirty="0">
                <a:latin typeface="Calisto MT"/>
                <a:cs typeface="Calisto MT"/>
              </a:rPr>
              <a:t>S</a:t>
            </a:r>
            <a:r>
              <a:rPr sz="1800" b="1" spc="-365" dirty="0">
                <a:solidFill>
                  <a:srgbClr val="FFFFFF"/>
                </a:solidFill>
                <a:latin typeface="Calisto MT"/>
                <a:cs typeface="Calisto MT"/>
              </a:rPr>
              <a:t>e</a:t>
            </a:r>
            <a:r>
              <a:rPr sz="1800" spc="-562" baseline="4629" dirty="0">
                <a:latin typeface="Calisto MT"/>
                <a:cs typeface="Calisto MT"/>
              </a:rPr>
              <a:t>P</a:t>
            </a:r>
            <a:r>
              <a:rPr sz="1800" b="1" spc="-315" dirty="0">
                <a:solidFill>
                  <a:srgbClr val="FFFFFF"/>
                </a:solidFill>
                <a:latin typeface="Calisto MT"/>
                <a:cs typeface="Calisto MT"/>
              </a:rPr>
              <a:t>r</a:t>
            </a:r>
            <a:r>
              <a:rPr sz="1800" spc="-75" baseline="4629" dirty="0">
                <a:latin typeface="Calisto MT"/>
                <a:cs typeface="Calisto MT"/>
              </a:rPr>
              <a:t>,</a:t>
            </a:r>
            <a:r>
              <a:rPr sz="1800" b="1" spc="-35" dirty="0">
                <a:solidFill>
                  <a:srgbClr val="FFFFFF"/>
                </a:solidFill>
                <a:latin typeface="Calisto MT"/>
                <a:cs typeface="Calisto MT"/>
              </a:rPr>
              <a:t>v</a:t>
            </a:r>
            <a:r>
              <a:rPr sz="1800" b="1" spc="5" dirty="0">
                <a:solidFill>
                  <a:srgbClr val="FFFFFF"/>
                </a:solidFill>
                <a:latin typeface="Calisto MT"/>
                <a:cs typeface="Calisto MT"/>
              </a:rPr>
              <a:t>er</a:t>
            </a:r>
            <a:r>
              <a:rPr sz="1800" b="1" spc="-2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200" spc="-10" dirty="0">
                <a:latin typeface="Calisto MT"/>
                <a:cs typeface="Calisto MT"/>
              </a:rPr>
              <a:t>Faces)</a:t>
            </a:r>
            <a:endParaRPr sz="1200">
              <a:latin typeface="Calisto MT"/>
              <a:cs typeface="Calisto M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488423" y="3288793"/>
            <a:ext cx="1412875" cy="417830"/>
          </a:xfrm>
          <a:custGeom>
            <a:avLst/>
            <a:gdLst/>
            <a:ahLst/>
            <a:cxnLst/>
            <a:rect l="l" t="t" r="r" b="b"/>
            <a:pathLst>
              <a:path w="1412875" h="417829">
                <a:moveTo>
                  <a:pt x="1343152" y="0"/>
                </a:moveTo>
                <a:lnTo>
                  <a:pt x="69596" y="0"/>
                </a:lnTo>
                <a:lnTo>
                  <a:pt x="42508" y="5468"/>
                </a:lnTo>
                <a:lnTo>
                  <a:pt x="20386" y="20381"/>
                </a:lnTo>
                <a:lnTo>
                  <a:pt x="5470" y="42503"/>
                </a:lnTo>
                <a:lnTo>
                  <a:pt x="0" y="69596"/>
                </a:lnTo>
                <a:lnTo>
                  <a:pt x="0" y="347980"/>
                </a:lnTo>
                <a:lnTo>
                  <a:pt x="5470" y="375067"/>
                </a:lnTo>
                <a:lnTo>
                  <a:pt x="20386" y="397189"/>
                </a:lnTo>
                <a:lnTo>
                  <a:pt x="42508" y="412105"/>
                </a:lnTo>
                <a:lnTo>
                  <a:pt x="69596" y="417576"/>
                </a:lnTo>
                <a:lnTo>
                  <a:pt x="1343152" y="417576"/>
                </a:lnTo>
                <a:lnTo>
                  <a:pt x="1370239" y="412105"/>
                </a:lnTo>
                <a:lnTo>
                  <a:pt x="1392361" y="397189"/>
                </a:lnTo>
                <a:lnTo>
                  <a:pt x="1407277" y="375067"/>
                </a:lnTo>
                <a:lnTo>
                  <a:pt x="1412748" y="347980"/>
                </a:lnTo>
                <a:lnTo>
                  <a:pt x="1412748" y="69596"/>
                </a:lnTo>
                <a:lnTo>
                  <a:pt x="1407277" y="42503"/>
                </a:lnTo>
                <a:lnTo>
                  <a:pt x="1392361" y="20381"/>
                </a:lnTo>
                <a:lnTo>
                  <a:pt x="1370239" y="5468"/>
                </a:lnTo>
                <a:lnTo>
                  <a:pt x="1343152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620195" y="3331295"/>
            <a:ext cx="1137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sto MT"/>
                <a:cs typeface="Calisto MT"/>
              </a:rPr>
              <a:t>Presentation</a:t>
            </a:r>
            <a:r>
              <a:rPr sz="1200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sto MT"/>
                <a:cs typeface="Calisto MT"/>
              </a:rPr>
              <a:t>Tier</a:t>
            </a:r>
            <a:endParaRPr sz="1200">
              <a:latin typeface="Calisto MT"/>
              <a:cs typeface="Calisto MT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011923" y="3986784"/>
            <a:ext cx="4693920" cy="546100"/>
          </a:xfrm>
          <a:custGeom>
            <a:avLst/>
            <a:gdLst/>
            <a:ahLst/>
            <a:cxnLst/>
            <a:rect l="l" t="t" r="r" b="b"/>
            <a:pathLst>
              <a:path w="4693920" h="546100">
                <a:moveTo>
                  <a:pt x="4602988" y="0"/>
                </a:moveTo>
                <a:lnTo>
                  <a:pt x="90932" y="0"/>
                </a:lnTo>
                <a:lnTo>
                  <a:pt x="55539" y="7146"/>
                </a:lnTo>
                <a:lnTo>
                  <a:pt x="26635" y="26635"/>
                </a:lnTo>
                <a:lnTo>
                  <a:pt x="7146" y="55539"/>
                </a:lnTo>
                <a:lnTo>
                  <a:pt x="0" y="90931"/>
                </a:lnTo>
                <a:lnTo>
                  <a:pt x="0" y="454659"/>
                </a:lnTo>
                <a:lnTo>
                  <a:pt x="7146" y="490052"/>
                </a:lnTo>
                <a:lnTo>
                  <a:pt x="26635" y="518956"/>
                </a:lnTo>
                <a:lnTo>
                  <a:pt x="55539" y="538445"/>
                </a:lnTo>
                <a:lnTo>
                  <a:pt x="90932" y="545591"/>
                </a:lnTo>
                <a:lnTo>
                  <a:pt x="4602988" y="545591"/>
                </a:lnTo>
                <a:lnTo>
                  <a:pt x="4638380" y="538445"/>
                </a:lnTo>
                <a:lnTo>
                  <a:pt x="4667284" y="518956"/>
                </a:lnTo>
                <a:lnTo>
                  <a:pt x="4686773" y="490052"/>
                </a:lnTo>
                <a:lnTo>
                  <a:pt x="4693920" y="454659"/>
                </a:lnTo>
                <a:lnTo>
                  <a:pt x="4693920" y="90931"/>
                </a:lnTo>
                <a:lnTo>
                  <a:pt x="4686773" y="55539"/>
                </a:lnTo>
                <a:lnTo>
                  <a:pt x="4667284" y="26635"/>
                </a:lnTo>
                <a:lnTo>
                  <a:pt x="4638380" y="7146"/>
                </a:lnTo>
                <a:lnTo>
                  <a:pt x="4602988" y="0"/>
                </a:lnTo>
                <a:close/>
              </a:path>
            </a:pathLst>
          </a:custGeom>
          <a:solidFill>
            <a:srgbClr val="DB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7395728" y="3978033"/>
            <a:ext cx="1266825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5430" marR="5080" indent="-253365">
              <a:lnSpc>
                <a:spcPct val="114999"/>
              </a:lnSpc>
              <a:spcBef>
                <a:spcPts val="100"/>
              </a:spcBef>
            </a:pPr>
            <a:r>
              <a:rPr sz="1200" dirty="0">
                <a:latin typeface="Calisto MT"/>
                <a:cs typeface="Calisto MT"/>
              </a:rPr>
              <a:t>Business</a:t>
            </a:r>
            <a:r>
              <a:rPr sz="1200" spc="-65" dirty="0">
                <a:latin typeface="Calisto MT"/>
                <a:cs typeface="Calisto MT"/>
              </a:rPr>
              <a:t> </a:t>
            </a:r>
            <a:r>
              <a:rPr sz="1200" spc="-10" dirty="0">
                <a:latin typeface="Calisto MT"/>
                <a:cs typeface="Calisto MT"/>
              </a:rPr>
              <a:t>Container </a:t>
            </a:r>
            <a:r>
              <a:rPr sz="1200" dirty="0">
                <a:latin typeface="Calisto MT"/>
                <a:cs typeface="Calisto MT"/>
              </a:rPr>
              <a:t>(EJB,</a:t>
            </a:r>
            <a:r>
              <a:rPr sz="1200" spc="-30" dirty="0">
                <a:latin typeface="Calisto MT"/>
                <a:cs typeface="Calisto MT"/>
              </a:rPr>
              <a:t> </a:t>
            </a:r>
            <a:r>
              <a:rPr sz="1200" spc="-20" dirty="0">
                <a:latin typeface="Calisto MT"/>
                <a:cs typeface="Calisto MT"/>
              </a:rPr>
              <a:t>CDI)</a:t>
            </a:r>
            <a:endParaRPr sz="1200">
              <a:latin typeface="Calisto MT"/>
              <a:cs typeface="Calisto MT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535668" y="4072129"/>
            <a:ext cx="1412875" cy="417830"/>
          </a:xfrm>
          <a:custGeom>
            <a:avLst/>
            <a:gdLst/>
            <a:ahLst/>
            <a:cxnLst/>
            <a:rect l="l" t="t" r="r" b="b"/>
            <a:pathLst>
              <a:path w="1412875" h="417829">
                <a:moveTo>
                  <a:pt x="1343152" y="0"/>
                </a:moveTo>
                <a:lnTo>
                  <a:pt x="69596" y="0"/>
                </a:lnTo>
                <a:lnTo>
                  <a:pt x="42508" y="5468"/>
                </a:lnTo>
                <a:lnTo>
                  <a:pt x="20386" y="20381"/>
                </a:lnTo>
                <a:lnTo>
                  <a:pt x="5470" y="42503"/>
                </a:lnTo>
                <a:lnTo>
                  <a:pt x="0" y="69595"/>
                </a:lnTo>
                <a:lnTo>
                  <a:pt x="0" y="347979"/>
                </a:lnTo>
                <a:lnTo>
                  <a:pt x="5470" y="375067"/>
                </a:lnTo>
                <a:lnTo>
                  <a:pt x="20386" y="397189"/>
                </a:lnTo>
                <a:lnTo>
                  <a:pt x="42508" y="412105"/>
                </a:lnTo>
                <a:lnTo>
                  <a:pt x="69596" y="417575"/>
                </a:lnTo>
                <a:lnTo>
                  <a:pt x="1343152" y="417575"/>
                </a:lnTo>
                <a:lnTo>
                  <a:pt x="1370239" y="412105"/>
                </a:lnTo>
                <a:lnTo>
                  <a:pt x="1392361" y="397189"/>
                </a:lnTo>
                <a:lnTo>
                  <a:pt x="1407277" y="375067"/>
                </a:lnTo>
                <a:lnTo>
                  <a:pt x="1412748" y="347979"/>
                </a:lnTo>
                <a:lnTo>
                  <a:pt x="1412748" y="69595"/>
                </a:lnTo>
                <a:lnTo>
                  <a:pt x="1407277" y="42503"/>
                </a:lnTo>
                <a:lnTo>
                  <a:pt x="1392361" y="20381"/>
                </a:lnTo>
                <a:lnTo>
                  <a:pt x="1370239" y="5468"/>
                </a:lnTo>
                <a:lnTo>
                  <a:pt x="1343152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9843296" y="4154051"/>
            <a:ext cx="8870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sto MT"/>
                <a:cs typeface="Calisto MT"/>
              </a:rPr>
              <a:t>Business</a:t>
            </a:r>
            <a:r>
              <a:rPr sz="1200" spc="-6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sto MT"/>
                <a:cs typeface="Calisto MT"/>
              </a:rPr>
              <a:t>Tier</a:t>
            </a:r>
            <a:endParaRPr sz="1200">
              <a:latin typeface="Calisto MT"/>
              <a:cs typeface="Calisto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599173" y="4872482"/>
            <a:ext cx="5245100" cy="1220470"/>
            <a:chOff x="6599173" y="4872482"/>
            <a:chExt cx="5245100" cy="1220470"/>
          </a:xfrm>
        </p:grpSpPr>
        <p:sp>
          <p:nvSpPr>
            <p:cNvPr id="38" name="object 38"/>
            <p:cNvSpPr/>
            <p:nvPr/>
          </p:nvSpPr>
          <p:spPr>
            <a:xfrm>
              <a:off x="6611873" y="4885182"/>
              <a:ext cx="5219700" cy="1195070"/>
            </a:xfrm>
            <a:custGeom>
              <a:avLst/>
              <a:gdLst/>
              <a:ahLst/>
              <a:cxnLst/>
              <a:rect l="l" t="t" r="r" b="b"/>
              <a:pathLst>
                <a:path w="5219700" h="1195070">
                  <a:moveTo>
                    <a:pt x="5219700" y="0"/>
                  </a:moveTo>
                  <a:lnTo>
                    <a:pt x="0" y="0"/>
                  </a:lnTo>
                  <a:lnTo>
                    <a:pt x="0" y="1194816"/>
                  </a:lnTo>
                  <a:lnTo>
                    <a:pt x="5219700" y="1194816"/>
                  </a:lnTo>
                  <a:lnTo>
                    <a:pt x="5219700" y="0"/>
                  </a:lnTo>
                  <a:close/>
                </a:path>
              </a:pathLst>
            </a:custGeom>
            <a:solidFill>
              <a:srgbClr val="5F49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11873" y="4885182"/>
              <a:ext cx="5219700" cy="1195070"/>
            </a:xfrm>
            <a:custGeom>
              <a:avLst/>
              <a:gdLst/>
              <a:ahLst/>
              <a:cxnLst/>
              <a:rect l="l" t="t" r="r" b="b"/>
              <a:pathLst>
                <a:path w="5219700" h="1195070">
                  <a:moveTo>
                    <a:pt x="0" y="0"/>
                  </a:moveTo>
                  <a:lnTo>
                    <a:pt x="5219700" y="0"/>
                  </a:lnTo>
                  <a:lnTo>
                    <a:pt x="5219700" y="1194816"/>
                  </a:lnTo>
                  <a:lnTo>
                    <a:pt x="0" y="119481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243569" y="4897990"/>
            <a:ext cx="1649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Database</a:t>
            </a:r>
            <a:r>
              <a:rPr sz="1800" b="1" spc="-3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Server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920483" y="5300471"/>
            <a:ext cx="4693920" cy="546100"/>
          </a:xfrm>
          <a:custGeom>
            <a:avLst/>
            <a:gdLst/>
            <a:ahLst/>
            <a:cxnLst/>
            <a:rect l="l" t="t" r="r" b="b"/>
            <a:pathLst>
              <a:path w="4693920" h="546100">
                <a:moveTo>
                  <a:pt x="4602988" y="0"/>
                </a:moveTo>
                <a:lnTo>
                  <a:pt x="90932" y="0"/>
                </a:lnTo>
                <a:lnTo>
                  <a:pt x="55539" y="7146"/>
                </a:lnTo>
                <a:lnTo>
                  <a:pt x="26635" y="26635"/>
                </a:lnTo>
                <a:lnTo>
                  <a:pt x="7146" y="55539"/>
                </a:lnTo>
                <a:lnTo>
                  <a:pt x="0" y="90931"/>
                </a:lnTo>
                <a:lnTo>
                  <a:pt x="0" y="454659"/>
                </a:lnTo>
                <a:lnTo>
                  <a:pt x="7146" y="490052"/>
                </a:lnTo>
                <a:lnTo>
                  <a:pt x="26635" y="518956"/>
                </a:lnTo>
                <a:lnTo>
                  <a:pt x="55539" y="538445"/>
                </a:lnTo>
                <a:lnTo>
                  <a:pt x="90932" y="545591"/>
                </a:lnTo>
                <a:lnTo>
                  <a:pt x="4602988" y="545591"/>
                </a:lnTo>
                <a:lnTo>
                  <a:pt x="4638380" y="538445"/>
                </a:lnTo>
                <a:lnTo>
                  <a:pt x="4667284" y="518956"/>
                </a:lnTo>
                <a:lnTo>
                  <a:pt x="4686773" y="490052"/>
                </a:lnTo>
                <a:lnTo>
                  <a:pt x="4693920" y="454659"/>
                </a:lnTo>
                <a:lnTo>
                  <a:pt x="4693920" y="90931"/>
                </a:lnTo>
                <a:lnTo>
                  <a:pt x="4686773" y="55539"/>
                </a:lnTo>
                <a:lnTo>
                  <a:pt x="4667284" y="26635"/>
                </a:lnTo>
                <a:lnTo>
                  <a:pt x="4638380" y="7146"/>
                </a:lnTo>
                <a:lnTo>
                  <a:pt x="4602988" y="0"/>
                </a:lnTo>
                <a:close/>
              </a:path>
            </a:pathLst>
          </a:custGeom>
          <a:solidFill>
            <a:srgbClr val="F1DCD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7450694" y="5460348"/>
            <a:ext cx="2679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Calisto MT"/>
                <a:cs typeface="Calisto MT"/>
              </a:rPr>
              <a:t>EIS</a:t>
            </a:r>
            <a:endParaRPr sz="1200">
              <a:latin typeface="Calisto MT"/>
              <a:cs typeface="Calisto MT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9439656" y="5385815"/>
            <a:ext cx="1412875" cy="416559"/>
          </a:xfrm>
          <a:custGeom>
            <a:avLst/>
            <a:gdLst/>
            <a:ahLst/>
            <a:cxnLst/>
            <a:rect l="l" t="t" r="r" b="b"/>
            <a:pathLst>
              <a:path w="1412875" h="416560">
                <a:moveTo>
                  <a:pt x="1343406" y="0"/>
                </a:moveTo>
                <a:lnTo>
                  <a:pt x="69342" y="0"/>
                </a:lnTo>
                <a:lnTo>
                  <a:pt x="42353" y="5448"/>
                </a:lnTo>
                <a:lnTo>
                  <a:pt x="20312" y="20307"/>
                </a:lnTo>
                <a:lnTo>
                  <a:pt x="5450" y="42348"/>
                </a:lnTo>
                <a:lnTo>
                  <a:pt x="0" y="69341"/>
                </a:lnTo>
                <a:lnTo>
                  <a:pt x="0" y="346709"/>
                </a:lnTo>
                <a:lnTo>
                  <a:pt x="5450" y="373698"/>
                </a:lnTo>
                <a:lnTo>
                  <a:pt x="20312" y="395739"/>
                </a:lnTo>
                <a:lnTo>
                  <a:pt x="42353" y="410601"/>
                </a:lnTo>
                <a:lnTo>
                  <a:pt x="69342" y="416051"/>
                </a:lnTo>
                <a:lnTo>
                  <a:pt x="1343406" y="416051"/>
                </a:lnTo>
                <a:lnTo>
                  <a:pt x="1370394" y="410601"/>
                </a:lnTo>
                <a:lnTo>
                  <a:pt x="1392435" y="395739"/>
                </a:lnTo>
                <a:lnTo>
                  <a:pt x="1407297" y="373698"/>
                </a:lnTo>
                <a:lnTo>
                  <a:pt x="1412748" y="346709"/>
                </a:lnTo>
                <a:lnTo>
                  <a:pt x="1412748" y="69341"/>
                </a:lnTo>
                <a:lnTo>
                  <a:pt x="1407297" y="42348"/>
                </a:lnTo>
                <a:lnTo>
                  <a:pt x="1392435" y="20307"/>
                </a:lnTo>
                <a:lnTo>
                  <a:pt x="1370394" y="5448"/>
                </a:lnTo>
                <a:lnTo>
                  <a:pt x="1343406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9893785" y="5467675"/>
            <a:ext cx="649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sto MT"/>
                <a:cs typeface="Calisto MT"/>
              </a:rPr>
              <a:t>Data</a:t>
            </a:r>
            <a:r>
              <a:rPr sz="1200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Calisto MT"/>
                <a:cs typeface="Calisto MT"/>
              </a:rPr>
              <a:t>Tier</a:t>
            </a:r>
            <a:endParaRPr sz="1200">
              <a:latin typeface="Calisto MT"/>
              <a:cs typeface="Calisto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0200513" y="2449448"/>
            <a:ext cx="20955" cy="2945765"/>
            <a:chOff x="10200513" y="2449448"/>
            <a:chExt cx="20955" cy="2945765"/>
          </a:xfrm>
        </p:grpSpPr>
        <p:sp>
          <p:nvSpPr>
            <p:cNvPr id="46" name="object 46"/>
            <p:cNvSpPr/>
            <p:nvPr/>
          </p:nvSpPr>
          <p:spPr>
            <a:xfrm>
              <a:off x="10210038" y="2458973"/>
              <a:ext cx="1905" cy="835025"/>
            </a:xfrm>
            <a:custGeom>
              <a:avLst/>
              <a:gdLst/>
              <a:ahLst/>
              <a:cxnLst/>
              <a:rect l="l" t="t" r="r" b="b"/>
              <a:pathLst>
                <a:path w="1904" h="835025">
                  <a:moveTo>
                    <a:pt x="0" y="0"/>
                  </a:moveTo>
                  <a:lnTo>
                    <a:pt x="1409" y="834580"/>
                  </a:lnTo>
                </a:path>
              </a:pathLst>
            </a:custGeom>
            <a:ln w="19050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211562" y="3745229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0"/>
                  </a:moveTo>
                  <a:lnTo>
                    <a:pt x="0" y="292595"/>
                  </a:lnTo>
                </a:path>
              </a:pathLst>
            </a:custGeom>
            <a:ln w="19050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210038" y="4488941"/>
              <a:ext cx="1905" cy="896619"/>
            </a:xfrm>
            <a:custGeom>
              <a:avLst/>
              <a:gdLst/>
              <a:ahLst/>
              <a:cxnLst/>
              <a:rect l="l" t="t" r="r" b="b"/>
              <a:pathLst>
                <a:path w="1904" h="896620">
                  <a:moveTo>
                    <a:pt x="0" y="0"/>
                  </a:moveTo>
                  <a:lnTo>
                    <a:pt x="1409" y="896518"/>
                  </a:lnTo>
                </a:path>
              </a:pathLst>
            </a:custGeom>
            <a:ln w="19049">
              <a:solidFill>
                <a:srgbClr val="E36C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Jakarta</a:t>
            </a:r>
            <a:r>
              <a:rPr spc="-60" dirty="0"/>
              <a:t> </a:t>
            </a:r>
            <a:r>
              <a:rPr dirty="0"/>
              <a:t>EE</a:t>
            </a:r>
            <a:r>
              <a:rPr spc="-90" dirty="0"/>
              <a:t> </a:t>
            </a:r>
            <a:r>
              <a:rPr spc="-10" dirty="0"/>
              <a:t>Profiles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977895" y="1322832"/>
            <a:ext cx="1908175" cy="1906905"/>
            <a:chOff x="2977895" y="1322832"/>
            <a:chExt cx="1908175" cy="1906905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7895" y="1322832"/>
              <a:ext cx="1908047" cy="19065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03803" y="1350263"/>
              <a:ext cx="1801495" cy="1800225"/>
            </a:xfrm>
            <a:custGeom>
              <a:avLst/>
              <a:gdLst/>
              <a:ahLst/>
              <a:cxnLst/>
              <a:rect l="l" t="t" r="r" b="b"/>
              <a:pathLst>
                <a:path w="1801495" h="1800225">
                  <a:moveTo>
                    <a:pt x="900684" y="0"/>
                  </a:moveTo>
                  <a:lnTo>
                    <a:pt x="852849" y="1247"/>
                  </a:lnTo>
                  <a:lnTo>
                    <a:pt x="805665" y="4948"/>
                  </a:lnTo>
                  <a:lnTo>
                    <a:pt x="759194" y="11040"/>
                  </a:lnTo>
                  <a:lnTo>
                    <a:pt x="713497" y="19461"/>
                  </a:lnTo>
                  <a:lnTo>
                    <a:pt x="668637" y="30148"/>
                  </a:lnTo>
                  <a:lnTo>
                    <a:pt x="624677" y="43040"/>
                  </a:lnTo>
                  <a:lnTo>
                    <a:pt x="581678" y="58075"/>
                  </a:lnTo>
                  <a:lnTo>
                    <a:pt x="539702" y="75190"/>
                  </a:lnTo>
                  <a:lnTo>
                    <a:pt x="498813" y="94323"/>
                  </a:lnTo>
                  <a:lnTo>
                    <a:pt x="459072" y="115412"/>
                  </a:lnTo>
                  <a:lnTo>
                    <a:pt x="420542" y="138394"/>
                  </a:lnTo>
                  <a:lnTo>
                    <a:pt x="383284" y="163208"/>
                  </a:lnTo>
                  <a:lnTo>
                    <a:pt x="347361" y="189790"/>
                  </a:lnTo>
                  <a:lnTo>
                    <a:pt x="312836" y="218080"/>
                  </a:lnTo>
                  <a:lnTo>
                    <a:pt x="279770" y="248015"/>
                  </a:lnTo>
                  <a:lnTo>
                    <a:pt x="248226" y="279533"/>
                  </a:lnTo>
                  <a:lnTo>
                    <a:pt x="218266" y="312571"/>
                  </a:lnTo>
                  <a:lnTo>
                    <a:pt x="189952" y="347067"/>
                  </a:lnTo>
                  <a:lnTo>
                    <a:pt x="163346" y="382959"/>
                  </a:lnTo>
                  <a:lnTo>
                    <a:pt x="138511" y="420185"/>
                  </a:lnTo>
                  <a:lnTo>
                    <a:pt x="115510" y="458683"/>
                  </a:lnTo>
                  <a:lnTo>
                    <a:pt x="94403" y="498390"/>
                  </a:lnTo>
                  <a:lnTo>
                    <a:pt x="75254" y="539245"/>
                  </a:lnTo>
                  <a:lnTo>
                    <a:pt x="58125" y="581185"/>
                  </a:lnTo>
                  <a:lnTo>
                    <a:pt x="43077" y="624147"/>
                  </a:lnTo>
                  <a:lnTo>
                    <a:pt x="30174" y="668071"/>
                  </a:lnTo>
                  <a:lnTo>
                    <a:pt x="19477" y="712893"/>
                  </a:lnTo>
                  <a:lnTo>
                    <a:pt x="11049" y="758551"/>
                  </a:lnTo>
                  <a:lnTo>
                    <a:pt x="4952" y="804983"/>
                  </a:lnTo>
                  <a:lnTo>
                    <a:pt x="1248" y="852127"/>
                  </a:lnTo>
                  <a:lnTo>
                    <a:pt x="0" y="899922"/>
                  </a:lnTo>
                  <a:lnTo>
                    <a:pt x="1248" y="947716"/>
                  </a:lnTo>
                  <a:lnTo>
                    <a:pt x="4952" y="994860"/>
                  </a:lnTo>
                  <a:lnTo>
                    <a:pt x="11049" y="1041292"/>
                  </a:lnTo>
                  <a:lnTo>
                    <a:pt x="19477" y="1086950"/>
                  </a:lnTo>
                  <a:lnTo>
                    <a:pt x="30174" y="1131772"/>
                  </a:lnTo>
                  <a:lnTo>
                    <a:pt x="43077" y="1175696"/>
                  </a:lnTo>
                  <a:lnTo>
                    <a:pt x="58125" y="1218658"/>
                  </a:lnTo>
                  <a:lnTo>
                    <a:pt x="75254" y="1260598"/>
                  </a:lnTo>
                  <a:lnTo>
                    <a:pt x="94403" y="1301453"/>
                  </a:lnTo>
                  <a:lnTo>
                    <a:pt x="115510" y="1341160"/>
                  </a:lnTo>
                  <a:lnTo>
                    <a:pt x="138511" y="1379658"/>
                  </a:lnTo>
                  <a:lnTo>
                    <a:pt x="163346" y="1416884"/>
                  </a:lnTo>
                  <a:lnTo>
                    <a:pt x="189952" y="1452776"/>
                  </a:lnTo>
                  <a:lnTo>
                    <a:pt x="218266" y="1487272"/>
                  </a:lnTo>
                  <a:lnTo>
                    <a:pt x="248226" y="1520310"/>
                  </a:lnTo>
                  <a:lnTo>
                    <a:pt x="279770" y="1551828"/>
                  </a:lnTo>
                  <a:lnTo>
                    <a:pt x="312836" y="1581763"/>
                  </a:lnTo>
                  <a:lnTo>
                    <a:pt x="347361" y="1610053"/>
                  </a:lnTo>
                  <a:lnTo>
                    <a:pt x="383284" y="1636635"/>
                  </a:lnTo>
                  <a:lnTo>
                    <a:pt x="420542" y="1661449"/>
                  </a:lnTo>
                  <a:lnTo>
                    <a:pt x="459072" y="1684431"/>
                  </a:lnTo>
                  <a:lnTo>
                    <a:pt x="498813" y="1705520"/>
                  </a:lnTo>
                  <a:lnTo>
                    <a:pt x="539702" y="1724653"/>
                  </a:lnTo>
                  <a:lnTo>
                    <a:pt x="581678" y="1741768"/>
                  </a:lnTo>
                  <a:lnTo>
                    <a:pt x="624677" y="1756803"/>
                  </a:lnTo>
                  <a:lnTo>
                    <a:pt x="668637" y="1769695"/>
                  </a:lnTo>
                  <a:lnTo>
                    <a:pt x="713497" y="1780382"/>
                  </a:lnTo>
                  <a:lnTo>
                    <a:pt x="759194" y="1788803"/>
                  </a:lnTo>
                  <a:lnTo>
                    <a:pt x="805665" y="1794895"/>
                  </a:lnTo>
                  <a:lnTo>
                    <a:pt x="852849" y="1798596"/>
                  </a:lnTo>
                  <a:lnTo>
                    <a:pt x="900684" y="1799844"/>
                  </a:lnTo>
                  <a:lnTo>
                    <a:pt x="948518" y="1798596"/>
                  </a:lnTo>
                  <a:lnTo>
                    <a:pt x="995702" y="1794895"/>
                  </a:lnTo>
                  <a:lnTo>
                    <a:pt x="1042173" y="1788803"/>
                  </a:lnTo>
                  <a:lnTo>
                    <a:pt x="1087870" y="1780382"/>
                  </a:lnTo>
                  <a:lnTo>
                    <a:pt x="1132730" y="1769695"/>
                  </a:lnTo>
                  <a:lnTo>
                    <a:pt x="1176690" y="1756803"/>
                  </a:lnTo>
                  <a:lnTo>
                    <a:pt x="1219689" y="1741768"/>
                  </a:lnTo>
                  <a:lnTo>
                    <a:pt x="1261665" y="1724653"/>
                  </a:lnTo>
                  <a:lnTo>
                    <a:pt x="1302554" y="1705520"/>
                  </a:lnTo>
                  <a:lnTo>
                    <a:pt x="1342295" y="1684431"/>
                  </a:lnTo>
                  <a:lnTo>
                    <a:pt x="1380825" y="1661449"/>
                  </a:lnTo>
                  <a:lnTo>
                    <a:pt x="1418083" y="1636635"/>
                  </a:lnTo>
                  <a:lnTo>
                    <a:pt x="1454006" y="1610053"/>
                  </a:lnTo>
                  <a:lnTo>
                    <a:pt x="1488531" y="1581763"/>
                  </a:lnTo>
                  <a:lnTo>
                    <a:pt x="1521597" y="1551828"/>
                  </a:lnTo>
                  <a:lnTo>
                    <a:pt x="1553141" y="1520310"/>
                  </a:lnTo>
                  <a:lnTo>
                    <a:pt x="1583101" y="1487272"/>
                  </a:lnTo>
                  <a:lnTo>
                    <a:pt x="1611415" y="1452776"/>
                  </a:lnTo>
                  <a:lnTo>
                    <a:pt x="1638021" y="1416884"/>
                  </a:lnTo>
                  <a:lnTo>
                    <a:pt x="1662856" y="1379658"/>
                  </a:lnTo>
                  <a:lnTo>
                    <a:pt x="1685857" y="1341160"/>
                  </a:lnTo>
                  <a:lnTo>
                    <a:pt x="1706964" y="1301453"/>
                  </a:lnTo>
                  <a:lnTo>
                    <a:pt x="1726113" y="1260598"/>
                  </a:lnTo>
                  <a:lnTo>
                    <a:pt x="1743242" y="1218658"/>
                  </a:lnTo>
                  <a:lnTo>
                    <a:pt x="1758290" y="1175696"/>
                  </a:lnTo>
                  <a:lnTo>
                    <a:pt x="1771193" y="1131772"/>
                  </a:lnTo>
                  <a:lnTo>
                    <a:pt x="1781890" y="1086950"/>
                  </a:lnTo>
                  <a:lnTo>
                    <a:pt x="1790318" y="1041292"/>
                  </a:lnTo>
                  <a:lnTo>
                    <a:pt x="1796415" y="994860"/>
                  </a:lnTo>
                  <a:lnTo>
                    <a:pt x="1800119" y="947716"/>
                  </a:lnTo>
                  <a:lnTo>
                    <a:pt x="1801368" y="899922"/>
                  </a:lnTo>
                  <a:lnTo>
                    <a:pt x="1800119" y="852127"/>
                  </a:lnTo>
                  <a:lnTo>
                    <a:pt x="1796415" y="804983"/>
                  </a:lnTo>
                  <a:lnTo>
                    <a:pt x="1790318" y="758551"/>
                  </a:lnTo>
                  <a:lnTo>
                    <a:pt x="1781890" y="712893"/>
                  </a:lnTo>
                  <a:lnTo>
                    <a:pt x="1771193" y="668071"/>
                  </a:lnTo>
                  <a:lnTo>
                    <a:pt x="1758290" y="624147"/>
                  </a:lnTo>
                  <a:lnTo>
                    <a:pt x="1743242" y="581185"/>
                  </a:lnTo>
                  <a:lnTo>
                    <a:pt x="1726113" y="539245"/>
                  </a:lnTo>
                  <a:lnTo>
                    <a:pt x="1706964" y="498390"/>
                  </a:lnTo>
                  <a:lnTo>
                    <a:pt x="1685857" y="458683"/>
                  </a:lnTo>
                  <a:lnTo>
                    <a:pt x="1662856" y="420185"/>
                  </a:lnTo>
                  <a:lnTo>
                    <a:pt x="1638021" y="382959"/>
                  </a:lnTo>
                  <a:lnTo>
                    <a:pt x="1611415" y="347067"/>
                  </a:lnTo>
                  <a:lnTo>
                    <a:pt x="1583101" y="312571"/>
                  </a:lnTo>
                  <a:lnTo>
                    <a:pt x="1553141" y="279533"/>
                  </a:lnTo>
                  <a:lnTo>
                    <a:pt x="1521597" y="248015"/>
                  </a:lnTo>
                  <a:lnTo>
                    <a:pt x="1488531" y="218080"/>
                  </a:lnTo>
                  <a:lnTo>
                    <a:pt x="1454006" y="189790"/>
                  </a:lnTo>
                  <a:lnTo>
                    <a:pt x="1418083" y="163208"/>
                  </a:lnTo>
                  <a:lnTo>
                    <a:pt x="1380825" y="138394"/>
                  </a:lnTo>
                  <a:lnTo>
                    <a:pt x="1342295" y="115412"/>
                  </a:lnTo>
                  <a:lnTo>
                    <a:pt x="1302554" y="94323"/>
                  </a:lnTo>
                  <a:lnTo>
                    <a:pt x="1261665" y="75190"/>
                  </a:lnTo>
                  <a:lnTo>
                    <a:pt x="1219689" y="58075"/>
                  </a:lnTo>
                  <a:lnTo>
                    <a:pt x="1176690" y="43040"/>
                  </a:lnTo>
                  <a:lnTo>
                    <a:pt x="1132730" y="30148"/>
                  </a:lnTo>
                  <a:lnTo>
                    <a:pt x="1087870" y="19461"/>
                  </a:lnTo>
                  <a:lnTo>
                    <a:pt x="1042173" y="11040"/>
                  </a:lnTo>
                  <a:lnTo>
                    <a:pt x="995702" y="4948"/>
                  </a:lnTo>
                  <a:lnTo>
                    <a:pt x="948518" y="1247"/>
                  </a:lnTo>
                  <a:lnTo>
                    <a:pt x="90068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582977" y="1492700"/>
            <a:ext cx="634365" cy="586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0">
              <a:lnSpc>
                <a:spcPct val="114999"/>
              </a:lnSpc>
              <a:spcBef>
                <a:spcPts val="100"/>
              </a:spcBef>
            </a:pPr>
            <a:r>
              <a:rPr sz="1600" b="1" spc="-20" dirty="0">
                <a:latin typeface="Calisto MT"/>
                <a:cs typeface="Calisto MT"/>
              </a:rPr>
              <a:t>Core </a:t>
            </a:r>
            <a:r>
              <a:rPr sz="1600" b="1" spc="-10" dirty="0">
                <a:latin typeface="Calisto MT"/>
                <a:cs typeface="Calisto MT"/>
              </a:rPr>
              <a:t>Profile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86438" y="2254213"/>
            <a:ext cx="1177925" cy="586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6220" marR="5080" indent="-224154">
              <a:lnSpc>
                <a:spcPct val="114999"/>
              </a:lnSpc>
              <a:spcBef>
                <a:spcPts val="100"/>
              </a:spcBef>
            </a:pPr>
            <a:r>
              <a:rPr sz="1600" spc="-20" dirty="0">
                <a:latin typeface="Calisto MT"/>
                <a:cs typeface="Calisto MT"/>
              </a:rPr>
              <a:t>Foundational </a:t>
            </a:r>
            <a:r>
              <a:rPr sz="1600" spc="-10" dirty="0">
                <a:latin typeface="Calisto MT"/>
                <a:cs typeface="Calisto MT"/>
              </a:rPr>
              <a:t>Services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16196" y="3116579"/>
            <a:ext cx="3023870" cy="3025140"/>
            <a:chOff x="4616196" y="3116579"/>
            <a:chExt cx="3023870" cy="302514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54296" y="3154679"/>
              <a:ext cx="2985515" cy="29870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6196" y="3116579"/>
              <a:ext cx="2985515" cy="298703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669536" y="3208019"/>
              <a:ext cx="2879090" cy="2880360"/>
            </a:xfrm>
            <a:custGeom>
              <a:avLst/>
              <a:gdLst/>
              <a:ahLst/>
              <a:cxnLst/>
              <a:rect l="l" t="t" r="r" b="b"/>
              <a:pathLst>
                <a:path w="2879090" h="2880360">
                  <a:moveTo>
                    <a:pt x="1439418" y="0"/>
                  </a:moveTo>
                  <a:lnTo>
                    <a:pt x="1390938" y="801"/>
                  </a:lnTo>
                  <a:lnTo>
                    <a:pt x="1342860" y="3189"/>
                  </a:lnTo>
                  <a:lnTo>
                    <a:pt x="1295209" y="7137"/>
                  </a:lnTo>
                  <a:lnTo>
                    <a:pt x="1248009" y="12621"/>
                  </a:lnTo>
                  <a:lnTo>
                    <a:pt x="1201286" y="19616"/>
                  </a:lnTo>
                  <a:lnTo>
                    <a:pt x="1155065" y="28096"/>
                  </a:lnTo>
                  <a:lnTo>
                    <a:pt x="1109372" y="38036"/>
                  </a:lnTo>
                  <a:lnTo>
                    <a:pt x="1064231" y="49411"/>
                  </a:lnTo>
                  <a:lnTo>
                    <a:pt x="1019668" y="62195"/>
                  </a:lnTo>
                  <a:lnTo>
                    <a:pt x="975707" y="76364"/>
                  </a:lnTo>
                  <a:lnTo>
                    <a:pt x="932375" y="91893"/>
                  </a:lnTo>
                  <a:lnTo>
                    <a:pt x="889696" y="108755"/>
                  </a:lnTo>
                  <a:lnTo>
                    <a:pt x="847695" y="126926"/>
                  </a:lnTo>
                  <a:lnTo>
                    <a:pt x="806398" y="146381"/>
                  </a:lnTo>
                  <a:lnTo>
                    <a:pt x="765829" y="167095"/>
                  </a:lnTo>
                  <a:lnTo>
                    <a:pt x="726015" y="189041"/>
                  </a:lnTo>
                  <a:lnTo>
                    <a:pt x="686980" y="212196"/>
                  </a:lnTo>
                  <a:lnTo>
                    <a:pt x="648749" y="236534"/>
                  </a:lnTo>
                  <a:lnTo>
                    <a:pt x="611348" y="262029"/>
                  </a:lnTo>
                  <a:lnTo>
                    <a:pt x="574801" y="288656"/>
                  </a:lnTo>
                  <a:lnTo>
                    <a:pt x="539135" y="316391"/>
                  </a:lnTo>
                  <a:lnTo>
                    <a:pt x="504373" y="345208"/>
                  </a:lnTo>
                  <a:lnTo>
                    <a:pt x="470542" y="375082"/>
                  </a:lnTo>
                  <a:lnTo>
                    <a:pt x="437667" y="405987"/>
                  </a:lnTo>
                  <a:lnTo>
                    <a:pt x="405772" y="437899"/>
                  </a:lnTo>
                  <a:lnTo>
                    <a:pt x="374883" y="470792"/>
                  </a:lnTo>
                  <a:lnTo>
                    <a:pt x="345025" y="504641"/>
                  </a:lnTo>
                  <a:lnTo>
                    <a:pt x="316223" y="539421"/>
                  </a:lnTo>
                  <a:lnTo>
                    <a:pt x="288503" y="575106"/>
                  </a:lnTo>
                  <a:lnTo>
                    <a:pt x="261890" y="611672"/>
                  </a:lnTo>
                  <a:lnTo>
                    <a:pt x="236408" y="649093"/>
                  </a:lnTo>
                  <a:lnTo>
                    <a:pt x="212083" y="687344"/>
                  </a:lnTo>
                  <a:lnTo>
                    <a:pt x="188941" y="726400"/>
                  </a:lnTo>
                  <a:lnTo>
                    <a:pt x="167006" y="766235"/>
                  </a:lnTo>
                  <a:lnTo>
                    <a:pt x="146304" y="806825"/>
                  </a:lnTo>
                  <a:lnTo>
                    <a:pt x="126859" y="848144"/>
                  </a:lnTo>
                  <a:lnTo>
                    <a:pt x="108697" y="890167"/>
                  </a:lnTo>
                  <a:lnTo>
                    <a:pt x="91844" y="932869"/>
                  </a:lnTo>
                  <a:lnTo>
                    <a:pt x="76324" y="976224"/>
                  </a:lnTo>
                  <a:lnTo>
                    <a:pt x="62162" y="1020208"/>
                  </a:lnTo>
                  <a:lnTo>
                    <a:pt x="49384" y="1064795"/>
                  </a:lnTo>
                  <a:lnTo>
                    <a:pt x="38016" y="1109960"/>
                  </a:lnTo>
                  <a:lnTo>
                    <a:pt x="28081" y="1155677"/>
                  </a:lnTo>
                  <a:lnTo>
                    <a:pt x="19605" y="1201923"/>
                  </a:lnTo>
                  <a:lnTo>
                    <a:pt x="12614" y="1248670"/>
                  </a:lnTo>
                  <a:lnTo>
                    <a:pt x="7133" y="1295895"/>
                  </a:lnTo>
                  <a:lnTo>
                    <a:pt x="3187" y="1343571"/>
                  </a:lnTo>
                  <a:lnTo>
                    <a:pt x="801" y="1391675"/>
                  </a:lnTo>
                  <a:lnTo>
                    <a:pt x="0" y="1440179"/>
                  </a:lnTo>
                  <a:lnTo>
                    <a:pt x="801" y="1488684"/>
                  </a:lnTo>
                  <a:lnTo>
                    <a:pt x="3187" y="1536788"/>
                  </a:lnTo>
                  <a:lnTo>
                    <a:pt x="7133" y="1584464"/>
                  </a:lnTo>
                  <a:lnTo>
                    <a:pt x="12614" y="1631689"/>
                  </a:lnTo>
                  <a:lnTo>
                    <a:pt x="19605" y="1678436"/>
                  </a:lnTo>
                  <a:lnTo>
                    <a:pt x="28081" y="1724682"/>
                  </a:lnTo>
                  <a:lnTo>
                    <a:pt x="38016" y="1770399"/>
                  </a:lnTo>
                  <a:lnTo>
                    <a:pt x="49384" y="1815564"/>
                  </a:lnTo>
                  <a:lnTo>
                    <a:pt x="62162" y="1860151"/>
                  </a:lnTo>
                  <a:lnTo>
                    <a:pt x="76324" y="1904135"/>
                  </a:lnTo>
                  <a:lnTo>
                    <a:pt x="91844" y="1947490"/>
                  </a:lnTo>
                  <a:lnTo>
                    <a:pt x="108697" y="1990192"/>
                  </a:lnTo>
                  <a:lnTo>
                    <a:pt x="126859" y="2032215"/>
                  </a:lnTo>
                  <a:lnTo>
                    <a:pt x="146303" y="2073534"/>
                  </a:lnTo>
                  <a:lnTo>
                    <a:pt x="167006" y="2114124"/>
                  </a:lnTo>
                  <a:lnTo>
                    <a:pt x="188941" y="2153959"/>
                  </a:lnTo>
                  <a:lnTo>
                    <a:pt x="212083" y="2193015"/>
                  </a:lnTo>
                  <a:lnTo>
                    <a:pt x="236408" y="2231266"/>
                  </a:lnTo>
                  <a:lnTo>
                    <a:pt x="261890" y="2268687"/>
                  </a:lnTo>
                  <a:lnTo>
                    <a:pt x="288503" y="2305253"/>
                  </a:lnTo>
                  <a:lnTo>
                    <a:pt x="316223" y="2340938"/>
                  </a:lnTo>
                  <a:lnTo>
                    <a:pt x="345025" y="2375718"/>
                  </a:lnTo>
                  <a:lnTo>
                    <a:pt x="374883" y="2409567"/>
                  </a:lnTo>
                  <a:lnTo>
                    <a:pt x="405772" y="2442460"/>
                  </a:lnTo>
                  <a:lnTo>
                    <a:pt x="437667" y="2474372"/>
                  </a:lnTo>
                  <a:lnTo>
                    <a:pt x="470542" y="2505277"/>
                  </a:lnTo>
                  <a:lnTo>
                    <a:pt x="504373" y="2535151"/>
                  </a:lnTo>
                  <a:lnTo>
                    <a:pt x="539135" y="2563968"/>
                  </a:lnTo>
                  <a:lnTo>
                    <a:pt x="574801" y="2591703"/>
                  </a:lnTo>
                  <a:lnTo>
                    <a:pt x="611348" y="2618330"/>
                  </a:lnTo>
                  <a:lnTo>
                    <a:pt x="648749" y="2643825"/>
                  </a:lnTo>
                  <a:lnTo>
                    <a:pt x="686980" y="2668163"/>
                  </a:lnTo>
                  <a:lnTo>
                    <a:pt x="726015" y="2691318"/>
                  </a:lnTo>
                  <a:lnTo>
                    <a:pt x="765829" y="2713264"/>
                  </a:lnTo>
                  <a:lnTo>
                    <a:pt x="806398" y="2733978"/>
                  </a:lnTo>
                  <a:lnTo>
                    <a:pt x="847695" y="2753433"/>
                  </a:lnTo>
                  <a:lnTo>
                    <a:pt x="889696" y="2771604"/>
                  </a:lnTo>
                  <a:lnTo>
                    <a:pt x="932375" y="2788466"/>
                  </a:lnTo>
                  <a:lnTo>
                    <a:pt x="975707" y="2803995"/>
                  </a:lnTo>
                  <a:lnTo>
                    <a:pt x="1019668" y="2818164"/>
                  </a:lnTo>
                  <a:lnTo>
                    <a:pt x="1064231" y="2830948"/>
                  </a:lnTo>
                  <a:lnTo>
                    <a:pt x="1109372" y="2842323"/>
                  </a:lnTo>
                  <a:lnTo>
                    <a:pt x="1155065" y="2852263"/>
                  </a:lnTo>
                  <a:lnTo>
                    <a:pt x="1201286" y="2860743"/>
                  </a:lnTo>
                  <a:lnTo>
                    <a:pt x="1248009" y="2867738"/>
                  </a:lnTo>
                  <a:lnTo>
                    <a:pt x="1295209" y="2873222"/>
                  </a:lnTo>
                  <a:lnTo>
                    <a:pt x="1342860" y="2877170"/>
                  </a:lnTo>
                  <a:lnTo>
                    <a:pt x="1390938" y="2879558"/>
                  </a:lnTo>
                  <a:lnTo>
                    <a:pt x="1439418" y="2880360"/>
                  </a:lnTo>
                  <a:lnTo>
                    <a:pt x="1487897" y="2879558"/>
                  </a:lnTo>
                  <a:lnTo>
                    <a:pt x="1535975" y="2877170"/>
                  </a:lnTo>
                  <a:lnTo>
                    <a:pt x="1583626" y="2873222"/>
                  </a:lnTo>
                  <a:lnTo>
                    <a:pt x="1630826" y="2867738"/>
                  </a:lnTo>
                  <a:lnTo>
                    <a:pt x="1677549" y="2860743"/>
                  </a:lnTo>
                  <a:lnTo>
                    <a:pt x="1723770" y="2852263"/>
                  </a:lnTo>
                  <a:lnTo>
                    <a:pt x="1769463" y="2842323"/>
                  </a:lnTo>
                  <a:lnTo>
                    <a:pt x="1814604" y="2830948"/>
                  </a:lnTo>
                  <a:lnTo>
                    <a:pt x="1859167" y="2818164"/>
                  </a:lnTo>
                  <a:lnTo>
                    <a:pt x="1903128" y="2803995"/>
                  </a:lnTo>
                  <a:lnTo>
                    <a:pt x="1946460" y="2788466"/>
                  </a:lnTo>
                  <a:lnTo>
                    <a:pt x="1989139" y="2771604"/>
                  </a:lnTo>
                  <a:lnTo>
                    <a:pt x="2031140" y="2753433"/>
                  </a:lnTo>
                  <a:lnTo>
                    <a:pt x="2072437" y="2733978"/>
                  </a:lnTo>
                  <a:lnTo>
                    <a:pt x="2113006" y="2713264"/>
                  </a:lnTo>
                  <a:lnTo>
                    <a:pt x="2152820" y="2691318"/>
                  </a:lnTo>
                  <a:lnTo>
                    <a:pt x="2191855" y="2668163"/>
                  </a:lnTo>
                  <a:lnTo>
                    <a:pt x="2230086" y="2643825"/>
                  </a:lnTo>
                  <a:lnTo>
                    <a:pt x="2267487" y="2618330"/>
                  </a:lnTo>
                  <a:lnTo>
                    <a:pt x="2304034" y="2591703"/>
                  </a:lnTo>
                  <a:lnTo>
                    <a:pt x="2339700" y="2563968"/>
                  </a:lnTo>
                  <a:lnTo>
                    <a:pt x="2374462" y="2535151"/>
                  </a:lnTo>
                  <a:lnTo>
                    <a:pt x="2408293" y="2505277"/>
                  </a:lnTo>
                  <a:lnTo>
                    <a:pt x="2441168" y="2474372"/>
                  </a:lnTo>
                  <a:lnTo>
                    <a:pt x="2473063" y="2442460"/>
                  </a:lnTo>
                  <a:lnTo>
                    <a:pt x="2503952" y="2409567"/>
                  </a:lnTo>
                  <a:lnTo>
                    <a:pt x="2533810" y="2375718"/>
                  </a:lnTo>
                  <a:lnTo>
                    <a:pt x="2562612" y="2340938"/>
                  </a:lnTo>
                  <a:lnTo>
                    <a:pt x="2590332" y="2305253"/>
                  </a:lnTo>
                  <a:lnTo>
                    <a:pt x="2616945" y="2268687"/>
                  </a:lnTo>
                  <a:lnTo>
                    <a:pt x="2642427" y="2231266"/>
                  </a:lnTo>
                  <a:lnTo>
                    <a:pt x="2666752" y="2193015"/>
                  </a:lnTo>
                  <a:lnTo>
                    <a:pt x="2689894" y="2153959"/>
                  </a:lnTo>
                  <a:lnTo>
                    <a:pt x="2711829" y="2114124"/>
                  </a:lnTo>
                  <a:lnTo>
                    <a:pt x="2732532" y="2073534"/>
                  </a:lnTo>
                  <a:lnTo>
                    <a:pt x="2751976" y="2032215"/>
                  </a:lnTo>
                  <a:lnTo>
                    <a:pt x="2770138" y="1990192"/>
                  </a:lnTo>
                  <a:lnTo>
                    <a:pt x="2786991" y="1947490"/>
                  </a:lnTo>
                  <a:lnTo>
                    <a:pt x="2802511" y="1904135"/>
                  </a:lnTo>
                  <a:lnTo>
                    <a:pt x="2816673" y="1860151"/>
                  </a:lnTo>
                  <a:lnTo>
                    <a:pt x="2829451" y="1815564"/>
                  </a:lnTo>
                  <a:lnTo>
                    <a:pt x="2840819" y="1770399"/>
                  </a:lnTo>
                  <a:lnTo>
                    <a:pt x="2850754" y="1724682"/>
                  </a:lnTo>
                  <a:lnTo>
                    <a:pt x="2859230" y="1678436"/>
                  </a:lnTo>
                  <a:lnTo>
                    <a:pt x="2866221" y="1631689"/>
                  </a:lnTo>
                  <a:lnTo>
                    <a:pt x="2871702" y="1584464"/>
                  </a:lnTo>
                  <a:lnTo>
                    <a:pt x="2875648" y="1536788"/>
                  </a:lnTo>
                  <a:lnTo>
                    <a:pt x="2878034" y="1488684"/>
                  </a:lnTo>
                  <a:lnTo>
                    <a:pt x="2878836" y="1440179"/>
                  </a:lnTo>
                  <a:lnTo>
                    <a:pt x="2878034" y="1391675"/>
                  </a:lnTo>
                  <a:lnTo>
                    <a:pt x="2875648" y="1343571"/>
                  </a:lnTo>
                  <a:lnTo>
                    <a:pt x="2871702" y="1295895"/>
                  </a:lnTo>
                  <a:lnTo>
                    <a:pt x="2866221" y="1248670"/>
                  </a:lnTo>
                  <a:lnTo>
                    <a:pt x="2859230" y="1201923"/>
                  </a:lnTo>
                  <a:lnTo>
                    <a:pt x="2850754" y="1155677"/>
                  </a:lnTo>
                  <a:lnTo>
                    <a:pt x="2840819" y="1109960"/>
                  </a:lnTo>
                  <a:lnTo>
                    <a:pt x="2829451" y="1064795"/>
                  </a:lnTo>
                  <a:lnTo>
                    <a:pt x="2816673" y="1020208"/>
                  </a:lnTo>
                  <a:lnTo>
                    <a:pt x="2802511" y="976224"/>
                  </a:lnTo>
                  <a:lnTo>
                    <a:pt x="2786991" y="932869"/>
                  </a:lnTo>
                  <a:lnTo>
                    <a:pt x="2770138" y="890167"/>
                  </a:lnTo>
                  <a:lnTo>
                    <a:pt x="2751976" y="848144"/>
                  </a:lnTo>
                  <a:lnTo>
                    <a:pt x="2732532" y="806825"/>
                  </a:lnTo>
                  <a:lnTo>
                    <a:pt x="2711829" y="766235"/>
                  </a:lnTo>
                  <a:lnTo>
                    <a:pt x="2689894" y="726400"/>
                  </a:lnTo>
                  <a:lnTo>
                    <a:pt x="2666752" y="687344"/>
                  </a:lnTo>
                  <a:lnTo>
                    <a:pt x="2642427" y="649093"/>
                  </a:lnTo>
                  <a:lnTo>
                    <a:pt x="2616945" y="611672"/>
                  </a:lnTo>
                  <a:lnTo>
                    <a:pt x="2590332" y="575106"/>
                  </a:lnTo>
                  <a:lnTo>
                    <a:pt x="2562612" y="539421"/>
                  </a:lnTo>
                  <a:lnTo>
                    <a:pt x="2533810" y="504641"/>
                  </a:lnTo>
                  <a:lnTo>
                    <a:pt x="2503952" y="470792"/>
                  </a:lnTo>
                  <a:lnTo>
                    <a:pt x="2473063" y="437899"/>
                  </a:lnTo>
                  <a:lnTo>
                    <a:pt x="2441168" y="405987"/>
                  </a:lnTo>
                  <a:lnTo>
                    <a:pt x="2408293" y="375082"/>
                  </a:lnTo>
                  <a:lnTo>
                    <a:pt x="2374462" y="345208"/>
                  </a:lnTo>
                  <a:lnTo>
                    <a:pt x="2339700" y="316391"/>
                  </a:lnTo>
                  <a:lnTo>
                    <a:pt x="2304034" y="288656"/>
                  </a:lnTo>
                  <a:lnTo>
                    <a:pt x="2267487" y="262029"/>
                  </a:lnTo>
                  <a:lnTo>
                    <a:pt x="2230086" y="236534"/>
                  </a:lnTo>
                  <a:lnTo>
                    <a:pt x="2191855" y="212196"/>
                  </a:lnTo>
                  <a:lnTo>
                    <a:pt x="2152820" y="189041"/>
                  </a:lnTo>
                  <a:lnTo>
                    <a:pt x="2113006" y="167095"/>
                  </a:lnTo>
                  <a:lnTo>
                    <a:pt x="2072437" y="146381"/>
                  </a:lnTo>
                  <a:lnTo>
                    <a:pt x="2031140" y="126926"/>
                  </a:lnTo>
                  <a:lnTo>
                    <a:pt x="1989139" y="108755"/>
                  </a:lnTo>
                  <a:lnTo>
                    <a:pt x="1946460" y="91893"/>
                  </a:lnTo>
                  <a:lnTo>
                    <a:pt x="1903128" y="76364"/>
                  </a:lnTo>
                  <a:lnTo>
                    <a:pt x="1859167" y="62195"/>
                  </a:lnTo>
                  <a:lnTo>
                    <a:pt x="1814604" y="49411"/>
                  </a:lnTo>
                  <a:lnTo>
                    <a:pt x="1769463" y="38036"/>
                  </a:lnTo>
                  <a:lnTo>
                    <a:pt x="1723770" y="28096"/>
                  </a:lnTo>
                  <a:lnTo>
                    <a:pt x="1677549" y="19616"/>
                  </a:lnTo>
                  <a:lnTo>
                    <a:pt x="1630826" y="12621"/>
                  </a:lnTo>
                  <a:lnTo>
                    <a:pt x="1583626" y="7137"/>
                  </a:lnTo>
                  <a:lnTo>
                    <a:pt x="1535975" y="3189"/>
                  </a:lnTo>
                  <a:lnTo>
                    <a:pt x="1487897" y="801"/>
                  </a:lnTo>
                  <a:lnTo>
                    <a:pt x="1439418" y="0"/>
                  </a:lnTo>
                  <a:close/>
                </a:path>
              </a:pathLst>
            </a:custGeom>
            <a:solidFill>
              <a:srgbClr val="FFC56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090364" y="3469638"/>
            <a:ext cx="2011680" cy="2189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sto MT"/>
                <a:cs typeface="Calisto MT"/>
              </a:rPr>
              <a:t>Platform</a:t>
            </a:r>
            <a:r>
              <a:rPr sz="1600" b="1" spc="-5" dirty="0">
                <a:latin typeface="Calisto MT"/>
                <a:cs typeface="Calisto MT"/>
              </a:rPr>
              <a:t> </a:t>
            </a:r>
            <a:r>
              <a:rPr sz="1600" b="1" spc="-10" dirty="0">
                <a:latin typeface="Calisto MT"/>
                <a:cs typeface="Calisto MT"/>
              </a:rPr>
              <a:t>Profile</a:t>
            </a:r>
            <a:endParaRPr sz="16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  <a:spcBef>
                <a:spcPts val="1845"/>
              </a:spcBef>
            </a:pPr>
            <a:r>
              <a:rPr sz="1400" spc="-20" dirty="0">
                <a:latin typeface="Calisto MT"/>
                <a:cs typeface="Calisto MT"/>
              </a:rPr>
              <a:t>Core</a:t>
            </a:r>
            <a:endParaRPr sz="14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1400" spc="-50" dirty="0">
                <a:latin typeface="Calisto MT"/>
                <a:cs typeface="Calisto MT"/>
              </a:rPr>
              <a:t>+</a:t>
            </a:r>
            <a:endParaRPr sz="14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  <a:spcBef>
                <a:spcPts val="250"/>
              </a:spcBef>
            </a:pPr>
            <a:r>
              <a:rPr sz="1400" spc="-25" dirty="0">
                <a:latin typeface="Calisto MT"/>
                <a:cs typeface="Calisto MT"/>
              </a:rPr>
              <a:t>Web</a:t>
            </a:r>
            <a:endParaRPr sz="14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  <a:spcBef>
                <a:spcPts val="254"/>
              </a:spcBef>
            </a:pPr>
            <a:r>
              <a:rPr sz="1400" spc="-50" dirty="0">
                <a:latin typeface="Calisto MT"/>
                <a:cs typeface="Calisto MT"/>
              </a:rPr>
              <a:t>+</a:t>
            </a:r>
            <a:endParaRPr sz="1400">
              <a:latin typeface="Calisto MT"/>
              <a:cs typeface="Calisto MT"/>
            </a:endParaRPr>
          </a:p>
          <a:p>
            <a:pPr marL="12700" marR="5080" algn="ctr">
              <a:lnSpc>
                <a:spcPct val="114999"/>
              </a:lnSpc>
            </a:pPr>
            <a:r>
              <a:rPr sz="1400" dirty="0">
                <a:latin typeface="Calisto MT"/>
                <a:cs typeface="Calisto MT"/>
              </a:rPr>
              <a:t>Additional</a:t>
            </a:r>
            <a:r>
              <a:rPr sz="1400" spc="-10" dirty="0">
                <a:latin typeface="Calisto MT"/>
                <a:cs typeface="Calisto MT"/>
              </a:rPr>
              <a:t> </a:t>
            </a:r>
            <a:r>
              <a:rPr sz="1400" dirty="0">
                <a:latin typeface="Calisto MT"/>
                <a:cs typeface="Calisto MT"/>
              </a:rPr>
              <a:t>Services</a:t>
            </a:r>
            <a:r>
              <a:rPr sz="1400" spc="-45" dirty="0">
                <a:latin typeface="Calisto MT"/>
                <a:cs typeface="Calisto MT"/>
              </a:rPr>
              <a:t> </a:t>
            </a:r>
            <a:r>
              <a:rPr sz="1400" spc="-10" dirty="0">
                <a:latin typeface="Calisto MT"/>
                <a:cs typeface="Calisto MT"/>
              </a:rPr>
              <a:t>(Mail, </a:t>
            </a:r>
            <a:r>
              <a:rPr sz="1400" dirty="0">
                <a:latin typeface="Calisto MT"/>
                <a:cs typeface="Calisto MT"/>
              </a:rPr>
              <a:t>Batch</a:t>
            </a:r>
            <a:r>
              <a:rPr sz="1400" spc="-25" dirty="0">
                <a:latin typeface="Calisto MT"/>
                <a:cs typeface="Calisto MT"/>
              </a:rPr>
              <a:t> </a:t>
            </a:r>
            <a:r>
              <a:rPr sz="1400" spc="-10" dirty="0">
                <a:latin typeface="Calisto MT"/>
                <a:cs typeface="Calisto MT"/>
              </a:rPr>
              <a:t>Processing, </a:t>
            </a:r>
            <a:r>
              <a:rPr sz="1400" dirty="0">
                <a:latin typeface="Calisto MT"/>
                <a:cs typeface="Calisto MT"/>
              </a:rPr>
              <a:t>Messaging,</a:t>
            </a:r>
            <a:r>
              <a:rPr sz="1400" spc="-35" dirty="0">
                <a:latin typeface="Calisto MT"/>
                <a:cs typeface="Calisto MT"/>
              </a:rPr>
              <a:t> </a:t>
            </a:r>
            <a:r>
              <a:rPr sz="1400" dirty="0">
                <a:latin typeface="Calisto MT"/>
                <a:cs typeface="Calisto MT"/>
              </a:rPr>
              <a:t>and</a:t>
            </a:r>
            <a:r>
              <a:rPr sz="1400" spc="-30" dirty="0">
                <a:latin typeface="Calisto MT"/>
                <a:cs typeface="Calisto MT"/>
              </a:rPr>
              <a:t> </a:t>
            </a:r>
            <a:r>
              <a:rPr sz="1400" dirty="0">
                <a:latin typeface="Calisto MT"/>
                <a:cs typeface="Calisto MT"/>
              </a:rPr>
              <a:t>so</a:t>
            </a:r>
            <a:r>
              <a:rPr sz="1400" spc="-10" dirty="0">
                <a:latin typeface="Calisto MT"/>
                <a:cs typeface="Calisto MT"/>
              </a:rPr>
              <a:t> </a:t>
            </a:r>
            <a:r>
              <a:rPr sz="1400" spc="-25" dirty="0">
                <a:latin typeface="Calisto MT"/>
                <a:cs typeface="Calisto MT"/>
              </a:rPr>
              <a:t>on)</a:t>
            </a:r>
            <a:endParaRPr sz="1400">
              <a:latin typeface="Calisto MT"/>
              <a:cs typeface="Calisto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807707" y="1117091"/>
            <a:ext cx="2268220" cy="2268220"/>
            <a:chOff x="6807707" y="1117091"/>
            <a:chExt cx="2268220" cy="226822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07707" y="1117091"/>
              <a:ext cx="2267711" cy="226771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899148" y="1170431"/>
              <a:ext cx="2161540" cy="2161540"/>
            </a:xfrm>
            <a:custGeom>
              <a:avLst/>
              <a:gdLst/>
              <a:ahLst/>
              <a:cxnLst/>
              <a:rect l="l" t="t" r="r" b="b"/>
              <a:pathLst>
                <a:path w="2161540" h="2161540">
                  <a:moveTo>
                    <a:pt x="1080516" y="0"/>
                  </a:moveTo>
                  <a:lnTo>
                    <a:pt x="1032385" y="1052"/>
                  </a:lnTo>
                  <a:lnTo>
                    <a:pt x="984795" y="4181"/>
                  </a:lnTo>
                  <a:lnTo>
                    <a:pt x="937787" y="9343"/>
                  </a:lnTo>
                  <a:lnTo>
                    <a:pt x="891406" y="16493"/>
                  </a:lnTo>
                  <a:lnTo>
                    <a:pt x="845695" y="25587"/>
                  </a:lnTo>
                  <a:lnTo>
                    <a:pt x="800700" y="36583"/>
                  </a:lnTo>
                  <a:lnTo>
                    <a:pt x="756463" y="49435"/>
                  </a:lnTo>
                  <a:lnTo>
                    <a:pt x="713029" y="64099"/>
                  </a:lnTo>
                  <a:lnTo>
                    <a:pt x="670441" y="80533"/>
                  </a:lnTo>
                  <a:lnTo>
                    <a:pt x="628744" y="98691"/>
                  </a:lnTo>
                  <a:lnTo>
                    <a:pt x="587982" y="118531"/>
                  </a:lnTo>
                  <a:lnTo>
                    <a:pt x="548197" y="140008"/>
                  </a:lnTo>
                  <a:lnTo>
                    <a:pt x="509435" y="163077"/>
                  </a:lnTo>
                  <a:lnTo>
                    <a:pt x="471739" y="187697"/>
                  </a:lnTo>
                  <a:lnTo>
                    <a:pt x="435153" y="213821"/>
                  </a:lnTo>
                  <a:lnTo>
                    <a:pt x="399721" y="241407"/>
                  </a:lnTo>
                  <a:lnTo>
                    <a:pt x="365486" y="270410"/>
                  </a:lnTo>
                  <a:lnTo>
                    <a:pt x="332494" y="300787"/>
                  </a:lnTo>
                  <a:lnTo>
                    <a:pt x="300787" y="332494"/>
                  </a:lnTo>
                  <a:lnTo>
                    <a:pt x="270410" y="365486"/>
                  </a:lnTo>
                  <a:lnTo>
                    <a:pt x="241407" y="399721"/>
                  </a:lnTo>
                  <a:lnTo>
                    <a:pt x="213821" y="435153"/>
                  </a:lnTo>
                  <a:lnTo>
                    <a:pt x="187697" y="471739"/>
                  </a:lnTo>
                  <a:lnTo>
                    <a:pt x="163077" y="509435"/>
                  </a:lnTo>
                  <a:lnTo>
                    <a:pt x="140008" y="548197"/>
                  </a:lnTo>
                  <a:lnTo>
                    <a:pt x="118531" y="587982"/>
                  </a:lnTo>
                  <a:lnTo>
                    <a:pt x="98691" y="628744"/>
                  </a:lnTo>
                  <a:lnTo>
                    <a:pt x="80533" y="670441"/>
                  </a:lnTo>
                  <a:lnTo>
                    <a:pt x="64099" y="713029"/>
                  </a:lnTo>
                  <a:lnTo>
                    <a:pt x="49435" y="756463"/>
                  </a:lnTo>
                  <a:lnTo>
                    <a:pt x="36583" y="800700"/>
                  </a:lnTo>
                  <a:lnTo>
                    <a:pt x="25587" y="845695"/>
                  </a:lnTo>
                  <a:lnTo>
                    <a:pt x="16493" y="891406"/>
                  </a:lnTo>
                  <a:lnTo>
                    <a:pt x="9343" y="937787"/>
                  </a:lnTo>
                  <a:lnTo>
                    <a:pt x="4181" y="984795"/>
                  </a:lnTo>
                  <a:lnTo>
                    <a:pt x="1052" y="1032385"/>
                  </a:lnTo>
                  <a:lnTo>
                    <a:pt x="0" y="1080515"/>
                  </a:lnTo>
                  <a:lnTo>
                    <a:pt x="1052" y="1128646"/>
                  </a:lnTo>
                  <a:lnTo>
                    <a:pt x="4181" y="1176236"/>
                  </a:lnTo>
                  <a:lnTo>
                    <a:pt x="9343" y="1223244"/>
                  </a:lnTo>
                  <a:lnTo>
                    <a:pt x="16493" y="1269625"/>
                  </a:lnTo>
                  <a:lnTo>
                    <a:pt x="25587" y="1315336"/>
                  </a:lnTo>
                  <a:lnTo>
                    <a:pt x="36583" y="1360331"/>
                  </a:lnTo>
                  <a:lnTo>
                    <a:pt x="49435" y="1404568"/>
                  </a:lnTo>
                  <a:lnTo>
                    <a:pt x="64099" y="1448002"/>
                  </a:lnTo>
                  <a:lnTo>
                    <a:pt x="80533" y="1490590"/>
                  </a:lnTo>
                  <a:lnTo>
                    <a:pt x="98691" y="1532287"/>
                  </a:lnTo>
                  <a:lnTo>
                    <a:pt x="118531" y="1573049"/>
                  </a:lnTo>
                  <a:lnTo>
                    <a:pt x="140008" y="1612834"/>
                  </a:lnTo>
                  <a:lnTo>
                    <a:pt x="163077" y="1651596"/>
                  </a:lnTo>
                  <a:lnTo>
                    <a:pt x="187697" y="1689292"/>
                  </a:lnTo>
                  <a:lnTo>
                    <a:pt x="213821" y="1725878"/>
                  </a:lnTo>
                  <a:lnTo>
                    <a:pt x="241407" y="1761310"/>
                  </a:lnTo>
                  <a:lnTo>
                    <a:pt x="270410" y="1795545"/>
                  </a:lnTo>
                  <a:lnTo>
                    <a:pt x="300787" y="1828537"/>
                  </a:lnTo>
                  <a:lnTo>
                    <a:pt x="332494" y="1860244"/>
                  </a:lnTo>
                  <a:lnTo>
                    <a:pt x="365486" y="1890621"/>
                  </a:lnTo>
                  <a:lnTo>
                    <a:pt x="399721" y="1919624"/>
                  </a:lnTo>
                  <a:lnTo>
                    <a:pt x="435153" y="1947210"/>
                  </a:lnTo>
                  <a:lnTo>
                    <a:pt x="471739" y="1973334"/>
                  </a:lnTo>
                  <a:lnTo>
                    <a:pt x="509435" y="1997954"/>
                  </a:lnTo>
                  <a:lnTo>
                    <a:pt x="548197" y="2021023"/>
                  </a:lnTo>
                  <a:lnTo>
                    <a:pt x="587982" y="2042500"/>
                  </a:lnTo>
                  <a:lnTo>
                    <a:pt x="628744" y="2062340"/>
                  </a:lnTo>
                  <a:lnTo>
                    <a:pt x="670441" y="2080498"/>
                  </a:lnTo>
                  <a:lnTo>
                    <a:pt x="713029" y="2096932"/>
                  </a:lnTo>
                  <a:lnTo>
                    <a:pt x="756463" y="2111596"/>
                  </a:lnTo>
                  <a:lnTo>
                    <a:pt x="800700" y="2124448"/>
                  </a:lnTo>
                  <a:lnTo>
                    <a:pt x="845695" y="2135444"/>
                  </a:lnTo>
                  <a:lnTo>
                    <a:pt x="891406" y="2144538"/>
                  </a:lnTo>
                  <a:lnTo>
                    <a:pt x="937787" y="2151688"/>
                  </a:lnTo>
                  <a:lnTo>
                    <a:pt x="984795" y="2156850"/>
                  </a:lnTo>
                  <a:lnTo>
                    <a:pt x="1032385" y="2159979"/>
                  </a:lnTo>
                  <a:lnTo>
                    <a:pt x="1080516" y="2161031"/>
                  </a:lnTo>
                  <a:lnTo>
                    <a:pt x="1128646" y="2159979"/>
                  </a:lnTo>
                  <a:lnTo>
                    <a:pt x="1176236" y="2156850"/>
                  </a:lnTo>
                  <a:lnTo>
                    <a:pt x="1223244" y="2151688"/>
                  </a:lnTo>
                  <a:lnTo>
                    <a:pt x="1269625" y="2144538"/>
                  </a:lnTo>
                  <a:lnTo>
                    <a:pt x="1315336" y="2135444"/>
                  </a:lnTo>
                  <a:lnTo>
                    <a:pt x="1360331" y="2124448"/>
                  </a:lnTo>
                  <a:lnTo>
                    <a:pt x="1404568" y="2111596"/>
                  </a:lnTo>
                  <a:lnTo>
                    <a:pt x="1448002" y="2096932"/>
                  </a:lnTo>
                  <a:lnTo>
                    <a:pt x="1490590" y="2080498"/>
                  </a:lnTo>
                  <a:lnTo>
                    <a:pt x="1532287" y="2062340"/>
                  </a:lnTo>
                  <a:lnTo>
                    <a:pt x="1573049" y="2042500"/>
                  </a:lnTo>
                  <a:lnTo>
                    <a:pt x="1612834" y="2021023"/>
                  </a:lnTo>
                  <a:lnTo>
                    <a:pt x="1651596" y="1997954"/>
                  </a:lnTo>
                  <a:lnTo>
                    <a:pt x="1689292" y="1973334"/>
                  </a:lnTo>
                  <a:lnTo>
                    <a:pt x="1725878" y="1947210"/>
                  </a:lnTo>
                  <a:lnTo>
                    <a:pt x="1761310" y="1919624"/>
                  </a:lnTo>
                  <a:lnTo>
                    <a:pt x="1795545" y="1890621"/>
                  </a:lnTo>
                  <a:lnTo>
                    <a:pt x="1828537" y="1860244"/>
                  </a:lnTo>
                  <a:lnTo>
                    <a:pt x="1860244" y="1828537"/>
                  </a:lnTo>
                  <a:lnTo>
                    <a:pt x="1890621" y="1795545"/>
                  </a:lnTo>
                  <a:lnTo>
                    <a:pt x="1919624" y="1761310"/>
                  </a:lnTo>
                  <a:lnTo>
                    <a:pt x="1947210" y="1725878"/>
                  </a:lnTo>
                  <a:lnTo>
                    <a:pt x="1973334" y="1689292"/>
                  </a:lnTo>
                  <a:lnTo>
                    <a:pt x="1997954" y="1651596"/>
                  </a:lnTo>
                  <a:lnTo>
                    <a:pt x="2021023" y="1612834"/>
                  </a:lnTo>
                  <a:lnTo>
                    <a:pt x="2042500" y="1573049"/>
                  </a:lnTo>
                  <a:lnTo>
                    <a:pt x="2062340" y="1532287"/>
                  </a:lnTo>
                  <a:lnTo>
                    <a:pt x="2080498" y="1490590"/>
                  </a:lnTo>
                  <a:lnTo>
                    <a:pt x="2096932" y="1448002"/>
                  </a:lnTo>
                  <a:lnTo>
                    <a:pt x="2111596" y="1404568"/>
                  </a:lnTo>
                  <a:lnTo>
                    <a:pt x="2124448" y="1360331"/>
                  </a:lnTo>
                  <a:lnTo>
                    <a:pt x="2135444" y="1315336"/>
                  </a:lnTo>
                  <a:lnTo>
                    <a:pt x="2144538" y="1269625"/>
                  </a:lnTo>
                  <a:lnTo>
                    <a:pt x="2151688" y="1223244"/>
                  </a:lnTo>
                  <a:lnTo>
                    <a:pt x="2156850" y="1176236"/>
                  </a:lnTo>
                  <a:lnTo>
                    <a:pt x="2159979" y="1128646"/>
                  </a:lnTo>
                  <a:lnTo>
                    <a:pt x="2161032" y="1080515"/>
                  </a:lnTo>
                  <a:lnTo>
                    <a:pt x="2159979" y="1032385"/>
                  </a:lnTo>
                  <a:lnTo>
                    <a:pt x="2156850" y="984795"/>
                  </a:lnTo>
                  <a:lnTo>
                    <a:pt x="2151688" y="937787"/>
                  </a:lnTo>
                  <a:lnTo>
                    <a:pt x="2144538" y="891406"/>
                  </a:lnTo>
                  <a:lnTo>
                    <a:pt x="2135444" y="845695"/>
                  </a:lnTo>
                  <a:lnTo>
                    <a:pt x="2124448" y="800700"/>
                  </a:lnTo>
                  <a:lnTo>
                    <a:pt x="2111596" y="756463"/>
                  </a:lnTo>
                  <a:lnTo>
                    <a:pt x="2096932" y="713029"/>
                  </a:lnTo>
                  <a:lnTo>
                    <a:pt x="2080498" y="670441"/>
                  </a:lnTo>
                  <a:lnTo>
                    <a:pt x="2062340" y="628744"/>
                  </a:lnTo>
                  <a:lnTo>
                    <a:pt x="2042500" y="587982"/>
                  </a:lnTo>
                  <a:lnTo>
                    <a:pt x="2021023" y="548197"/>
                  </a:lnTo>
                  <a:lnTo>
                    <a:pt x="1997954" y="509435"/>
                  </a:lnTo>
                  <a:lnTo>
                    <a:pt x="1973334" y="471739"/>
                  </a:lnTo>
                  <a:lnTo>
                    <a:pt x="1947210" y="435153"/>
                  </a:lnTo>
                  <a:lnTo>
                    <a:pt x="1919624" y="399721"/>
                  </a:lnTo>
                  <a:lnTo>
                    <a:pt x="1890621" y="365486"/>
                  </a:lnTo>
                  <a:lnTo>
                    <a:pt x="1860244" y="332494"/>
                  </a:lnTo>
                  <a:lnTo>
                    <a:pt x="1828537" y="300787"/>
                  </a:lnTo>
                  <a:lnTo>
                    <a:pt x="1795545" y="270410"/>
                  </a:lnTo>
                  <a:lnTo>
                    <a:pt x="1761310" y="241407"/>
                  </a:lnTo>
                  <a:lnTo>
                    <a:pt x="1725878" y="213821"/>
                  </a:lnTo>
                  <a:lnTo>
                    <a:pt x="1689292" y="187697"/>
                  </a:lnTo>
                  <a:lnTo>
                    <a:pt x="1651596" y="163077"/>
                  </a:lnTo>
                  <a:lnTo>
                    <a:pt x="1612834" y="140008"/>
                  </a:lnTo>
                  <a:lnTo>
                    <a:pt x="1573049" y="118531"/>
                  </a:lnTo>
                  <a:lnTo>
                    <a:pt x="1532287" y="98691"/>
                  </a:lnTo>
                  <a:lnTo>
                    <a:pt x="1490590" y="80533"/>
                  </a:lnTo>
                  <a:lnTo>
                    <a:pt x="1448002" y="64099"/>
                  </a:lnTo>
                  <a:lnTo>
                    <a:pt x="1404568" y="49435"/>
                  </a:lnTo>
                  <a:lnTo>
                    <a:pt x="1360331" y="36583"/>
                  </a:lnTo>
                  <a:lnTo>
                    <a:pt x="1315336" y="25587"/>
                  </a:lnTo>
                  <a:lnTo>
                    <a:pt x="1269625" y="16493"/>
                  </a:lnTo>
                  <a:lnTo>
                    <a:pt x="1223244" y="9343"/>
                  </a:lnTo>
                  <a:lnTo>
                    <a:pt x="1176236" y="4181"/>
                  </a:lnTo>
                  <a:lnTo>
                    <a:pt x="1128646" y="1052"/>
                  </a:lnTo>
                  <a:lnTo>
                    <a:pt x="108051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221410" y="1461729"/>
            <a:ext cx="1559560" cy="152273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1600" b="1" spc="-30" dirty="0">
                <a:latin typeface="Calisto MT"/>
                <a:cs typeface="Calisto MT"/>
              </a:rPr>
              <a:t>Web</a:t>
            </a:r>
            <a:r>
              <a:rPr sz="1600" b="1" spc="-60" dirty="0">
                <a:latin typeface="Calisto MT"/>
                <a:cs typeface="Calisto MT"/>
              </a:rPr>
              <a:t> </a:t>
            </a:r>
            <a:r>
              <a:rPr sz="1600" b="1" spc="-10" dirty="0">
                <a:latin typeface="Calisto MT"/>
                <a:cs typeface="Calisto MT"/>
              </a:rPr>
              <a:t>Profile</a:t>
            </a:r>
            <a:endParaRPr sz="16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  <a:spcBef>
                <a:spcPts val="665"/>
              </a:spcBef>
            </a:pPr>
            <a:r>
              <a:rPr sz="1600" spc="-20" dirty="0">
                <a:latin typeface="Calisto MT"/>
                <a:cs typeface="Calisto MT"/>
              </a:rPr>
              <a:t>Core</a:t>
            </a:r>
            <a:endParaRPr sz="1600">
              <a:latin typeface="Calisto MT"/>
              <a:cs typeface="Calisto MT"/>
            </a:endParaRPr>
          </a:p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1600" spc="-50" dirty="0">
                <a:latin typeface="Calisto MT"/>
                <a:cs typeface="Calisto MT"/>
              </a:rPr>
              <a:t>+</a:t>
            </a:r>
            <a:endParaRPr sz="1600">
              <a:latin typeface="Calisto MT"/>
              <a:cs typeface="Calisto MT"/>
            </a:endParaRPr>
          </a:p>
          <a:p>
            <a:pPr marL="12700" marR="5080" algn="ctr">
              <a:lnSpc>
                <a:spcPct val="114999"/>
              </a:lnSpc>
            </a:pPr>
            <a:r>
              <a:rPr sz="1600" spc="-30" dirty="0">
                <a:latin typeface="Calisto MT"/>
                <a:cs typeface="Calisto MT"/>
              </a:rPr>
              <a:t>Web</a:t>
            </a:r>
            <a:r>
              <a:rPr sz="1600" spc="-6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Applications Services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Jakarta</a:t>
            </a:r>
            <a:r>
              <a:rPr spc="-55" dirty="0"/>
              <a:t> </a:t>
            </a:r>
            <a:r>
              <a:rPr dirty="0"/>
              <a:t>EE</a:t>
            </a:r>
            <a:r>
              <a:rPr spc="-90" dirty="0"/>
              <a:t> </a:t>
            </a:r>
            <a:r>
              <a:rPr dirty="0"/>
              <a:t>Application</a:t>
            </a:r>
            <a:r>
              <a:rPr spc="-40" dirty="0"/>
              <a:t> </a:t>
            </a:r>
            <a:r>
              <a:rPr dirty="0"/>
              <a:t>Model</a:t>
            </a:r>
            <a:r>
              <a:rPr spc="-6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Its</a:t>
            </a:r>
            <a:r>
              <a:rPr spc="-65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14877" y="1549146"/>
            <a:ext cx="2403475" cy="1442085"/>
          </a:xfrm>
          <a:prstGeom prst="rect">
            <a:avLst/>
          </a:prstGeom>
          <a:solidFill>
            <a:srgbClr val="4189B3"/>
          </a:solidFill>
        </p:spPr>
        <p:txBody>
          <a:bodyPr vert="horz" wrap="square" lIns="0" tIns="2089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45"/>
              </a:spcBef>
            </a:pPr>
            <a:endParaRPr sz="1800">
              <a:latin typeface="Times New Roman"/>
              <a:cs typeface="Times New Roman"/>
            </a:endParaRPr>
          </a:p>
          <a:p>
            <a:pPr marL="561340" marR="556895" indent="95885">
              <a:lnSpc>
                <a:spcPts val="1920"/>
              </a:lnSpc>
            </a:pPr>
            <a:r>
              <a:rPr sz="1800" b="1" spc="-10" dirty="0">
                <a:latin typeface="Calisto MT"/>
                <a:cs typeface="Calisto MT"/>
              </a:rPr>
              <a:t>Assembled Components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59017" y="1549146"/>
            <a:ext cx="2403475" cy="1442085"/>
          </a:xfrm>
          <a:prstGeom prst="rect">
            <a:avLst/>
          </a:prstGeom>
          <a:solidFill>
            <a:srgbClr val="3DC0A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Times New Roman"/>
              <a:cs typeface="Times New Roman"/>
            </a:endParaRPr>
          </a:p>
          <a:p>
            <a:pPr marL="377825">
              <a:lnSpc>
                <a:spcPct val="100000"/>
              </a:lnSpc>
            </a:pPr>
            <a:r>
              <a:rPr sz="1800" b="1" dirty="0">
                <a:latin typeface="Calisto MT"/>
                <a:cs typeface="Calisto MT"/>
              </a:rPr>
              <a:t>Defined</a:t>
            </a:r>
            <a:r>
              <a:rPr sz="1800" b="1" spc="-65" dirty="0">
                <a:latin typeface="Calisto MT"/>
                <a:cs typeface="Calisto MT"/>
              </a:rPr>
              <a:t> </a:t>
            </a:r>
            <a:r>
              <a:rPr sz="1800" b="1" spc="-10" dirty="0">
                <a:latin typeface="Calisto MT"/>
                <a:cs typeface="Calisto MT"/>
              </a:rPr>
              <a:t>Profiles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14877" y="3231642"/>
            <a:ext cx="2403475" cy="1442085"/>
          </a:xfrm>
          <a:prstGeom prst="rect">
            <a:avLst/>
          </a:prstGeom>
          <a:solidFill>
            <a:srgbClr val="41C75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800">
              <a:latin typeface="Times New Roman"/>
              <a:cs typeface="Times New Roman"/>
            </a:endParaRPr>
          </a:p>
          <a:p>
            <a:pPr marL="635" algn="ctr">
              <a:lnSpc>
                <a:spcPct val="100000"/>
              </a:lnSpc>
            </a:pPr>
            <a:r>
              <a:rPr sz="1800" b="1" spc="-25" dirty="0">
                <a:latin typeface="Calisto MT"/>
                <a:cs typeface="Calisto MT"/>
              </a:rPr>
              <a:t>CDI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59017" y="3231642"/>
            <a:ext cx="2403475" cy="1442085"/>
          </a:xfrm>
          <a:prstGeom prst="rect">
            <a:avLst/>
          </a:prstGeom>
          <a:solidFill>
            <a:srgbClr val="7ED044"/>
          </a:solidFill>
        </p:spPr>
        <p:txBody>
          <a:bodyPr vert="horz" wrap="square" lIns="0" tIns="2089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45"/>
              </a:spcBef>
            </a:pPr>
            <a:endParaRPr sz="1800">
              <a:latin typeface="Times New Roman"/>
              <a:cs typeface="Times New Roman"/>
            </a:endParaRPr>
          </a:p>
          <a:p>
            <a:pPr marL="502920" marR="398145" indent="-99060">
              <a:lnSpc>
                <a:spcPts val="1920"/>
              </a:lnSpc>
            </a:pPr>
            <a:r>
              <a:rPr sz="1800" b="1" dirty="0">
                <a:latin typeface="Calisto MT"/>
                <a:cs typeface="Calisto MT"/>
              </a:rPr>
              <a:t>Alignment</a:t>
            </a:r>
            <a:r>
              <a:rPr sz="1800" b="1" spc="-65" dirty="0">
                <a:latin typeface="Calisto MT"/>
                <a:cs typeface="Calisto MT"/>
              </a:rPr>
              <a:t> </a:t>
            </a:r>
            <a:r>
              <a:rPr sz="1800" b="1" spc="-20" dirty="0">
                <a:latin typeface="Calisto MT"/>
                <a:cs typeface="Calisto MT"/>
              </a:rPr>
              <a:t>with </a:t>
            </a:r>
            <a:r>
              <a:rPr sz="1800" b="1" spc="-10" dirty="0">
                <a:latin typeface="Calisto MT"/>
                <a:cs typeface="Calisto MT"/>
              </a:rPr>
              <a:t>Microservices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36185" y="4914138"/>
            <a:ext cx="2403475" cy="1442085"/>
          </a:xfrm>
          <a:prstGeom prst="rect">
            <a:avLst/>
          </a:prstGeom>
          <a:solidFill>
            <a:srgbClr val="D6D346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800">
              <a:latin typeface="Times New Roman"/>
              <a:cs typeface="Times New Roman"/>
            </a:endParaRPr>
          </a:p>
          <a:p>
            <a:pPr marL="575945">
              <a:lnSpc>
                <a:spcPct val="100000"/>
              </a:lnSpc>
            </a:pPr>
            <a:r>
              <a:rPr sz="1800" b="1" spc="-10" dirty="0">
                <a:latin typeface="Calisto MT"/>
                <a:cs typeface="Calisto MT"/>
              </a:rPr>
              <a:t>Annotations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0633" y="948978"/>
            <a:ext cx="4489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Features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Model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Microservices</a:t>
            </a:r>
            <a:r>
              <a:rPr spc="-6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20" dirty="0"/>
              <a:t>Cloud-</a:t>
            </a:r>
            <a:r>
              <a:rPr spc="-10" dirty="0"/>
              <a:t>Native</a:t>
            </a:r>
            <a:r>
              <a:rPr spc="-40" dirty="0"/>
              <a:t> </a:t>
            </a:r>
            <a:r>
              <a:rPr dirty="0"/>
              <a:t>Principles</a:t>
            </a:r>
            <a:r>
              <a:rPr spc="-55" dirty="0"/>
              <a:t> </a:t>
            </a:r>
            <a:r>
              <a:rPr dirty="0"/>
              <a:t>of</a:t>
            </a:r>
            <a:r>
              <a:rPr spc="190" dirty="0"/>
              <a:t> </a:t>
            </a:r>
            <a:r>
              <a:rPr dirty="0"/>
              <a:t>Jakarta</a:t>
            </a:r>
            <a:r>
              <a:rPr spc="-55" dirty="0"/>
              <a:t> </a:t>
            </a:r>
            <a:r>
              <a:rPr spc="-25" dirty="0"/>
              <a:t>EE</a:t>
            </a:r>
          </a:p>
        </p:txBody>
      </p:sp>
      <p:sp>
        <p:nvSpPr>
          <p:cNvPr id="5" name="object 5"/>
          <p:cNvSpPr/>
          <p:nvPr/>
        </p:nvSpPr>
        <p:spPr>
          <a:xfrm>
            <a:off x="918210" y="2708911"/>
            <a:ext cx="1838325" cy="1442085"/>
          </a:xfrm>
          <a:custGeom>
            <a:avLst/>
            <a:gdLst/>
            <a:ahLst/>
            <a:cxnLst/>
            <a:rect l="l" t="t" r="r" b="b"/>
            <a:pathLst>
              <a:path w="1838325" h="1442085">
                <a:moveTo>
                  <a:pt x="1693773" y="0"/>
                </a:moveTo>
                <a:lnTo>
                  <a:pt x="144170" y="0"/>
                </a:lnTo>
                <a:lnTo>
                  <a:pt x="98599" y="7349"/>
                </a:lnTo>
                <a:lnTo>
                  <a:pt x="59022" y="27814"/>
                </a:lnTo>
                <a:lnTo>
                  <a:pt x="27814" y="59022"/>
                </a:lnTo>
                <a:lnTo>
                  <a:pt x="7349" y="98599"/>
                </a:lnTo>
                <a:lnTo>
                  <a:pt x="0" y="144170"/>
                </a:lnTo>
                <a:lnTo>
                  <a:pt x="0" y="1297533"/>
                </a:lnTo>
                <a:lnTo>
                  <a:pt x="7349" y="1343099"/>
                </a:lnTo>
                <a:lnTo>
                  <a:pt x="27814" y="1382675"/>
                </a:lnTo>
                <a:lnTo>
                  <a:pt x="59022" y="1413885"/>
                </a:lnTo>
                <a:lnTo>
                  <a:pt x="98599" y="1434353"/>
                </a:lnTo>
                <a:lnTo>
                  <a:pt x="144170" y="1441703"/>
                </a:lnTo>
                <a:lnTo>
                  <a:pt x="1693773" y="1441703"/>
                </a:lnTo>
                <a:lnTo>
                  <a:pt x="1739339" y="1434354"/>
                </a:lnTo>
                <a:lnTo>
                  <a:pt x="1778915" y="1413889"/>
                </a:lnTo>
                <a:lnTo>
                  <a:pt x="1810125" y="1382681"/>
                </a:lnTo>
                <a:lnTo>
                  <a:pt x="1830593" y="1343104"/>
                </a:lnTo>
                <a:lnTo>
                  <a:pt x="1837944" y="1297533"/>
                </a:lnTo>
                <a:lnTo>
                  <a:pt x="1837944" y="144170"/>
                </a:lnTo>
                <a:lnTo>
                  <a:pt x="1830594" y="98599"/>
                </a:lnTo>
                <a:lnTo>
                  <a:pt x="1810129" y="59022"/>
                </a:lnTo>
                <a:lnTo>
                  <a:pt x="1778921" y="27814"/>
                </a:lnTo>
                <a:lnTo>
                  <a:pt x="1739344" y="7349"/>
                </a:lnTo>
                <a:lnTo>
                  <a:pt x="1693773" y="0"/>
                </a:lnTo>
                <a:close/>
              </a:path>
            </a:pathLst>
          </a:custGeom>
          <a:solidFill>
            <a:srgbClr val="BD76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44189" y="2708908"/>
            <a:ext cx="1862455" cy="1442085"/>
          </a:xfrm>
          <a:custGeom>
            <a:avLst/>
            <a:gdLst/>
            <a:ahLst/>
            <a:cxnLst/>
            <a:rect l="l" t="t" r="r" b="b"/>
            <a:pathLst>
              <a:path w="1862454" h="1442085">
                <a:moveTo>
                  <a:pt x="1718157" y="0"/>
                </a:moveTo>
                <a:lnTo>
                  <a:pt x="144170" y="0"/>
                </a:lnTo>
                <a:lnTo>
                  <a:pt x="98599" y="7349"/>
                </a:lnTo>
                <a:lnTo>
                  <a:pt x="59022" y="27814"/>
                </a:lnTo>
                <a:lnTo>
                  <a:pt x="27814" y="59022"/>
                </a:lnTo>
                <a:lnTo>
                  <a:pt x="7349" y="98599"/>
                </a:lnTo>
                <a:lnTo>
                  <a:pt x="0" y="144170"/>
                </a:lnTo>
                <a:lnTo>
                  <a:pt x="0" y="1297533"/>
                </a:lnTo>
                <a:lnTo>
                  <a:pt x="7349" y="1343104"/>
                </a:lnTo>
                <a:lnTo>
                  <a:pt x="27814" y="1382681"/>
                </a:lnTo>
                <a:lnTo>
                  <a:pt x="59022" y="1413889"/>
                </a:lnTo>
                <a:lnTo>
                  <a:pt x="98599" y="1434354"/>
                </a:lnTo>
                <a:lnTo>
                  <a:pt x="144170" y="1441703"/>
                </a:lnTo>
                <a:lnTo>
                  <a:pt x="1718157" y="1441703"/>
                </a:lnTo>
                <a:lnTo>
                  <a:pt x="1763728" y="1434354"/>
                </a:lnTo>
                <a:lnTo>
                  <a:pt x="1803305" y="1413889"/>
                </a:lnTo>
                <a:lnTo>
                  <a:pt x="1834513" y="1382681"/>
                </a:lnTo>
                <a:lnTo>
                  <a:pt x="1854978" y="1343104"/>
                </a:lnTo>
                <a:lnTo>
                  <a:pt x="1862327" y="1297533"/>
                </a:lnTo>
                <a:lnTo>
                  <a:pt x="1862327" y="144170"/>
                </a:lnTo>
                <a:lnTo>
                  <a:pt x="1854978" y="98599"/>
                </a:lnTo>
                <a:lnTo>
                  <a:pt x="1834513" y="59022"/>
                </a:lnTo>
                <a:lnTo>
                  <a:pt x="1803305" y="27814"/>
                </a:lnTo>
                <a:lnTo>
                  <a:pt x="1763728" y="7349"/>
                </a:lnTo>
                <a:lnTo>
                  <a:pt x="1718157" y="0"/>
                </a:lnTo>
                <a:close/>
              </a:path>
            </a:pathLst>
          </a:custGeom>
          <a:solidFill>
            <a:srgbClr val="306885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194553" y="2708910"/>
            <a:ext cx="1888489" cy="1442085"/>
          </a:xfrm>
          <a:custGeom>
            <a:avLst/>
            <a:gdLst/>
            <a:ahLst/>
            <a:cxnLst/>
            <a:rect l="l" t="t" r="r" b="b"/>
            <a:pathLst>
              <a:path w="1888490" h="1442085">
                <a:moveTo>
                  <a:pt x="1744065" y="0"/>
                </a:moveTo>
                <a:lnTo>
                  <a:pt x="144170" y="0"/>
                </a:lnTo>
                <a:lnTo>
                  <a:pt x="98599" y="7349"/>
                </a:lnTo>
                <a:lnTo>
                  <a:pt x="59022" y="27814"/>
                </a:lnTo>
                <a:lnTo>
                  <a:pt x="27814" y="59022"/>
                </a:lnTo>
                <a:lnTo>
                  <a:pt x="7349" y="98599"/>
                </a:lnTo>
                <a:lnTo>
                  <a:pt x="0" y="144170"/>
                </a:lnTo>
                <a:lnTo>
                  <a:pt x="0" y="1297533"/>
                </a:lnTo>
                <a:lnTo>
                  <a:pt x="7349" y="1343104"/>
                </a:lnTo>
                <a:lnTo>
                  <a:pt x="27814" y="1382681"/>
                </a:lnTo>
                <a:lnTo>
                  <a:pt x="59022" y="1413889"/>
                </a:lnTo>
                <a:lnTo>
                  <a:pt x="98599" y="1434354"/>
                </a:lnTo>
                <a:lnTo>
                  <a:pt x="144170" y="1441703"/>
                </a:lnTo>
                <a:lnTo>
                  <a:pt x="1744065" y="1441703"/>
                </a:lnTo>
                <a:lnTo>
                  <a:pt x="1789636" y="1434354"/>
                </a:lnTo>
                <a:lnTo>
                  <a:pt x="1829213" y="1413889"/>
                </a:lnTo>
                <a:lnTo>
                  <a:pt x="1860421" y="1382681"/>
                </a:lnTo>
                <a:lnTo>
                  <a:pt x="1880886" y="1343104"/>
                </a:lnTo>
                <a:lnTo>
                  <a:pt x="1888236" y="1297533"/>
                </a:lnTo>
                <a:lnTo>
                  <a:pt x="1888236" y="144170"/>
                </a:lnTo>
                <a:lnTo>
                  <a:pt x="1880886" y="98599"/>
                </a:lnTo>
                <a:lnTo>
                  <a:pt x="1860421" y="59022"/>
                </a:lnTo>
                <a:lnTo>
                  <a:pt x="1829213" y="27814"/>
                </a:lnTo>
                <a:lnTo>
                  <a:pt x="1789636" y="7349"/>
                </a:lnTo>
                <a:lnTo>
                  <a:pt x="1744065" y="0"/>
                </a:lnTo>
                <a:close/>
              </a:path>
            </a:pathLst>
          </a:custGeom>
          <a:solidFill>
            <a:srgbClr val="AB3B18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70826" y="2708910"/>
            <a:ext cx="1815464" cy="1442085"/>
          </a:xfrm>
          <a:custGeom>
            <a:avLst/>
            <a:gdLst/>
            <a:ahLst/>
            <a:cxnLst/>
            <a:rect l="l" t="t" r="r" b="b"/>
            <a:pathLst>
              <a:path w="1815465" h="1442085">
                <a:moveTo>
                  <a:pt x="1670913" y="0"/>
                </a:moveTo>
                <a:lnTo>
                  <a:pt x="144170" y="0"/>
                </a:lnTo>
                <a:lnTo>
                  <a:pt x="98599" y="7349"/>
                </a:lnTo>
                <a:lnTo>
                  <a:pt x="59022" y="27814"/>
                </a:lnTo>
                <a:lnTo>
                  <a:pt x="27814" y="59022"/>
                </a:lnTo>
                <a:lnTo>
                  <a:pt x="7349" y="98599"/>
                </a:lnTo>
                <a:lnTo>
                  <a:pt x="0" y="144170"/>
                </a:lnTo>
                <a:lnTo>
                  <a:pt x="0" y="1297533"/>
                </a:lnTo>
                <a:lnTo>
                  <a:pt x="7349" y="1343104"/>
                </a:lnTo>
                <a:lnTo>
                  <a:pt x="27814" y="1382681"/>
                </a:lnTo>
                <a:lnTo>
                  <a:pt x="59022" y="1413889"/>
                </a:lnTo>
                <a:lnTo>
                  <a:pt x="98599" y="1434354"/>
                </a:lnTo>
                <a:lnTo>
                  <a:pt x="144170" y="1441703"/>
                </a:lnTo>
                <a:lnTo>
                  <a:pt x="1670913" y="1441703"/>
                </a:lnTo>
                <a:lnTo>
                  <a:pt x="1716484" y="1434354"/>
                </a:lnTo>
                <a:lnTo>
                  <a:pt x="1756061" y="1413889"/>
                </a:lnTo>
                <a:lnTo>
                  <a:pt x="1787269" y="1382681"/>
                </a:lnTo>
                <a:lnTo>
                  <a:pt x="1807734" y="1343104"/>
                </a:lnTo>
                <a:lnTo>
                  <a:pt x="1815083" y="1297533"/>
                </a:lnTo>
                <a:lnTo>
                  <a:pt x="1815083" y="144170"/>
                </a:lnTo>
                <a:lnTo>
                  <a:pt x="1807734" y="98599"/>
                </a:lnTo>
                <a:lnTo>
                  <a:pt x="1787269" y="59022"/>
                </a:lnTo>
                <a:lnTo>
                  <a:pt x="1756061" y="27814"/>
                </a:lnTo>
                <a:lnTo>
                  <a:pt x="1716484" y="7349"/>
                </a:lnTo>
                <a:lnTo>
                  <a:pt x="1670913" y="0"/>
                </a:lnTo>
                <a:close/>
              </a:path>
            </a:pathLst>
          </a:custGeom>
          <a:solidFill>
            <a:srgbClr val="00AF5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78518" y="2708910"/>
            <a:ext cx="1801495" cy="1442085"/>
          </a:xfrm>
          <a:custGeom>
            <a:avLst/>
            <a:gdLst/>
            <a:ahLst/>
            <a:cxnLst/>
            <a:rect l="l" t="t" r="r" b="b"/>
            <a:pathLst>
              <a:path w="1801495" h="1442085">
                <a:moveTo>
                  <a:pt x="1657197" y="0"/>
                </a:moveTo>
                <a:lnTo>
                  <a:pt x="144170" y="0"/>
                </a:lnTo>
                <a:lnTo>
                  <a:pt x="98599" y="7349"/>
                </a:lnTo>
                <a:lnTo>
                  <a:pt x="59022" y="27814"/>
                </a:lnTo>
                <a:lnTo>
                  <a:pt x="27814" y="59022"/>
                </a:lnTo>
                <a:lnTo>
                  <a:pt x="7349" y="98599"/>
                </a:lnTo>
                <a:lnTo>
                  <a:pt x="0" y="144170"/>
                </a:lnTo>
                <a:lnTo>
                  <a:pt x="0" y="1297533"/>
                </a:lnTo>
                <a:lnTo>
                  <a:pt x="7349" y="1343104"/>
                </a:lnTo>
                <a:lnTo>
                  <a:pt x="27814" y="1382681"/>
                </a:lnTo>
                <a:lnTo>
                  <a:pt x="59022" y="1413889"/>
                </a:lnTo>
                <a:lnTo>
                  <a:pt x="98599" y="1434354"/>
                </a:lnTo>
                <a:lnTo>
                  <a:pt x="144170" y="1441703"/>
                </a:lnTo>
                <a:lnTo>
                  <a:pt x="1657197" y="1441703"/>
                </a:lnTo>
                <a:lnTo>
                  <a:pt x="1702768" y="1434354"/>
                </a:lnTo>
                <a:lnTo>
                  <a:pt x="1742345" y="1413889"/>
                </a:lnTo>
                <a:lnTo>
                  <a:pt x="1773553" y="1382681"/>
                </a:lnTo>
                <a:lnTo>
                  <a:pt x="1794018" y="1343104"/>
                </a:lnTo>
                <a:lnTo>
                  <a:pt x="1801368" y="1297533"/>
                </a:lnTo>
                <a:lnTo>
                  <a:pt x="1801368" y="144170"/>
                </a:lnTo>
                <a:lnTo>
                  <a:pt x="1794018" y="98599"/>
                </a:lnTo>
                <a:lnTo>
                  <a:pt x="1773553" y="59022"/>
                </a:lnTo>
                <a:lnTo>
                  <a:pt x="1742345" y="27814"/>
                </a:lnTo>
                <a:lnTo>
                  <a:pt x="1702768" y="7349"/>
                </a:lnTo>
                <a:lnTo>
                  <a:pt x="1657197" y="0"/>
                </a:lnTo>
                <a:close/>
              </a:path>
            </a:pathLst>
          </a:custGeom>
          <a:solidFill>
            <a:srgbClr val="403D37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764610" y="1155823"/>
            <a:ext cx="26371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Microservices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Architecture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7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18735" y="2975149"/>
            <a:ext cx="11417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208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Modular Architecture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43482" y="2975149"/>
            <a:ext cx="111633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2085" marR="5080" indent="-16002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Lightweight Runtime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31615" y="2975149"/>
            <a:ext cx="128841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3810"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Dependency </a:t>
            </a: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Injection</a:t>
            </a:r>
            <a:r>
              <a:rPr sz="1600" b="1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sto MT"/>
                <a:cs typeface="Calisto MT"/>
              </a:rPr>
              <a:t>with </a:t>
            </a:r>
            <a:r>
              <a:rPr sz="1600" b="1" spc="-25" dirty="0">
                <a:solidFill>
                  <a:srgbClr val="FFFFFF"/>
                </a:solidFill>
                <a:latin typeface="Calisto MT"/>
                <a:cs typeface="Calisto MT"/>
              </a:rPr>
              <a:t>CDI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96293" y="2975149"/>
            <a:ext cx="111442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0" marR="5080" indent="-178435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Restful</a:t>
            </a:r>
            <a:r>
              <a:rPr sz="1600" b="1" spc="-6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55" dirty="0">
                <a:solidFill>
                  <a:srgbClr val="FFFFFF"/>
                </a:solidFill>
                <a:latin typeface="Calisto MT"/>
                <a:cs typeface="Calisto MT"/>
              </a:rPr>
              <a:t>Web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Services Support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594981" y="2975149"/>
            <a:ext cx="155067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1130" marR="5080" indent="-13906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Containerization Compatibility</a:t>
            </a:r>
            <a:endParaRPr sz="16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Advantages</a:t>
            </a:r>
            <a:r>
              <a:rPr spc="-50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20" dirty="0"/>
              <a:t>Disadvantages</a:t>
            </a:r>
            <a:r>
              <a:rPr spc="-35" dirty="0"/>
              <a:t> </a:t>
            </a:r>
            <a:r>
              <a:rPr dirty="0"/>
              <a:t>of</a:t>
            </a:r>
            <a:r>
              <a:rPr spc="204" dirty="0"/>
              <a:t> </a:t>
            </a:r>
            <a:r>
              <a:rPr dirty="0"/>
              <a:t>Jakarta</a:t>
            </a:r>
            <a:r>
              <a:rPr spc="-60" dirty="0"/>
              <a:t> </a:t>
            </a:r>
            <a:r>
              <a:rPr spc="-25" dirty="0"/>
              <a:t>EE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2894838" y="1014222"/>
            <a:ext cx="3202305" cy="376555"/>
            <a:chOff x="2894838" y="1014222"/>
            <a:chExt cx="3202305" cy="376555"/>
          </a:xfrm>
        </p:grpSpPr>
        <p:sp>
          <p:nvSpPr>
            <p:cNvPr id="6" name="object 6"/>
            <p:cNvSpPr/>
            <p:nvPr/>
          </p:nvSpPr>
          <p:spPr>
            <a:xfrm>
              <a:off x="2894838" y="1014222"/>
              <a:ext cx="3202305" cy="376555"/>
            </a:xfrm>
            <a:custGeom>
              <a:avLst/>
              <a:gdLst/>
              <a:ahLst/>
              <a:cxnLst/>
              <a:rect l="l" t="t" r="r" b="b"/>
              <a:pathLst>
                <a:path w="3202304" h="376555">
                  <a:moveTo>
                    <a:pt x="3201924" y="0"/>
                  </a:moveTo>
                  <a:lnTo>
                    <a:pt x="0" y="0"/>
                  </a:lnTo>
                  <a:lnTo>
                    <a:pt x="0" y="376427"/>
                  </a:lnTo>
                  <a:lnTo>
                    <a:pt x="3201924" y="376427"/>
                  </a:lnTo>
                  <a:lnTo>
                    <a:pt x="3201924" y="0"/>
                  </a:lnTo>
                  <a:close/>
                </a:path>
              </a:pathLst>
            </a:custGeom>
            <a:solidFill>
              <a:srgbClr val="DF522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928366" y="1081278"/>
              <a:ext cx="236220" cy="234950"/>
            </a:xfrm>
            <a:custGeom>
              <a:avLst/>
              <a:gdLst/>
              <a:ahLst/>
              <a:cxnLst/>
              <a:rect l="l" t="t" r="r" b="b"/>
              <a:pathLst>
                <a:path w="236219" h="234950">
                  <a:moveTo>
                    <a:pt x="236219" y="0"/>
                  </a:moveTo>
                  <a:lnTo>
                    <a:pt x="0" y="0"/>
                  </a:lnTo>
                  <a:lnTo>
                    <a:pt x="0" y="234696"/>
                  </a:lnTo>
                  <a:lnTo>
                    <a:pt x="236219" y="234696"/>
                  </a:lnTo>
                  <a:lnTo>
                    <a:pt x="23621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28366" y="1081278"/>
              <a:ext cx="236220" cy="234950"/>
            </a:xfrm>
            <a:custGeom>
              <a:avLst/>
              <a:gdLst/>
              <a:ahLst/>
              <a:cxnLst/>
              <a:rect l="l" t="t" r="r" b="b"/>
              <a:pathLst>
                <a:path w="236219" h="234950">
                  <a:moveTo>
                    <a:pt x="0" y="0"/>
                  </a:moveTo>
                  <a:lnTo>
                    <a:pt x="236219" y="0"/>
                  </a:lnTo>
                  <a:lnTo>
                    <a:pt x="236219" y="234696"/>
                  </a:lnTo>
                  <a:lnTo>
                    <a:pt x="0" y="23469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DF522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885313" y="1004697"/>
            <a:ext cx="3221355" cy="395605"/>
          </a:xfrm>
          <a:prstGeom prst="rect">
            <a:avLst/>
          </a:prstGeom>
          <a:ln w="3175">
            <a:solidFill>
              <a:srgbClr val="DF522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48360">
              <a:lnSpc>
                <a:spcPts val="3115"/>
              </a:lnSpc>
            </a:pPr>
            <a:r>
              <a:rPr sz="2800" spc="-10" dirty="0">
                <a:latin typeface="Calisto MT"/>
                <a:cs typeface="Calisto MT"/>
              </a:rPr>
              <a:t>Advantages</a:t>
            </a:r>
            <a:endParaRPr sz="2800">
              <a:latin typeface="Calisto MT"/>
              <a:cs typeface="Calisto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888742" y="1628394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0"/>
                </a:moveTo>
                <a:lnTo>
                  <a:pt x="234695" y="0"/>
                </a:lnTo>
                <a:lnTo>
                  <a:pt x="234695" y="234696"/>
                </a:lnTo>
                <a:lnTo>
                  <a:pt x="0" y="234696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DF52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44071" y="1585968"/>
            <a:ext cx="2493010" cy="3529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sto MT"/>
                <a:cs typeface="Calisto MT"/>
              </a:rPr>
              <a:t>Robust,</a:t>
            </a:r>
            <a:r>
              <a:rPr sz="1600" spc="-6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flexible,</a:t>
            </a:r>
            <a:r>
              <a:rPr sz="1600" spc="-6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scalable.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1600">
              <a:latin typeface="Calisto MT"/>
              <a:cs typeface="Calisto MT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sto MT"/>
                <a:cs typeface="Calisto MT"/>
              </a:rPr>
              <a:t>Standard</a:t>
            </a:r>
            <a:r>
              <a:rPr sz="1600" spc="-5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solutions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provided.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405"/>
              </a:spcBef>
            </a:pPr>
            <a:endParaRPr sz="1600">
              <a:latin typeface="Calisto MT"/>
              <a:cs typeface="Calisto MT"/>
            </a:endParaRPr>
          </a:p>
          <a:p>
            <a:pPr marL="87630" marR="375285">
              <a:lnSpc>
                <a:spcPts val="1660"/>
              </a:lnSpc>
            </a:pPr>
            <a:r>
              <a:rPr sz="1600" spc="-10" dirty="0">
                <a:latin typeface="Calisto MT"/>
                <a:cs typeface="Calisto MT"/>
              </a:rPr>
              <a:t>Lightweight</a:t>
            </a:r>
            <a:r>
              <a:rPr sz="1600" spc="-1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integration benefits.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600">
              <a:latin typeface="Calisto MT"/>
              <a:cs typeface="Calisto MT"/>
            </a:endParaRPr>
          </a:p>
          <a:p>
            <a:pPr marL="87630" marR="521334">
              <a:lnSpc>
                <a:spcPts val="1660"/>
              </a:lnSpc>
            </a:pPr>
            <a:r>
              <a:rPr sz="1600" spc="-10" dirty="0">
                <a:latin typeface="Calisto MT"/>
                <a:cs typeface="Calisto MT"/>
              </a:rPr>
              <a:t>Platform-independent </a:t>
            </a:r>
            <a:r>
              <a:rPr sz="1600" dirty="0">
                <a:latin typeface="Calisto MT"/>
                <a:cs typeface="Calisto MT"/>
              </a:rPr>
              <a:t>portability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ensured.</a:t>
            </a:r>
            <a:endParaRPr sz="1600">
              <a:latin typeface="Calisto MT"/>
              <a:cs typeface="Calisto MT"/>
            </a:endParaRPr>
          </a:p>
          <a:p>
            <a:pPr marL="87630" marR="579120">
              <a:lnSpc>
                <a:spcPts val="1660"/>
              </a:lnSpc>
              <a:spcBef>
                <a:spcPts val="459"/>
              </a:spcBef>
            </a:pPr>
            <a:r>
              <a:rPr sz="1600" dirty="0">
                <a:latin typeface="Calisto MT"/>
                <a:cs typeface="Calisto MT"/>
              </a:rPr>
              <a:t>Microservices</a:t>
            </a:r>
            <a:r>
              <a:rPr sz="1600" spc="-2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reduce complexity.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600">
              <a:latin typeface="Calisto MT"/>
              <a:cs typeface="Calisto MT"/>
            </a:endParaRPr>
          </a:p>
          <a:p>
            <a:pPr marL="87630" marR="395605">
              <a:lnSpc>
                <a:spcPts val="1660"/>
              </a:lnSpc>
            </a:pPr>
            <a:r>
              <a:rPr sz="1600" dirty="0">
                <a:latin typeface="Calisto MT"/>
                <a:cs typeface="Calisto MT"/>
              </a:rPr>
              <a:t>New</a:t>
            </a:r>
            <a:r>
              <a:rPr sz="1600" spc="-7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annotations</a:t>
            </a:r>
            <a:r>
              <a:rPr sz="1600" spc="-4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foster collaboration.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88742" y="2167889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0"/>
                </a:moveTo>
                <a:lnTo>
                  <a:pt x="234695" y="0"/>
                </a:lnTo>
                <a:lnTo>
                  <a:pt x="234695" y="234696"/>
                </a:lnTo>
                <a:lnTo>
                  <a:pt x="0" y="234696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D9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888742" y="2809494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0"/>
                </a:moveTo>
                <a:lnTo>
                  <a:pt x="234695" y="0"/>
                </a:lnTo>
                <a:lnTo>
                  <a:pt x="234695" y="234696"/>
                </a:lnTo>
                <a:lnTo>
                  <a:pt x="0" y="234696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4189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88742" y="3463290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0"/>
                </a:moveTo>
                <a:lnTo>
                  <a:pt x="234695" y="0"/>
                </a:lnTo>
                <a:lnTo>
                  <a:pt x="234695" y="234695"/>
                </a:lnTo>
                <a:lnTo>
                  <a:pt x="0" y="23469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D6D3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88742" y="3964685"/>
            <a:ext cx="234950" cy="236220"/>
          </a:xfrm>
          <a:custGeom>
            <a:avLst/>
            <a:gdLst/>
            <a:ahLst/>
            <a:cxnLst/>
            <a:rect l="l" t="t" r="r" b="b"/>
            <a:pathLst>
              <a:path w="234950" h="236220">
                <a:moveTo>
                  <a:pt x="0" y="0"/>
                </a:moveTo>
                <a:lnTo>
                  <a:pt x="234695" y="0"/>
                </a:lnTo>
                <a:lnTo>
                  <a:pt x="234695" y="236219"/>
                </a:lnTo>
                <a:lnTo>
                  <a:pt x="0" y="23621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8181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888742" y="4661153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0"/>
                </a:moveTo>
                <a:lnTo>
                  <a:pt x="234695" y="0"/>
                </a:lnTo>
                <a:lnTo>
                  <a:pt x="234695" y="234696"/>
                </a:lnTo>
                <a:lnTo>
                  <a:pt x="0" y="234696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DF52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6686550" y="998982"/>
            <a:ext cx="3202305" cy="376555"/>
            <a:chOff x="6686550" y="998982"/>
            <a:chExt cx="3202305" cy="376555"/>
          </a:xfrm>
        </p:grpSpPr>
        <p:sp>
          <p:nvSpPr>
            <p:cNvPr id="18" name="object 18"/>
            <p:cNvSpPr/>
            <p:nvPr/>
          </p:nvSpPr>
          <p:spPr>
            <a:xfrm>
              <a:off x="6686550" y="998982"/>
              <a:ext cx="3202305" cy="376555"/>
            </a:xfrm>
            <a:custGeom>
              <a:avLst/>
              <a:gdLst/>
              <a:ahLst/>
              <a:cxnLst/>
              <a:rect l="l" t="t" r="r" b="b"/>
              <a:pathLst>
                <a:path w="3202304" h="376555">
                  <a:moveTo>
                    <a:pt x="3201924" y="0"/>
                  </a:moveTo>
                  <a:lnTo>
                    <a:pt x="0" y="0"/>
                  </a:lnTo>
                  <a:lnTo>
                    <a:pt x="0" y="376427"/>
                  </a:lnTo>
                  <a:lnTo>
                    <a:pt x="3201924" y="376427"/>
                  </a:lnTo>
                  <a:lnTo>
                    <a:pt x="3201924" y="0"/>
                  </a:lnTo>
                  <a:close/>
                </a:path>
              </a:pathLst>
            </a:custGeom>
            <a:solidFill>
              <a:srgbClr val="FD9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42938" y="1081278"/>
              <a:ext cx="234950" cy="234950"/>
            </a:xfrm>
            <a:custGeom>
              <a:avLst/>
              <a:gdLst/>
              <a:ahLst/>
              <a:cxnLst/>
              <a:rect l="l" t="t" r="r" b="b"/>
              <a:pathLst>
                <a:path w="234950" h="234950">
                  <a:moveTo>
                    <a:pt x="234696" y="0"/>
                  </a:moveTo>
                  <a:lnTo>
                    <a:pt x="0" y="0"/>
                  </a:lnTo>
                  <a:lnTo>
                    <a:pt x="0" y="234696"/>
                  </a:lnTo>
                  <a:lnTo>
                    <a:pt x="234696" y="234696"/>
                  </a:lnTo>
                  <a:lnTo>
                    <a:pt x="2346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742938" y="1081278"/>
              <a:ext cx="234950" cy="234950"/>
            </a:xfrm>
            <a:custGeom>
              <a:avLst/>
              <a:gdLst/>
              <a:ahLst/>
              <a:cxnLst/>
              <a:rect l="l" t="t" r="r" b="b"/>
              <a:pathLst>
                <a:path w="234950" h="234950">
                  <a:moveTo>
                    <a:pt x="0" y="0"/>
                  </a:moveTo>
                  <a:lnTo>
                    <a:pt x="234696" y="0"/>
                  </a:lnTo>
                  <a:lnTo>
                    <a:pt x="234696" y="234696"/>
                  </a:lnTo>
                  <a:lnTo>
                    <a:pt x="0" y="23469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677025" y="989457"/>
            <a:ext cx="3221355" cy="395605"/>
          </a:xfrm>
          <a:prstGeom prst="rect">
            <a:avLst/>
          </a:prstGeom>
          <a:ln w="3175">
            <a:solidFill>
              <a:srgbClr val="FD9E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10260">
              <a:lnSpc>
                <a:spcPts val="3115"/>
              </a:lnSpc>
            </a:pPr>
            <a:r>
              <a:rPr sz="2800" spc="-10" dirty="0">
                <a:latin typeface="Calisto MT"/>
                <a:cs typeface="Calisto MT"/>
              </a:rPr>
              <a:t>Disadvantages</a:t>
            </a:r>
            <a:endParaRPr sz="2800">
              <a:latin typeface="Calisto MT"/>
              <a:cs typeface="Calisto MT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765797" y="1661922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0"/>
                </a:moveTo>
                <a:lnTo>
                  <a:pt x="234696" y="0"/>
                </a:lnTo>
                <a:lnTo>
                  <a:pt x="234696" y="234696"/>
                </a:lnTo>
                <a:lnTo>
                  <a:pt x="0" y="234696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D9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Evolutionary,</a:t>
            </a:r>
            <a:r>
              <a:rPr spc="5" dirty="0"/>
              <a:t> </a:t>
            </a:r>
            <a:r>
              <a:rPr dirty="0"/>
              <a:t>lacks</a:t>
            </a:r>
            <a:r>
              <a:rPr spc="-25" dirty="0"/>
              <a:t> </a:t>
            </a:r>
            <a:r>
              <a:rPr spc="-10" dirty="0"/>
              <a:t>resources.</a:t>
            </a:r>
          </a:p>
          <a:p>
            <a:pPr marL="24130" marR="400685" indent="-12065">
              <a:lnSpc>
                <a:spcPts val="4680"/>
              </a:lnSpc>
              <a:spcBef>
                <a:spcPts val="165"/>
              </a:spcBef>
            </a:pPr>
            <a:r>
              <a:rPr dirty="0"/>
              <a:t>Incomplete</a:t>
            </a:r>
            <a:r>
              <a:rPr spc="-65" dirty="0"/>
              <a:t> </a:t>
            </a:r>
            <a:r>
              <a:rPr dirty="0"/>
              <a:t>tool</a:t>
            </a:r>
            <a:r>
              <a:rPr spc="-65" dirty="0"/>
              <a:t> </a:t>
            </a:r>
            <a:r>
              <a:rPr spc="-10" dirty="0"/>
              <a:t>support. Complexity</a:t>
            </a:r>
            <a:r>
              <a:rPr spc="-20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dirty="0"/>
              <a:t>small</a:t>
            </a:r>
            <a:r>
              <a:rPr spc="-30" dirty="0"/>
              <a:t> </a:t>
            </a:r>
            <a:r>
              <a:rPr spc="-20" dirty="0"/>
              <a:t>apps.</a:t>
            </a: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pc="-20" dirty="0"/>
          </a:p>
          <a:p>
            <a:pPr marL="34925">
              <a:lnSpc>
                <a:spcPct val="100000"/>
              </a:lnSpc>
            </a:pPr>
            <a:r>
              <a:rPr dirty="0"/>
              <a:t>Increased</a:t>
            </a:r>
            <a:r>
              <a:rPr spc="-70" dirty="0"/>
              <a:t> </a:t>
            </a:r>
            <a:r>
              <a:rPr dirty="0"/>
              <a:t>infrastructure</a:t>
            </a:r>
            <a:r>
              <a:rPr spc="-35" dirty="0"/>
              <a:t> </a:t>
            </a:r>
            <a:r>
              <a:rPr spc="-10" dirty="0"/>
              <a:t>costs.</a:t>
            </a: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pc="-10" dirty="0"/>
          </a:p>
          <a:p>
            <a:pPr marL="121285" marR="5080">
              <a:lnSpc>
                <a:spcPts val="1660"/>
              </a:lnSpc>
              <a:spcBef>
                <a:spcPts val="5"/>
              </a:spcBef>
            </a:pPr>
            <a:r>
              <a:rPr dirty="0"/>
              <a:t>Migration</a:t>
            </a:r>
            <a:r>
              <a:rPr spc="-50" dirty="0"/>
              <a:t> </a:t>
            </a:r>
            <a:r>
              <a:rPr spc="-10" dirty="0"/>
              <a:t>challenges,</a:t>
            </a:r>
            <a:r>
              <a:rPr spc="-50" dirty="0"/>
              <a:t> </a:t>
            </a:r>
            <a:r>
              <a:rPr spc="-10" dirty="0"/>
              <a:t>learning curve.</a:t>
            </a: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pc="-10" dirty="0"/>
          </a:p>
          <a:p>
            <a:pPr marL="31750" marR="406400">
              <a:lnSpc>
                <a:spcPts val="1660"/>
              </a:lnSpc>
            </a:pPr>
            <a:r>
              <a:rPr spc="-10" dirty="0"/>
              <a:t>Community</a:t>
            </a:r>
            <a:r>
              <a:rPr spc="-30" dirty="0"/>
              <a:t> </a:t>
            </a:r>
            <a:r>
              <a:rPr spc="-10" dirty="0"/>
              <a:t>fragmentation issues.</a:t>
            </a:r>
          </a:p>
        </p:txBody>
      </p:sp>
      <p:sp>
        <p:nvSpPr>
          <p:cNvPr id="24" name="object 24"/>
          <p:cNvSpPr/>
          <p:nvPr/>
        </p:nvSpPr>
        <p:spPr>
          <a:xfrm>
            <a:off x="6756654" y="2209038"/>
            <a:ext cx="234950" cy="236220"/>
          </a:xfrm>
          <a:custGeom>
            <a:avLst/>
            <a:gdLst/>
            <a:ahLst/>
            <a:cxnLst/>
            <a:rect l="l" t="t" r="r" b="b"/>
            <a:pathLst>
              <a:path w="234950" h="236219">
                <a:moveTo>
                  <a:pt x="0" y="0"/>
                </a:moveTo>
                <a:lnTo>
                  <a:pt x="234696" y="0"/>
                </a:lnTo>
                <a:lnTo>
                  <a:pt x="234696" y="236220"/>
                </a:lnTo>
                <a:lnTo>
                  <a:pt x="0" y="23622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4189B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67321" y="2807970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0"/>
                </a:moveTo>
                <a:lnTo>
                  <a:pt x="234696" y="0"/>
                </a:lnTo>
                <a:lnTo>
                  <a:pt x="234696" y="234696"/>
                </a:lnTo>
                <a:lnTo>
                  <a:pt x="0" y="234696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D6D3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764273" y="3429761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0"/>
                </a:moveTo>
                <a:lnTo>
                  <a:pt x="234696" y="0"/>
                </a:lnTo>
                <a:lnTo>
                  <a:pt x="234696" y="234695"/>
                </a:lnTo>
                <a:lnTo>
                  <a:pt x="0" y="23469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8181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53606" y="3952494"/>
            <a:ext cx="234950" cy="236220"/>
          </a:xfrm>
          <a:custGeom>
            <a:avLst/>
            <a:gdLst/>
            <a:ahLst/>
            <a:cxnLst/>
            <a:rect l="l" t="t" r="r" b="b"/>
            <a:pathLst>
              <a:path w="234950" h="236220">
                <a:moveTo>
                  <a:pt x="0" y="0"/>
                </a:moveTo>
                <a:lnTo>
                  <a:pt x="234696" y="0"/>
                </a:lnTo>
                <a:lnTo>
                  <a:pt x="234696" y="236219"/>
                </a:lnTo>
                <a:lnTo>
                  <a:pt x="0" y="236219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DF522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6764273" y="4671821"/>
            <a:ext cx="234950" cy="234950"/>
          </a:xfrm>
          <a:custGeom>
            <a:avLst/>
            <a:gdLst/>
            <a:ahLst/>
            <a:cxnLst/>
            <a:rect l="l" t="t" r="r" b="b"/>
            <a:pathLst>
              <a:path w="234950" h="234950">
                <a:moveTo>
                  <a:pt x="0" y="0"/>
                </a:moveTo>
                <a:lnTo>
                  <a:pt x="234696" y="0"/>
                </a:lnTo>
                <a:lnTo>
                  <a:pt x="234696" y="234695"/>
                </a:lnTo>
                <a:lnTo>
                  <a:pt x="0" y="23469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FD9E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Key</a:t>
            </a:r>
            <a:r>
              <a:rPr spc="-100" dirty="0"/>
              <a:t> </a:t>
            </a:r>
            <a:r>
              <a:rPr dirty="0"/>
              <a:t>Jakarta</a:t>
            </a:r>
            <a:r>
              <a:rPr spc="-75" dirty="0"/>
              <a:t> </a:t>
            </a:r>
            <a:r>
              <a:rPr dirty="0"/>
              <a:t>EE</a:t>
            </a:r>
            <a:r>
              <a:rPr spc="-95" dirty="0"/>
              <a:t> </a:t>
            </a:r>
            <a:r>
              <a:rPr spc="-10" dirty="0"/>
              <a:t>Specifications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87217" y="1006602"/>
            <a:ext cx="2005964" cy="1203960"/>
          </a:xfrm>
          <a:prstGeom prst="rect">
            <a:avLst/>
          </a:prstGeom>
          <a:solidFill>
            <a:srgbClr val="DF5227"/>
          </a:solidFill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sz="1800">
              <a:latin typeface="Times New Roman"/>
              <a:cs typeface="Times New Roman"/>
            </a:endParaRPr>
          </a:p>
          <a:p>
            <a:pPr marL="65214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Servlet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93970" y="1006602"/>
            <a:ext cx="2005964" cy="1203960"/>
          </a:xfrm>
          <a:prstGeom prst="rect">
            <a:avLst/>
          </a:prstGeom>
          <a:solidFill>
            <a:srgbClr val="E15822"/>
          </a:solidFill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Faces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00721" y="1006602"/>
            <a:ext cx="2005964" cy="1203960"/>
          </a:xfrm>
          <a:prstGeom prst="rect">
            <a:avLst/>
          </a:prstGeom>
          <a:solidFill>
            <a:srgbClr val="E65F1E"/>
          </a:solidFill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sz="1800">
              <a:latin typeface="Times New Roman"/>
              <a:cs typeface="Times New Roman"/>
            </a:endParaRPr>
          </a:p>
          <a:p>
            <a:pPr marL="213360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Persistence</a:t>
            </a:r>
            <a:r>
              <a:rPr sz="1800" b="1" spc="-5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Calisto MT"/>
                <a:cs typeface="Calisto MT"/>
              </a:rPr>
              <a:t>API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87217" y="2410205"/>
            <a:ext cx="2005964" cy="1203960"/>
          </a:xfrm>
          <a:prstGeom prst="rect">
            <a:avLst/>
          </a:prstGeom>
          <a:solidFill>
            <a:srgbClr val="E9661A"/>
          </a:solidFill>
        </p:spPr>
        <p:txBody>
          <a:bodyPr vert="horz" wrap="square" lIns="0" tIns="208915" rIns="0" bIns="0" rtlCol="0">
            <a:spAutoFit/>
          </a:bodyPr>
          <a:lstStyle/>
          <a:p>
            <a:pPr marL="731520" marR="478790" indent="-248285">
              <a:lnSpc>
                <a:spcPct val="123300"/>
              </a:lnSpc>
              <a:spcBef>
                <a:spcPts val="1645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Enterprise Beans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93970" y="2410205"/>
            <a:ext cx="2005964" cy="1203960"/>
          </a:xfrm>
          <a:prstGeom prst="rect">
            <a:avLst/>
          </a:prstGeom>
          <a:solidFill>
            <a:srgbClr val="EC6D14"/>
          </a:solidFill>
        </p:spPr>
        <p:txBody>
          <a:bodyPr vert="horz" wrap="square" lIns="0" tIns="178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Pages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00721" y="2410205"/>
            <a:ext cx="2005964" cy="1203960"/>
          </a:xfrm>
          <a:prstGeom prst="rect">
            <a:avLst/>
          </a:prstGeom>
          <a:solidFill>
            <a:srgbClr val="F07611"/>
          </a:solidFill>
        </p:spPr>
        <p:txBody>
          <a:bodyPr vert="horz" wrap="square" lIns="0" tIns="178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5"/>
              </a:spcBef>
            </a:pPr>
            <a:endParaRPr sz="1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1800" b="1" spc="-25" dirty="0">
                <a:solidFill>
                  <a:srgbClr val="FFFFFF"/>
                </a:solidFill>
                <a:latin typeface="Calisto MT"/>
                <a:cs typeface="Calisto MT"/>
              </a:rPr>
              <a:t>CDI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87217" y="3815334"/>
            <a:ext cx="2005964" cy="1203960"/>
          </a:xfrm>
          <a:prstGeom prst="rect">
            <a:avLst/>
          </a:prstGeom>
          <a:solidFill>
            <a:srgbClr val="F47E0D"/>
          </a:solidFill>
        </p:spPr>
        <p:txBody>
          <a:bodyPr vert="horz" wrap="square" lIns="0" tIns="207645" rIns="0" bIns="0" rtlCol="0">
            <a:spAutoFit/>
          </a:bodyPr>
          <a:lstStyle/>
          <a:p>
            <a:pPr marL="640080" marR="568960" indent="-67310">
              <a:lnSpc>
                <a:spcPct val="123300"/>
              </a:lnSpc>
              <a:spcBef>
                <a:spcPts val="1635"/>
              </a:spcBef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Message Service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93970" y="3815334"/>
            <a:ext cx="2005964" cy="1203960"/>
          </a:xfrm>
          <a:prstGeom prst="rect">
            <a:avLst/>
          </a:prstGeom>
          <a:solidFill>
            <a:srgbClr val="F88807"/>
          </a:solidFill>
        </p:spPr>
        <p:txBody>
          <a:bodyPr vert="horz" wrap="square" lIns="0" tIns="895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05"/>
              </a:spcBef>
            </a:pPr>
            <a:endParaRPr sz="1800">
              <a:latin typeface="Times New Roman"/>
              <a:cs typeface="Times New Roman"/>
            </a:endParaRPr>
          </a:p>
          <a:p>
            <a:pPr marL="593090" marR="303530" indent="-281940">
              <a:lnSpc>
                <a:spcPts val="1920"/>
              </a:lnSpc>
            </a:pPr>
            <a:r>
              <a:rPr sz="1800" b="1" dirty="0">
                <a:solidFill>
                  <a:srgbClr val="FFFFFF"/>
                </a:solidFill>
                <a:latin typeface="Calisto MT"/>
                <a:cs typeface="Calisto MT"/>
              </a:rPr>
              <a:t>RESTful</a:t>
            </a:r>
            <a:r>
              <a:rPr sz="1800" b="1" spc="-4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Calisto MT"/>
                <a:cs typeface="Calisto MT"/>
              </a:rPr>
              <a:t>Web </a:t>
            </a: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Services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300721" y="3815334"/>
            <a:ext cx="2005964" cy="1203960"/>
          </a:xfrm>
          <a:prstGeom prst="rect">
            <a:avLst/>
          </a:prstGeom>
          <a:solidFill>
            <a:srgbClr val="FA9204"/>
          </a:solidFill>
        </p:spPr>
        <p:txBody>
          <a:bodyPr vert="horz" wrap="square" lIns="0" tIns="1778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endParaRPr sz="1800">
              <a:latin typeface="Times New Roman"/>
              <a:cs typeface="Times New Roman"/>
            </a:endParaRPr>
          </a:p>
          <a:p>
            <a:pPr marL="441959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WebSocket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3970" y="5218938"/>
            <a:ext cx="2005964" cy="1203960"/>
          </a:xfrm>
          <a:prstGeom prst="rect">
            <a:avLst/>
          </a:prstGeom>
          <a:solidFill>
            <a:srgbClr val="FD9E00"/>
          </a:solidFill>
        </p:spPr>
        <p:txBody>
          <a:bodyPr vert="horz" wrap="square" lIns="0" tIns="1784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05"/>
              </a:spcBef>
            </a:pPr>
            <a:endParaRPr sz="1800">
              <a:latin typeface="Times New Roman"/>
              <a:cs typeface="Times New Roman"/>
            </a:endParaRPr>
          </a:p>
          <a:p>
            <a:pPr marL="292735">
              <a:lnSpc>
                <a:spcPct val="100000"/>
              </a:lnSpc>
            </a:pPr>
            <a:r>
              <a:rPr sz="1800" b="1" spc="-10" dirty="0">
                <a:solidFill>
                  <a:srgbClr val="FFFFFF"/>
                </a:solidFill>
                <a:latin typeface="Calisto MT"/>
                <a:cs typeface="Calisto MT"/>
              </a:rPr>
              <a:t>Authorization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JDK</a:t>
            </a:r>
            <a:r>
              <a:rPr spc="-65" dirty="0"/>
              <a:t> </a:t>
            </a:r>
            <a:r>
              <a:rPr spc="-10" dirty="0"/>
              <a:t>Installation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482852" y="987552"/>
            <a:ext cx="2381885" cy="1186180"/>
            <a:chOff x="1482852" y="987552"/>
            <a:chExt cx="2381885" cy="1186180"/>
          </a:xfrm>
        </p:grpSpPr>
        <p:sp>
          <p:nvSpPr>
            <p:cNvPr id="6" name="object 6"/>
            <p:cNvSpPr/>
            <p:nvPr/>
          </p:nvSpPr>
          <p:spPr>
            <a:xfrm>
              <a:off x="3449574" y="1581150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39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81798" y="153669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2852" y="987552"/>
              <a:ext cx="1972055" cy="118567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884267" y="1286421"/>
            <a:ext cx="1168400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01295" marR="5080" indent="-189230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latin typeface="Calisto MT"/>
                <a:cs typeface="Calisto MT"/>
              </a:rPr>
              <a:t>Visit</a:t>
            </a:r>
            <a:r>
              <a:rPr sz="1800" spc="-6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Oracle Website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898391" y="987552"/>
            <a:ext cx="2381885" cy="1186180"/>
            <a:chOff x="3898391" y="987552"/>
            <a:chExt cx="2381885" cy="1186180"/>
          </a:xfrm>
        </p:grpSpPr>
        <p:sp>
          <p:nvSpPr>
            <p:cNvPr id="11" name="object 11"/>
            <p:cNvSpPr/>
            <p:nvPr/>
          </p:nvSpPr>
          <p:spPr>
            <a:xfrm>
              <a:off x="5865113" y="1581150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39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40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97337" y="153669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40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8391" y="987552"/>
              <a:ext cx="1970531" cy="118567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357202" y="1286421"/>
            <a:ext cx="1053465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78435" marR="5080" indent="-166370">
              <a:lnSpc>
                <a:spcPts val="1870"/>
              </a:lnSpc>
              <a:spcBef>
                <a:spcPts val="405"/>
              </a:spcBef>
            </a:pPr>
            <a:r>
              <a:rPr sz="1800" spc="-10" dirty="0">
                <a:solidFill>
                  <a:srgbClr val="0D0D0D"/>
                </a:solidFill>
                <a:latin typeface="Calisto MT"/>
                <a:cs typeface="Calisto MT"/>
              </a:rPr>
              <a:t>Download JDK21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13932" y="987552"/>
            <a:ext cx="2379980" cy="1186180"/>
            <a:chOff x="6313932" y="987552"/>
            <a:chExt cx="2379980" cy="1186180"/>
          </a:xfrm>
        </p:grpSpPr>
        <p:sp>
          <p:nvSpPr>
            <p:cNvPr id="16" name="object 16"/>
            <p:cNvSpPr/>
            <p:nvPr/>
          </p:nvSpPr>
          <p:spPr>
            <a:xfrm>
              <a:off x="8279129" y="1581150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40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3DC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611353" y="153669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3DC0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3932" y="987552"/>
              <a:ext cx="1970531" cy="118567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723489" y="1405165"/>
            <a:ext cx="1149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Install</a:t>
            </a:r>
            <a:r>
              <a:rPr sz="1800" spc="-25" dirty="0">
                <a:solidFill>
                  <a:srgbClr val="0D0D0D"/>
                </a:solidFill>
                <a:latin typeface="Calisto MT"/>
                <a:cs typeface="Calisto MT"/>
              </a:rPr>
              <a:t> JDK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418842" y="987552"/>
            <a:ext cx="8281670" cy="1597025"/>
            <a:chOff x="2418842" y="987552"/>
            <a:chExt cx="8281670" cy="1597025"/>
          </a:xfrm>
        </p:grpSpPr>
        <p:sp>
          <p:nvSpPr>
            <p:cNvPr id="21" name="object 21"/>
            <p:cNvSpPr/>
            <p:nvPr/>
          </p:nvSpPr>
          <p:spPr>
            <a:xfrm>
              <a:off x="2469637" y="2169413"/>
              <a:ext cx="7245350" cy="408940"/>
            </a:xfrm>
            <a:custGeom>
              <a:avLst/>
              <a:gdLst/>
              <a:ahLst/>
              <a:cxnLst/>
              <a:rect l="l" t="t" r="r" b="b"/>
              <a:pathLst>
                <a:path w="7245350" h="408939">
                  <a:moveTo>
                    <a:pt x="7245172" y="0"/>
                  </a:moveTo>
                  <a:lnTo>
                    <a:pt x="7245172" y="227596"/>
                  </a:lnTo>
                  <a:lnTo>
                    <a:pt x="0" y="227596"/>
                  </a:lnTo>
                  <a:lnTo>
                    <a:pt x="0" y="408419"/>
                  </a:lnTo>
                </a:path>
              </a:pathLst>
            </a:custGeom>
            <a:ln w="12700">
              <a:solidFill>
                <a:srgbClr val="3EC5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25192" y="2501635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3EC57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27948" y="987552"/>
              <a:ext cx="1972055" cy="118567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8884069" y="1286421"/>
            <a:ext cx="1658620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7350" marR="5080" indent="-375285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Set</a:t>
            </a:r>
            <a:r>
              <a:rPr sz="1800" spc="-10" dirty="0">
                <a:solidFill>
                  <a:srgbClr val="0D0D0D"/>
                </a:solidFill>
                <a:latin typeface="Calisto MT"/>
                <a:cs typeface="Calisto MT"/>
              </a:rPr>
              <a:t> Environment Variables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82852" y="2618232"/>
            <a:ext cx="2381885" cy="1186180"/>
            <a:chOff x="1482852" y="2618232"/>
            <a:chExt cx="2381885" cy="1186180"/>
          </a:xfrm>
        </p:grpSpPr>
        <p:sp>
          <p:nvSpPr>
            <p:cNvPr id="26" name="object 26"/>
            <p:cNvSpPr/>
            <p:nvPr/>
          </p:nvSpPr>
          <p:spPr>
            <a:xfrm>
              <a:off x="3449574" y="3211830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39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41C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81798" y="316737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41C7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82852" y="2618232"/>
              <a:ext cx="1972055" cy="118567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818779" y="2797347"/>
            <a:ext cx="1300480" cy="7753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 indent="-2540" algn="ctr">
              <a:lnSpc>
                <a:spcPts val="1870"/>
              </a:lnSpc>
              <a:spcBef>
                <a:spcPts val="405"/>
              </a:spcBef>
            </a:pPr>
            <a:r>
              <a:rPr sz="1800" spc="-20" dirty="0">
                <a:solidFill>
                  <a:srgbClr val="0D0D0D"/>
                </a:solidFill>
                <a:latin typeface="Calisto MT"/>
                <a:cs typeface="Calisto MT"/>
              </a:rPr>
              <a:t>Open </a:t>
            </a:r>
            <a:r>
              <a:rPr sz="1800" spc="-10" dirty="0">
                <a:solidFill>
                  <a:srgbClr val="0D0D0D"/>
                </a:solidFill>
                <a:latin typeface="Calisto MT"/>
                <a:cs typeface="Calisto MT"/>
              </a:rPr>
              <a:t>Environment Variables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898391" y="2618232"/>
            <a:ext cx="2381885" cy="1186180"/>
            <a:chOff x="3898391" y="2618232"/>
            <a:chExt cx="2381885" cy="1186180"/>
          </a:xfrm>
        </p:grpSpPr>
        <p:sp>
          <p:nvSpPr>
            <p:cNvPr id="31" name="object 31"/>
            <p:cNvSpPr/>
            <p:nvPr/>
          </p:nvSpPr>
          <p:spPr>
            <a:xfrm>
              <a:off x="5865113" y="3211830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39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53CC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97337" y="316737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53CC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98391" y="2618232"/>
              <a:ext cx="1970531" cy="1185671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021922" y="2916092"/>
            <a:ext cx="1721485" cy="53784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61925" marR="5080" indent="-149860">
              <a:lnSpc>
                <a:spcPts val="1870"/>
              </a:lnSpc>
              <a:spcBef>
                <a:spcPts val="405"/>
              </a:spcBef>
            </a:pP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Add</a:t>
            </a:r>
            <a:r>
              <a:rPr sz="1800" spc="-35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JDK</a:t>
            </a:r>
            <a:r>
              <a:rPr sz="1800" spc="-20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Path</a:t>
            </a:r>
            <a:r>
              <a:rPr sz="1800" spc="-25" dirty="0">
                <a:solidFill>
                  <a:srgbClr val="0D0D0D"/>
                </a:solidFill>
                <a:latin typeface="Calisto MT"/>
                <a:cs typeface="Calisto MT"/>
              </a:rPr>
              <a:t> to </a:t>
            </a: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User</a:t>
            </a:r>
            <a:r>
              <a:rPr sz="1800" spc="-10" dirty="0">
                <a:solidFill>
                  <a:srgbClr val="0D0D0D"/>
                </a:solidFill>
                <a:latin typeface="Calisto MT"/>
                <a:cs typeface="Calisto MT"/>
              </a:rPr>
              <a:t> Variables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313932" y="2618232"/>
            <a:ext cx="2379980" cy="1186180"/>
            <a:chOff x="6313932" y="2618232"/>
            <a:chExt cx="2379980" cy="1186180"/>
          </a:xfrm>
        </p:grpSpPr>
        <p:sp>
          <p:nvSpPr>
            <p:cNvPr id="36" name="object 36"/>
            <p:cNvSpPr/>
            <p:nvPr/>
          </p:nvSpPr>
          <p:spPr>
            <a:xfrm>
              <a:off x="8279129" y="3211830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40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7ED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611353" y="316737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7ED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13932" y="2618232"/>
              <a:ext cx="1970531" cy="1185671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6561978" y="2694719"/>
            <a:ext cx="1471295" cy="925194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5"/>
              </a:spcBef>
            </a:pP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Add</a:t>
            </a:r>
            <a:r>
              <a:rPr sz="1800" spc="-25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JDK </a:t>
            </a:r>
            <a:r>
              <a:rPr sz="1800" spc="-20" dirty="0">
                <a:solidFill>
                  <a:srgbClr val="0D0D0D"/>
                </a:solidFill>
                <a:latin typeface="Calisto MT"/>
                <a:cs typeface="Calisto MT"/>
              </a:rPr>
              <a:t>Path</a:t>
            </a:r>
            <a:endParaRPr sz="1800">
              <a:latin typeface="Calisto MT"/>
              <a:cs typeface="Calisto MT"/>
            </a:endParaRPr>
          </a:p>
          <a:p>
            <a:pPr marL="260985" marR="252729" algn="ctr">
              <a:lnSpc>
                <a:spcPts val="1870"/>
              </a:lnSpc>
              <a:spcBef>
                <a:spcPts val="745"/>
              </a:spcBef>
            </a:pP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to</a:t>
            </a:r>
            <a:r>
              <a:rPr sz="1800" spc="5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spc="-10" dirty="0">
                <a:solidFill>
                  <a:srgbClr val="0D0D0D"/>
                </a:solidFill>
                <a:latin typeface="Calisto MT"/>
                <a:cs typeface="Calisto MT"/>
              </a:rPr>
              <a:t>System Variables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418842" y="2618232"/>
            <a:ext cx="8281670" cy="1595120"/>
            <a:chOff x="2418842" y="2618232"/>
            <a:chExt cx="8281670" cy="1595120"/>
          </a:xfrm>
        </p:grpSpPr>
        <p:sp>
          <p:nvSpPr>
            <p:cNvPr id="41" name="object 41"/>
            <p:cNvSpPr/>
            <p:nvPr/>
          </p:nvSpPr>
          <p:spPr>
            <a:xfrm>
              <a:off x="2469637" y="3798570"/>
              <a:ext cx="7245350" cy="408940"/>
            </a:xfrm>
            <a:custGeom>
              <a:avLst/>
              <a:gdLst/>
              <a:ahLst/>
              <a:cxnLst/>
              <a:rect l="l" t="t" r="r" b="b"/>
              <a:pathLst>
                <a:path w="7245350" h="408939">
                  <a:moveTo>
                    <a:pt x="7245172" y="0"/>
                  </a:moveTo>
                  <a:lnTo>
                    <a:pt x="7245172" y="227596"/>
                  </a:lnTo>
                  <a:lnTo>
                    <a:pt x="0" y="227596"/>
                  </a:lnTo>
                  <a:lnTo>
                    <a:pt x="0" y="408419"/>
                  </a:lnTo>
                </a:path>
              </a:pathLst>
            </a:custGeom>
            <a:ln w="12700">
              <a:solidFill>
                <a:srgbClr val="ACD3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425192" y="4130791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ACD34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27948" y="2618232"/>
              <a:ext cx="1972055" cy="1185671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9063869" y="2797347"/>
            <a:ext cx="1300480" cy="7753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64135" marR="5080" indent="-52069" algn="just">
              <a:lnSpc>
                <a:spcPts val="1870"/>
              </a:lnSpc>
              <a:spcBef>
                <a:spcPts val="405"/>
              </a:spcBef>
            </a:pPr>
            <a:r>
              <a:rPr sz="1800" spc="-10" dirty="0">
                <a:solidFill>
                  <a:srgbClr val="0D0D0D"/>
                </a:solidFill>
                <a:latin typeface="Calisto MT"/>
                <a:cs typeface="Calisto MT"/>
              </a:rPr>
              <a:t>Environment </a:t>
            </a: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variables</a:t>
            </a:r>
            <a:r>
              <a:rPr sz="1800" spc="-95" dirty="0">
                <a:solidFill>
                  <a:srgbClr val="0D0D0D"/>
                </a:solidFill>
                <a:latin typeface="Calisto MT"/>
                <a:cs typeface="Calisto MT"/>
              </a:rPr>
              <a:t> </a:t>
            </a:r>
            <a:r>
              <a:rPr sz="1800" spc="-25" dirty="0">
                <a:solidFill>
                  <a:srgbClr val="0D0D0D"/>
                </a:solidFill>
                <a:latin typeface="Calisto MT"/>
                <a:cs typeface="Calisto MT"/>
              </a:rPr>
              <a:t>set </a:t>
            </a:r>
            <a:r>
              <a:rPr sz="1800" spc="-10" dirty="0">
                <a:solidFill>
                  <a:srgbClr val="0D0D0D"/>
                </a:solidFill>
                <a:latin typeface="Calisto MT"/>
                <a:cs typeface="Calisto MT"/>
              </a:rPr>
              <a:t>successfully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482852" y="4247388"/>
            <a:ext cx="2381885" cy="1186180"/>
            <a:chOff x="1482852" y="4247388"/>
            <a:chExt cx="2381885" cy="1186180"/>
          </a:xfrm>
        </p:grpSpPr>
        <p:sp>
          <p:nvSpPr>
            <p:cNvPr id="46" name="object 46"/>
            <p:cNvSpPr/>
            <p:nvPr/>
          </p:nvSpPr>
          <p:spPr>
            <a:xfrm>
              <a:off x="3449574" y="4840986"/>
              <a:ext cx="408940" cy="0"/>
            </a:xfrm>
            <a:custGeom>
              <a:avLst/>
              <a:gdLst/>
              <a:ahLst/>
              <a:cxnLst/>
              <a:rect l="l" t="t" r="r" b="b"/>
              <a:pathLst>
                <a:path w="408939">
                  <a:moveTo>
                    <a:pt x="0" y="0"/>
                  </a:moveTo>
                  <a:lnTo>
                    <a:pt x="408419" y="0"/>
                  </a:lnTo>
                </a:path>
              </a:pathLst>
            </a:custGeom>
            <a:ln w="1270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81798" y="4796532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49"/>
                  </a:lnTo>
                  <a:lnTo>
                    <a:pt x="0" y="88899"/>
                  </a:lnTo>
                </a:path>
              </a:pathLst>
            </a:custGeom>
            <a:ln w="1270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82852" y="4247388"/>
              <a:ext cx="1972055" cy="1185671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1751647" y="4427018"/>
            <a:ext cx="1433830" cy="77533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-1270" algn="ctr">
              <a:lnSpc>
                <a:spcPts val="1870"/>
              </a:lnSpc>
              <a:spcBef>
                <a:spcPts val="400"/>
              </a:spcBef>
            </a:pPr>
            <a:r>
              <a:rPr sz="1800" spc="-25" dirty="0">
                <a:solidFill>
                  <a:srgbClr val="0D0D0D"/>
                </a:solidFill>
                <a:latin typeface="Calisto MT"/>
                <a:cs typeface="Calisto MT"/>
              </a:rPr>
              <a:t>Set </a:t>
            </a:r>
            <a:r>
              <a:rPr sz="1800" spc="-60" dirty="0">
                <a:solidFill>
                  <a:srgbClr val="0D0D0D"/>
                </a:solidFill>
                <a:latin typeface="Calisto MT"/>
                <a:cs typeface="Calisto MT"/>
              </a:rPr>
              <a:t>JAVA_HOME</a:t>
            </a:r>
            <a:endParaRPr sz="1800">
              <a:latin typeface="Calisto MT"/>
              <a:cs typeface="Calisto MT"/>
            </a:endParaRPr>
          </a:p>
          <a:p>
            <a:pPr algn="ctr">
              <a:lnSpc>
                <a:spcPts val="1860"/>
              </a:lnSpc>
            </a:pPr>
            <a:r>
              <a:rPr sz="1800" spc="-10" dirty="0">
                <a:solidFill>
                  <a:srgbClr val="0D0D0D"/>
                </a:solidFill>
                <a:latin typeface="Calisto MT"/>
                <a:cs typeface="Calisto MT"/>
              </a:rPr>
              <a:t>Variable</a:t>
            </a:r>
            <a:endParaRPr sz="1800">
              <a:latin typeface="Calisto MT"/>
              <a:cs typeface="Calisto MT"/>
            </a:endParaRPr>
          </a:p>
        </p:txBody>
      </p:sp>
      <p:pic>
        <p:nvPicPr>
          <p:cNvPr id="50" name="object 5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898391" y="4247388"/>
            <a:ext cx="1970531" cy="1185671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4166778" y="4380853"/>
            <a:ext cx="1433830" cy="86868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 indent="-635" algn="ctr">
              <a:lnSpc>
                <a:spcPts val="1870"/>
              </a:lnSpc>
              <a:spcBef>
                <a:spcPts val="400"/>
              </a:spcBef>
            </a:pPr>
            <a:r>
              <a:rPr sz="1800" spc="-25" dirty="0">
                <a:solidFill>
                  <a:srgbClr val="0D0D0D"/>
                </a:solidFill>
                <a:latin typeface="Calisto MT"/>
                <a:cs typeface="Calisto MT"/>
              </a:rPr>
              <a:t>Add </a:t>
            </a:r>
            <a:r>
              <a:rPr sz="1800" spc="-60" dirty="0">
                <a:solidFill>
                  <a:srgbClr val="0D0D0D"/>
                </a:solidFill>
                <a:latin typeface="Calisto MT"/>
                <a:cs typeface="Calisto MT"/>
              </a:rPr>
              <a:t>JAVA_HOME</a:t>
            </a:r>
            <a:endParaRPr sz="1800">
              <a:latin typeface="Calisto MT"/>
              <a:cs typeface="Calisto MT"/>
            </a:endParaRPr>
          </a:p>
          <a:p>
            <a:pPr marL="56515" algn="ctr">
              <a:lnSpc>
                <a:spcPct val="100000"/>
              </a:lnSpc>
              <a:spcBef>
                <a:spcPts val="434"/>
              </a:spcBef>
            </a:pPr>
            <a:r>
              <a:rPr sz="1800" dirty="0">
                <a:solidFill>
                  <a:srgbClr val="0D0D0D"/>
                </a:solidFill>
                <a:latin typeface="Calisto MT"/>
                <a:cs typeface="Calisto MT"/>
              </a:rPr>
              <a:t>to </a:t>
            </a:r>
            <a:r>
              <a:rPr sz="1800" spc="-20" dirty="0">
                <a:solidFill>
                  <a:srgbClr val="0D0D0D"/>
                </a:solidFill>
                <a:latin typeface="Calisto MT"/>
                <a:cs typeface="Calisto MT"/>
              </a:rPr>
              <a:t>Path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Features</a:t>
            </a:r>
            <a:r>
              <a:rPr spc="-5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Capabilities</a:t>
            </a:r>
            <a:r>
              <a:rPr spc="-40" dirty="0"/>
              <a:t> </a:t>
            </a:r>
            <a:r>
              <a:rPr dirty="0"/>
              <a:t>of</a:t>
            </a:r>
            <a:r>
              <a:rPr spc="185" dirty="0"/>
              <a:t> </a:t>
            </a:r>
            <a:r>
              <a:rPr dirty="0"/>
              <a:t>Eclipse</a:t>
            </a:r>
            <a:r>
              <a:rPr spc="-65" dirty="0"/>
              <a:t> </a:t>
            </a:r>
            <a:r>
              <a:rPr spc="-25" dirty="0"/>
              <a:t>IDE</a:t>
            </a:r>
          </a:p>
        </p:txBody>
      </p:sp>
      <p:sp>
        <p:nvSpPr>
          <p:cNvPr id="5" name="object 5"/>
          <p:cNvSpPr/>
          <p:nvPr/>
        </p:nvSpPr>
        <p:spPr>
          <a:xfrm>
            <a:off x="8100821" y="1055371"/>
            <a:ext cx="2926080" cy="649605"/>
          </a:xfrm>
          <a:custGeom>
            <a:avLst/>
            <a:gdLst/>
            <a:ahLst/>
            <a:cxnLst/>
            <a:rect l="l" t="t" r="r" b="b"/>
            <a:pathLst>
              <a:path w="2926079" h="649605">
                <a:moveTo>
                  <a:pt x="2817876" y="0"/>
                </a:moveTo>
                <a:lnTo>
                  <a:pt x="108204" y="0"/>
                </a:lnTo>
                <a:lnTo>
                  <a:pt x="66088" y="8502"/>
                </a:lnTo>
                <a:lnTo>
                  <a:pt x="31694" y="31689"/>
                </a:lnTo>
                <a:lnTo>
                  <a:pt x="8504" y="66083"/>
                </a:lnTo>
                <a:lnTo>
                  <a:pt x="0" y="108203"/>
                </a:lnTo>
                <a:lnTo>
                  <a:pt x="0" y="541019"/>
                </a:lnTo>
                <a:lnTo>
                  <a:pt x="8504" y="583135"/>
                </a:lnTo>
                <a:lnTo>
                  <a:pt x="31694" y="617529"/>
                </a:lnTo>
                <a:lnTo>
                  <a:pt x="66088" y="640719"/>
                </a:lnTo>
                <a:lnTo>
                  <a:pt x="108204" y="649223"/>
                </a:lnTo>
                <a:lnTo>
                  <a:pt x="2817876" y="649223"/>
                </a:lnTo>
                <a:lnTo>
                  <a:pt x="2859991" y="640719"/>
                </a:lnTo>
                <a:lnTo>
                  <a:pt x="2894385" y="617529"/>
                </a:lnTo>
                <a:lnTo>
                  <a:pt x="2917575" y="583135"/>
                </a:lnTo>
                <a:lnTo>
                  <a:pt x="2926080" y="541019"/>
                </a:lnTo>
                <a:lnTo>
                  <a:pt x="2926080" y="108203"/>
                </a:lnTo>
                <a:lnTo>
                  <a:pt x="2917575" y="66083"/>
                </a:lnTo>
                <a:lnTo>
                  <a:pt x="2894385" y="31689"/>
                </a:lnTo>
                <a:lnTo>
                  <a:pt x="2859991" y="8502"/>
                </a:lnTo>
                <a:lnTo>
                  <a:pt x="2817876" y="0"/>
                </a:lnTo>
                <a:close/>
              </a:path>
            </a:pathLst>
          </a:custGeom>
          <a:solidFill>
            <a:srgbClr val="DF52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20494" y="1225172"/>
            <a:ext cx="168528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Code</a:t>
            </a:r>
            <a:r>
              <a:rPr sz="1600" b="1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Competition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100821" y="1736599"/>
            <a:ext cx="2926080" cy="649605"/>
          </a:xfrm>
          <a:custGeom>
            <a:avLst/>
            <a:gdLst/>
            <a:ahLst/>
            <a:cxnLst/>
            <a:rect l="l" t="t" r="r" b="b"/>
            <a:pathLst>
              <a:path w="2926079" h="649605">
                <a:moveTo>
                  <a:pt x="2817876" y="0"/>
                </a:moveTo>
                <a:lnTo>
                  <a:pt x="108204" y="0"/>
                </a:lnTo>
                <a:lnTo>
                  <a:pt x="66088" y="8502"/>
                </a:lnTo>
                <a:lnTo>
                  <a:pt x="31694" y="31689"/>
                </a:lnTo>
                <a:lnTo>
                  <a:pt x="8504" y="66083"/>
                </a:lnTo>
                <a:lnTo>
                  <a:pt x="0" y="108203"/>
                </a:lnTo>
                <a:lnTo>
                  <a:pt x="0" y="541019"/>
                </a:lnTo>
                <a:lnTo>
                  <a:pt x="8504" y="583135"/>
                </a:lnTo>
                <a:lnTo>
                  <a:pt x="31694" y="617529"/>
                </a:lnTo>
                <a:lnTo>
                  <a:pt x="66088" y="640719"/>
                </a:lnTo>
                <a:lnTo>
                  <a:pt x="108204" y="649223"/>
                </a:lnTo>
                <a:lnTo>
                  <a:pt x="2817876" y="649223"/>
                </a:lnTo>
                <a:lnTo>
                  <a:pt x="2859991" y="640719"/>
                </a:lnTo>
                <a:lnTo>
                  <a:pt x="2894385" y="617529"/>
                </a:lnTo>
                <a:lnTo>
                  <a:pt x="2917575" y="583135"/>
                </a:lnTo>
                <a:lnTo>
                  <a:pt x="2926080" y="541019"/>
                </a:lnTo>
                <a:lnTo>
                  <a:pt x="2926080" y="108203"/>
                </a:lnTo>
                <a:lnTo>
                  <a:pt x="2917575" y="66083"/>
                </a:lnTo>
                <a:lnTo>
                  <a:pt x="2894385" y="31689"/>
                </a:lnTo>
                <a:lnTo>
                  <a:pt x="2859991" y="8502"/>
                </a:lnTo>
                <a:lnTo>
                  <a:pt x="2817876" y="0"/>
                </a:lnTo>
                <a:close/>
              </a:path>
            </a:pathLst>
          </a:custGeom>
          <a:solidFill>
            <a:srgbClr val="FD9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755546" y="1906508"/>
            <a:ext cx="16129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Single</a:t>
            </a:r>
            <a:r>
              <a:rPr sz="1600" b="1" spc="-2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Workspace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100821" y="2419352"/>
            <a:ext cx="2926080" cy="647700"/>
          </a:xfrm>
          <a:custGeom>
            <a:avLst/>
            <a:gdLst/>
            <a:ahLst/>
            <a:cxnLst/>
            <a:rect l="l" t="t" r="r" b="b"/>
            <a:pathLst>
              <a:path w="2926079" h="647700">
                <a:moveTo>
                  <a:pt x="2818130" y="0"/>
                </a:moveTo>
                <a:lnTo>
                  <a:pt x="107950" y="0"/>
                </a:lnTo>
                <a:lnTo>
                  <a:pt x="65933" y="8482"/>
                </a:lnTo>
                <a:lnTo>
                  <a:pt x="31619" y="31615"/>
                </a:lnTo>
                <a:lnTo>
                  <a:pt x="8483" y="65927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66"/>
                </a:lnTo>
                <a:lnTo>
                  <a:pt x="31619" y="616080"/>
                </a:lnTo>
                <a:lnTo>
                  <a:pt x="65933" y="639216"/>
                </a:lnTo>
                <a:lnTo>
                  <a:pt x="107950" y="647700"/>
                </a:lnTo>
                <a:lnTo>
                  <a:pt x="2818130" y="647700"/>
                </a:lnTo>
                <a:lnTo>
                  <a:pt x="2860146" y="639216"/>
                </a:lnTo>
                <a:lnTo>
                  <a:pt x="2894460" y="616080"/>
                </a:lnTo>
                <a:lnTo>
                  <a:pt x="2917596" y="581766"/>
                </a:lnTo>
                <a:lnTo>
                  <a:pt x="2926080" y="539750"/>
                </a:lnTo>
                <a:lnTo>
                  <a:pt x="2926080" y="107950"/>
                </a:lnTo>
                <a:lnTo>
                  <a:pt x="2917596" y="65927"/>
                </a:lnTo>
                <a:lnTo>
                  <a:pt x="2894460" y="31615"/>
                </a:lnTo>
                <a:lnTo>
                  <a:pt x="2860146" y="8482"/>
                </a:lnTo>
                <a:lnTo>
                  <a:pt x="2818130" y="0"/>
                </a:lnTo>
                <a:close/>
              </a:path>
            </a:pathLst>
          </a:custGeom>
          <a:solidFill>
            <a:srgbClr val="4189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494942" y="2587843"/>
            <a:ext cx="2132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Customized</a:t>
            </a:r>
            <a:r>
              <a:rPr sz="1600" b="1" spc="-7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Perspective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100821" y="3100580"/>
            <a:ext cx="2926080" cy="647700"/>
          </a:xfrm>
          <a:custGeom>
            <a:avLst/>
            <a:gdLst/>
            <a:ahLst/>
            <a:cxnLst/>
            <a:rect l="l" t="t" r="r" b="b"/>
            <a:pathLst>
              <a:path w="2926079" h="647700">
                <a:moveTo>
                  <a:pt x="2818130" y="0"/>
                </a:moveTo>
                <a:lnTo>
                  <a:pt x="107950" y="0"/>
                </a:lnTo>
                <a:lnTo>
                  <a:pt x="65933" y="8482"/>
                </a:lnTo>
                <a:lnTo>
                  <a:pt x="31619" y="31615"/>
                </a:lnTo>
                <a:lnTo>
                  <a:pt x="8483" y="65927"/>
                </a:lnTo>
                <a:lnTo>
                  <a:pt x="0" y="107950"/>
                </a:lnTo>
                <a:lnTo>
                  <a:pt x="0" y="539750"/>
                </a:lnTo>
                <a:lnTo>
                  <a:pt x="8483" y="581766"/>
                </a:lnTo>
                <a:lnTo>
                  <a:pt x="31619" y="616080"/>
                </a:lnTo>
                <a:lnTo>
                  <a:pt x="65933" y="639216"/>
                </a:lnTo>
                <a:lnTo>
                  <a:pt x="107950" y="647700"/>
                </a:lnTo>
                <a:lnTo>
                  <a:pt x="2818130" y="647700"/>
                </a:lnTo>
                <a:lnTo>
                  <a:pt x="2860146" y="639216"/>
                </a:lnTo>
                <a:lnTo>
                  <a:pt x="2894460" y="616080"/>
                </a:lnTo>
                <a:lnTo>
                  <a:pt x="2917596" y="581766"/>
                </a:lnTo>
                <a:lnTo>
                  <a:pt x="2926080" y="539750"/>
                </a:lnTo>
                <a:lnTo>
                  <a:pt x="2926080" y="107950"/>
                </a:lnTo>
                <a:lnTo>
                  <a:pt x="2917596" y="65927"/>
                </a:lnTo>
                <a:lnTo>
                  <a:pt x="2894460" y="31615"/>
                </a:lnTo>
                <a:lnTo>
                  <a:pt x="2860146" y="8482"/>
                </a:lnTo>
                <a:lnTo>
                  <a:pt x="2818130" y="0"/>
                </a:lnTo>
                <a:close/>
              </a:path>
            </a:pathLst>
          </a:custGeom>
          <a:solidFill>
            <a:srgbClr val="22B5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802822" y="3269179"/>
            <a:ext cx="15176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Software</a:t>
            </a:r>
            <a:r>
              <a:rPr sz="1600" b="1" spc="-9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Update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00821" y="3781808"/>
            <a:ext cx="2926080" cy="647700"/>
          </a:xfrm>
          <a:custGeom>
            <a:avLst/>
            <a:gdLst/>
            <a:ahLst/>
            <a:cxnLst/>
            <a:rect l="l" t="t" r="r" b="b"/>
            <a:pathLst>
              <a:path w="2926079" h="647700">
                <a:moveTo>
                  <a:pt x="2818130" y="0"/>
                </a:moveTo>
                <a:lnTo>
                  <a:pt x="107950" y="0"/>
                </a:lnTo>
                <a:lnTo>
                  <a:pt x="65933" y="8482"/>
                </a:lnTo>
                <a:lnTo>
                  <a:pt x="31619" y="31615"/>
                </a:lnTo>
                <a:lnTo>
                  <a:pt x="8483" y="65927"/>
                </a:lnTo>
                <a:lnTo>
                  <a:pt x="0" y="107949"/>
                </a:lnTo>
                <a:lnTo>
                  <a:pt x="0" y="539749"/>
                </a:lnTo>
                <a:lnTo>
                  <a:pt x="8483" y="581766"/>
                </a:lnTo>
                <a:lnTo>
                  <a:pt x="31619" y="616080"/>
                </a:lnTo>
                <a:lnTo>
                  <a:pt x="65933" y="639216"/>
                </a:lnTo>
                <a:lnTo>
                  <a:pt x="107950" y="647699"/>
                </a:lnTo>
                <a:lnTo>
                  <a:pt x="2818130" y="647699"/>
                </a:lnTo>
                <a:lnTo>
                  <a:pt x="2860146" y="639216"/>
                </a:lnTo>
                <a:lnTo>
                  <a:pt x="2894460" y="616080"/>
                </a:lnTo>
                <a:lnTo>
                  <a:pt x="2917596" y="581766"/>
                </a:lnTo>
                <a:lnTo>
                  <a:pt x="2926080" y="539749"/>
                </a:lnTo>
                <a:lnTo>
                  <a:pt x="2926080" y="107949"/>
                </a:lnTo>
                <a:lnTo>
                  <a:pt x="2917596" y="65927"/>
                </a:lnTo>
                <a:lnTo>
                  <a:pt x="2894460" y="31615"/>
                </a:lnTo>
                <a:lnTo>
                  <a:pt x="2860146" y="8482"/>
                </a:lnTo>
                <a:lnTo>
                  <a:pt x="2818130" y="0"/>
                </a:lnTo>
                <a:close/>
              </a:path>
            </a:pathLst>
          </a:custGeom>
          <a:solidFill>
            <a:srgbClr val="8181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55902" y="3950513"/>
            <a:ext cx="20129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Limited</a:t>
            </a:r>
            <a:r>
              <a:rPr sz="1600" b="1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Dependencies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00821" y="4463036"/>
            <a:ext cx="2926080" cy="647700"/>
          </a:xfrm>
          <a:custGeom>
            <a:avLst/>
            <a:gdLst/>
            <a:ahLst/>
            <a:cxnLst/>
            <a:rect l="l" t="t" r="r" b="b"/>
            <a:pathLst>
              <a:path w="2926079" h="647700">
                <a:moveTo>
                  <a:pt x="2818130" y="0"/>
                </a:moveTo>
                <a:lnTo>
                  <a:pt x="107950" y="0"/>
                </a:lnTo>
                <a:lnTo>
                  <a:pt x="65933" y="8482"/>
                </a:lnTo>
                <a:lnTo>
                  <a:pt x="31619" y="31615"/>
                </a:lnTo>
                <a:lnTo>
                  <a:pt x="8483" y="65927"/>
                </a:lnTo>
                <a:lnTo>
                  <a:pt x="0" y="107949"/>
                </a:lnTo>
                <a:lnTo>
                  <a:pt x="0" y="539749"/>
                </a:lnTo>
                <a:lnTo>
                  <a:pt x="8483" y="581766"/>
                </a:lnTo>
                <a:lnTo>
                  <a:pt x="31619" y="616080"/>
                </a:lnTo>
                <a:lnTo>
                  <a:pt x="65933" y="639216"/>
                </a:lnTo>
                <a:lnTo>
                  <a:pt x="107950" y="647699"/>
                </a:lnTo>
                <a:lnTo>
                  <a:pt x="2818130" y="647699"/>
                </a:lnTo>
                <a:lnTo>
                  <a:pt x="2860146" y="639216"/>
                </a:lnTo>
                <a:lnTo>
                  <a:pt x="2894460" y="616080"/>
                </a:lnTo>
                <a:lnTo>
                  <a:pt x="2917596" y="581766"/>
                </a:lnTo>
                <a:lnTo>
                  <a:pt x="2926080" y="539749"/>
                </a:lnTo>
                <a:lnTo>
                  <a:pt x="2926080" y="107949"/>
                </a:lnTo>
                <a:lnTo>
                  <a:pt x="2917596" y="65927"/>
                </a:lnTo>
                <a:lnTo>
                  <a:pt x="2894460" y="31615"/>
                </a:lnTo>
                <a:lnTo>
                  <a:pt x="2860146" y="8482"/>
                </a:lnTo>
                <a:lnTo>
                  <a:pt x="2818130" y="0"/>
                </a:lnTo>
                <a:close/>
              </a:path>
            </a:pathLst>
          </a:custGeom>
          <a:solidFill>
            <a:srgbClr val="DF522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877466" y="4631848"/>
            <a:ext cx="13684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Calisto MT"/>
                <a:cs typeface="Calisto MT"/>
              </a:rPr>
              <a:t>Powerful</a:t>
            </a:r>
            <a:r>
              <a:rPr sz="1600" b="1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Calisto MT"/>
                <a:cs typeface="Calisto MT"/>
              </a:rPr>
              <a:t>Tools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100821" y="5144263"/>
            <a:ext cx="2926080" cy="1330960"/>
            <a:chOff x="8100821" y="5144263"/>
            <a:chExt cx="2926080" cy="1330960"/>
          </a:xfrm>
        </p:grpSpPr>
        <p:sp>
          <p:nvSpPr>
            <p:cNvPr id="18" name="object 18"/>
            <p:cNvSpPr/>
            <p:nvPr/>
          </p:nvSpPr>
          <p:spPr>
            <a:xfrm>
              <a:off x="8100821" y="5144263"/>
              <a:ext cx="2926080" cy="649605"/>
            </a:xfrm>
            <a:custGeom>
              <a:avLst/>
              <a:gdLst/>
              <a:ahLst/>
              <a:cxnLst/>
              <a:rect l="l" t="t" r="r" b="b"/>
              <a:pathLst>
                <a:path w="2926079" h="649604">
                  <a:moveTo>
                    <a:pt x="2817876" y="0"/>
                  </a:moveTo>
                  <a:lnTo>
                    <a:pt x="108204" y="0"/>
                  </a:lnTo>
                  <a:lnTo>
                    <a:pt x="66088" y="8502"/>
                  </a:lnTo>
                  <a:lnTo>
                    <a:pt x="31694" y="31689"/>
                  </a:lnTo>
                  <a:lnTo>
                    <a:pt x="8504" y="66083"/>
                  </a:lnTo>
                  <a:lnTo>
                    <a:pt x="0" y="108203"/>
                  </a:lnTo>
                  <a:lnTo>
                    <a:pt x="0" y="541019"/>
                  </a:lnTo>
                  <a:lnTo>
                    <a:pt x="8504" y="583135"/>
                  </a:lnTo>
                  <a:lnTo>
                    <a:pt x="31694" y="617529"/>
                  </a:lnTo>
                  <a:lnTo>
                    <a:pt x="66088" y="640719"/>
                  </a:lnTo>
                  <a:lnTo>
                    <a:pt x="108204" y="649223"/>
                  </a:lnTo>
                  <a:lnTo>
                    <a:pt x="2817876" y="649223"/>
                  </a:lnTo>
                  <a:lnTo>
                    <a:pt x="2859991" y="640719"/>
                  </a:lnTo>
                  <a:lnTo>
                    <a:pt x="2894385" y="617529"/>
                  </a:lnTo>
                  <a:lnTo>
                    <a:pt x="2917575" y="583135"/>
                  </a:lnTo>
                  <a:lnTo>
                    <a:pt x="2926080" y="541019"/>
                  </a:lnTo>
                  <a:lnTo>
                    <a:pt x="2926080" y="108203"/>
                  </a:lnTo>
                  <a:lnTo>
                    <a:pt x="2917575" y="66083"/>
                  </a:lnTo>
                  <a:lnTo>
                    <a:pt x="2894385" y="31689"/>
                  </a:lnTo>
                  <a:lnTo>
                    <a:pt x="2859991" y="8502"/>
                  </a:lnTo>
                  <a:lnTo>
                    <a:pt x="2817876" y="0"/>
                  </a:lnTo>
                  <a:close/>
                </a:path>
              </a:pathLst>
            </a:custGeom>
            <a:solidFill>
              <a:srgbClr val="FD9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00821" y="5825491"/>
              <a:ext cx="2926080" cy="649605"/>
            </a:xfrm>
            <a:custGeom>
              <a:avLst/>
              <a:gdLst/>
              <a:ahLst/>
              <a:cxnLst/>
              <a:rect l="l" t="t" r="r" b="b"/>
              <a:pathLst>
                <a:path w="2926079" h="649604">
                  <a:moveTo>
                    <a:pt x="2817876" y="0"/>
                  </a:moveTo>
                  <a:lnTo>
                    <a:pt x="108204" y="0"/>
                  </a:lnTo>
                  <a:lnTo>
                    <a:pt x="66088" y="8502"/>
                  </a:lnTo>
                  <a:lnTo>
                    <a:pt x="31694" y="31689"/>
                  </a:lnTo>
                  <a:lnTo>
                    <a:pt x="8504" y="66083"/>
                  </a:lnTo>
                  <a:lnTo>
                    <a:pt x="0" y="108203"/>
                  </a:lnTo>
                  <a:lnTo>
                    <a:pt x="0" y="541019"/>
                  </a:lnTo>
                  <a:lnTo>
                    <a:pt x="8504" y="583135"/>
                  </a:lnTo>
                  <a:lnTo>
                    <a:pt x="31694" y="617529"/>
                  </a:lnTo>
                  <a:lnTo>
                    <a:pt x="66088" y="640719"/>
                  </a:lnTo>
                  <a:lnTo>
                    <a:pt x="108204" y="649223"/>
                  </a:lnTo>
                  <a:lnTo>
                    <a:pt x="2817876" y="649223"/>
                  </a:lnTo>
                  <a:lnTo>
                    <a:pt x="2859991" y="640719"/>
                  </a:lnTo>
                  <a:lnTo>
                    <a:pt x="2894385" y="617529"/>
                  </a:lnTo>
                  <a:lnTo>
                    <a:pt x="2917575" y="583135"/>
                  </a:lnTo>
                  <a:lnTo>
                    <a:pt x="2926080" y="541019"/>
                  </a:lnTo>
                  <a:lnTo>
                    <a:pt x="2926080" y="108203"/>
                  </a:lnTo>
                  <a:lnTo>
                    <a:pt x="2917575" y="66083"/>
                  </a:lnTo>
                  <a:lnTo>
                    <a:pt x="2894385" y="31689"/>
                  </a:lnTo>
                  <a:lnTo>
                    <a:pt x="2859991" y="8502"/>
                  </a:lnTo>
                  <a:lnTo>
                    <a:pt x="2817876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639722" y="5313184"/>
            <a:ext cx="1844039" cy="94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Testing</a:t>
            </a:r>
            <a:r>
              <a:rPr sz="1600" b="1" spc="-3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and</a:t>
            </a:r>
            <a:r>
              <a:rPr sz="1600" b="1" spc="-50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Plug-</a:t>
            </a:r>
            <a:r>
              <a:rPr sz="1600" b="1" spc="-25" dirty="0">
                <a:solidFill>
                  <a:srgbClr val="FFFFFF"/>
                </a:solidFill>
                <a:latin typeface="Calisto MT"/>
                <a:cs typeface="Calisto MT"/>
              </a:rPr>
              <a:t>ins</a:t>
            </a:r>
            <a:endParaRPr sz="1600">
              <a:latin typeface="Calisto MT"/>
              <a:cs typeface="Calisto MT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1600">
              <a:latin typeface="Calisto MT"/>
              <a:cs typeface="Calisto MT"/>
            </a:endParaRPr>
          </a:p>
          <a:p>
            <a:pPr marL="635" algn="ctr">
              <a:lnSpc>
                <a:spcPct val="100000"/>
              </a:lnSpc>
            </a:pPr>
            <a:r>
              <a:rPr sz="1600" b="1" dirty="0">
                <a:solidFill>
                  <a:srgbClr val="FFFFFF"/>
                </a:solidFill>
                <a:latin typeface="Calisto MT"/>
                <a:cs typeface="Calisto MT"/>
              </a:rPr>
              <a:t>Platform</a:t>
            </a:r>
            <a:r>
              <a:rPr sz="1600" b="1" spc="-15" dirty="0">
                <a:solidFill>
                  <a:srgbClr val="FFFFFF"/>
                </a:solidFill>
                <a:latin typeface="Calisto MT"/>
                <a:cs typeface="Calisto MT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sto MT"/>
                <a:cs typeface="Calisto MT"/>
              </a:rPr>
              <a:t>Support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27437" y="1127812"/>
            <a:ext cx="40747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sto MT"/>
                <a:cs typeface="Calisto MT"/>
              </a:rPr>
              <a:t>Reasons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for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popularity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Eclipse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IDE</a:t>
            </a:r>
            <a:endParaRPr sz="1800">
              <a:latin typeface="Calisto MT"/>
              <a:cs typeface="Calisto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36136" y="692329"/>
            <a:ext cx="2350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sto MT"/>
                <a:cs typeface="Calisto MT"/>
              </a:rPr>
              <a:t>Features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Eclipse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IDE</a:t>
            </a:r>
            <a:endParaRPr sz="1800">
              <a:latin typeface="Calisto MT"/>
              <a:cs typeface="Calisto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87805" y="1745363"/>
            <a:ext cx="4856480" cy="738505"/>
            <a:chOff x="1487805" y="1745363"/>
            <a:chExt cx="4856480" cy="738505"/>
          </a:xfrm>
        </p:grpSpPr>
        <p:sp>
          <p:nvSpPr>
            <p:cNvPr id="24" name="object 24"/>
            <p:cNvSpPr/>
            <p:nvPr/>
          </p:nvSpPr>
          <p:spPr>
            <a:xfrm>
              <a:off x="1497330" y="2020062"/>
              <a:ext cx="4837430" cy="454659"/>
            </a:xfrm>
            <a:custGeom>
              <a:avLst/>
              <a:gdLst/>
              <a:ahLst/>
              <a:cxnLst/>
              <a:rect l="l" t="t" r="r" b="b"/>
              <a:pathLst>
                <a:path w="4837430" h="454660">
                  <a:moveTo>
                    <a:pt x="0" y="0"/>
                  </a:moveTo>
                  <a:lnTo>
                    <a:pt x="4837176" y="0"/>
                  </a:lnTo>
                  <a:lnTo>
                    <a:pt x="4837176" y="454151"/>
                  </a:lnTo>
                  <a:lnTo>
                    <a:pt x="0" y="45415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FD9E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39646" y="1754888"/>
              <a:ext cx="3386454" cy="530860"/>
            </a:xfrm>
            <a:custGeom>
              <a:avLst/>
              <a:gdLst/>
              <a:ahLst/>
              <a:cxnLst/>
              <a:rect l="l" t="t" r="r" b="b"/>
              <a:pathLst>
                <a:path w="3386454" h="530860">
                  <a:moveTo>
                    <a:pt x="3297936" y="0"/>
                  </a:moveTo>
                  <a:lnTo>
                    <a:pt x="88392" y="0"/>
                  </a:lnTo>
                  <a:lnTo>
                    <a:pt x="53985" y="6946"/>
                  </a:lnTo>
                  <a:lnTo>
                    <a:pt x="25888" y="25888"/>
                  </a:lnTo>
                  <a:lnTo>
                    <a:pt x="6946" y="53985"/>
                  </a:lnTo>
                  <a:lnTo>
                    <a:pt x="0" y="88391"/>
                  </a:lnTo>
                  <a:lnTo>
                    <a:pt x="0" y="441959"/>
                  </a:lnTo>
                  <a:lnTo>
                    <a:pt x="6946" y="476366"/>
                  </a:lnTo>
                  <a:lnTo>
                    <a:pt x="25888" y="504463"/>
                  </a:lnTo>
                  <a:lnTo>
                    <a:pt x="53985" y="523405"/>
                  </a:lnTo>
                  <a:lnTo>
                    <a:pt x="88392" y="530351"/>
                  </a:lnTo>
                  <a:lnTo>
                    <a:pt x="3297936" y="530351"/>
                  </a:lnTo>
                  <a:lnTo>
                    <a:pt x="3332342" y="523405"/>
                  </a:lnTo>
                  <a:lnTo>
                    <a:pt x="3360439" y="504463"/>
                  </a:lnTo>
                  <a:lnTo>
                    <a:pt x="3379381" y="476366"/>
                  </a:lnTo>
                  <a:lnTo>
                    <a:pt x="3386328" y="441959"/>
                  </a:lnTo>
                  <a:lnTo>
                    <a:pt x="3386328" y="88391"/>
                  </a:lnTo>
                  <a:lnTo>
                    <a:pt x="3379381" y="53985"/>
                  </a:lnTo>
                  <a:lnTo>
                    <a:pt x="3360439" y="25888"/>
                  </a:lnTo>
                  <a:lnTo>
                    <a:pt x="3332342" y="6946"/>
                  </a:lnTo>
                  <a:lnTo>
                    <a:pt x="3297936" y="0"/>
                  </a:lnTo>
                  <a:close/>
                </a:path>
              </a:pathLst>
            </a:custGeom>
            <a:solidFill>
              <a:srgbClr val="FD9E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739646" y="1754888"/>
              <a:ext cx="3386454" cy="530860"/>
            </a:xfrm>
            <a:custGeom>
              <a:avLst/>
              <a:gdLst/>
              <a:ahLst/>
              <a:cxnLst/>
              <a:rect l="l" t="t" r="r" b="b"/>
              <a:pathLst>
                <a:path w="3386454" h="530860">
                  <a:moveTo>
                    <a:pt x="0" y="88391"/>
                  </a:moveTo>
                  <a:lnTo>
                    <a:pt x="6946" y="53985"/>
                  </a:lnTo>
                  <a:lnTo>
                    <a:pt x="25888" y="25888"/>
                  </a:lnTo>
                  <a:lnTo>
                    <a:pt x="53985" y="6946"/>
                  </a:lnTo>
                  <a:lnTo>
                    <a:pt x="88392" y="0"/>
                  </a:lnTo>
                  <a:lnTo>
                    <a:pt x="3297936" y="0"/>
                  </a:lnTo>
                  <a:lnTo>
                    <a:pt x="3332342" y="6946"/>
                  </a:lnTo>
                  <a:lnTo>
                    <a:pt x="3360439" y="25888"/>
                  </a:lnTo>
                  <a:lnTo>
                    <a:pt x="3379381" y="53985"/>
                  </a:lnTo>
                  <a:lnTo>
                    <a:pt x="3386328" y="88391"/>
                  </a:lnTo>
                  <a:lnTo>
                    <a:pt x="3386328" y="441959"/>
                  </a:lnTo>
                  <a:lnTo>
                    <a:pt x="3379381" y="476366"/>
                  </a:lnTo>
                  <a:lnTo>
                    <a:pt x="3360439" y="504463"/>
                  </a:lnTo>
                  <a:lnTo>
                    <a:pt x="3332342" y="523405"/>
                  </a:lnTo>
                  <a:lnTo>
                    <a:pt x="3297936" y="530351"/>
                  </a:lnTo>
                  <a:lnTo>
                    <a:pt x="88392" y="530351"/>
                  </a:lnTo>
                  <a:lnTo>
                    <a:pt x="53985" y="523405"/>
                  </a:lnTo>
                  <a:lnTo>
                    <a:pt x="25888" y="504463"/>
                  </a:lnTo>
                  <a:lnTo>
                    <a:pt x="6946" y="476366"/>
                  </a:lnTo>
                  <a:lnTo>
                    <a:pt x="0" y="441959"/>
                  </a:lnTo>
                  <a:lnTo>
                    <a:pt x="0" y="8839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79762" y="1863120"/>
            <a:ext cx="2444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sto MT"/>
                <a:cs typeface="Calisto MT"/>
              </a:rPr>
              <a:t>Supports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multiple</a:t>
            </a:r>
            <a:r>
              <a:rPr sz="1600" spc="-1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languages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487805" y="2562227"/>
            <a:ext cx="4856480" cy="737235"/>
            <a:chOff x="1487805" y="2562227"/>
            <a:chExt cx="4856480" cy="737235"/>
          </a:xfrm>
        </p:grpSpPr>
        <p:sp>
          <p:nvSpPr>
            <p:cNvPr id="29" name="object 29"/>
            <p:cNvSpPr/>
            <p:nvPr/>
          </p:nvSpPr>
          <p:spPr>
            <a:xfrm>
              <a:off x="1497330" y="2836925"/>
              <a:ext cx="4837430" cy="452755"/>
            </a:xfrm>
            <a:custGeom>
              <a:avLst/>
              <a:gdLst/>
              <a:ahLst/>
              <a:cxnLst/>
              <a:rect l="l" t="t" r="r" b="b"/>
              <a:pathLst>
                <a:path w="4837430" h="452754">
                  <a:moveTo>
                    <a:pt x="0" y="0"/>
                  </a:moveTo>
                  <a:lnTo>
                    <a:pt x="4837176" y="0"/>
                  </a:lnTo>
                  <a:lnTo>
                    <a:pt x="4837176" y="452627"/>
                  </a:lnTo>
                  <a:lnTo>
                    <a:pt x="0" y="45262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A8EB1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739646" y="2571752"/>
              <a:ext cx="3386454" cy="530860"/>
            </a:xfrm>
            <a:custGeom>
              <a:avLst/>
              <a:gdLst/>
              <a:ahLst/>
              <a:cxnLst/>
              <a:rect l="l" t="t" r="r" b="b"/>
              <a:pathLst>
                <a:path w="3386454" h="530860">
                  <a:moveTo>
                    <a:pt x="3297936" y="0"/>
                  </a:moveTo>
                  <a:lnTo>
                    <a:pt x="88392" y="0"/>
                  </a:lnTo>
                  <a:lnTo>
                    <a:pt x="53985" y="6946"/>
                  </a:lnTo>
                  <a:lnTo>
                    <a:pt x="25888" y="25888"/>
                  </a:lnTo>
                  <a:lnTo>
                    <a:pt x="6946" y="53985"/>
                  </a:lnTo>
                  <a:lnTo>
                    <a:pt x="0" y="88391"/>
                  </a:lnTo>
                  <a:lnTo>
                    <a:pt x="0" y="441959"/>
                  </a:lnTo>
                  <a:lnTo>
                    <a:pt x="6946" y="476366"/>
                  </a:lnTo>
                  <a:lnTo>
                    <a:pt x="25888" y="504463"/>
                  </a:lnTo>
                  <a:lnTo>
                    <a:pt x="53985" y="523405"/>
                  </a:lnTo>
                  <a:lnTo>
                    <a:pt x="88392" y="530351"/>
                  </a:lnTo>
                  <a:lnTo>
                    <a:pt x="3297936" y="530351"/>
                  </a:lnTo>
                  <a:lnTo>
                    <a:pt x="3332342" y="523405"/>
                  </a:lnTo>
                  <a:lnTo>
                    <a:pt x="3360439" y="504463"/>
                  </a:lnTo>
                  <a:lnTo>
                    <a:pt x="3379381" y="476366"/>
                  </a:lnTo>
                  <a:lnTo>
                    <a:pt x="3386328" y="441959"/>
                  </a:lnTo>
                  <a:lnTo>
                    <a:pt x="3386328" y="88391"/>
                  </a:lnTo>
                  <a:lnTo>
                    <a:pt x="3379381" y="53985"/>
                  </a:lnTo>
                  <a:lnTo>
                    <a:pt x="3360439" y="25888"/>
                  </a:lnTo>
                  <a:lnTo>
                    <a:pt x="3332342" y="6946"/>
                  </a:lnTo>
                  <a:lnTo>
                    <a:pt x="3297936" y="0"/>
                  </a:lnTo>
                  <a:close/>
                </a:path>
              </a:pathLst>
            </a:custGeom>
            <a:solidFill>
              <a:srgbClr val="A8EB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739646" y="2571752"/>
              <a:ext cx="3386454" cy="530860"/>
            </a:xfrm>
            <a:custGeom>
              <a:avLst/>
              <a:gdLst/>
              <a:ahLst/>
              <a:cxnLst/>
              <a:rect l="l" t="t" r="r" b="b"/>
              <a:pathLst>
                <a:path w="3386454" h="530860">
                  <a:moveTo>
                    <a:pt x="0" y="88391"/>
                  </a:moveTo>
                  <a:lnTo>
                    <a:pt x="6946" y="53985"/>
                  </a:lnTo>
                  <a:lnTo>
                    <a:pt x="25888" y="25888"/>
                  </a:lnTo>
                  <a:lnTo>
                    <a:pt x="53985" y="6946"/>
                  </a:lnTo>
                  <a:lnTo>
                    <a:pt x="88392" y="0"/>
                  </a:lnTo>
                  <a:lnTo>
                    <a:pt x="3297936" y="0"/>
                  </a:lnTo>
                  <a:lnTo>
                    <a:pt x="3332342" y="6946"/>
                  </a:lnTo>
                  <a:lnTo>
                    <a:pt x="3360439" y="25888"/>
                  </a:lnTo>
                  <a:lnTo>
                    <a:pt x="3379381" y="53985"/>
                  </a:lnTo>
                  <a:lnTo>
                    <a:pt x="3386328" y="88391"/>
                  </a:lnTo>
                  <a:lnTo>
                    <a:pt x="3386328" y="441959"/>
                  </a:lnTo>
                  <a:lnTo>
                    <a:pt x="3379381" y="476366"/>
                  </a:lnTo>
                  <a:lnTo>
                    <a:pt x="3360439" y="504463"/>
                  </a:lnTo>
                  <a:lnTo>
                    <a:pt x="3332342" y="523405"/>
                  </a:lnTo>
                  <a:lnTo>
                    <a:pt x="3297936" y="530351"/>
                  </a:lnTo>
                  <a:lnTo>
                    <a:pt x="88392" y="530351"/>
                  </a:lnTo>
                  <a:lnTo>
                    <a:pt x="53985" y="523405"/>
                  </a:lnTo>
                  <a:lnTo>
                    <a:pt x="25888" y="504463"/>
                  </a:lnTo>
                  <a:lnTo>
                    <a:pt x="6946" y="476366"/>
                  </a:lnTo>
                  <a:lnTo>
                    <a:pt x="0" y="441959"/>
                  </a:lnTo>
                  <a:lnTo>
                    <a:pt x="0" y="88391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879762" y="2679599"/>
            <a:ext cx="2772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sto MT"/>
                <a:cs typeface="Calisto MT"/>
              </a:rPr>
              <a:t>Advanced</a:t>
            </a:r>
            <a:r>
              <a:rPr sz="1600" spc="-5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features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for</a:t>
            </a:r>
            <a:r>
              <a:rPr sz="1600" spc="-50" dirty="0">
                <a:latin typeface="Calisto MT"/>
                <a:cs typeface="Calisto MT"/>
              </a:rPr>
              <a:t> </a:t>
            </a:r>
            <a:r>
              <a:rPr sz="1600" spc="-35" dirty="0">
                <a:latin typeface="Calisto MT"/>
                <a:cs typeface="Calisto MT"/>
              </a:rPr>
              <a:t>Java</a:t>
            </a:r>
            <a:r>
              <a:rPr sz="1600" spc="-50" dirty="0">
                <a:latin typeface="Calisto MT"/>
                <a:cs typeface="Calisto MT"/>
              </a:rPr>
              <a:t> </a:t>
            </a:r>
            <a:r>
              <a:rPr sz="1600" spc="-20" dirty="0">
                <a:latin typeface="Calisto MT"/>
                <a:cs typeface="Calisto MT"/>
              </a:rPr>
              <a:t>apps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487805" y="3377566"/>
            <a:ext cx="4856480" cy="738505"/>
            <a:chOff x="1487805" y="3377566"/>
            <a:chExt cx="4856480" cy="738505"/>
          </a:xfrm>
        </p:grpSpPr>
        <p:sp>
          <p:nvSpPr>
            <p:cNvPr id="34" name="object 34"/>
            <p:cNvSpPr/>
            <p:nvPr/>
          </p:nvSpPr>
          <p:spPr>
            <a:xfrm>
              <a:off x="1497330" y="3653790"/>
              <a:ext cx="4837430" cy="452755"/>
            </a:xfrm>
            <a:custGeom>
              <a:avLst/>
              <a:gdLst/>
              <a:ahLst/>
              <a:cxnLst/>
              <a:rect l="l" t="t" r="r" b="b"/>
              <a:pathLst>
                <a:path w="4837430" h="452754">
                  <a:moveTo>
                    <a:pt x="0" y="0"/>
                  </a:moveTo>
                  <a:lnTo>
                    <a:pt x="4837176" y="0"/>
                  </a:lnTo>
                  <a:lnTo>
                    <a:pt x="4837176" y="452627"/>
                  </a:lnTo>
                  <a:lnTo>
                    <a:pt x="0" y="45262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22D7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739646" y="3387091"/>
              <a:ext cx="3386454" cy="532130"/>
            </a:xfrm>
            <a:custGeom>
              <a:avLst/>
              <a:gdLst/>
              <a:ahLst/>
              <a:cxnLst/>
              <a:rect l="l" t="t" r="r" b="b"/>
              <a:pathLst>
                <a:path w="3386454" h="532129">
                  <a:moveTo>
                    <a:pt x="3297682" y="0"/>
                  </a:moveTo>
                  <a:lnTo>
                    <a:pt x="88646" y="0"/>
                  </a:lnTo>
                  <a:lnTo>
                    <a:pt x="54140" y="6966"/>
                  </a:lnTo>
                  <a:lnTo>
                    <a:pt x="25963" y="25963"/>
                  </a:lnTo>
                  <a:lnTo>
                    <a:pt x="6966" y="54140"/>
                  </a:lnTo>
                  <a:lnTo>
                    <a:pt x="0" y="88646"/>
                  </a:lnTo>
                  <a:lnTo>
                    <a:pt x="0" y="443230"/>
                  </a:lnTo>
                  <a:lnTo>
                    <a:pt x="6966" y="477735"/>
                  </a:lnTo>
                  <a:lnTo>
                    <a:pt x="25963" y="505912"/>
                  </a:lnTo>
                  <a:lnTo>
                    <a:pt x="54140" y="524909"/>
                  </a:lnTo>
                  <a:lnTo>
                    <a:pt x="88646" y="531876"/>
                  </a:lnTo>
                  <a:lnTo>
                    <a:pt x="3297682" y="531876"/>
                  </a:lnTo>
                  <a:lnTo>
                    <a:pt x="3332187" y="524909"/>
                  </a:lnTo>
                  <a:lnTo>
                    <a:pt x="3360364" y="505912"/>
                  </a:lnTo>
                  <a:lnTo>
                    <a:pt x="3379361" y="477735"/>
                  </a:lnTo>
                  <a:lnTo>
                    <a:pt x="3386328" y="443230"/>
                  </a:lnTo>
                  <a:lnTo>
                    <a:pt x="3386328" y="88646"/>
                  </a:lnTo>
                  <a:lnTo>
                    <a:pt x="3379361" y="54140"/>
                  </a:lnTo>
                  <a:lnTo>
                    <a:pt x="3360364" y="25963"/>
                  </a:lnTo>
                  <a:lnTo>
                    <a:pt x="3332187" y="6966"/>
                  </a:lnTo>
                  <a:lnTo>
                    <a:pt x="3297682" y="0"/>
                  </a:lnTo>
                  <a:close/>
                </a:path>
              </a:pathLst>
            </a:custGeom>
            <a:solidFill>
              <a:srgbClr val="22D72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739646" y="3387091"/>
              <a:ext cx="3386454" cy="532130"/>
            </a:xfrm>
            <a:custGeom>
              <a:avLst/>
              <a:gdLst/>
              <a:ahLst/>
              <a:cxnLst/>
              <a:rect l="l" t="t" r="r" b="b"/>
              <a:pathLst>
                <a:path w="3386454" h="532129">
                  <a:moveTo>
                    <a:pt x="0" y="88646"/>
                  </a:moveTo>
                  <a:lnTo>
                    <a:pt x="6966" y="54140"/>
                  </a:lnTo>
                  <a:lnTo>
                    <a:pt x="25963" y="25963"/>
                  </a:lnTo>
                  <a:lnTo>
                    <a:pt x="54140" y="6966"/>
                  </a:lnTo>
                  <a:lnTo>
                    <a:pt x="88646" y="0"/>
                  </a:lnTo>
                  <a:lnTo>
                    <a:pt x="3297682" y="0"/>
                  </a:lnTo>
                  <a:lnTo>
                    <a:pt x="3332187" y="6966"/>
                  </a:lnTo>
                  <a:lnTo>
                    <a:pt x="3360364" y="25963"/>
                  </a:lnTo>
                  <a:lnTo>
                    <a:pt x="3379361" y="54140"/>
                  </a:lnTo>
                  <a:lnTo>
                    <a:pt x="3386328" y="88646"/>
                  </a:lnTo>
                  <a:lnTo>
                    <a:pt x="3386328" y="443230"/>
                  </a:lnTo>
                  <a:lnTo>
                    <a:pt x="3379361" y="477735"/>
                  </a:lnTo>
                  <a:lnTo>
                    <a:pt x="3360364" y="505912"/>
                  </a:lnTo>
                  <a:lnTo>
                    <a:pt x="3332187" y="524909"/>
                  </a:lnTo>
                  <a:lnTo>
                    <a:pt x="3297682" y="531876"/>
                  </a:lnTo>
                  <a:lnTo>
                    <a:pt x="88646" y="531876"/>
                  </a:lnTo>
                  <a:lnTo>
                    <a:pt x="54140" y="524909"/>
                  </a:lnTo>
                  <a:lnTo>
                    <a:pt x="25963" y="505912"/>
                  </a:lnTo>
                  <a:lnTo>
                    <a:pt x="6966" y="477735"/>
                  </a:lnTo>
                  <a:lnTo>
                    <a:pt x="0" y="443230"/>
                  </a:lnTo>
                  <a:lnTo>
                    <a:pt x="0" y="88646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879762" y="3496081"/>
            <a:ext cx="18510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sto MT"/>
                <a:cs typeface="Calisto MT"/>
              </a:rPr>
              <a:t>Simple</a:t>
            </a:r>
            <a:r>
              <a:rPr sz="1600" spc="-2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UI</a:t>
            </a:r>
            <a:r>
              <a:rPr sz="1600" spc="-55" dirty="0">
                <a:latin typeface="Calisto MT"/>
                <a:cs typeface="Calisto MT"/>
              </a:rPr>
              <a:t> </a:t>
            </a:r>
            <a:r>
              <a:rPr sz="1600" dirty="0">
                <a:latin typeface="Calisto MT"/>
                <a:cs typeface="Calisto MT"/>
              </a:rPr>
              <a:t>and</a:t>
            </a:r>
            <a:r>
              <a:rPr sz="1600" spc="-35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install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487805" y="4194430"/>
            <a:ext cx="4856480" cy="738505"/>
            <a:chOff x="1487805" y="4194430"/>
            <a:chExt cx="4856480" cy="738505"/>
          </a:xfrm>
        </p:grpSpPr>
        <p:sp>
          <p:nvSpPr>
            <p:cNvPr id="39" name="object 39"/>
            <p:cNvSpPr/>
            <p:nvPr/>
          </p:nvSpPr>
          <p:spPr>
            <a:xfrm>
              <a:off x="1497330" y="4469130"/>
              <a:ext cx="4837430" cy="454659"/>
            </a:xfrm>
            <a:custGeom>
              <a:avLst/>
              <a:gdLst/>
              <a:ahLst/>
              <a:cxnLst/>
              <a:rect l="l" t="t" r="r" b="b"/>
              <a:pathLst>
                <a:path w="4837430" h="454660">
                  <a:moveTo>
                    <a:pt x="0" y="0"/>
                  </a:moveTo>
                  <a:lnTo>
                    <a:pt x="4837176" y="0"/>
                  </a:lnTo>
                  <a:lnTo>
                    <a:pt x="4837176" y="454152"/>
                  </a:lnTo>
                  <a:lnTo>
                    <a:pt x="0" y="454152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30C5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739646" y="4203955"/>
              <a:ext cx="3386454" cy="532130"/>
            </a:xfrm>
            <a:custGeom>
              <a:avLst/>
              <a:gdLst/>
              <a:ahLst/>
              <a:cxnLst/>
              <a:rect l="l" t="t" r="r" b="b"/>
              <a:pathLst>
                <a:path w="3386454" h="532129">
                  <a:moveTo>
                    <a:pt x="3297682" y="0"/>
                  </a:moveTo>
                  <a:lnTo>
                    <a:pt x="88646" y="0"/>
                  </a:lnTo>
                  <a:lnTo>
                    <a:pt x="54140" y="6966"/>
                  </a:lnTo>
                  <a:lnTo>
                    <a:pt x="25963" y="25963"/>
                  </a:lnTo>
                  <a:lnTo>
                    <a:pt x="6966" y="54140"/>
                  </a:lnTo>
                  <a:lnTo>
                    <a:pt x="0" y="88645"/>
                  </a:lnTo>
                  <a:lnTo>
                    <a:pt x="0" y="443229"/>
                  </a:lnTo>
                  <a:lnTo>
                    <a:pt x="6966" y="477735"/>
                  </a:lnTo>
                  <a:lnTo>
                    <a:pt x="25963" y="505912"/>
                  </a:lnTo>
                  <a:lnTo>
                    <a:pt x="54140" y="524909"/>
                  </a:lnTo>
                  <a:lnTo>
                    <a:pt x="88646" y="531875"/>
                  </a:lnTo>
                  <a:lnTo>
                    <a:pt x="3297682" y="531875"/>
                  </a:lnTo>
                  <a:lnTo>
                    <a:pt x="3332187" y="524909"/>
                  </a:lnTo>
                  <a:lnTo>
                    <a:pt x="3360364" y="505912"/>
                  </a:lnTo>
                  <a:lnTo>
                    <a:pt x="3379361" y="477735"/>
                  </a:lnTo>
                  <a:lnTo>
                    <a:pt x="3386328" y="443229"/>
                  </a:lnTo>
                  <a:lnTo>
                    <a:pt x="3386328" y="88645"/>
                  </a:lnTo>
                  <a:lnTo>
                    <a:pt x="3379361" y="54140"/>
                  </a:lnTo>
                  <a:lnTo>
                    <a:pt x="3360364" y="25963"/>
                  </a:lnTo>
                  <a:lnTo>
                    <a:pt x="3332187" y="6966"/>
                  </a:lnTo>
                  <a:lnTo>
                    <a:pt x="3297682" y="0"/>
                  </a:lnTo>
                  <a:close/>
                </a:path>
              </a:pathLst>
            </a:custGeom>
            <a:solidFill>
              <a:srgbClr val="30C5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739646" y="4203955"/>
              <a:ext cx="3386454" cy="532130"/>
            </a:xfrm>
            <a:custGeom>
              <a:avLst/>
              <a:gdLst/>
              <a:ahLst/>
              <a:cxnLst/>
              <a:rect l="l" t="t" r="r" b="b"/>
              <a:pathLst>
                <a:path w="3386454" h="532129">
                  <a:moveTo>
                    <a:pt x="0" y="88645"/>
                  </a:moveTo>
                  <a:lnTo>
                    <a:pt x="6966" y="54140"/>
                  </a:lnTo>
                  <a:lnTo>
                    <a:pt x="25963" y="25963"/>
                  </a:lnTo>
                  <a:lnTo>
                    <a:pt x="54140" y="6966"/>
                  </a:lnTo>
                  <a:lnTo>
                    <a:pt x="88646" y="0"/>
                  </a:lnTo>
                  <a:lnTo>
                    <a:pt x="3297682" y="0"/>
                  </a:lnTo>
                  <a:lnTo>
                    <a:pt x="3332187" y="6966"/>
                  </a:lnTo>
                  <a:lnTo>
                    <a:pt x="3360364" y="25963"/>
                  </a:lnTo>
                  <a:lnTo>
                    <a:pt x="3379361" y="54140"/>
                  </a:lnTo>
                  <a:lnTo>
                    <a:pt x="3386328" y="88645"/>
                  </a:lnTo>
                  <a:lnTo>
                    <a:pt x="3386328" y="443229"/>
                  </a:lnTo>
                  <a:lnTo>
                    <a:pt x="3379361" y="477735"/>
                  </a:lnTo>
                  <a:lnTo>
                    <a:pt x="3360364" y="505912"/>
                  </a:lnTo>
                  <a:lnTo>
                    <a:pt x="3332187" y="524909"/>
                  </a:lnTo>
                  <a:lnTo>
                    <a:pt x="3297682" y="531875"/>
                  </a:lnTo>
                  <a:lnTo>
                    <a:pt x="88646" y="531875"/>
                  </a:lnTo>
                  <a:lnTo>
                    <a:pt x="54140" y="524909"/>
                  </a:lnTo>
                  <a:lnTo>
                    <a:pt x="25963" y="505912"/>
                  </a:lnTo>
                  <a:lnTo>
                    <a:pt x="6966" y="477735"/>
                  </a:lnTo>
                  <a:lnTo>
                    <a:pt x="0" y="443229"/>
                  </a:lnTo>
                  <a:lnTo>
                    <a:pt x="0" y="8864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879762" y="4312560"/>
            <a:ext cx="13811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sto MT"/>
                <a:cs typeface="Calisto MT"/>
              </a:rPr>
              <a:t>Annual</a:t>
            </a:r>
            <a:r>
              <a:rPr sz="1600" spc="-9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updates</a:t>
            </a:r>
            <a:endParaRPr sz="1600">
              <a:latin typeface="Calisto MT"/>
              <a:cs typeface="Calisto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487805" y="5011295"/>
            <a:ext cx="4856480" cy="738505"/>
            <a:chOff x="1487805" y="5011295"/>
            <a:chExt cx="4856480" cy="738505"/>
          </a:xfrm>
        </p:grpSpPr>
        <p:sp>
          <p:nvSpPr>
            <p:cNvPr id="44" name="object 44"/>
            <p:cNvSpPr/>
            <p:nvPr/>
          </p:nvSpPr>
          <p:spPr>
            <a:xfrm>
              <a:off x="1497330" y="5285994"/>
              <a:ext cx="4837430" cy="454659"/>
            </a:xfrm>
            <a:custGeom>
              <a:avLst/>
              <a:gdLst/>
              <a:ahLst/>
              <a:cxnLst/>
              <a:rect l="l" t="t" r="r" b="b"/>
              <a:pathLst>
                <a:path w="4837430" h="454660">
                  <a:moveTo>
                    <a:pt x="0" y="0"/>
                  </a:moveTo>
                  <a:lnTo>
                    <a:pt x="4837176" y="0"/>
                  </a:lnTo>
                  <a:lnTo>
                    <a:pt x="4837176" y="454151"/>
                  </a:lnTo>
                  <a:lnTo>
                    <a:pt x="0" y="454151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4189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739646" y="5020820"/>
              <a:ext cx="3386454" cy="530860"/>
            </a:xfrm>
            <a:custGeom>
              <a:avLst/>
              <a:gdLst/>
              <a:ahLst/>
              <a:cxnLst/>
              <a:rect l="l" t="t" r="r" b="b"/>
              <a:pathLst>
                <a:path w="3386454" h="530860">
                  <a:moveTo>
                    <a:pt x="3297936" y="0"/>
                  </a:moveTo>
                  <a:lnTo>
                    <a:pt x="88392" y="0"/>
                  </a:lnTo>
                  <a:lnTo>
                    <a:pt x="53985" y="6946"/>
                  </a:lnTo>
                  <a:lnTo>
                    <a:pt x="25888" y="25888"/>
                  </a:lnTo>
                  <a:lnTo>
                    <a:pt x="6946" y="53985"/>
                  </a:lnTo>
                  <a:lnTo>
                    <a:pt x="0" y="88392"/>
                  </a:lnTo>
                  <a:lnTo>
                    <a:pt x="0" y="441960"/>
                  </a:lnTo>
                  <a:lnTo>
                    <a:pt x="6946" y="476366"/>
                  </a:lnTo>
                  <a:lnTo>
                    <a:pt x="25888" y="504463"/>
                  </a:lnTo>
                  <a:lnTo>
                    <a:pt x="53985" y="523405"/>
                  </a:lnTo>
                  <a:lnTo>
                    <a:pt x="88392" y="530352"/>
                  </a:lnTo>
                  <a:lnTo>
                    <a:pt x="3297936" y="530352"/>
                  </a:lnTo>
                  <a:lnTo>
                    <a:pt x="3332342" y="523405"/>
                  </a:lnTo>
                  <a:lnTo>
                    <a:pt x="3360439" y="504463"/>
                  </a:lnTo>
                  <a:lnTo>
                    <a:pt x="3379381" y="476366"/>
                  </a:lnTo>
                  <a:lnTo>
                    <a:pt x="3386328" y="441960"/>
                  </a:lnTo>
                  <a:lnTo>
                    <a:pt x="3386328" y="88392"/>
                  </a:lnTo>
                  <a:lnTo>
                    <a:pt x="3379381" y="53985"/>
                  </a:lnTo>
                  <a:lnTo>
                    <a:pt x="3360439" y="25888"/>
                  </a:lnTo>
                  <a:lnTo>
                    <a:pt x="3332342" y="6946"/>
                  </a:lnTo>
                  <a:lnTo>
                    <a:pt x="3297936" y="0"/>
                  </a:lnTo>
                  <a:close/>
                </a:path>
              </a:pathLst>
            </a:custGeom>
            <a:solidFill>
              <a:srgbClr val="418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739646" y="5020820"/>
              <a:ext cx="3386454" cy="530860"/>
            </a:xfrm>
            <a:custGeom>
              <a:avLst/>
              <a:gdLst/>
              <a:ahLst/>
              <a:cxnLst/>
              <a:rect l="l" t="t" r="r" b="b"/>
              <a:pathLst>
                <a:path w="3386454" h="530860">
                  <a:moveTo>
                    <a:pt x="0" y="88392"/>
                  </a:moveTo>
                  <a:lnTo>
                    <a:pt x="6946" y="53985"/>
                  </a:lnTo>
                  <a:lnTo>
                    <a:pt x="25888" y="25888"/>
                  </a:lnTo>
                  <a:lnTo>
                    <a:pt x="53985" y="6946"/>
                  </a:lnTo>
                  <a:lnTo>
                    <a:pt x="88392" y="0"/>
                  </a:lnTo>
                  <a:lnTo>
                    <a:pt x="3297936" y="0"/>
                  </a:lnTo>
                  <a:lnTo>
                    <a:pt x="3332342" y="6946"/>
                  </a:lnTo>
                  <a:lnTo>
                    <a:pt x="3360439" y="25888"/>
                  </a:lnTo>
                  <a:lnTo>
                    <a:pt x="3379381" y="53985"/>
                  </a:lnTo>
                  <a:lnTo>
                    <a:pt x="3386328" y="88392"/>
                  </a:lnTo>
                  <a:lnTo>
                    <a:pt x="3386328" y="441960"/>
                  </a:lnTo>
                  <a:lnTo>
                    <a:pt x="3379381" y="476366"/>
                  </a:lnTo>
                  <a:lnTo>
                    <a:pt x="3360439" y="504463"/>
                  </a:lnTo>
                  <a:lnTo>
                    <a:pt x="3332342" y="523405"/>
                  </a:lnTo>
                  <a:lnTo>
                    <a:pt x="3297936" y="530352"/>
                  </a:lnTo>
                  <a:lnTo>
                    <a:pt x="88392" y="530352"/>
                  </a:lnTo>
                  <a:lnTo>
                    <a:pt x="53985" y="523405"/>
                  </a:lnTo>
                  <a:lnTo>
                    <a:pt x="25888" y="504463"/>
                  </a:lnTo>
                  <a:lnTo>
                    <a:pt x="6946" y="476366"/>
                  </a:lnTo>
                  <a:lnTo>
                    <a:pt x="0" y="441960"/>
                  </a:lnTo>
                  <a:lnTo>
                    <a:pt x="0" y="88392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879762" y="5129041"/>
            <a:ext cx="15843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sto MT"/>
                <a:cs typeface="Calisto MT"/>
              </a:rPr>
              <a:t>Extensive</a:t>
            </a:r>
            <a:r>
              <a:rPr sz="1600" spc="-40" dirty="0">
                <a:latin typeface="Calisto MT"/>
                <a:cs typeface="Calisto MT"/>
              </a:rPr>
              <a:t> </a:t>
            </a:r>
            <a:r>
              <a:rPr sz="1600" spc="-10" dirty="0">
                <a:latin typeface="Calisto MT"/>
                <a:cs typeface="Calisto MT"/>
              </a:rPr>
              <a:t>plug-</a:t>
            </a:r>
            <a:r>
              <a:rPr sz="1600" spc="-25" dirty="0">
                <a:latin typeface="Calisto MT"/>
                <a:cs typeface="Calisto MT"/>
              </a:rPr>
              <a:t>ins</a:t>
            </a:r>
            <a:endParaRPr sz="1600">
              <a:latin typeface="Calisto MT"/>
              <a:cs typeface="Calisto MT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Installation</a:t>
            </a:r>
            <a:r>
              <a:rPr spc="-25" dirty="0"/>
              <a:t> </a:t>
            </a:r>
            <a:r>
              <a:rPr dirty="0"/>
              <a:t>of</a:t>
            </a:r>
            <a:r>
              <a:rPr spc="200" dirty="0"/>
              <a:t> </a:t>
            </a:r>
            <a:r>
              <a:rPr dirty="0"/>
              <a:t>Eclipse</a:t>
            </a:r>
            <a:r>
              <a:rPr spc="-70" dirty="0"/>
              <a:t> </a:t>
            </a:r>
            <a:r>
              <a:rPr spc="-25" dirty="0"/>
              <a:t>IDE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1744979" y="989076"/>
            <a:ext cx="2379980" cy="1186180"/>
            <a:chOff x="1744979" y="989076"/>
            <a:chExt cx="2379980" cy="1186180"/>
          </a:xfrm>
        </p:grpSpPr>
        <p:sp>
          <p:nvSpPr>
            <p:cNvPr id="6" name="object 6"/>
            <p:cNvSpPr/>
            <p:nvPr/>
          </p:nvSpPr>
          <p:spPr>
            <a:xfrm>
              <a:off x="3710177" y="1582673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4">
                  <a:moveTo>
                    <a:pt x="0" y="0"/>
                  </a:moveTo>
                  <a:lnTo>
                    <a:pt x="408216" y="0"/>
                  </a:lnTo>
                </a:path>
              </a:pathLst>
            </a:custGeom>
            <a:ln w="1270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042199" y="1538220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D6D3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44979" y="989076"/>
              <a:ext cx="1969007" cy="118567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174295" y="1279533"/>
            <a:ext cx="1108710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75260" marR="5080" indent="-163195">
              <a:lnSpc>
                <a:spcPts val="1970"/>
              </a:lnSpc>
              <a:spcBef>
                <a:spcPts val="325"/>
              </a:spcBef>
            </a:pPr>
            <a:r>
              <a:rPr sz="1800" dirty="0">
                <a:latin typeface="Calibri"/>
                <a:cs typeface="Calibri"/>
              </a:rPr>
              <a:t>Visit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Eclipse Website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157471" y="989076"/>
            <a:ext cx="2381885" cy="1186180"/>
            <a:chOff x="4157471" y="989076"/>
            <a:chExt cx="2381885" cy="1186180"/>
          </a:xfrm>
        </p:grpSpPr>
        <p:sp>
          <p:nvSpPr>
            <p:cNvPr id="11" name="object 11"/>
            <p:cNvSpPr/>
            <p:nvPr/>
          </p:nvSpPr>
          <p:spPr>
            <a:xfrm>
              <a:off x="6124193" y="1582673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4">
                  <a:moveTo>
                    <a:pt x="0" y="0"/>
                  </a:moveTo>
                  <a:lnTo>
                    <a:pt x="408216" y="0"/>
                  </a:lnTo>
                </a:path>
              </a:pathLst>
            </a:custGeom>
            <a:ln w="12700">
              <a:solidFill>
                <a:srgbClr val="97CC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56215" y="1538220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97CC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57471" y="989076"/>
              <a:ext cx="1970531" cy="1185671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397730" y="1279533"/>
            <a:ext cx="1491615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99415" marR="5080" indent="-387350">
              <a:lnSpc>
                <a:spcPts val="1970"/>
              </a:lnSpc>
              <a:spcBef>
                <a:spcPts val="325"/>
              </a:spcBef>
            </a:pPr>
            <a:r>
              <a:rPr sz="1800" dirty="0">
                <a:latin typeface="Corbel"/>
                <a:cs typeface="Corbel"/>
              </a:rPr>
              <a:t>Click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Download x86_64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71488" y="989076"/>
            <a:ext cx="2381885" cy="1186180"/>
            <a:chOff x="6571488" y="989076"/>
            <a:chExt cx="2381885" cy="1186180"/>
          </a:xfrm>
        </p:grpSpPr>
        <p:sp>
          <p:nvSpPr>
            <p:cNvPr id="16" name="object 16"/>
            <p:cNvSpPr/>
            <p:nvPr/>
          </p:nvSpPr>
          <p:spPr>
            <a:xfrm>
              <a:off x="8538210" y="1582673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4">
                  <a:moveTo>
                    <a:pt x="0" y="0"/>
                  </a:moveTo>
                  <a:lnTo>
                    <a:pt x="408216" y="0"/>
                  </a:lnTo>
                </a:path>
              </a:pathLst>
            </a:custGeom>
            <a:ln w="12700">
              <a:solidFill>
                <a:srgbClr val="67C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70231" y="1538220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67C1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71488" y="989076"/>
              <a:ext cx="1970531" cy="118567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706575" y="1279533"/>
            <a:ext cx="1701164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471170" marR="5080" indent="-459105">
              <a:lnSpc>
                <a:spcPts val="1970"/>
              </a:lnSpc>
              <a:spcBef>
                <a:spcPts val="325"/>
              </a:spcBef>
            </a:pPr>
            <a:r>
              <a:rPr sz="1800" dirty="0">
                <a:latin typeface="Corbel"/>
                <a:cs typeface="Corbel"/>
              </a:rPr>
              <a:t>Download</a:t>
            </a:r>
            <a:r>
              <a:rPr sz="1800" spc="-80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Eclipse Installer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679445" y="989076"/>
            <a:ext cx="8276590" cy="1595120"/>
            <a:chOff x="2679445" y="989076"/>
            <a:chExt cx="8276590" cy="1595120"/>
          </a:xfrm>
        </p:grpSpPr>
        <p:sp>
          <p:nvSpPr>
            <p:cNvPr id="21" name="object 21"/>
            <p:cNvSpPr/>
            <p:nvPr/>
          </p:nvSpPr>
          <p:spPr>
            <a:xfrm>
              <a:off x="2730239" y="2169413"/>
              <a:ext cx="7242175" cy="408305"/>
            </a:xfrm>
            <a:custGeom>
              <a:avLst/>
              <a:gdLst/>
              <a:ahLst/>
              <a:cxnLst/>
              <a:rect l="l" t="t" r="r" b="b"/>
              <a:pathLst>
                <a:path w="7242175" h="408305">
                  <a:moveTo>
                    <a:pt x="7241908" y="0"/>
                  </a:moveTo>
                  <a:lnTo>
                    <a:pt x="7241908" y="227495"/>
                  </a:lnTo>
                  <a:lnTo>
                    <a:pt x="0" y="227495"/>
                  </a:lnTo>
                  <a:lnTo>
                    <a:pt x="0" y="408216"/>
                  </a:lnTo>
                </a:path>
              </a:pathLst>
            </a:custGeom>
            <a:ln w="12700">
              <a:solidFill>
                <a:srgbClr val="5EB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685795" y="2501432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5EB5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85504" y="989076"/>
              <a:ext cx="1970531" cy="1185671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175404" y="1279533"/>
            <a:ext cx="1590675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51130" marR="5080" indent="-139065">
              <a:lnSpc>
                <a:spcPts val="1970"/>
              </a:lnSpc>
              <a:spcBef>
                <a:spcPts val="325"/>
              </a:spcBef>
            </a:pPr>
            <a:r>
              <a:rPr sz="1800" dirty="0">
                <a:latin typeface="Corbel"/>
                <a:cs typeface="Corbel"/>
              </a:rPr>
              <a:t>Run</a:t>
            </a:r>
            <a:r>
              <a:rPr sz="1800" spc="10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eclipse-</a:t>
            </a:r>
            <a:r>
              <a:rPr sz="1800" spc="-20" dirty="0">
                <a:latin typeface="Corbel"/>
                <a:cs typeface="Corbel"/>
              </a:rPr>
              <a:t>inst- </a:t>
            </a:r>
            <a:r>
              <a:rPr sz="1800" spc="-10" dirty="0">
                <a:latin typeface="Corbel"/>
                <a:cs typeface="Corbel"/>
              </a:rPr>
              <a:t>jre-win64.exe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744980" y="2618232"/>
            <a:ext cx="2379980" cy="1184275"/>
            <a:chOff x="1744980" y="2618232"/>
            <a:chExt cx="2379980" cy="1184275"/>
          </a:xfrm>
        </p:grpSpPr>
        <p:sp>
          <p:nvSpPr>
            <p:cNvPr id="26" name="object 26"/>
            <p:cNvSpPr/>
            <p:nvPr/>
          </p:nvSpPr>
          <p:spPr>
            <a:xfrm>
              <a:off x="3710177" y="3211830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4">
                  <a:moveTo>
                    <a:pt x="0" y="0"/>
                  </a:moveTo>
                  <a:lnTo>
                    <a:pt x="408216" y="0"/>
                  </a:lnTo>
                </a:path>
              </a:pathLst>
            </a:custGeom>
            <a:ln w="12700">
              <a:solidFill>
                <a:srgbClr val="66A9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042199" y="316737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66A9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44980" y="2618232"/>
              <a:ext cx="1969007" cy="118414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880163" y="2657266"/>
            <a:ext cx="1697989" cy="105283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-1270" algn="ctr">
              <a:lnSpc>
                <a:spcPct val="91500"/>
              </a:lnSpc>
              <a:spcBef>
                <a:spcPts val="280"/>
              </a:spcBef>
            </a:pPr>
            <a:r>
              <a:rPr sz="1800" dirty="0">
                <a:latin typeface="Corbel"/>
                <a:cs typeface="Corbel"/>
              </a:rPr>
              <a:t>Choose</a:t>
            </a:r>
            <a:r>
              <a:rPr sz="1800" spc="-5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Eclipse </a:t>
            </a:r>
            <a:r>
              <a:rPr sz="1800" dirty="0">
                <a:latin typeface="Corbel"/>
                <a:cs typeface="Corbel"/>
              </a:rPr>
              <a:t>IDE</a:t>
            </a:r>
            <a:r>
              <a:rPr sz="1800" spc="-35" dirty="0">
                <a:latin typeface="Corbel"/>
                <a:cs typeface="Corbel"/>
              </a:rPr>
              <a:t> </a:t>
            </a:r>
            <a:r>
              <a:rPr sz="1800" dirty="0">
                <a:latin typeface="Corbel"/>
                <a:cs typeface="Corbel"/>
              </a:rPr>
              <a:t>for</a:t>
            </a:r>
            <a:r>
              <a:rPr sz="1800" spc="-20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Enterprise </a:t>
            </a:r>
            <a:r>
              <a:rPr sz="1800" dirty="0">
                <a:latin typeface="Corbel"/>
                <a:cs typeface="Corbel"/>
              </a:rPr>
              <a:t>Java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spc="-20" dirty="0">
                <a:latin typeface="Corbel"/>
                <a:cs typeface="Corbel"/>
              </a:rPr>
              <a:t>and</a:t>
            </a:r>
            <a:r>
              <a:rPr sz="1800" spc="-90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Web </a:t>
            </a:r>
            <a:r>
              <a:rPr sz="1800" spc="-10" dirty="0">
                <a:latin typeface="Corbel"/>
                <a:cs typeface="Corbel"/>
              </a:rPr>
              <a:t>Development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157471" y="2618232"/>
            <a:ext cx="2381885" cy="1184275"/>
            <a:chOff x="4157471" y="2618232"/>
            <a:chExt cx="2381885" cy="1184275"/>
          </a:xfrm>
        </p:grpSpPr>
        <p:sp>
          <p:nvSpPr>
            <p:cNvPr id="31" name="object 31"/>
            <p:cNvSpPr/>
            <p:nvPr/>
          </p:nvSpPr>
          <p:spPr>
            <a:xfrm>
              <a:off x="6124193" y="3211830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4">
                  <a:moveTo>
                    <a:pt x="0" y="0"/>
                  </a:moveTo>
                  <a:lnTo>
                    <a:pt x="408216" y="0"/>
                  </a:lnTo>
                </a:path>
              </a:pathLst>
            </a:custGeom>
            <a:ln w="12700">
              <a:solidFill>
                <a:srgbClr val="6E95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56215" y="316737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6E959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57471" y="2618232"/>
              <a:ext cx="1970531" cy="1184147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627886" y="2908471"/>
            <a:ext cx="1031240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88265" marR="5080" indent="-76200">
              <a:lnSpc>
                <a:spcPts val="1970"/>
              </a:lnSpc>
              <a:spcBef>
                <a:spcPts val="325"/>
              </a:spcBef>
            </a:pPr>
            <a:r>
              <a:rPr sz="1800" dirty="0">
                <a:latin typeface="Corbel"/>
                <a:cs typeface="Corbel"/>
              </a:rPr>
              <a:t>Select</a:t>
            </a:r>
            <a:r>
              <a:rPr sz="1800" spc="-75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JDK </a:t>
            </a:r>
            <a:r>
              <a:rPr sz="1800" spc="-10" dirty="0">
                <a:latin typeface="Corbel"/>
                <a:cs typeface="Corbel"/>
              </a:rPr>
              <a:t>directory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571488" y="2618232"/>
            <a:ext cx="2381885" cy="1184275"/>
            <a:chOff x="6571488" y="2618232"/>
            <a:chExt cx="2381885" cy="1184275"/>
          </a:xfrm>
        </p:grpSpPr>
        <p:sp>
          <p:nvSpPr>
            <p:cNvPr id="36" name="object 36"/>
            <p:cNvSpPr/>
            <p:nvPr/>
          </p:nvSpPr>
          <p:spPr>
            <a:xfrm>
              <a:off x="8538210" y="3211830"/>
              <a:ext cx="408305" cy="0"/>
            </a:xfrm>
            <a:custGeom>
              <a:avLst/>
              <a:gdLst/>
              <a:ahLst/>
              <a:cxnLst/>
              <a:rect l="l" t="t" r="r" b="b"/>
              <a:pathLst>
                <a:path w="408304">
                  <a:moveTo>
                    <a:pt x="0" y="0"/>
                  </a:moveTo>
                  <a:lnTo>
                    <a:pt x="408216" y="0"/>
                  </a:lnTo>
                </a:path>
              </a:pathLst>
            </a:custGeom>
            <a:ln w="12700">
              <a:solidFill>
                <a:srgbClr val="7882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870231" y="3167376"/>
              <a:ext cx="76200" cy="88900"/>
            </a:xfrm>
            <a:custGeom>
              <a:avLst/>
              <a:gdLst/>
              <a:ahLst/>
              <a:cxnLst/>
              <a:rect l="l" t="t" r="r" b="b"/>
              <a:pathLst>
                <a:path w="76200" h="88900">
                  <a:moveTo>
                    <a:pt x="0" y="0"/>
                  </a:moveTo>
                  <a:lnTo>
                    <a:pt x="76200" y="44450"/>
                  </a:lnTo>
                  <a:lnTo>
                    <a:pt x="0" y="88900"/>
                  </a:lnTo>
                </a:path>
              </a:pathLst>
            </a:custGeom>
            <a:ln w="12700">
              <a:solidFill>
                <a:srgbClr val="7882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71488" y="2618232"/>
              <a:ext cx="1970531" cy="1184147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7011342" y="3034075"/>
            <a:ext cx="10902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Click</a:t>
            </a:r>
            <a:r>
              <a:rPr sz="1800" spc="-2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Install</a:t>
            </a:r>
            <a:endParaRPr sz="1800">
              <a:latin typeface="Corbel"/>
              <a:cs typeface="Corbe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679445" y="2618232"/>
            <a:ext cx="8276590" cy="1595120"/>
            <a:chOff x="2679445" y="2618232"/>
            <a:chExt cx="8276590" cy="1595120"/>
          </a:xfrm>
        </p:grpSpPr>
        <p:sp>
          <p:nvSpPr>
            <p:cNvPr id="41" name="object 41"/>
            <p:cNvSpPr/>
            <p:nvPr/>
          </p:nvSpPr>
          <p:spPr>
            <a:xfrm>
              <a:off x="2730239" y="3798569"/>
              <a:ext cx="7242175" cy="408305"/>
            </a:xfrm>
            <a:custGeom>
              <a:avLst/>
              <a:gdLst/>
              <a:ahLst/>
              <a:cxnLst/>
              <a:rect l="l" t="t" r="r" b="b"/>
              <a:pathLst>
                <a:path w="7242175" h="408304">
                  <a:moveTo>
                    <a:pt x="7241908" y="0"/>
                  </a:moveTo>
                  <a:lnTo>
                    <a:pt x="7241908" y="227495"/>
                  </a:lnTo>
                  <a:lnTo>
                    <a:pt x="0" y="227495"/>
                  </a:lnTo>
                  <a:lnTo>
                    <a:pt x="0" y="408216"/>
                  </a:lnTo>
                </a:path>
              </a:pathLst>
            </a:custGeom>
            <a:ln w="12700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685795" y="4130589"/>
              <a:ext cx="88900" cy="76200"/>
            </a:xfrm>
            <a:custGeom>
              <a:avLst/>
              <a:gdLst/>
              <a:ahLst/>
              <a:cxnLst/>
              <a:rect l="l" t="t" r="r" b="b"/>
              <a:pathLst>
                <a:path w="88900" h="76200">
                  <a:moveTo>
                    <a:pt x="88900" y="0"/>
                  </a:moveTo>
                  <a:lnTo>
                    <a:pt x="44450" y="76200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8181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985504" y="2618232"/>
              <a:ext cx="1970531" cy="1184147"/>
            </a:xfrm>
            <a:prstGeom prst="rect">
              <a:avLst/>
            </a:prstGeom>
          </p:spPr>
        </p:pic>
      </p:grpSp>
      <p:sp>
        <p:nvSpPr>
          <p:cNvPr id="44" name="object 44"/>
          <p:cNvSpPr txBox="1"/>
          <p:nvPr/>
        </p:nvSpPr>
        <p:spPr>
          <a:xfrm>
            <a:off x="9257669" y="3034075"/>
            <a:ext cx="1425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orbel"/>
                <a:cs typeface="Corbel"/>
              </a:rPr>
              <a:t>Launch</a:t>
            </a:r>
            <a:r>
              <a:rPr sz="1800" spc="-75" dirty="0">
                <a:latin typeface="Corbel"/>
                <a:cs typeface="Corbel"/>
              </a:rPr>
              <a:t> </a:t>
            </a:r>
            <a:r>
              <a:rPr sz="1800" spc="-10" dirty="0">
                <a:latin typeface="Corbel"/>
                <a:cs typeface="Corbel"/>
              </a:rPr>
              <a:t>Eclipse</a:t>
            </a:r>
            <a:endParaRPr sz="1800">
              <a:latin typeface="Corbel"/>
              <a:cs typeface="Corbel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44980" y="4247388"/>
            <a:ext cx="1969007" cy="1184147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2180391" y="4537409"/>
            <a:ext cx="1098550" cy="54991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67640" marR="5080" indent="-155575">
              <a:lnSpc>
                <a:spcPts val="1970"/>
              </a:lnSpc>
              <a:spcBef>
                <a:spcPts val="325"/>
              </a:spcBef>
            </a:pPr>
            <a:r>
              <a:rPr sz="1800" dirty="0">
                <a:latin typeface="Corbel"/>
                <a:cs typeface="Corbel"/>
              </a:rPr>
              <a:t>Create</a:t>
            </a:r>
            <a:r>
              <a:rPr sz="1800" spc="-70" dirty="0">
                <a:latin typeface="Corbel"/>
                <a:cs typeface="Corbel"/>
              </a:rPr>
              <a:t> </a:t>
            </a:r>
            <a:r>
              <a:rPr sz="1800" spc="-25" dirty="0">
                <a:latin typeface="Corbel"/>
                <a:cs typeface="Corbel"/>
              </a:rPr>
              <a:t>new </a:t>
            </a:r>
            <a:r>
              <a:rPr sz="1800" spc="-10" dirty="0">
                <a:latin typeface="Corbel"/>
                <a:cs typeface="Corbel"/>
              </a:rPr>
              <a:t>projects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" y="6484620"/>
            <a:ext cx="12179808" cy="36575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" y="0"/>
            <a:ext cx="12187428" cy="6812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78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Summary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dirty="0"/>
              <a:t>©</a:t>
            </a:r>
            <a:r>
              <a:rPr spc="-35" dirty="0"/>
              <a:t> </a:t>
            </a:r>
            <a:r>
              <a:rPr dirty="0"/>
              <a:t>Aptech</a:t>
            </a:r>
            <a:r>
              <a:rPr spc="-10" dirty="0"/>
              <a:t> Limited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50"/>
              </a:lnSpc>
            </a:pPr>
            <a:r>
              <a:rPr spc="-25" dirty="0"/>
              <a:t>13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1618" y="904990"/>
            <a:ext cx="11134090" cy="42608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94310" marR="6350" indent="-182245">
              <a:lnSpc>
                <a:spcPts val="1939"/>
              </a:lnSpc>
              <a:spcBef>
                <a:spcPts val="34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2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2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2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platform</a:t>
            </a:r>
            <a:r>
              <a:rPr sz="1800" spc="2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previously</a:t>
            </a:r>
            <a:r>
              <a:rPr sz="1800" spc="2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known</a:t>
            </a:r>
            <a:r>
              <a:rPr sz="1800" spc="2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2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Java</a:t>
            </a:r>
            <a:r>
              <a:rPr sz="1800" spc="2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EE,</a:t>
            </a:r>
            <a:r>
              <a:rPr sz="1800" spc="2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was</a:t>
            </a:r>
            <a:r>
              <a:rPr sz="1800" spc="2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developed</a:t>
            </a:r>
            <a:r>
              <a:rPr sz="1800" spc="2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originally</a:t>
            </a:r>
            <a:r>
              <a:rPr sz="1800" spc="2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2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Sun</a:t>
            </a:r>
            <a:r>
              <a:rPr sz="1800" spc="2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Microsystems</a:t>
            </a:r>
            <a:r>
              <a:rPr sz="1800" spc="27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</a:t>
            </a:r>
            <a:r>
              <a:rPr sz="1800" dirty="0">
                <a:latin typeface="Calisto MT"/>
                <a:cs typeface="Calisto MT"/>
              </a:rPr>
              <a:t>managed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by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Oracle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Corporation.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6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JESP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Specification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Process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maintain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platform.</a:t>
            </a:r>
            <a:endParaRPr sz="1800">
              <a:latin typeface="Calisto MT"/>
              <a:cs typeface="Calisto MT"/>
            </a:endParaRPr>
          </a:p>
          <a:p>
            <a:pPr marL="193675" marR="8255" indent="-181610">
              <a:lnSpc>
                <a:spcPts val="1939"/>
              </a:lnSpc>
              <a:spcBef>
                <a:spcPts val="1435"/>
              </a:spcBef>
              <a:buSzPct val="80555"/>
              <a:buFont typeface="Corbel"/>
              <a:buChar char="•"/>
              <a:tabLst>
                <a:tab pos="194945" algn="l"/>
              </a:tabLst>
            </a:pP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has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made</a:t>
            </a:r>
            <a:r>
              <a:rPr sz="1800" spc="1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development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implementation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3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Java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Enterprise</a:t>
            </a:r>
            <a:r>
              <a:rPr sz="1800" spc="17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1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easier</a:t>
            </a:r>
            <a:r>
              <a:rPr sz="1800" spc="17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quicker 	</a:t>
            </a:r>
            <a:r>
              <a:rPr sz="1800" dirty="0">
                <a:latin typeface="Calisto MT"/>
                <a:cs typeface="Calisto MT"/>
              </a:rPr>
              <a:t>due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to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16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APIs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or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Programming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Interfaces.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5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The</a:t>
            </a:r>
            <a:r>
              <a:rPr sz="1800" spc="-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profile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three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categories: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Core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Profile,</a:t>
            </a:r>
            <a:r>
              <a:rPr sz="1800" spc="-55" dirty="0">
                <a:latin typeface="Calisto MT"/>
                <a:cs typeface="Calisto MT"/>
              </a:rPr>
              <a:t> </a:t>
            </a:r>
            <a:r>
              <a:rPr sz="1800" spc="-35" dirty="0">
                <a:latin typeface="Calisto MT"/>
                <a:cs typeface="Calisto MT"/>
              </a:rPr>
              <a:t>Web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Profile,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Platform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Profile.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85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has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multi-</a:t>
            </a:r>
            <a:r>
              <a:rPr sz="1800" dirty="0">
                <a:latin typeface="Calisto MT"/>
                <a:cs typeface="Calisto MT"/>
              </a:rPr>
              <a:t>component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model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2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against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-1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single-</a:t>
            </a:r>
            <a:r>
              <a:rPr sz="1800" dirty="0">
                <a:latin typeface="Calisto MT"/>
                <a:cs typeface="Calisto MT"/>
              </a:rPr>
              <a:t>block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model.</a:t>
            </a:r>
            <a:endParaRPr sz="1800">
              <a:latin typeface="Calisto MT"/>
              <a:cs typeface="Calisto MT"/>
            </a:endParaRPr>
          </a:p>
          <a:p>
            <a:pPr marL="194310" indent="-181610">
              <a:lnSpc>
                <a:spcPct val="100000"/>
              </a:lnSpc>
              <a:spcBef>
                <a:spcPts val="1190"/>
              </a:spcBef>
              <a:buSzPct val="80555"/>
              <a:buFont typeface="Corbel"/>
              <a:buChar char="•"/>
              <a:tabLst>
                <a:tab pos="194310" algn="l"/>
              </a:tabLst>
            </a:pP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blends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easily</a:t>
            </a:r>
            <a:r>
              <a:rPr sz="1800" spc="-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microservices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architecture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Cloud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10" dirty="0">
                <a:latin typeface="Calisto MT"/>
                <a:cs typeface="Calisto MT"/>
              </a:rPr>
              <a:t>Native.</a:t>
            </a:r>
            <a:endParaRPr sz="1800">
              <a:latin typeface="Calisto MT"/>
              <a:cs typeface="Calisto MT"/>
            </a:endParaRPr>
          </a:p>
          <a:p>
            <a:pPr marL="194310" marR="6985" indent="-181610">
              <a:lnSpc>
                <a:spcPts val="1939"/>
              </a:lnSpc>
              <a:spcBef>
                <a:spcPts val="1425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Jakarta</a:t>
            </a:r>
            <a:r>
              <a:rPr sz="1800" spc="1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EE</a:t>
            </a:r>
            <a:r>
              <a:rPr sz="1800" spc="10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has</a:t>
            </a:r>
            <a:r>
              <a:rPr sz="1800" spc="10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several</a:t>
            </a:r>
            <a:r>
              <a:rPr sz="1800" spc="1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specifications</a:t>
            </a:r>
            <a:r>
              <a:rPr sz="1800" spc="11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encompassing</a:t>
            </a:r>
            <a:r>
              <a:rPr sz="1800" spc="1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different</a:t>
            </a:r>
            <a:r>
              <a:rPr sz="1800" spc="10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aspects</a:t>
            </a:r>
            <a:r>
              <a:rPr sz="1800" spc="114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of</a:t>
            </a:r>
            <a:r>
              <a:rPr sz="1800" spc="28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enterprise</a:t>
            </a:r>
            <a:r>
              <a:rPr sz="1800" spc="1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</a:t>
            </a:r>
            <a:r>
              <a:rPr sz="1800" spc="10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development</a:t>
            </a:r>
            <a:r>
              <a:rPr sz="1800" spc="105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and 	</a:t>
            </a:r>
            <a:r>
              <a:rPr sz="1800" spc="-10" dirty="0">
                <a:latin typeface="Calisto MT"/>
                <a:cs typeface="Calisto MT"/>
              </a:rPr>
              <a:t>management.</a:t>
            </a:r>
            <a:endParaRPr sz="1800">
              <a:latin typeface="Calisto MT"/>
              <a:cs typeface="Calisto MT"/>
            </a:endParaRPr>
          </a:p>
          <a:p>
            <a:pPr marL="193675" marR="5080" indent="-181610">
              <a:lnSpc>
                <a:spcPts val="1939"/>
              </a:lnSpc>
              <a:spcBef>
                <a:spcPts val="1410"/>
              </a:spcBef>
              <a:buSzPct val="80555"/>
              <a:buFont typeface="Corbel"/>
              <a:buChar char="•"/>
              <a:tabLst>
                <a:tab pos="195580" algn="l"/>
              </a:tabLst>
            </a:pPr>
            <a:r>
              <a:rPr sz="1800" dirty="0">
                <a:latin typeface="Calisto MT"/>
                <a:cs typeface="Calisto MT"/>
              </a:rPr>
              <a:t>Eclipse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IDE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is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platform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where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developers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can</a:t>
            </a:r>
            <a:r>
              <a:rPr sz="1800" spc="5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create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different</a:t>
            </a:r>
            <a:r>
              <a:rPr sz="1800" spc="4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applications</a:t>
            </a:r>
            <a:r>
              <a:rPr sz="1800" spc="4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using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programming</a:t>
            </a:r>
            <a:r>
              <a:rPr sz="1800" spc="5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languages</a:t>
            </a:r>
            <a:r>
              <a:rPr sz="1800" spc="45" dirty="0">
                <a:latin typeface="Calisto MT"/>
                <a:cs typeface="Calisto MT"/>
              </a:rPr>
              <a:t> </a:t>
            </a:r>
            <a:r>
              <a:rPr sz="1800" spc="-20" dirty="0">
                <a:latin typeface="Calisto MT"/>
                <a:cs typeface="Calisto MT"/>
              </a:rPr>
              <a:t>such 	</a:t>
            </a:r>
            <a:r>
              <a:rPr sz="1800" dirty="0">
                <a:latin typeface="Calisto MT"/>
                <a:cs typeface="Calisto MT"/>
              </a:rPr>
              <a:t>as</a:t>
            </a:r>
            <a:r>
              <a:rPr sz="1800" spc="-30" dirty="0">
                <a:latin typeface="Calisto MT"/>
                <a:cs typeface="Calisto MT"/>
              </a:rPr>
              <a:t> Java,</a:t>
            </a:r>
            <a:r>
              <a:rPr sz="1800" spc="-40" dirty="0">
                <a:latin typeface="Calisto MT"/>
                <a:cs typeface="Calisto MT"/>
              </a:rPr>
              <a:t> </a:t>
            </a:r>
            <a:r>
              <a:rPr sz="1800" spc="-35" dirty="0">
                <a:latin typeface="Calisto MT"/>
                <a:cs typeface="Calisto MT"/>
              </a:rPr>
              <a:t>Ruby,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</a:t>
            </a:r>
            <a:r>
              <a:rPr sz="1800" spc="-1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C++,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Python,</a:t>
            </a:r>
            <a:r>
              <a:rPr sz="1800" spc="-2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PHP</a:t>
            </a:r>
            <a:r>
              <a:rPr sz="1800" spc="-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and</a:t>
            </a:r>
            <a:r>
              <a:rPr sz="1800" spc="-35" dirty="0">
                <a:latin typeface="Calisto MT"/>
                <a:cs typeface="Calisto MT"/>
              </a:rPr>
              <a:t> </a:t>
            </a:r>
            <a:r>
              <a:rPr sz="1800" dirty="0">
                <a:latin typeface="Calisto MT"/>
                <a:cs typeface="Calisto MT"/>
              </a:rPr>
              <a:t>so</a:t>
            </a:r>
            <a:r>
              <a:rPr sz="1800" spc="-30" dirty="0">
                <a:latin typeface="Calisto MT"/>
                <a:cs typeface="Calisto MT"/>
              </a:rPr>
              <a:t> </a:t>
            </a:r>
            <a:r>
              <a:rPr sz="1800" spc="-25" dirty="0">
                <a:latin typeface="Calisto MT"/>
                <a:cs typeface="Calisto MT"/>
              </a:rPr>
              <a:t>on.</a:t>
            </a:r>
            <a:endParaRPr sz="1800">
              <a:latin typeface="Calisto MT"/>
              <a:cs typeface="Calisto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671</Words>
  <Application>Microsoft Office PowerPoint</Application>
  <PresentationFormat>Widescreen</PresentationFormat>
  <Paragraphs>191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Algerian</vt:lpstr>
      <vt:lpstr>Arial Black</vt:lpstr>
      <vt:lpstr>Arial Rounded MT Bold</vt:lpstr>
      <vt:lpstr>Calibri</vt:lpstr>
      <vt:lpstr>Calisto MT</vt:lpstr>
      <vt:lpstr>Corbel</vt:lpstr>
      <vt:lpstr>Times New Roman</vt:lpstr>
      <vt:lpstr>Office Theme</vt:lpstr>
      <vt:lpstr>Jakarta Server Pages and</vt:lpstr>
      <vt:lpstr>Objectives</vt:lpstr>
      <vt:lpstr>Background of Jakarta EE</vt:lpstr>
      <vt:lpstr>Jakarta EE Architecture</vt:lpstr>
      <vt:lpstr>Jakarta EE Profiles</vt:lpstr>
      <vt:lpstr>Jakarta EE Application Model and Its Components</vt:lpstr>
      <vt:lpstr>Microservices and Cloud-Native Principles of Jakarta EE</vt:lpstr>
      <vt:lpstr>Advantages and Disadvantages of Jakarta EE</vt:lpstr>
      <vt:lpstr>Key Jakarta EE Specifications</vt:lpstr>
      <vt:lpstr>JDK Installation</vt:lpstr>
      <vt:lpstr>Features and Capabilities of Eclipse IDE</vt:lpstr>
      <vt:lpstr>Installation of Eclipse IDE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Aptech Limited</dc:creator>
  <cp:lastModifiedBy>Hoang Duc Quang</cp:lastModifiedBy>
  <cp:revision>2</cp:revision>
  <dcterms:created xsi:type="dcterms:W3CDTF">2025-10-19T10:33:49Z</dcterms:created>
  <dcterms:modified xsi:type="dcterms:W3CDTF">2025-10-20T00:45:51Z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2024-07-10T00:00:00Z</vt:filetime>
  </property>
  <property fmtid="{D5CDD505-2E9C-101B-9397-08002B2CF9AE}" pid="3" name="Creator">
    <vt:lpwstr>Acrobat PDFMaker 24 for PowerPoint</vt:lpwstr>
  </property>
  <property fmtid="{D5CDD505-2E9C-101B-9397-08002B2CF9AE}" pid="4" name="EBX_PUBLISHER">
    <vt:lpwstr>Aptech</vt:lpwstr>
  </property>
  <property fmtid="{D5CDD505-2E9C-101B-9397-08002B2CF9AE}" pid="5" name="LastSaved">
    <vt:filetime>2025-10-19T00:00:00Z</vt:filetime>
  </property>
  <property fmtid="{D5CDD505-2E9C-101B-9397-08002B2CF9AE}" pid="6" name="Producer">
    <vt:lpwstr>Adobe PDF Library 24.2.159</vt:lpwstr>
  </property>
</Properties>
</file>