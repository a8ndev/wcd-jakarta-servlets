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6" r:id="rId2"/>
    <p:sldId id="357" r:id="rId3"/>
    <p:sldId id="358" r:id="rId4"/>
    <p:sldId id="359" r:id="rId5"/>
    <p:sldId id="360" r:id="rId6"/>
    <p:sldId id="361" r:id="rId7"/>
    <p:sldId id="362" r:id="rId8"/>
    <p:sldId id="363" r:id="rId9"/>
    <p:sldId id="3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4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6991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9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204" dirty="0">
                <a:latin typeface="Arial Rounded MT Bold"/>
                <a:cs typeface="Arial Rounded MT Bold"/>
              </a:rPr>
              <a:t> </a:t>
            </a:r>
            <a:r>
              <a:rPr sz="4400" spc="-30" dirty="0">
                <a:latin typeface="Arial Rounded MT Bold"/>
                <a:cs typeface="Arial Rounded MT Bold"/>
              </a:rPr>
              <a:t>Pages</a:t>
            </a:r>
            <a:r>
              <a:rPr sz="4400" spc="-195" dirty="0">
                <a:latin typeface="Arial Rounded MT Bold"/>
                <a:cs typeface="Arial Rounded MT Bold"/>
              </a:rPr>
              <a:t> </a:t>
            </a:r>
            <a:r>
              <a:rPr sz="4400" spc="-25" dirty="0">
                <a:latin typeface="Arial Rounded MT Bold"/>
                <a:cs typeface="Arial Rounded MT Bold"/>
              </a:rPr>
              <a:t>and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50"/>
              </a:lnSpc>
            </a:pPr>
            <a:r>
              <a:rPr spc="-50" dirty="0"/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2256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4138929" cy="1474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25" dirty="0">
                <a:solidFill>
                  <a:srgbClr val="FFC564"/>
                </a:solidFill>
                <a:latin typeface="Algerian"/>
                <a:cs typeface="Algerian"/>
              </a:rPr>
              <a:t>10</a:t>
            </a:r>
            <a:endParaRPr sz="2400">
              <a:latin typeface="Algerian"/>
              <a:cs typeface="Algerian"/>
            </a:endParaRPr>
          </a:p>
          <a:p>
            <a:pPr marL="12700" marR="508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JSP</a:t>
            </a:r>
            <a:r>
              <a:rPr sz="2400" spc="-3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Implicit</a:t>
            </a:r>
            <a:r>
              <a:rPr sz="2400" spc="-5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Objects</a:t>
            </a:r>
            <a:r>
              <a:rPr sz="2400" spc="-6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25" dirty="0">
                <a:solidFill>
                  <a:srgbClr val="FFC564"/>
                </a:solidFill>
                <a:latin typeface="Arial Black"/>
                <a:cs typeface="Arial Black"/>
              </a:rPr>
              <a:t>and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Standard</a:t>
            </a:r>
            <a:r>
              <a:rPr sz="2400" spc="1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Actions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8816"/>
            <a:ext cx="12179820" cy="3291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2027" y="38586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6825" y="759967"/>
            <a:ext cx="6703059" cy="427291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concept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implicit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List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various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types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implicit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JSP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response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objects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Identify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out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object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session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object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object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Identify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pageContext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object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config</a:t>
            </a:r>
            <a:r>
              <a:rPr sz="1800" spc="-10" dirty="0">
                <a:latin typeface="Calisto MT"/>
                <a:cs typeface="Calisto MT"/>
              </a:rPr>
              <a:t> objects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Outline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concept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standard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actions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&lt;jsp:include&gt;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&lt;jsp:forward&gt;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elements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8816"/>
            <a:ext cx="12179820" cy="3291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320538" y="1301750"/>
            <a:ext cx="4852035" cy="1074420"/>
            <a:chOff x="5320538" y="1301750"/>
            <a:chExt cx="4852035" cy="1074420"/>
          </a:xfrm>
        </p:grpSpPr>
        <p:sp>
          <p:nvSpPr>
            <p:cNvPr id="6" name="object 6"/>
            <p:cNvSpPr/>
            <p:nvPr/>
          </p:nvSpPr>
          <p:spPr>
            <a:xfrm>
              <a:off x="5325618" y="1306830"/>
              <a:ext cx="4841875" cy="1064260"/>
            </a:xfrm>
            <a:custGeom>
              <a:avLst/>
              <a:gdLst/>
              <a:ahLst/>
              <a:cxnLst/>
              <a:rect l="l" t="t" r="r" b="b"/>
              <a:pathLst>
                <a:path w="4841875" h="1064260">
                  <a:moveTo>
                    <a:pt x="2420874" y="0"/>
                  </a:moveTo>
                  <a:lnTo>
                    <a:pt x="0" y="531876"/>
                  </a:lnTo>
                  <a:lnTo>
                    <a:pt x="2420874" y="1063752"/>
                  </a:lnTo>
                  <a:lnTo>
                    <a:pt x="4841748" y="531876"/>
                  </a:lnTo>
                  <a:lnTo>
                    <a:pt x="2420874" y="0"/>
                  </a:lnTo>
                  <a:close/>
                </a:path>
              </a:pathLst>
            </a:custGeom>
            <a:solidFill>
              <a:srgbClr val="CFDAE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25618" y="1306830"/>
              <a:ext cx="4841875" cy="1064260"/>
            </a:xfrm>
            <a:custGeom>
              <a:avLst/>
              <a:gdLst/>
              <a:ahLst/>
              <a:cxnLst/>
              <a:rect l="l" t="t" r="r" b="b"/>
              <a:pathLst>
                <a:path w="4841875" h="1064260">
                  <a:moveTo>
                    <a:pt x="0" y="531876"/>
                  </a:moveTo>
                  <a:lnTo>
                    <a:pt x="2420874" y="0"/>
                  </a:lnTo>
                  <a:lnTo>
                    <a:pt x="4841748" y="531876"/>
                  </a:lnTo>
                  <a:lnTo>
                    <a:pt x="2420874" y="1063752"/>
                  </a:lnTo>
                  <a:lnTo>
                    <a:pt x="0" y="531876"/>
                  </a:lnTo>
                  <a:close/>
                </a:path>
              </a:pathLst>
            </a:custGeom>
            <a:ln w="9994">
              <a:solidFill>
                <a:srgbClr val="CFDA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91670" y="1526233"/>
            <a:ext cx="2107565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84785" marR="5080" indent="-172720">
              <a:lnSpc>
                <a:spcPts val="1870"/>
              </a:lnSpc>
              <a:spcBef>
                <a:spcPts val="405"/>
              </a:spcBef>
              <a:buChar char="•"/>
              <a:tabLst>
                <a:tab pos="579120" algn="l"/>
              </a:tabLst>
            </a:pPr>
            <a:r>
              <a:rPr sz="1800" dirty="0">
                <a:latin typeface="Calisto MT"/>
                <a:cs typeface="Calisto MT"/>
              </a:rPr>
              <a:t>Controls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input 	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output.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58923" y="1530096"/>
            <a:ext cx="3305810" cy="666115"/>
            <a:chOff x="2058923" y="1530096"/>
            <a:chExt cx="3305810" cy="66611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8923" y="1530096"/>
              <a:ext cx="3305555" cy="6659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01239" y="1610868"/>
              <a:ext cx="2819399" cy="5410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98547" y="1543813"/>
              <a:ext cx="3226307" cy="58673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459782" y="1661867"/>
            <a:ext cx="2501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Input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and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Output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Objects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20538" y="2423414"/>
            <a:ext cx="4852035" cy="1476375"/>
            <a:chOff x="5320538" y="2423414"/>
            <a:chExt cx="4852035" cy="1476375"/>
          </a:xfrm>
        </p:grpSpPr>
        <p:sp>
          <p:nvSpPr>
            <p:cNvPr id="15" name="object 15"/>
            <p:cNvSpPr/>
            <p:nvPr/>
          </p:nvSpPr>
          <p:spPr>
            <a:xfrm>
              <a:off x="5325618" y="2428494"/>
              <a:ext cx="4841875" cy="1466215"/>
            </a:xfrm>
            <a:custGeom>
              <a:avLst/>
              <a:gdLst/>
              <a:ahLst/>
              <a:cxnLst/>
              <a:rect l="l" t="t" r="r" b="b"/>
              <a:pathLst>
                <a:path w="4841875" h="1466214">
                  <a:moveTo>
                    <a:pt x="2420874" y="0"/>
                  </a:moveTo>
                  <a:lnTo>
                    <a:pt x="0" y="733043"/>
                  </a:lnTo>
                  <a:lnTo>
                    <a:pt x="2420874" y="1466087"/>
                  </a:lnTo>
                  <a:lnTo>
                    <a:pt x="4841748" y="733043"/>
                  </a:lnTo>
                  <a:lnTo>
                    <a:pt x="2420874" y="0"/>
                  </a:lnTo>
                  <a:close/>
                </a:path>
              </a:pathLst>
            </a:custGeom>
            <a:solidFill>
              <a:srgbClr val="CEE9D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25618" y="2428494"/>
              <a:ext cx="4841875" cy="1466215"/>
            </a:xfrm>
            <a:custGeom>
              <a:avLst/>
              <a:gdLst/>
              <a:ahLst/>
              <a:cxnLst/>
              <a:rect l="l" t="t" r="r" b="b"/>
              <a:pathLst>
                <a:path w="4841875" h="1466214">
                  <a:moveTo>
                    <a:pt x="0" y="733043"/>
                  </a:moveTo>
                  <a:lnTo>
                    <a:pt x="2420874" y="0"/>
                  </a:lnTo>
                  <a:lnTo>
                    <a:pt x="4841748" y="733043"/>
                  </a:lnTo>
                  <a:lnTo>
                    <a:pt x="2420874" y="1466087"/>
                  </a:lnTo>
                  <a:lnTo>
                    <a:pt x="0" y="733043"/>
                  </a:lnTo>
                  <a:close/>
                </a:path>
              </a:pathLst>
            </a:custGeom>
            <a:ln w="9994">
              <a:solidFill>
                <a:srgbClr val="CEE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627662" y="2748748"/>
            <a:ext cx="2301875" cy="7753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17475" marR="5080" indent="-105410">
              <a:lnSpc>
                <a:spcPts val="1870"/>
              </a:lnSpc>
              <a:spcBef>
                <a:spcPts val="405"/>
              </a:spcBef>
              <a:buChar char="•"/>
              <a:tabLst>
                <a:tab pos="117475" algn="l"/>
                <a:tab pos="184785" algn="l"/>
              </a:tabLst>
            </a:pPr>
            <a:r>
              <a:rPr sz="1800" dirty="0">
                <a:latin typeface="Calisto MT"/>
                <a:cs typeface="Calisto MT"/>
              </a:rPr>
              <a:t>	Provides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all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 </a:t>
            </a:r>
            <a:r>
              <a:rPr sz="1800" spc="-20" dirty="0">
                <a:latin typeface="Calisto MT"/>
                <a:cs typeface="Calisto MT"/>
              </a:rPr>
              <a:t>available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in</a:t>
            </a:r>
            <a:endParaRPr sz="1800">
              <a:latin typeface="Calisto MT"/>
              <a:cs typeface="Calisto MT"/>
            </a:endParaRPr>
          </a:p>
          <a:p>
            <a:pPr marL="441959">
              <a:lnSpc>
                <a:spcPts val="1860"/>
              </a:lnSpc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given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scope.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58923" y="2814828"/>
            <a:ext cx="3305810" cy="779145"/>
            <a:chOff x="2058923" y="2814828"/>
            <a:chExt cx="3305810" cy="779145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58923" y="2852928"/>
              <a:ext cx="3305555" cy="66751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18943" y="2814828"/>
              <a:ext cx="3041903" cy="7787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98547" y="2866646"/>
              <a:ext cx="3226307" cy="58826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377518" y="2866203"/>
            <a:ext cx="2667635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68325" marR="5080" indent="-556260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Scope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Communication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Control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Objects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058923" y="3947496"/>
            <a:ext cx="8114030" cy="1221740"/>
            <a:chOff x="2058923" y="3947496"/>
            <a:chExt cx="8114030" cy="1221740"/>
          </a:xfrm>
        </p:grpSpPr>
        <p:sp>
          <p:nvSpPr>
            <p:cNvPr id="24" name="object 24"/>
            <p:cNvSpPr/>
            <p:nvPr/>
          </p:nvSpPr>
          <p:spPr>
            <a:xfrm>
              <a:off x="5325617" y="3952494"/>
              <a:ext cx="4841875" cy="1211580"/>
            </a:xfrm>
            <a:custGeom>
              <a:avLst/>
              <a:gdLst/>
              <a:ahLst/>
              <a:cxnLst/>
              <a:rect l="l" t="t" r="r" b="b"/>
              <a:pathLst>
                <a:path w="4841875" h="1211579">
                  <a:moveTo>
                    <a:pt x="2420874" y="0"/>
                  </a:moveTo>
                  <a:lnTo>
                    <a:pt x="0" y="605790"/>
                  </a:lnTo>
                  <a:lnTo>
                    <a:pt x="2420874" y="1211580"/>
                  </a:lnTo>
                  <a:lnTo>
                    <a:pt x="4841748" y="605790"/>
                  </a:lnTo>
                  <a:lnTo>
                    <a:pt x="2420874" y="0"/>
                  </a:lnTo>
                  <a:close/>
                </a:path>
              </a:pathLst>
            </a:custGeom>
            <a:solidFill>
              <a:srgbClr val="D4ECC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25617" y="3952494"/>
              <a:ext cx="4841875" cy="1211580"/>
            </a:xfrm>
            <a:custGeom>
              <a:avLst/>
              <a:gdLst/>
              <a:ahLst/>
              <a:cxnLst/>
              <a:rect l="l" t="t" r="r" b="b"/>
              <a:pathLst>
                <a:path w="4841875" h="1211579">
                  <a:moveTo>
                    <a:pt x="0" y="605790"/>
                  </a:moveTo>
                  <a:lnTo>
                    <a:pt x="2420874" y="0"/>
                  </a:lnTo>
                  <a:lnTo>
                    <a:pt x="4841748" y="605790"/>
                  </a:lnTo>
                  <a:lnTo>
                    <a:pt x="2420874" y="1211580"/>
                  </a:lnTo>
                  <a:lnTo>
                    <a:pt x="0" y="605790"/>
                  </a:lnTo>
                  <a:close/>
                </a:path>
              </a:pathLst>
            </a:custGeom>
            <a:ln w="9994">
              <a:solidFill>
                <a:srgbClr val="D4E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8923" y="4250436"/>
              <a:ext cx="3305555" cy="66598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6352" y="4331208"/>
              <a:ext cx="1790699" cy="54101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98547" y="4264153"/>
              <a:ext cx="3226307" cy="58673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2974894" y="4382345"/>
            <a:ext cx="1473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r>
              <a:rPr sz="1800" spc="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Objects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20538" y="5218429"/>
            <a:ext cx="4852035" cy="889635"/>
            <a:chOff x="5320538" y="5218429"/>
            <a:chExt cx="4852035" cy="889635"/>
          </a:xfrm>
        </p:grpSpPr>
        <p:sp>
          <p:nvSpPr>
            <p:cNvPr id="31" name="object 31"/>
            <p:cNvSpPr/>
            <p:nvPr/>
          </p:nvSpPr>
          <p:spPr>
            <a:xfrm>
              <a:off x="5325618" y="5223509"/>
              <a:ext cx="4841875" cy="879475"/>
            </a:xfrm>
            <a:custGeom>
              <a:avLst/>
              <a:gdLst/>
              <a:ahLst/>
              <a:cxnLst/>
              <a:rect l="l" t="t" r="r" b="b"/>
              <a:pathLst>
                <a:path w="4841875" h="879475">
                  <a:moveTo>
                    <a:pt x="2420874" y="0"/>
                  </a:moveTo>
                  <a:lnTo>
                    <a:pt x="0" y="439673"/>
                  </a:lnTo>
                  <a:lnTo>
                    <a:pt x="2420874" y="879347"/>
                  </a:lnTo>
                  <a:lnTo>
                    <a:pt x="4841748" y="439673"/>
                  </a:lnTo>
                  <a:lnTo>
                    <a:pt x="2420874" y="0"/>
                  </a:lnTo>
                  <a:close/>
                </a:path>
              </a:pathLst>
            </a:custGeom>
            <a:solidFill>
              <a:srgbClr val="EFEEC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25618" y="5223509"/>
              <a:ext cx="4841875" cy="879475"/>
            </a:xfrm>
            <a:custGeom>
              <a:avLst/>
              <a:gdLst/>
              <a:ahLst/>
              <a:cxnLst/>
              <a:rect l="l" t="t" r="r" b="b"/>
              <a:pathLst>
                <a:path w="4841875" h="879475">
                  <a:moveTo>
                    <a:pt x="0" y="439673"/>
                  </a:moveTo>
                  <a:lnTo>
                    <a:pt x="2420874" y="0"/>
                  </a:lnTo>
                  <a:lnTo>
                    <a:pt x="4841748" y="439673"/>
                  </a:lnTo>
                  <a:lnTo>
                    <a:pt x="2420874" y="879347"/>
                  </a:lnTo>
                  <a:lnTo>
                    <a:pt x="0" y="439673"/>
                  </a:lnTo>
                  <a:close/>
                </a:path>
              </a:pathLst>
            </a:custGeom>
            <a:ln w="9994">
              <a:solidFill>
                <a:srgbClr val="EFEE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665762" y="4209556"/>
            <a:ext cx="2158365" cy="17252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84785" marR="5080" indent="-172720">
              <a:lnSpc>
                <a:spcPts val="1870"/>
              </a:lnSpc>
              <a:spcBef>
                <a:spcPts val="400"/>
              </a:spcBef>
              <a:buChar char="•"/>
              <a:tabLst>
                <a:tab pos="459105" algn="l"/>
              </a:tabLst>
            </a:pPr>
            <a:r>
              <a:rPr sz="1800" dirty="0">
                <a:latin typeface="Calisto MT"/>
                <a:cs typeface="Calisto MT"/>
              </a:rPr>
              <a:t>Provide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information 	</a:t>
            </a:r>
            <a:r>
              <a:rPr sz="1800" dirty="0">
                <a:latin typeface="Calisto MT"/>
                <a:cs typeface="Calisto MT"/>
              </a:rPr>
              <a:t>about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page</a:t>
            </a:r>
            <a:endParaRPr sz="1800">
              <a:latin typeface="Calisto MT"/>
              <a:cs typeface="Calisto MT"/>
            </a:endParaRPr>
          </a:p>
          <a:p>
            <a:pPr marL="779145">
              <a:lnSpc>
                <a:spcPts val="1860"/>
              </a:lnSpc>
            </a:pPr>
            <a:r>
              <a:rPr sz="1800" spc="-10" dirty="0">
                <a:latin typeface="Calisto MT"/>
                <a:cs typeface="Calisto MT"/>
              </a:rPr>
              <a:t>context.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1800">
              <a:latin typeface="Calisto MT"/>
              <a:cs typeface="Calisto MT"/>
            </a:endParaRPr>
          </a:p>
          <a:p>
            <a:pPr marL="246379" lvl="1" indent="-172720">
              <a:lnSpc>
                <a:spcPts val="2014"/>
              </a:lnSpc>
              <a:buChar char="•"/>
              <a:tabLst>
                <a:tab pos="246379" algn="l"/>
              </a:tabLst>
            </a:pPr>
            <a:r>
              <a:rPr sz="1800" dirty="0">
                <a:latin typeface="Calisto MT"/>
                <a:cs typeface="Calisto MT"/>
              </a:rPr>
              <a:t>Handles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errors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50" dirty="0">
                <a:latin typeface="Calisto MT"/>
                <a:cs typeface="Calisto MT"/>
              </a:rPr>
              <a:t>a</a:t>
            </a:r>
            <a:endParaRPr sz="1800">
              <a:latin typeface="Calisto MT"/>
              <a:cs typeface="Calisto MT"/>
            </a:endParaRPr>
          </a:p>
          <a:p>
            <a:pPr marL="701040">
              <a:lnSpc>
                <a:spcPts val="2014"/>
              </a:lnSpc>
            </a:pP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page.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58923" y="5355335"/>
            <a:ext cx="3305810" cy="666115"/>
            <a:chOff x="2058923" y="5355335"/>
            <a:chExt cx="3305810" cy="666115"/>
          </a:xfrm>
        </p:grpSpPr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8923" y="5355335"/>
              <a:ext cx="3305555" cy="66598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33700" y="5436107"/>
              <a:ext cx="1556003" cy="54101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098547" y="5369053"/>
              <a:ext cx="3226435" cy="586740"/>
            </a:xfrm>
            <a:custGeom>
              <a:avLst/>
              <a:gdLst/>
              <a:ahLst/>
              <a:cxnLst/>
              <a:rect l="l" t="t" r="r" b="b"/>
              <a:pathLst>
                <a:path w="3226435" h="586739">
                  <a:moveTo>
                    <a:pt x="3128518" y="0"/>
                  </a:moveTo>
                  <a:lnTo>
                    <a:pt x="97790" y="0"/>
                  </a:lnTo>
                  <a:lnTo>
                    <a:pt x="59723" y="7684"/>
                  </a:lnTo>
                  <a:lnTo>
                    <a:pt x="28640" y="28640"/>
                  </a:lnTo>
                  <a:lnTo>
                    <a:pt x="7684" y="59723"/>
                  </a:lnTo>
                  <a:lnTo>
                    <a:pt x="0" y="97790"/>
                  </a:lnTo>
                  <a:lnTo>
                    <a:pt x="0" y="488950"/>
                  </a:lnTo>
                  <a:lnTo>
                    <a:pt x="7684" y="527011"/>
                  </a:lnTo>
                  <a:lnTo>
                    <a:pt x="28640" y="558095"/>
                  </a:lnTo>
                  <a:lnTo>
                    <a:pt x="59723" y="579054"/>
                  </a:lnTo>
                  <a:lnTo>
                    <a:pt x="97790" y="586740"/>
                  </a:lnTo>
                  <a:lnTo>
                    <a:pt x="3128518" y="586740"/>
                  </a:lnTo>
                  <a:lnTo>
                    <a:pt x="3166584" y="579054"/>
                  </a:lnTo>
                  <a:lnTo>
                    <a:pt x="3197667" y="558095"/>
                  </a:lnTo>
                  <a:lnTo>
                    <a:pt x="3218623" y="527011"/>
                  </a:lnTo>
                  <a:lnTo>
                    <a:pt x="3226308" y="488950"/>
                  </a:lnTo>
                  <a:lnTo>
                    <a:pt x="3226308" y="97790"/>
                  </a:lnTo>
                  <a:lnTo>
                    <a:pt x="3218623" y="59723"/>
                  </a:lnTo>
                  <a:lnTo>
                    <a:pt x="3197667" y="28640"/>
                  </a:lnTo>
                  <a:lnTo>
                    <a:pt x="3166584" y="7684"/>
                  </a:lnTo>
                  <a:lnTo>
                    <a:pt x="3128518" y="0"/>
                  </a:lnTo>
                  <a:close/>
                </a:path>
              </a:pathLst>
            </a:custGeom>
            <a:solidFill>
              <a:srgbClr val="7C88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092243" y="5487047"/>
            <a:ext cx="1238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Error</a:t>
            </a:r>
            <a:r>
              <a:rPr sz="18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Object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3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172585" y="944765"/>
            <a:ext cx="2804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Types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Implicit</a:t>
            </a:r>
            <a:r>
              <a:rPr sz="1800" spc="-6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Objects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8816"/>
            <a:ext cx="12179820" cy="3291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Input</a:t>
            </a:r>
            <a:r>
              <a:rPr spc="-5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Output</a:t>
            </a:r>
            <a:r>
              <a:rPr spc="-45" dirty="0"/>
              <a:t> </a:t>
            </a:r>
            <a:r>
              <a:rPr spc="-10" dirty="0"/>
              <a:t>Objects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3852" y="1298447"/>
            <a:ext cx="2497835" cy="129235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59048" y="1670404"/>
            <a:ext cx="1305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request</a:t>
            </a:r>
            <a:endParaRPr sz="24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37029" y="2514980"/>
            <a:ext cx="2247900" cy="1588135"/>
            <a:chOff x="2137029" y="2514980"/>
            <a:chExt cx="2247900" cy="1588135"/>
          </a:xfrm>
        </p:grpSpPr>
        <p:sp>
          <p:nvSpPr>
            <p:cNvPr id="8" name="object 8"/>
            <p:cNvSpPr/>
            <p:nvPr/>
          </p:nvSpPr>
          <p:spPr>
            <a:xfrm>
              <a:off x="2146554" y="2524505"/>
              <a:ext cx="241935" cy="906144"/>
            </a:xfrm>
            <a:custGeom>
              <a:avLst/>
              <a:gdLst/>
              <a:ahLst/>
              <a:cxnLst/>
              <a:rect l="l" t="t" r="r" b="b"/>
              <a:pathLst>
                <a:path w="241935" h="906145">
                  <a:moveTo>
                    <a:pt x="0" y="0"/>
                  </a:moveTo>
                  <a:lnTo>
                    <a:pt x="0" y="906018"/>
                  </a:lnTo>
                  <a:lnTo>
                    <a:pt x="241604" y="906018"/>
                  </a:lnTo>
                </a:path>
              </a:pathLst>
            </a:custGeom>
            <a:ln w="19050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3912" y="2807207"/>
              <a:ext cx="2022347" cy="1295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82012" y="2846831"/>
              <a:ext cx="2002535" cy="125272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388870" y="2826257"/>
              <a:ext cx="1932939" cy="1207135"/>
            </a:xfrm>
            <a:custGeom>
              <a:avLst/>
              <a:gdLst/>
              <a:ahLst/>
              <a:cxnLst/>
              <a:rect l="l" t="t" r="r" b="b"/>
              <a:pathLst>
                <a:path w="1932939" h="1207135">
                  <a:moveTo>
                    <a:pt x="1811731" y="0"/>
                  </a:moveTo>
                  <a:lnTo>
                    <a:pt x="120700" y="0"/>
                  </a:lnTo>
                  <a:lnTo>
                    <a:pt x="73718" y="9485"/>
                  </a:lnTo>
                  <a:lnTo>
                    <a:pt x="35352" y="35352"/>
                  </a:lnTo>
                  <a:lnTo>
                    <a:pt x="9485" y="73718"/>
                  </a:lnTo>
                  <a:lnTo>
                    <a:pt x="0" y="120700"/>
                  </a:lnTo>
                  <a:lnTo>
                    <a:pt x="0" y="1086307"/>
                  </a:lnTo>
                  <a:lnTo>
                    <a:pt x="9485" y="1133289"/>
                  </a:lnTo>
                  <a:lnTo>
                    <a:pt x="35352" y="1171655"/>
                  </a:lnTo>
                  <a:lnTo>
                    <a:pt x="73718" y="1197522"/>
                  </a:lnTo>
                  <a:lnTo>
                    <a:pt x="120700" y="1207008"/>
                  </a:lnTo>
                  <a:lnTo>
                    <a:pt x="1811731" y="1207008"/>
                  </a:lnTo>
                  <a:lnTo>
                    <a:pt x="1858713" y="1197522"/>
                  </a:lnTo>
                  <a:lnTo>
                    <a:pt x="1897079" y="1171655"/>
                  </a:lnTo>
                  <a:lnTo>
                    <a:pt x="1922946" y="1133289"/>
                  </a:lnTo>
                  <a:lnTo>
                    <a:pt x="1932432" y="1086307"/>
                  </a:lnTo>
                  <a:lnTo>
                    <a:pt x="1932432" y="120700"/>
                  </a:lnTo>
                  <a:lnTo>
                    <a:pt x="1922946" y="73718"/>
                  </a:lnTo>
                  <a:lnTo>
                    <a:pt x="1897079" y="35352"/>
                  </a:lnTo>
                  <a:lnTo>
                    <a:pt x="1858713" y="9485"/>
                  </a:lnTo>
                  <a:lnTo>
                    <a:pt x="181173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88870" y="2826257"/>
              <a:ext cx="1932939" cy="1207135"/>
            </a:xfrm>
            <a:custGeom>
              <a:avLst/>
              <a:gdLst/>
              <a:ahLst/>
              <a:cxnLst/>
              <a:rect l="l" t="t" r="r" b="b"/>
              <a:pathLst>
                <a:path w="1932939" h="1207135">
                  <a:moveTo>
                    <a:pt x="0" y="120700"/>
                  </a:moveTo>
                  <a:lnTo>
                    <a:pt x="9485" y="73718"/>
                  </a:lnTo>
                  <a:lnTo>
                    <a:pt x="35352" y="35352"/>
                  </a:lnTo>
                  <a:lnTo>
                    <a:pt x="73718" y="9485"/>
                  </a:lnTo>
                  <a:lnTo>
                    <a:pt x="120700" y="0"/>
                  </a:lnTo>
                  <a:lnTo>
                    <a:pt x="1811731" y="0"/>
                  </a:lnTo>
                  <a:lnTo>
                    <a:pt x="1858713" y="9485"/>
                  </a:lnTo>
                  <a:lnTo>
                    <a:pt x="1897079" y="35352"/>
                  </a:lnTo>
                  <a:lnTo>
                    <a:pt x="1922946" y="73718"/>
                  </a:lnTo>
                  <a:lnTo>
                    <a:pt x="1932432" y="120700"/>
                  </a:lnTo>
                  <a:lnTo>
                    <a:pt x="1932432" y="1086307"/>
                  </a:lnTo>
                  <a:lnTo>
                    <a:pt x="1922946" y="1133289"/>
                  </a:lnTo>
                  <a:lnTo>
                    <a:pt x="1897079" y="1171655"/>
                  </a:lnTo>
                  <a:lnTo>
                    <a:pt x="1858713" y="1197522"/>
                  </a:lnTo>
                  <a:lnTo>
                    <a:pt x="1811731" y="1207008"/>
                  </a:lnTo>
                  <a:lnTo>
                    <a:pt x="120700" y="1207008"/>
                  </a:lnTo>
                  <a:lnTo>
                    <a:pt x="73718" y="1197522"/>
                  </a:lnTo>
                  <a:lnTo>
                    <a:pt x="35352" y="1171655"/>
                  </a:lnTo>
                  <a:lnTo>
                    <a:pt x="9485" y="1133289"/>
                  </a:lnTo>
                  <a:lnTo>
                    <a:pt x="0" y="1086307"/>
                  </a:lnTo>
                  <a:lnTo>
                    <a:pt x="0" y="120700"/>
                  </a:lnTo>
                  <a:close/>
                </a:path>
              </a:pathLst>
            </a:custGeom>
            <a:ln w="9994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540587" y="2897122"/>
            <a:ext cx="1628139" cy="101346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065" marR="5080" indent="-1270" algn="ctr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latin typeface="Calisto MT"/>
                <a:cs typeface="Calisto MT"/>
              </a:rPr>
              <a:t>Contains</a:t>
            </a:r>
            <a:r>
              <a:rPr sz="1800" spc="-25" dirty="0">
                <a:latin typeface="Calisto MT"/>
                <a:cs typeface="Calisto MT"/>
              </a:rPr>
              <a:t> the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-20" dirty="0">
                <a:latin typeface="Calisto MT"/>
                <a:cs typeface="Calisto MT"/>
              </a:rPr>
              <a:t> sent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client browser.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137029" y="2514980"/>
            <a:ext cx="2229485" cy="3098165"/>
            <a:chOff x="2137029" y="2514980"/>
            <a:chExt cx="2229485" cy="3098165"/>
          </a:xfrm>
        </p:grpSpPr>
        <p:sp>
          <p:nvSpPr>
            <p:cNvPr id="15" name="object 15"/>
            <p:cNvSpPr/>
            <p:nvPr/>
          </p:nvSpPr>
          <p:spPr>
            <a:xfrm>
              <a:off x="2146554" y="2524505"/>
              <a:ext cx="241935" cy="2416175"/>
            </a:xfrm>
            <a:custGeom>
              <a:avLst/>
              <a:gdLst/>
              <a:ahLst/>
              <a:cxnLst/>
              <a:rect l="l" t="t" r="r" b="b"/>
              <a:pathLst>
                <a:path w="241935" h="2416175">
                  <a:moveTo>
                    <a:pt x="0" y="0"/>
                  </a:moveTo>
                  <a:lnTo>
                    <a:pt x="0" y="2416035"/>
                  </a:lnTo>
                  <a:lnTo>
                    <a:pt x="241604" y="2416035"/>
                  </a:lnTo>
                </a:path>
              </a:pathLst>
            </a:custGeom>
            <a:ln w="19049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43912" y="4315967"/>
              <a:ext cx="2022347" cy="129692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2700" y="4474464"/>
              <a:ext cx="1661159" cy="101650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388870" y="4335017"/>
              <a:ext cx="1932939" cy="1209040"/>
            </a:xfrm>
            <a:custGeom>
              <a:avLst/>
              <a:gdLst/>
              <a:ahLst/>
              <a:cxnLst/>
              <a:rect l="l" t="t" r="r" b="b"/>
              <a:pathLst>
                <a:path w="1932939" h="1209039">
                  <a:moveTo>
                    <a:pt x="1811578" y="0"/>
                  </a:moveTo>
                  <a:lnTo>
                    <a:pt x="120853" y="0"/>
                  </a:lnTo>
                  <a:lnTo>
                    <a:pt x="73809" y="9496"/>
                  </a:lnTo>
                  <a:lnTo>
                    <a:pt x="35394" y="35394"/>
                  </a:lnTo>
                  <a:lnTo>
                    <a:pt x="9496" y="73809"/>
                  </a:lnTo>
                  <a:lnTo>
                    <a:pt x="0" y="120853"/>
                  </a:lnTo>
                  <a:lnTo>
                    <a:pt x="0" y="1087678"/>
                  </a:lnTo>
                  <a:lnTo>
                    <a:pt x="9496" y="1134722"/>
                  </a:lnTo>
                  <a:lnTo>
                    <a:pt x="35394" y="1173137"/>
                  </a:lnTo>
                  <a:lnTo>
                    <a:pt x="73809" y="1199035"/>
                  </a:lnTo>
                  <a:lnTo>
                    <a:pt x="120853" y="1208531"/>
                  </a:lnTo>
                  <a:lnTo>
                    <a:pt x="1811578" y="1208531"/>
                  </a:lnTo>
                  <a:lnTo>
                    <a:pt x="1858622" y="1199035"/>
                  </a:lnTo>
                  <a:lnTo>
                    <a:pt x="1897037" y="1173137"/>
                  </a:lnTo>
                  <a:lnTo>
                    <a:pt x="1922935" y="1134722"/>
                  </a:lnTo>
                  <a:lnTo>
                    <a:pt x="1932432" y="1087678"/>
                  </a:lnTo>
                  <a:lnTo>
                    <a:pt x="1932432" y="120853"/>
                  </a:lnTo>
                  <a:lnTo>
                    <a:pt x="1922935" y="73809"/>
                  </a:lnTo>
                  <a:lnTo>
                    <a:pt x="1897037" y="35394"/>
                  </a:lnTo>
                  <a:lnTo>
                    <a:pt x="1858622" y="9496"/>
                  </a:lnTo>
                  <a:lnTo>
                    <a:pt x="181157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88870" y="4335017"/>
              <a:ext cx="1932939" cy="1209040"/>
            </a:xfrm>
            <a:custGeom>
              <a:avLst/>
              <a:gdLst/>
              <a:ahLst/>
              <a:cxnLst/>
              <a:rect l="l" t="t" r="r" b="b"/>
              <a:pathLst>
                <a:path w="1932939" h="1209039">
                  <a:moveTo>
                    <a:pt x="0" y="120853"/>
                  </a:moveTo>
                  <a:lnTo>
                    <a:pt x="9496" y="73809"/>
                  </a:lnTo>
                  <a:lnTo>
                    <a:pt x="35394" y="35394"/>
                  </a:lnTo>
                  <a:lnTo>
                    <a:pt x="73809" y="9496"/>
                  </a:lnTo>
                  <a:lnTo>
                    <a:pt x="120853" y="0"/>
                  </a:lnTo>
                  <a:lnTo>
                    <a:pt x="1811578" y="0"/>
                  </a:lnTo>
                  <a:lnTo>
                    <a:pt x="1858622" y="9496"/>
                  </a:lnTo>
                  <a:lnTo>
                    <a:pt x="1897037" y="35394"/>
                  </a:lnTo>
                  <a:lnTo>
                    <a:pt x="1922935" y="73809"/>
                  </a:lnTo>
                  <a:lnTo>
                    <a:pt x="1932432" y="120853"/>
                  </a:lnTo>
                  <a:lnTo>
                    <a:pt x="1932432" y="1087678"/>
                  </a:lnTo>
                  <a:lnTo>
                    <a:pt x="1922935" y="1134722"/>
                  </a:lnTo>
                  <a:lnTo>
                    <a:pt x="1897037" y="1173137"/>
                  </a:lnTo>
                  <a:lnTo>
                    <a:pt x="1858622" y="1199035"/>
                  </a:lnTo>
                  <a:lnTo>
                    <a:pt x="1811578" y="1208531"/>
                  </a:lnTo>
                  <a:lnTo>
                    <a:pt x="120853" y="1208531"/>
                  </a:lnTo>
                  <a:lnTo>
                    <a:pt x="73809" y="1199035"/>
                  </a:lnTo>
                  <a:lnTo>
                    <a:pt x="35394" y="1173137"/>
                  </a:lnTo>
                  <a:lnTo>
                    <a:pt x="9496" y="1134722"/>
                  </a:lnTo>
                  <a:lnTo>
                    <a:pt x="0" y="1087678"/>
                  </a:lnTo>
                  <a:lnTo>
                    <a:pt x="0" y="120853"/>
                  </a:lnTo>
                  <a:close/>
                </a:path>
              </a:pathLst>
            </a:custGeom>
            <a:ln w="9994">
              <a:solidFill>
                <a:srgbClr val="83C7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711244" y="4525892"/>
            <a:ext cx="1285240" cy="7753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algn="ctr">
              <a:lnSpc>
                <a:spcPts val="1870"/>
              </a:lnSpc>
              <a:spcBef>
                <a:spcPts val="400"/>
              </a:spcBef>
            </a:pPr>
            <a:r>
              <a:rPr sz="1800" dirty="0">
                <a:latin typeface="Calisto MT"/>
                <a:cs typeface="Calisto MT"/>
              </a:rPr>
              <a:t>Includes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</a:t>
            </a:r>
            <a:r>
              <a:rPr sz="1800" dirty="0">
                <a:latin typeface="Calisto MT"/>
                <a:cs typeface="Calisto MT"/>
              </a:rPr>
              <a:t>source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</a:t>
            </a:r>
            <a:r>
              <a:rPr sz="1800" spc="-10" dirty="0">
                <a:latin typeface="Calisto MT"/>
                <a:cs typeface="Calisto MT"/>
              </a:rPr>
              <a:t>request.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81371" y="1298448"/>
            <a:ext cx="2500883" cy="129235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387656" y="1670404"/>
            <a:ext cx="148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ourier New"/>
                <a:cs typeface="Courier New"/>
              </a:rPr>
              <a:t>response</a:t>
            </a:r>
            <a:endParaRPr sz="24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157596" y="2514980"/>
            <a:ext cx="2230755" cy="1588135"/>
            <a:chOff x="5157596" y="2514980"/>
            <a:chExt cx="2230755" cy="1588135"/>
          </a:xfrm>
        </p:grpSpPr>
        <p:sp>
          <p:nvSpPr>
            <p:cNvPr id="24" name="object 24"/>
            <p:cNvSpPr/>
            <p:nvPr/>
          </p:nvSpPr>
          <p:spPr>
            <a:xfrm>
              <a:off x="5167121" y="2524505"/>
              <a:ext cx="241935" cy="906144"/>
            </a:xfrm>
            <a:custGeom>
              <a:avLst/>
              <a:gdLst/>
              <a:ahLst/>
              <a:cxnLst/>
              <a:rect l="l" t="t" r="r" b="b"/>
              <a:pathLst>
                <a:path w="241935" h="906145">
                  <a:moveTo>
                    <a:pt x="0" y="0"/>
                  </a:moveTo>
                  <a:lnTo>
                    <a:pt x="0" y="906018"/>
                  </a:lnTo>
                  <a:lnTo>
                    <a:pt x="241604" y="906018"/>
                  </a:lnTo>
                </a:path>
              </a:pathLst>
            </a:custGeom>
            <a:ln w="19050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62956" y="2807207"/>
              <a:ext cx="2023871" cy="12953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61431" y="2965704"/>
              <a:ext cx="2026919" cy="101498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407913" y="2826257"/>
              <a:ext cx="1934210" cy="1207135"/>
            </a:xfrm>
            <a:custGeom>
              <a:avLst/>
              <a:gdLst/>
              <a:ahLst/>
              <a:cxnLst/>
              <a:rect l="l" t="t" r="r" b="b"/>
              <a:pathLst>
                <a:path w="1934209" h="1207135">
                  <a:moveTo>
                    <a:pt x="1813255" y="0"/>
                  </a:moveTo>
                  <a:lnTo>
                    <a:pt x="120700" y="0"/>
                  </a:lnTo>
                  <a:lnTo>
                    <a:pt x="73718" y="9485"/>
                  </a:lnTo>
                  <a:lnTo>
                    <a:pt x="35352" y="35352"/>
                  </a:lnTo>
                  <a:lnTo>
                    <a:pt x="9485" y="73718"/>
                  </a:lnTo>
                  <a:lnTo>
                    <a:pt x="0" y="120700"/>
                  </a:lnTo>
                  <a:lnTo>
                    <a:pt x="0" y="1086307"/>
                  </a:lnTo>
                  <a:lnTo>
                    <a:pt x="9485" y="1133289"/>
                  </a:lnTo>
                  <a:lnTo>
                    <a:pt x="35352" y="1171655"/>
                  </a:lnTo>
                  <a:lnTo>
                    <a:pt x="73718" y="1197522"/>
                  </a:lnTo>
                  <a:lnTo>
                    <a:pt x="120700" y="1207008"/>
                  </a:lnTo>
                  <a:lnTo>
                    <a:pt x="1813255" y="1207008"/>
                  </a:lnTo>
                  <a:lnTo>
                    <a:pt x="1860237" y="1197522"/>
                  </a:lnTo>
                  <a:lnTo>
                    <a:pt x="1898603" y="1171655"/>
                  </a:lnTo>
                  <a:lnTo>
                    <a:pt x="1924470" y="1133289"/>
                  </a:lnTo>
                  <a:lnTo>
                    <a:pt x="1933956" y="1086307"/>
                  </a:lnTo>
                  <a:lnTo>
                    <a:pt x="1933956" y="120700"/>
                  </a:lnTo>
                  <a:lnTo>
                    <a:pt x="1924470" y="73718"/>
                  </a:lnTo>
                  <a:lnTo>
                    <a:pt x="1898603" y="35352"/>
                  </a:lnTo>
                  <a:lnTo>
                    <a:pt x="1860237" y="9485"/>
                  </a:lnTo>
                  <a:lnTo>
                    <a:pt x="181325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07913" y="2826257"/>
              <a:ext cx="1934210" cy="1207135"/>
            </a:xfrm>
            <a:custGeom>
              <a:avLst/>
              <a:gdLst/>
              <a:ahLst/>
              <a:cxnLst/>
              <a:rect l="l" t="t" r="r" b="b"/>
              <a:pathLst>
                <a:path w="1934209" h="1207135">
                  <a:moveTo>
                    <a:pt x="0" y="120700"/>
                  </a:moveTo>
                  <a:lnTo>
                    <a:pt x="9485" y="73718"/>
                  </a:lnTo>
                  <a:lnTo>
                    <a:pt x="35352" y="35352"/>
                  </a:lnTo>
                  <a:lnTo>
                    <a:pt x="73718" y="9485"/>
                  </a:lnTo>
                  <a:lnTo>
                    <a:pt x="120700" y="0"/>
                  </a:lnTo>
                  <a:lnTo>
                    <a:pt x="1813255" y="0"/>
                  </a:lnTo>
                  <a:lnTo>
                    <a:pt x="1860237" y="9485"/>
                  </a:lnTo>
                  <a:lnTo>
                    <a:pt x="1898603" y="35352"/>
                  </a:lnTo>
                  <a:lnTo>
                    <a:pt x="1924470" y="73718"/>
                  </a:lnTo>
                  <a:lnTo>
                    <a:pt x="1933956" y="120700"/>
                  </a:lnTo>
                  <a:lnTo>
                    <a:pt x="1933956" y="1086307"/>
                  </a:lnTo>
                  <a:lnTo>
                    <a:pt x="1924470" y="1133289"/>
                  </a:lnTo>
                  <a:lnTo>
                    <a:pt x="1898603" y="1171655"/>
                  </a:lnTo>
                  <a:lnTo>
                    <a:pt x="1860237" y="1197522"/>
                  </a:lnTo>
                  <a:lnTo>
                    <a:pt x="1813255" y="1207008"/>
                  </a:lnTo>
                  <a:lnTo>
                    <a:pt x="120700" y="1207008"/>
                  </a:lnTo>
                  <a:lnTo>
                    <a:pt x="73718" y="1197522"/>
                  </a:lnTo>
                  <a:lnTo>
                    <a:pt x="35352" y="1171655"/>
                  </a:lnTo>
                  <a:lnTo>
                    <a:pt x="9485" y="1133289"/>
                  </a:lnTo>
                  <a:lnTo>
                    <a:pt x="0" y="1086307"/>
                  </a:lnTo>
                  <a:lnTo>
                    <a:pt x="0" y="120700"/>
                  </a:lnTo>
                  <a:close/>
                </a:path>
              </a:pathLst>
            </a:custGeom>
            <a:ln w="9994">
              <a:solidFill>
                <a:srgbClr val="5CB7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519488" y="3015869"/>
            <a:ext cx="1710055" cy="7753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indent="-2540" algn="ctr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latin typeface="Calisto MT"/>
                <a:cs typeface="Calisto MT"/>
              </a:rPr>
              <a:t>Manages</a:t>
            </a:r>
            <a:r>
              <a:rPr sz="1800" spc="-8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</a:t>
            </a:r>
            <a:r>
              <a:rPr sz="1800" spc="-10" dirty="0">
                <a:latin typeface="Calisto MT"/>
                <a:cs typeface="Calisto MT"/>
              </a:rPr>
              <a:t>response </a:t>
            </a:r>
            <a:r>
              <a:rPr sz="1800" dirty="0">
                <a:latin typeface="Calisto MT"/>
                <a:cs typeface="Calisto MT"/>
              </a:rPr>
              <a:t>generated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60" dirty="0">
                <a:latin typeface="Calisto MT"/>
                <a:cs typeface="Calisto MT"/>
              </a:rPr>
              <a:t>JSP.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157596" y="2514980"/>
            <a:ext cx="2305685" cy="3098165"/>
            <a:chOff x="5157596" y="2514980"/>
            <a:chExt cx="2305685" cy="3098165"/>
          </a:xfrm>
        </p:grpSpPr>
        <p:sp>
          <p:nvSpPr>
            <p:cNvPr id="31" name="object 31"/>
            <p:cNvSpPr/>
            <p:nvPr/>
          </p:nvSpPr>
          <p:spPr>
            <a:xfrm>
              <a:off x="5167121" y="2524505"/>
              <a:ext cx="241935" cy="2416175"/>
            </a:xfrm>
            <a:custGeom>
              <a:avLst/>
              <a:gdLst/>
              <a:ahLst/>
              <a:cxnLst/>
              <a:rect l="l" t="t" r="r" b="b"/>
              <a:pathLst>
                <a:path w="241935" h="2416175">
                  <a:moveTo>
                    <a:pt x="0" y="0"/>
                  </a:moveTo>
                  <a:lnTo>
                    <a:pt x="0" y="2416035"/>
                  </a:lnTo>
                  <a:lnTo>
                    <a:pt x="241604" y="2416035"/>
                  </a:lnTo>
                </a:path>
              </a:pathLst>
            </a:custGeom>
            <a:ln w="19049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62955" y="4315968"/>
              <a:ext cx="2023871" cy="129692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46191" y="4474464"/>
              <a:ext cx="2116835" cy="101650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07913" y="4335017"/>
              <a:ext cx="1934210" cy="1209040"/>
            </a:xfrm>
            <a:custGeom>
              <a:avLst/>
              <a:gdLst/>
              <a:ahLst/>
              <a:cxnLst/>
              <a:rect l="l" t="t" r="r" b="b"/>
              <a:pathLst>
                <a:path w="1934209" h="1209039">
                  <a:moveTo>
                    <a:pt x="1813102" y="0"/>
                  </a:moveTo>
                  <a:lnTo>
                    <a:pt x="120853" y="0"/>
                  </a:lnTo>
                  <a:lnTo>
                    <a:pt x="73809" y="9496"/>
                  </a:lnTo>
                  <a:lnTo>
                    <a:pt x="35394" y="35394"/>
                  </a:lnTo>
                  <a:lnTo>
                    <a:pt x="9496" y="73809"/>
                  </a:lnTo>
                  <a:lnTo>
                    <a:pt x="0" y="120853"/>
                  </a:lnTo>
                  <a:lnTo>
                    <a:pt x="0" y="1087678"/>
                  </a:lnTo>
                  <a:lnTo>
                    <a:pt x="9496" y="1134722"/>
                  </a:lnTo>
                  <a:lnTo>
                    <a:pt x="35394" y="1173137"/>
                  </a:lnTo>
                  <a:lnTo>
                    <a:pt x="73809" y="1199035"/>
                  </a:lnTo>
                  <a:lnTo>
                    <a:pt x="120853" y="1208531"/>
                  </a:lnTo>
                  <a:lnTo>
                    <a:pt x="1813102" y="1208531"/>
                  </a:lnTo>
                  <a:lnTo>
                    <a:pt x="1860146" y="1199035"/>
                  </a:lnTo>
                  <a:lnTo>
                    <a:pt x="1898561" y="1173137"/>
                  </a:lnTo>
                  <a:lnTo>
                    <a:pt x="1924459" y="1134722"/>
                  </a:lnTo>
                  <a:lnTo>
                    <a:pt x="1933956" y="1087678"/>
                  </a:lnTo>
                  <a:lnTo>
                    <a:pt x="1933956" y="120853"/>
                  </a:lnTo>
                  <a:lnTo>
                    <a:pt x="1924459" y="73809"/>
                  </a:lnTo>
                  <a:lnTo>
                    <a:pt x="1898561" y="35394"/>
                  </a:lnTo>
                  <a:lnTo>
                    <a:pt x="1860146" y="9496"/>
                  </a:lnTo>
                  <a:lnTo>
                    <a:pt x="181310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07913" y="4335017"/>
              <a:ext cx="1934210" cy="1209040"/>
            </a:xfrm>
            <a:custGeom>
              <a:avLst/>
              <a:gdLst/>
              <a:ahLst/>
              <a:cxnLst/>
              <a:rect l="l" t="t" r="r" b="b"/>
              <a:pathLst>
                <a:path w="1934209" h="1209039">
                  <a:moveTo>
                    <a:pt x="0" y="120853"/>
                  </a:moveTo>
                  <a:lnTo>
                    <a:pt x="9496" y="73809"/>
                  </a:lnTo>
                  <a:lnTo>
                    <a:pt x="35394" y="35394"/>
                  </a:lnTo>
                  <a:lnTo>
                    <a:pt x="73809" y="9496"/>
                  </a:lnTo>
                  <a:lnTo>
                    <a:pt x="120853" y="0"/>
                  </a:lnTo>
                  <a:lnTo>
                    <a:pt x="1813102" y="0"/>
                  </a:lnTo>
                  <a:lnTo>
                    <a:pt x="1860146" y="9496"/>
                  </a:lnTo>
                  <a:lnTo>
                    <a:pt x="1898561" y="35394"/>
                  </a:lnTo>
                  <a:lnTo>
                    <a:pt x="1924459" y="73809"/>
                  </a:lnTo>
                  <a:lnTo>
                    <a:pt x="1933956" y="120853"/>
                  </a:lnTo>
                  <a:lnTo>
                    <a:pt x="1933956" y="1087678"/>
                  </a:lnTo>
                  <a:lnTo>
                    <a:pt x="1924459" y="1134722"/>
                  </a:lnTo>
                  <a:lnTo>
                    <a:pt x="1898561" y="1173137"/>
                  </a:lnTo>
                  <a:lnTo>
                    <a:pt x="1860146" y="1199035"/>
                  </a:lnTo>
                  <a:lnTo>
                    <a:pt x="1813102" y="1208531"/>
                  </a:lnTo>
                  <a:lnTo>
                    <a:pt x="120853" y="1208531"/>
                  </a:lnTo>
                  <a:lnTo>
                    <a:pt x="73809" y="1199035"/>
                  </a:lnTo>
                  <a:lnTo>
                    <a:pt x="35394" y="1173137"/>
                  </a:lnTo>
                  <a:lnTo>
                    <a:pt x="9496" y="1134722"/>
                  </a:lnTo>
                  <a:lnTo>
                    <a:pt x="0" y="1087678"/>
                  </a:lnTo>
                  <a:lnTo>
                    <a:pt x="0" y="120853"/>
                  </a:lnTo>
                  <a:close/>
                </a:path>
              </a:pathLst>
            </a:custGeom>
            <a:ln w="9994">
              <a:solidFill>
                <a:srgbClr val="68A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504293" y="4525892"/>
            <a:ext cx="1741170" cy="7753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algn="ctr">
              <a:lnSpc>
                <a:spcPts val="1870"/>
              </a:lnSpc>
              <a:spcBef>
                <a:spcPts val="400"/>
              </a:spcBef>
            </a:pPr>
            <a:r>
              <a:rPr sz="1800" dirty="0">
                <a:latin typeface="Calisto MT"/>
                <a:cs typeface="Calisto MT"/>
              </a:rPr>
              <a:t>Sends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response</a:t>
            </a:r>
            <a:r>
              <a:rPr sz="1800" spc="-25" dirty="0">
                <a:latin typeface="Calisto MT"/>
                <a:cs typeface="Calisto MT"/>
              </a:rPr>
              <a:t> to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through HTTP.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904988" y="1284732"/>
            <a:ext cx="2497835" cy="1292351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8865937" y="1656923"/>
            <a:ext cx="574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FFFFF"/>
                </a:solidFill>
                <a:latin typeface="Courier New"/>
                <a:cs typeface="Courier New"/>
              </a:rPr>
              <a:t>out</a:t>
            </a:r>
            <a:endParaRPr sz="240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78165" y="2501264"/>
            <a:ext cx="2228215" cy="1601470"/>
            <a:chOff x="8178165" y="2501264"/>
            <a:chExt cx="2228215" cy="1601470"/>
          </a:xfrm>
        </p:grpSpPr>
        <p:sp>
          <p:nvSpPr>
            <p:cNvPr id="40" name="object 40"/>
            <p:cNvSpPr/>
            <p:nvPr/>
          </p:nvSpPr>
          <p:spPr>
            <a:xfrm>
              <a:off x="8187690" y="2510789"/>
              <a:ext cx="240665" cy="920115"/>
            </a:xfrm>
            <a:custGeom>
              <a:avLst/>
              <a:gdLst/>
              <a:ahLst/>
              <a:cxnLst/>
              <a:rect l="l" t="t" r="r" b="b"/>
              <a:pathLst>
                <a:path w="240665" h="920114">
                  <a:moveTo>
                    <a:pt x="0" y="0"/>
                  </a:moveTo>
                  <a:lnTo>
                    <a:pt x="0" y="919492"/>
                  </a:lnTo>
                  <a:lnTo>
                    <a:pt x="240576" y="919492"/>
                  </a:lnTo>
                </a:path>
              </a:pathLst>
            </a:custGeom>
            <a:ln w="19050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3524" y="2807207"/>
              <a:ext cx="2022347" cy="129539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519160" y="3084576"/>
              <a:ext cx="1807463" cy="77723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8428482" y="2826257"/>
              <a:ext cx="1932939" cy="1207135"/>
            </a:xfrm>
            <a:custGeom>
              <a:avLst/>
              <a:gdLst/>
              <a:ahLst/>
              <a:cxnLst/>
              <a:rect l="l" t="t" r="r" b="b"/>
              <a:pathLst>
                <a:path w="1932940" h="1207135">
                  <a:moveTo>
                    <a:pt x="1811731" y="0"/>
                  </a:moveTo>
                  <a:lnTo>
                    <a:pt x="120700" y="0"/>
                  </a:lnTo>
                  <a:lnTo>
                    <a:pt x="73718" y="9485"/>
                  </a:lnTo>
                  <a:lnTo>
                    <a:pt x="35352" y="35352"/>
                  </a:lnTo>
                  <a:lnTo>
                    <a:pt x="9485" y="73718"/>
                  </a:lnTo>
                  <a:lnTo>
                    <a:pt x="0" y="120700"/>
                  </a:lnTo>
                  <a:lnTo>
                    <a:pt x="0" y="1086307"/>
                  </a:lnTo>
                  <a:lnTo>
                    <a:pt x="9485" y="1133289"/>
                  </a:lnTo>
                  <a:lnTo>
                    <a:pt x="35352" y="1171655"/>
                  </a:lnTo>
                  <a:lnTo>
                    <a:pt x="73718" y="1197522"/>
                  </a:lnTo>
                  <a:lnTo>
                    <a:pt x="120700" y="1207008"/>
                  </a:lnTo>
                  <a:lnTo>
                    <a:pt x="1811731" y="1207008"/>
                  </a:lnTo>
                  <a:lnTo>
                    <a:pt x="1858713" y="1197522"/>
                  </a:lnTo>
                  <a:lnTo>
                    <a:pt x="1897079" y="1171655"/>
                  </a:lnTo>
                  <a:lnTo>
                    <a:pt x="1922946" y="1133289"/>
                  </a:lnTo>
                  <a:lnTo>
                    <a:pt x="1932432" y="1086307"/>
                  </a:lnTo>
                  <a:lnTo>
                    <a:pt x="1932432" y="120700"/>
                  </a:lnTo>
                  <a:lnTo>
                    <a:pt x="1922946" y="73718"/>
                  </a:lnTo>
                  <a:lnTo>
                    <a:pt x="1897079" y="35352"/>
                  </a:lnTo>
                  <a:lnTo>
                    <a:pt x="1858713" y="9485"/>
                  </a:lnTo>
                  <a:lnTo>
                    <a:pt x="181173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428480" y="2826257"/>
              <a:ext cx="1932939" cy="1207135"/>
            </a:xfrm>
            <a:custGeom>
              <a:avLst/>
              <a:gdLst/>
              <a:ahLst/>
              <a:cxnLst/>
              <a:rect l="l" t="t" r="r" b="b"/>
              <a:pathLst>
                <a:path w="1932940" h="1207135">
                  <a:moveTo>
                    <a:pt x="0" y="120700"/>
                  </a:moveTo>
                  <a:lnTo>
                    <a:pt x="9485" y="73718"/>
                  </a:lnTo>
                  <a:lnTo>
                    <a:pt x="35352" y="35352"/>
                  </a:lnTo>
                  <a:lnTo>
                    <a:pt x="73718" y="9485"/>
                  </a:lnTo>
                  <a:lnTo>
                    <a:pt x="120700" y="0"/>
                  </a:lnTo>
                  <a:lnTo>
                    <a:pt x="1811731" y="0"/>
                  </a:lnTo>
                  <a:lnTo>
                    <a:pt x="1858713" y="9485"/>
                  </a:lnTo>
                  <a:lnTo>
                    <a:pt x="1897079" y="35352"/>
                  </a:lnTo>
                  <a:lnTo>
                    <a:pt x="1922946" y="73718"/>
                  </a:lnTo>
                  <a:lnTo>
                    <a:pt x="1932432" y="120700"/>
                  </a:lnTo>
                  <a:lnTo>
                    <a:pt x="1932432" y="1086307"/>
                  </a:lnTo>
                  <a:lnTo>
                    <a:pt x="1922946" y="1133289"/>
                  </a:lnTo>
                  <a:lnTo>
                    <a:pt x="1897079" y="1171655"/>
                  </a:lnTo>
                  <a:lnTo>
                    <a:pt x="1858713" y="1197522"/>
                  </a:lnTo>
                  <a:lnTo>
                    <a:pt x="1811731" y="1207008"/>
                  </a:lnTo>
                  <a:lnTo>
                    <a:pt x="120700" y="1207008"/>
                  </a:lnTo>
                  <a:lnTo>
                    <a:pt x="73718" y="1197522"/>
                  </a:lnTo>
                  <a:lnTo>
                    <a:pt x="35352" y="1171655"/>
                  </a:lnTo>
                  <a:lnTo>
                    <a:pt x="9485" y="1133289"/>
                  </a:lnTo>
                  <a:lnTo>
                    <a:pt x="0" y="1086307"/>
                  </a:lnTo>
                  <a:lnTo>
                    <a:pt x="0" y="120700"/>
                  </a:lnTo>
                  <a:close/>
                </a:path>
              </a:pathLst>
            </a:custGeom>
            <a:ln w="9994">
              <a:solidFill>
                <a:srgbClr val="7487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678295" y="3134612"/>
            <a:ext cx="1432560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latin typeface="Calisto MT"/>
                <a:cs typeface="Calisto MT"/>
              </a:rPr>
              <a:t>Represents</a:t>
            </a:r>
            <a:r>
              <a:rPr sz="1800" spc="-8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</a:t>
            </a:r>
            <a:r>
              <a:rPr sz="1800" dirty="0">
                <a:latin typeface="Calisto MT"/>
                <a:cs typeface="Calisto MT"/>
              </a:rPr>
              <a:t>output</a:t>
            </a:r>
            <a:r>
              <a:rPr sz="1800" spc="-10" dirty="0">
                <a:latin typeface="Calisto MT"/>
                <a:cs typeface="Calisto MT"/>
              </a:rPr>
              <a:t> stream.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178165" y="2501264"/>
            <a:ext cx="2299335" cy="3112135"/>
            <a:chOff x="8178165" y="2501264"/>
            <a:chExt cx="2299335" cy="3112135"/>
          </a:xfrm>
        </p:grpSpPr>
        <p:sp>
          <p:nvSpPr>
            <p:cNvPr id="47" name="object 47"/>
            <p:cNvSpPr/>
            <p:nvPr/>
          </p:nvSpPr>
          <p:spPr>
            <a:xfrm>
              <a:off x="8187690" y="2510789"/>
              <a:ext cx="240665" cy="2430145"/>
            </a:xfrm>
            <a:custGeom>
              <a:avLst/>
              <a:gdLst/>
              <a:ahLst/>
              <a:cxnLst/>
              <a:rect l="l" t="t" r="r" b="b"/>
              <a:pathLst>
                <a:path w="240665" h="2430145">
                  <a:moveTo>
                    <a:pt x="0" y="0"/>
                  </a:moveTo>
                  <a:lnTo>
                    <a:pt x="0" y="2429522"/>
                  </a:lnTo>
                  <a:lnTo>
                    <a:pt x="240576" y="2429522"/>
                  </a:lnTo>
                </a:path>
              </a:pathLst>
            </a:custGeom>
            <a:ln w="19050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83524" y="4315967"/>
              <a:ext cx="2022347" cy="129692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68284" y="4357116"/>
              <a:ext cx="2109215" cy="125272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428482" y="4335017"/>
              <a:ext cx="1932939" cy="1209040"/>
            </a:xfrm>
            <a:custGeom>
              <a:avLst/>
              <a:gdLst/>
              <a:ahLst/>
              <a:cxnLst/>
              <a:rect l="l" t="t" r="r" b="b"/>
              <a:pathLst>
                <a:path w="1932940" h="1209039">
                  <a:moveTo>
                    <a:pt x="1811578" y="0"/>
                  </a:moveTo>
                  <a:lnTo>
                    <a:pt x="120853" y="0"/>
                  </a:lnTo>
                  <a:lnTo>
                    <a:pt x="73809" y="9496"/>
                  </a:lnTo>
                  <a:lnTo>
                    <a:pt x="35394" y="35394"/>
                  </a:lnTo>
                  <a:lnTo>
                    <a:pt x="9496" y="73809"/>
                  </a:lnTo>
                  <a:lnTo>
                    <a:pt x="0" y="120853"/>
                  </a:lnTo>
                  <a:lnTo>
                    <a:pt x="0" y="1087678"/>
                  </a:lnTo>
                  <a:lnTo>
                    <a:pt x="9496" y="1134722"/>
                  </a:lnTo>
                  <a:lnTo>
                    <a:pt x="35394" y="1173137"/>
                  </a:lnTo>
                  <a:lnTo>
                    <a:pt x="73809" y="1199035"/>
                  </a:lnTo>
                  <a:lnTo>
                    <a:pt x="120853" y="1208531"/>
                  </a:lnTo>
                  <a:lnTo>
                    <a:pt x="1811578" y="1208531"/>
                  </a:lnTo>
                  <a:lnTo>
                    <a:pt x="1858622" y="1199035"/>
                  </a:lnTo>
                  <a:lnTo>
                    <a:pt x="1897037" y="1173137"/>
                  </a:lnTo>
                  <a:lnTo>
                    <a:pt x="1922935" y="1134722"/>
                  </a:lnTo>
                  <a:lnTo>
                    <a:pt x="1932432" y="1087678"/>
                  </a:lnTo>
                  <a:lnTo>
                    <a:pt x="1932432" y="120853"/>
                  </a:lnTo>
                  <a:lnTo>
                    <a:pt x="1922935" y="73809"/>
                  </a:lnTo>
                  <a:lnTo>
                    <a:pt x="1897037" y="35394"/>
                  </a:lnTo>
                  <a:lnTo>
                    <a:pt x="1858622" y="9496"/>
                  </a:lnTo>
                  <a:lnTo>
                    <a:pt x="181157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428480" y="4335017"/>
              <a:ext cx="1932939" cy="1209040"/>
            </a:xfrm>
            <a:custGeom>
              <a:avLst/>
              <a:gdLst/>
              <a:ahLst/>
              <a:cxnLst/>
              <a:rect l="l" t="t" r="r" b="b"/>
              <a:pathLst>
                <a:path w="1932940" h="1209039">
                  <a:moveTo>
                    <a:pt x="0" y="120853"/>
                  </a:moveTo>
                  <a:lnTo>
                    <a:pt x="9496" y="73809"/>
                  </a:lnTo>
                  <a:lnTo>
                    <a:pt x="35394" y="35394"/>
                  </a:lnTo>
                  <a:lnTo>
                    <a:pt x="73809" y="9496"/>
                  </a:lnTo>
                  <a:lnTo>
                    <a:pt x="120853" y="0"/>
                  </a:lnTo>
                  <a:lnTo>
                    <a:pt x="1811578" y="0"/>
                  </a:lnTo>
                  <a:lnTo>
                    <a:pt x="1858622" y="9496"/>
                  </a:lnTo>
                  <a:lnTo>
                    <a:pt x="1897037" y="35394"/>
                  </a:lnTo>
                  <a:lnTo>
                    <a:pt x="1922935" y="73809"/>
                  </a:lnTo>
                  <a:lnTo>
                    <a:pt x="1932432" y="120853"/>
                  </a:lnTo>
                  <a:lnTo>
                    <a:pt x="1932432" y="1087678"/>
                  </a:lnTo>
                  <a:lnTo>
                    <a:pt x="1922935" y="1134722"/>
                  </a:lnTo>
                  <a:lnTo>
                    <a:pt x="1897037" y="1173137"/>
                  </a:lnTo>
                  <a:lnTo>
                    <a:pt x="1858622" y="1199035"/>
                  </a:lnTo>
                  <a:lnTo>
                    <a:pt x="1811578" y="1208531"/>
                  </a:lnTo>
                  <a:lnTo>
                    <a:pt x="120853" y="1208531"/>
                  </a:lnTo>
                  <a:lnTo>
                    <a:pt x="73809" y="1199035"/>
                  </a:lnTo>
                  <a:lnTo>
                    <a:pt x="35394" y="1173137"/>
                  </a:lnTo>
                  <a:lnTo>
                    <a:pt x="9496" y="1134722"/>
                  </a:lnTo>
                  <a:lnTo>
                    <a:pt x="0" y="1087678"/>
                  </a:lnTo>
                  <a:lnTo>
                    <a:pt x="0" y="120853"/>
                  </a:lnTo>
                  <a:close/>
                </a:path>
              </a:pathLst>
            </a:custGeom>
            <a:ln w="9994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527236" y="4407147"/>
            <a:ext cx="1734820" cy="10134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065" marR="5080" indent="-1905" algn="ctr">
              <a:lnSpc>
                <a:spcPts val="1870"/>
              </a:lnSpc>
              <a:spcBef>
                <a:spcPts val="400"/>
              </a:spcBef>
            </a:pPr>
            <a:r>
              <a:rPr sz="1800" dirty="0">
                <a:latin typeface="Calisto MT"/>
                <a:cs typeface="Calisto MT"/>
              </a:rPr>
              <a:t>Sends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output </a:t>
            </a:r>
            <a:r>
              <a:rPr sz="1800" dirty="0">
                <a:latin typeface="Calisto MT"/>
                <a:cs typeface="Calisto MT"/>
              </a:rPr>
              <a:t>stream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request response.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8816"/>
            <a:ext cx="12179820" cy="3291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Scope</a:t>
            </a:r>
            <a:r>
              <a:rPr spc="-75" dirty="0"/>
              <a:t> </a:t>
            </a:r>
            <a:r>
              <a:rPr spc="-10" dirty="0"/>
              <a:t>Communication</a:t>
            </a:r>
            <a:r>
              <a:rPr spc="-50" dirty="0"/>
              <a:t> </a:t>
            </a:r>
            <a:r>
              <a:rPr spc="-10" dirty="0"/>
              <a:t>Objects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53716" y="1498385"/>
            <a:ext cx="9855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session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40835" y="1031747"/>
            <a:ext cx="414527" cy="13136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68140" y="1028700"/>
            <a:ext cx="5471159" cy="137007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21230" y="1513117"/>
            <a:ext cx="4822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Provides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all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objects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available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JSP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pages.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05030" y="3019362"/>
            <a:ext cx="153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application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40835" y="2552700"/>
            <a:ext cx="414527" cy="131368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68140" y="2549652"/>
            <a:ext cx="5471159" cy="13700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507482" y="3034117"/>
            <a:ext cx="4792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Shares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data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between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all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application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pages.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31058" y="4608485"/>
            <a:ext cx="153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pageContext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66744" y="4142232"/>
            <a:ext cx="408431" cy="131368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84903" y="4139184"/>
            <a:ext cx="5402579" cy="137007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736449" y="4623117"/>
            <a:ext cx="4302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Allows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user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access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all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implicit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objects.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8816"/>
            <a:ext cx="12179820" cy="3291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Servlet</a:t>
            </a:r>
            <a:r>
              <a:rPr spc="10" dirty="0"/>
              <a:t> </a:t>
            </a:r>
            <a:r>
              <a:rPr spc="-10" dirty="0"/>
              <a:t>Objects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159507" y="1546860"/>
            <a:ext cx="9090660" cy="2121535"/>
            <a:chOff x="2159507" y="1546860"/>
            <a:chExt cx="9090660" cy="212153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9507" y="1551431"/>
              <a:ext cx="1507235" cy="21168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6827" y="1546860"/>
              <a:ext cx="7673339" cy="141731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625375" y="1905141"/>
            <a:ext cx="5581015" cy="78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9845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1299845" algn="l"/>
              </a:tabLst>
            </a:pPr>
            <a:r>
              <a:rPr sz="1800" dirty="0">
                <a:latin typeface="Calisto MT"/>
                <a:cs typeface="Calisto MT"/>
              </a:rPr>
              <a:t>Contains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scope.</a:t>
            </a:r>
            <a:endParaRPr sz="1800">
              <a:latin typeface="Calisto MT"/>
              <a:cs typeface="Calisto MT"/>
            </a:endParaRPr>
          </a:p>
          <a:p>
            <a:pPr marL="1299845" indent="-172720">
              <a:lnSpc>
                <a:spcPts val="1900"/>
              </a:lnSpc>
              <a:spcBef>
                <a:spcPts val="60"/>
              </a:spcBef>
              <a:buChar char="•"/>
              <a:tabLst>
                <a:tab pos="1299845" algn="l"/>
              </a:tabLst>
            </a:pP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instance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java.lang.Object</a:t>
            </a:r>
            <a:r>
              <a:rPr sz="1800" spc="-10" dirty="0">
                <a:latin typeface="Calisto MT"/>
                <a:cs typeface="Calisto MT"/>
              </a:rPr>
              <a:t>.</a:t>
            </a:r>
            <a:endParaRPr sz="1800">
              <a:latin typeface="Calisto MT"/>
              <a:cs typeface="Calisto MT"/>
            </a:endParaRPr>
          </a:p>
          <a:p>
            <a:pPr marL="12700">
              <a:lnSpc>
                <a:spcPts val="1900"/>
              </a:lnSpc>
            </a:pP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page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59507" y="3291840"/>
            <a:ext cx="9090660" cy="2121535"/>
            <a:chOff x="2159507" y="3291840"/>
            <a:chExt cx="9090660" cy="212153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59507" y="3296412"/>
              <a:ext cx="1507235" cy="21168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76828" y="3291840"/>
              <a:ext cx="7673339" cy="141731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488215" y="3649922"/>
            <a:ext cx="8383905" cy="78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7005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1437005" algn="l"/>
              </a:tabLst>
            </a:pPr>
            <a:r>
              <a:rPr sz="1800" dirty="0">
                <a:latin typeface="Calisto MT"/>
                <a:cs typeface="Calisto MT"/>
              </a:rPr>
              <a:t>Stores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servlet.</a:t>
            </a:r>
            <a:endParaRPr sz="1800">
              <a:latin typeface="Calisto MT"/>
              <a:cs typeface="Calisto MT"/>
            </a:endParaRPr>
          </a:p>
          <a:p>
            <a:pPr marL="1437005" indent="-172720">
              <a:lnSpc>
                <a:spcPts val="1900"/>
              </a:lnSpc>
              <a:spcBef>
                <a:spcPts val="60"/>
              </a:spcBef>
              <a:buChar char="•"/>
              <a:tabLst>
                <a:tab pos="1437005" algn="l"/>
              </a:tabLst>
            </a:pP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 instance</a:t>
            </a:r>
            <a:r>
              <a:rPr sz="1800" spc="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20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jakarta.servlet.ServletConfig</a:t>
            </a:r>
            <a:r>
              <a:rPr sz="1800" spc="-60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interface.</a:t>
            </a:r>
            <a:endParaRPr sz="1800">
              <a:latin typeface="Calisto MT"/>
              <a:cs typeface="Calisto MT"/>
            </a:endParaRPr>
          </a:p>
          <a:p>
            <a:pPr marL="12700">
              <a:lnSpc>
                <a:spcPts val="1900"/>
              </a:lnSpc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config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8816"/>
            <a:ext cx="12179820" cy="3291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error</a:t>
            </a:r>
            <a:r>
              <a:rPr spc="10" dirty="0"/>
              <a:t> </a:t>
            </a:r>
            <a:r>
              <a:rPr spc="-10" dirty="0"/>
              <a:t>Object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869948" y="1496567"/>
            <a:ext cx="8625840" cy="4346575"/>
            <a:chOff x="1869948" y="1496567"/>
            <a:chExt cx="8625840" cy="434657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9948" y="1496567"/>
              <a:ext cx="1507235" cy="43464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9572" y="1510283"/>
              <a:ext cx="1427988" cy="42672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38322" y="1572005"/>
              <a:ext cx="7152640" cy="4165600"/>
            </a:xfrm>
            <a:custGeom>
              <a:avLst/>
              <a:gdLst/>
              <a:ahLst/>
              <a:cxnLst/>
              <a:rect l="l" t="t" r="r" b="b"/>
              <a:pathLst>
                <a:path w="7152640" h="4165600">
                  <a:moveTo>
                    <a:pt x="7152132" y="0"/>
                  </a:moveTo>
                  <a:lnTo>
                    <a:pt x="0" y="0"/>
                  </a:lnTo>
                  <a:lnTo>
                    <a:pt x="0" y="4165091"/>
                  </a:lnTo>
                  <a:lnTo>
                    <a:pt x="7152132" y="4165091"/>
                  </a:lnTo>
                  <a:lnTo>
                    <a:pt x="715213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38322" y="1572005"/>
              <a:ext cx="7152640" cy="4165600"/>
            </a:xfrm>
            <a:custGeom>
              <a:avLst/>
              <a:gdLst/>
              <a:ahLst/>
              <a:cxnLst/>
              <a:rect l="l" t="t" r="r" b="b"/>
              <a:pathLst>
                <a:path w="7152640" h="4165600">
                  <a:moveTo>
                    <a:pt x="0" y="0"/>
                  </a:moveTo>
                  <a:lnTo>
                    <a:pt x="7152132" y="0"/>
                  </a:lnTo>
                  <a:lnTo>
                    <a:pt x="7152132" y="4165091"/>
                  </a:lnTo>
                  <a:lnTo>
                    <a:pt x="0" y="4165091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684001" y="2384897"/>
            <a:ext cx="881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Methods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08860" y="3535679"/>
            <a:ext cx="8187055" cy="2059305"/>
            <a:chOff x="2308860" y="3535679"/>
            <a:chExt cx="8187055" cy="205930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08860" y="3535679"/>
              <a:ext cx="1068323" cy="20589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48483" y="3549395"/>
              <a:ext cx="989076" cy="19796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338322" y="3550157"/>
              <a:ext cx="7152640" cy="1979930"/>
            </a:xfrm>
            <a:custGeom>
              <a:avLst/>
              <a:gdLst/>
              <a:ahLst/>
              <a:cxnLst/>
              <a:rect l="l" t="t" r="r" b="b"/>
              <a:pathLst>
                <a:path w="7152640" h="1979929">
                  <a:moveTo>
                    <a:pt x="7152132" y="0"/>
                  </a:moveTo>
                  <a:lnTo>
                    <a:pt x="0" y="0"/>
                  </a:lnTo>
                  <a:lnTo>
                    <a:pt x="0" y="1979676"/>
                  </a:lnTo>
                  <a:lnTo>
                    <a:pt x="7152132" y="1979676"/>
                  </a:lnTo>
                  <a:lnTo>
                    <a:pt x="715213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38322" y="3550157"/>
              <a:ext cx="7152640" cy="1979930"/>
            </a:xfrm>
            <a:custGeom>
              <a:avLst/>
              <a:gdLst/>
              <a:ahLst/>
              <a:cxnLst/>
              <a:rect l="l" t="t" r="r" b="b"/>
              <a:pathLst>
                <a:path w="7152640" h="1979929">
                  <a:moveTo>
                    <a:pt x="0" y="0"/>
                  </a:moveTo>
                  <a:lnTo>
                    <a:pt x="7152132" y="0"/>
                  </a:lnTo>
                  <a:lnTo>
                    <a:pt x="7152132" y="1979676"/>
                  </a:lnTo>
                  <a:lnTo>
                    <a:pt x="0" y="1979676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283697" y="4363557"/>
            <a:ext cx="16948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Standard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Actions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7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84861" y="2035037"/>
            <a:ext cx="4038600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ts val="2155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public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String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getMessage()</a:t>
            </a:r>
            <a:endParaRPr sz="1800">
              <a:latin typeface="Courier New"/>
              <a:cs typeface="Courier New"/>
            </a:endParaRPr>
          </a:p>
          <a:p>
            <a:pPr marL="183515" marR="5080" indent="-171450">
              <a:lnSpc>
                <a:spcPts val="1820"/>
              </a:lnSpc>
              <a:spcBef>
                <a:spcPts val="335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ourier New"/>
                <a:cs typeface="Courier New"/>
              </a:rPr>
              <a:t>public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void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printStackTrace( 	</a:t>
            </a:r>
            <a:r>
              <a:rPr sz="1800" dirty="0">
                <a:latin typeface="Courier New"/>
                <a:cs typeface="Courier New"/>
              </a:rPr>
              <a:t>PrintWriters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45"/>
              </a:lnSpc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public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String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toString()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11048" y="3920301"/>
            <a:ext cx="1968500" cy="111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indent="-171450">
              <a:lnSpc>
                <a:spcPts val="2155"/>
              </a:lnSpc>
              <a:spcBef>
                <a:spcPts val="100"/>
              </a:spcBef>
              <a:buChar char="•"/>
              <a:tabLst>
                <a:tab pos="171450" algn="l"/>
              </a:tabLst>
            </a:pPr>
            <a:r>
              <a:rPr sz="1800" spc="-10" dirty="0">
                <a:latin typeface="Courier New"/>
                <a:cs typeface="Courier New"/>
              </a:rPr>
              <a:t>&lt;jsp:include&gt;</a:t>
            </a:r>
            <a:endParaRPr sz="1800">
              <a:latin typeface="Courier New"/>
              <a:cs typeface="Courier New"/>
            </a:endParaRPr>
          </a:p>
          <a:p>
            <a:pPr marL="171450" indent="-171450">
              <a:lnSpc>
                <a:spcPts val="2140"/>
              </a:lnSpc>
              <a:buChar char="•"/>
              <a:tabLst>
                <a:tab pos="171450" algn="l"/>
              </a:tabLst>
            </a:pPr>
            <a:r>
              <a:rPr sz="1800" spc="-10" dirty="0">
                <a:latin typeface="Courier New"/>
                <a:cs typeface="Courier New"/>
              </a:rPr>
              <a:t>&lt;jsp:forward&gt;</a:t>
            </a:r>
            <a:endParaRPr sz="1800">
              <a:latin typeface="Courier New"/>
              <a:cs typeface="Courier New"/>
            </a:endParaRPr>
          </a:p>
          <a:p>
            <a:pPr marL="171450" indent="-171450">
              <a:lnSpc>
                <a:spcPts val="2135"/>
              </a:lnSpc>
              <a:buChar char="•"/>
              <a:tabLst>
                <a:tab pos="171450" algn="l"/>
              </a:tabLst>
            </a:pPr>
            <a:r>
              <a:rPr sz="1800" spc="-10" dirty="0">
                <a:latin typeface="Courier New"/>
                <a:cs typeface="Courier New"/>
              </a:rPr>
              <a:t>&lt;jsp:param&gt;</a:t>
            </a:r>
            <a:endParaRPr sz="1800">
              <a:latin typeface="Courier New"/>
              <a:cs typeface="Courier New"/>
            </a:endParaRPr>
          </a:p>
          <a:p>
            <a:pPr marL="171450" indent="-171450">
              <a:lnSpc>
                <a:spcPts val="2150"/>
              </a:lnSpc>
              <a:buChar char="•"/>
              <a:tabLst>
                <a:tab pos="171450" algn="l"/>
              </a:tabLst>
            </a:pPr>
            <a:r>
              <a:rPr sz="1800" spc="-10" dirty="0">
                <a:latin typeface="Courier New"/>
                <a:cs typeface="Courier New"/>
              </a:rPr>
              <a:t>&lt;jsp:text&gt;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8816"/>
            <a:ext cx="12179820" cy="3291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907" y="79546"/>
            <a:ext cx="2187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JSP</a:t>
            </a:r>
            <a:r>
              <a:rPr spc="-45" dirty="0"/>
              <a:t> </a:t>
            </a:r>
            <a:r>
              <a:rPr spc="-10" dirty="0"/>
              <a:t>Directives</a:t>
            </a:r>
          </a:p>
        </p:txBody>
      </p:sp>
      <p:sp>
        <p:nvSpPr>
          <p:cNvPr id="5" name="object 5"/>
          <p:cNvSpPr/>
          <p:nvPr/>
        </p:nvSpPr>
        <p:spPr>
          <a:xfrm>
            <a:off x="2141982" y="1681733"/>
            <a:ext cx="7924800" cy="935990"/>
          </a:xfrm>
          <a:custGeom>
            <a:avLst/>
            <a:gdLst/>
            <a:ahLst/>
            <a:cxnLst/>
            <a:rect l="l" t="t" r="r" b="b"/>
            <a:pathLst>
              <a:path w="7924800" h="935989">
                <a:moveTo>
                  <a:pt x="0" y="0"/>
                </a:moveTo>
                <a:lnTo>
                  <a:pt x="7924800" y="0"/>
                </a:lnTo>
                <a:lnTo>
                  <a:pt x="7924800" y="935736"/>
                </a:lnTo>
                <a:lnTo>
                  <a:pt x="0" y="935736"/>
                </a:lnTo>
                <a:lnTo>
                  <a:pt x="0" y="0"/>
                </a:lnTo>
                <a:close/>
              </a:path>
            </a:pathLst>
          </a:custGeom>
          <a:ln w="9994">
            <a:solidFill>
              <a:srgbClr val="4189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44235" y="2186075"/>
            <a:ext cx="4201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185420" algn="l"/>
              </a:tabLst>
            </a:pPr>
            <a:r>
              <a:rPr sz="1800" dirty="0">
                <a:latin typeface="Calisto MT"/>
                <a:cs typeface="Calisto MT"/>
              </a:rPr>
              <a:t>Specifies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properties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whole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page.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97836" y="1267967"/>
            <a:ext cx="5626735" cy="876300"/>
            <a:chOff x="2497836" y="1267967"/>
            <a:chExt cx="5626735" cy="8763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7836" y="1267967"/>
              <a:ext cx="5626607" cy="8762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8231" y="1461515"/>
              <a:ext cx="886967" cy="533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37459" y="1281683"/>
              <a:ext cx="5547360" cy="79705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774006" y="1490241"/>
            <a:ext cx="574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Courier New"/>
                <a:cs typeface="Courier New"/>
              </a:rPr>
              <a:t>page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41982" y="3161538"/>
            <a:ext cx="7924800" cy="935990"/>
          </a:xfrm>
          <a:custGeom>
            <a:avLst/>
            <a:gdLst/>
            <a:ahLst/>
            <a:cxnLst/>
            <a:rect l="l" t="t" r="r" b="b"/>
            <a:pathLst>
              <a:path w="7924800" h="935989">
                <a:moveTo>
                  <a:pt x="0" y="0"/>
                </a:moveTo>
                <a:lnTo>
                  <a:pt x="7924800" y="0"/>
                </a:lnTo>
                <a:lnTo>
                  <a:pt x="7924800" y="935736"/>
                </a:lnTo>
                <a:lnTo>
                  <a:pt x="0" y="935736"/>
                </a:lnTo>
                <a:lnTo>
                  <a:pt x="0" y="0"/>
                </a:lnTo>
                <a:close/>
              </a:path>
            </a:pathLst>
          </a:custGeom>
          <a:ln w="9994">
            <a:solidFill>
              <a:srgbClr val="41C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44235" y="3665945"/>
            <a:ext cx="6098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185420" algn="l"/>
              </a:tabLst>
            </a:pPr>
            <a:r>
              <a:rPr sz="1800" dirty="0">
                <a:latin typeface="Calisto MT"/>
                <a:cs typeface="Calisto MT"/>
              </a:rPr>
              <a:t>Inserts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content of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another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resource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run</a:t>
            </a:r>
            <a:r>
              <a:rPr sz="1800" spc="-10" dirty="0">
                <a:latin typeface="Calisto MT"/>
                <a:cs typeface="Calisto MT"/>
              </a:rPr>
              <a:t> time.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97836" y="2747772"/>
            <a:ext cx="5626735" cy="876300"/>
            <a:chOff x="2497836" y="2747772"/>
            <a:chExt cx="5626735" cy="87630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7836" y="2747772"/>
              <a:ext cx="5626607" cy="8762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18231" y="2941320"/>
              <a:ext cx="1298447" cy="5333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7459" y="2761488"/>
              <a:ext cx="5547360" cy="79705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774006" y="2970112"/>
            <a:ext cx="9855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include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41982" y="4641341"/>
            <a:ext cx="7924800" cy="935990"/>
          </a:xfrm>
          <a:custGeom>
            <a:avLst/>
            <a:gdLst/>
            <a:ahLst/>
            <a:cxnLst/>
            <a:rect l="l" t="t" r="r" b="b"/>
            <a:pathLst>
              <a:path w="7924800" h="935989">
                <a:moveTo>
                  <a:pt x="0" y="0"/>
                </a:moveTo>
                <a:lnTo>
                  <a:pt x="7924800" y="0"/>
                </a:lnTo>
                <a:lnTo>
                  <a:pt x="7924800" y="935735"/>
                </a:lnTo>
                <a:lnTo>
                  <a:pt x="0" y="935735"/>
                </a:lnTo>
                <a:lnTo>
                  <a:pt x="0" y="0"/>
                </a:lnTo>
                <a:close/>
              </a:path>
            </a:pathLst>
          </a:custGeom>
          <a:ln w="9994">
            <a:solidFill>
              <a:srgbClr val="D6D3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744235" y="5145815"/>
            <a:ext cx="4542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185420" algn="l"/>
              </a:tabLst>
            </a:pPr>
            <a:r>
              <a:rPr sz="1800" dirty="0">
                <a:latin typeface="Calisto MT"/>
                <a:cs typeface="Calisto MT"/>
              </a:rPr>
              <a:t>Specifies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library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custom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tags.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97836" y="4227576"/>
            <a:ext cx="5626735" cy="876300"/>
            <a:chOff x="2497836" y="4227576"/>
            <a:chExt cx="5626735" cy="87630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7836" y="4227576"/>
              <a:ext cx="5626607" cy="8762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18231" y="4421124"/>
              <a:ext cx="1161287" cy="5333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37459" y="4241292"/>
              <a:ext cx="5547360" cy="79705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2774006" y="4449982"/>
            <a:ext cx="848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taglib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8816"/>
            <a:ext cx="12179820" cy="3291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1618" y="754115"/>
            <a:ext cx="11003915" cy="373951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324485" indent="-311785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324485" algn="l"/>
              </a:tabLst>
            </a:pPr>
            <a:r>
              <a:rPr sz="1800" dirty="0">
                <a:latin typeface="Calisto MT"/>
                <a:cs typeface="Calisto MT"/>
              </a:rPr>
              <a:t>Implicit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available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every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page.</a:t>
            </a:r>
            <a:endParaRPr sz="1800">
              <a:latin typeface="Calisto MT"/>
              <a:cs typeface="Calisto MT"/>
            </a:endParaRPr>
          </a:p>
          <a:p>
            <a:pPr marL="324485" indent="-311785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324485" algn="l"/>
              </a:tabLst>
            </a:pPr>
            <a:r>
              <a:rPr sz="1800" spc="-10" dirty="0">
                <a:latin typeface="Calisto MT"/>
                <a:cs typeface="Calisto MT"/>
              </a:rPr>
              <a:t>Pre-</a:t>
            </a:r>
            <a:r>
              <a:rPr sz="1800" dirty="0">
                <a:latin typeface="Calisto MT"/>
                <a:cs typeface="Calisto MT"/>
              </a:rPr>
              <a:t>defined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variables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accessible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scripting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elements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pages.</a:t>
            </a:r>
            <a:endParaRPr sz="1800">
              <a:latin typeface="Calisto MT"/>
              <a:cs typeface="Calisto MT"/>
            </a:endParaRPr>
          </a:p>
          <a:p>
            <a:pPr marL="325120" marR="113664" indent="-31242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32512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input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represents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 passed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through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output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represents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what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is </a:t>
            </a:r>
            <a:r>
              <a:rPr sz="1800" dirty="0">
                <a:latin typeface="Calisto MT"/>
                <a:cs typeface="Calisto MT"/>
              </a:rPr>
              <a:t>sent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back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10" dirty="0">
                <a:latin typeface="Calisto MT"/>
                <a:cs typeface="Calisto MT"/>
              </a:rPr>
              <a:t> response.</a:t>
            </a:r>
            <a:endParaRPr sz="1800">
              <a:latin typeface="Calisto MT"/>
              <a:cs typeface="Calisto MT"/>
            </a:endParaRPr>
          </a:p>
          <a:p>
            <a:pPr marL="324485" indent="-311785">
              <a:lnSpc>
                <a:spcPct val="100000"/>
              </a:lnSpc>
              <a:spcBef>
                <a:spcPts val="1150"/>
              </a:spcBef>
              <a:buSzPct val="80555"/>
              <a:buFont typeface="Corbel"/>
              <a:buChar char="•"/>
              <a:tabLst>
                <a:tab pos="324485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session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provides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available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session.</a:t>
            </a:r>
            <a:endParaRPr sz="1800">
              <a:latin typeface="Calisto MT"/>
              <a:cs typeface="Calisto MT"/>
            </a:endParaRPr>
          </a:p>
          <a:p>
            <a:pPr marL="324485" indent="-311785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324485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share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between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pages.</a:t>
            </a:r>
            <a:endParaRPr sz="1800">
              <a:latin typeface="Calisto MT"/>
              <a:cs typeface="Calisto MT"/>
            </a:endParaRPr>
          </a:p>
          <a:p>
            <a:pPr marL="325120" marR="5080" indent="-31242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325120" algn="l"/>
              </a:tabLst>
            </a:pP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directives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form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messages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provide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comprehensive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about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10" dirty="0">
                <a:latin typeface="Calisto MT"/>
                <a:cs typeface="Calisto MT"/>
              </a:rPr>
              <a:t> page.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During</a:t>
            </a:r>
            <a:r>
              <a:rPr sz="1800" spc="-25" dirty="0">
                <a:latin typeface="Calisto MT"/>
                <a:cs typeface="Calisto MT"/>
              </a:rPr>
              <a:t> JSP </a:t>
            </a:r>
            <a:r>
              <a:rPr sz="1800" dirty="0">
                <a:latin typeface="Calisto MT"/>
                <a:cs typeface="Calisto MT"/>
              </a:rPr>
              <a:t>translation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phase,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these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directives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Web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container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convert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into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Servlet.</a:t>
            </a:r>
            <a:endParaRPr sz="1800">
              <a:latin typeface="Calisto MT"/>
              <a:cs typeface="Calisto MT"/>
            </a:endParaRPr>
          </a:p>
          <a:p>
            <a:pPr marL="325120" marR="608965" indent="-312420">
              <a:lnSpc>
                <a:spcPts val="1989"/>
              </a:lnSpc>
              <a:spcBef>
                <a:spcPts val="1315"/>
              </a:spcBef>
              <a:buSzPct val="80555"/>
              <a:buFont typeface="Corbel"/>
              <a:buChar char="•"/>
              <a:tabLst>
                <a:tab pos="325120" algn="l"/>
              </a:tabLst>
            </a:pP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multiple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threads</a:t>
            </a:r>
            <a:r>
              <a:rPr sz="1800" spc="-25" dirty="0">
                <a:latin typeface="Calisto MT"/>
                <a:cs typeface="Calisto MT"/>
              </a:rPr>
              <a:t> simultaneously.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isThreadSafe</a:t>
            </a:r>
            <a:r>
              <a:rPr sz="1800" spc="-65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option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helps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to </a:t>
            </a:r>
            <a:r>
              <a:rPr sz="1800" dirty="0">
                <a:latin typeface="Calisto MT"/>
                <a:cs typeface="Calisto MT"/>
              </a:rPr>
              <a:t>identify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whether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 page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thread-</a:t>
            </a:r>
            <a:r>
              <a:rPr sz="1800" dirty="0">
                <a:latin typeface="Calisto MT"/>
                <a:cs typeface="Calisto MT"/>
              </a:rPr>
              <a:t>safe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not.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533</Words>
  <Application>Microsoft Office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 Black</vt:lpstr>
      <vt:lpstr>Arial Rounded MT Bold</vt:lpstr>
      <vt:lpstr>Calibri</vt:lpstr>
      <vt:lpstr>Calisto MT</vt:lpstr>
      <vt:lpstr>Corbel</vt:lpstr>
      <vt:lpstr>Courier New</vt:lpstr>
      <vt:lpstr>Office Theme</vt:lpstr>
      <vt:lpstr>Jakarta Server Pages and</vt:lpstr>
      <vt:lpstr>Objectives</vt:lpstr>
      <vt:lpstr>Introduction</vt:lpstr>
      <vt:lpstr>Input and Output Objects</vt:lpstr>
      <vt:lpstr>Scope Communication Objects</vt:lpstr>
      <vt:lpstr>Servlet Objects</vt:lpstr>
      <vt:lpstr>error Object</vt:lpstr>
      <vt:lpstr>JSP Directives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7</cp:revision>
  <dcterms:created xsi:type="dcterms:W3CDTF">2025-10-19T10:33:49Z</dcterms:created>
  <dcterms:modified xsi:type="dcterms:W3CDTF">2025-10-20T01:24:59Z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